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910" r:id="rId1"/>
  </p:sldMasterIdLst>
  <p:notesMasterIdLst>
    <p:notesMasterId r:id="rId21"/>
  </p:notesMasterIdLst>
  <p:handoutMasterIdLst>
    <p:handoutMasterId r:id="rId22"/>
  </p:handoutMasterIdLst>
  <p:sldIdLst>
    <p:sldId id="1001" r:id="rId2"/>
    <p:sldId id="1272" r:id="rId3"/>
    <p:sldId id="1273" r:id="rId11"/>
    <p:sldId id="1274" r:id="rId12"/>
    <p:sldId id="1275" r:id="rId13"/>
    <p:sldId id="1276" r:id="rId14"/>
    <p:sldId id="1277" r:id="rId15"/>
    <p:sldId id="1278" r:id="rId16"/>
    <p:sldId id="1279" r:id="rId17"/>
    <p:sldId id="1280" r:id="rId18"/>
    <p:sldId id="1281" r:id="rId19"/>
    <p:sldId id="1282" r:id="rId20"/>
    <p:sldId id="1283" r:id="rId10"/>
    <p:sldId id="1284" r:id="rId9"/>
    <p:sldId id="1285" r:id="rId8"/>
    <p:sldId id="1286" r:id="rId7"/>
    <p:sldId id="1287" r:id="rId6"/>
    <p:sldId id="1288" r:id="rId5"/>
    <p:sldId id="1289" r:id="rId4"/>
    <p:sldId id="1290" r:id="rId28"/>
    <p:sldId id="1291" r:id="rId29"/>
    <p:sldId id="1292" r:id="rId30"/>
    <p:sldId id="1293" r:id="rId31"/>
    <p:sldId id="1294" r:id="rId32"/>
    <p:sldId id="1295" r:id="rId33"/>
    <p:sldId id="1296" r:id="rId34"/>
    <p:sldId id="1297" r:id="rId35"/>
    <p:sldId id="1298" r:id="rId36"/>
    <p:sldId id="1299" r:id="rId37"/>
    <p:sldId id="1300" r:id="rId38"/>
    <p:sldId id="1301" r:id="rId39"/>
    <p:sldId id="1302" r:id="rId40"/>
    <p:sldId id="1303" r:id="rId41"/>
    <p:sldId id="1304" r:id="rId42"/>
    <p:sldId id="1305" r:id="rId43"/>
    <p:sldId id="1306" r:id="rId44"/>
    <p:sldId id="1307" r:id="rId45"/>
  </p:sldIdLst>
  <p:sldSz cx="9144000" cy="6858000" type="screen4x3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hwa" initials="SJ" lastIdx="13" clrIdx="0">
    <p:extLst>
      <p:ext uri="{19B8F6BF-5375-455C-9EA6-DF929625EA0E}">
        <p15:presenceInfo xmlns:p15="http://schemas.microsoft.com/office/powerpoint/2012/main" userId="9aa9fa2553afeb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FFFFF"/>
    <a:srgbClr val="00B0F0"/>
    <a:srgbClr val="E7F9FF"/>
    <a:srgbClr val="C5F3FF"/>
    <a:srgbClr val="FFCCCC"/>
    <a:srgbClr val="FFCCFF"/>
    <a:srgbClr val="00CC66"/>
    <a:srgbClr val="F7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18" autoAdjust="0"/>
    <p:restoredTop sz="75338" autoAdjust="0"/>
  </p:normalViewPr>
  <p:slideViewPr>
    <p:cSldViewPr showGuides="1">
      <p:cViewPr varScale="1">
        <p:scale>
          <a:sx n="62" d="100"/>
          <a:sy n="62" d="100"/>
        </p:scale>
        <p:origin x="2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7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72" y="85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9.xml"/><Relationship Id="rId5" Type="http://schemas.openxmlformats.org/officeDocument/2006/relationships/slide" Target="slides/slide18.xml"/><Relationship Id="rId6" Type="http://schemas.openxmlformats.org/officeDocument/2006/relationships/slide" Target="slides/slide17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9659AD6-AE32-41CA-82A0-2598C3F389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54234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5127" y="518517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201" y="3228705"/>
            <a:ext cx="7942238" cy="305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CF72608-E96E-40E0-AA36-7D967661FE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451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9167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396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지금까지 바다 파도를 어떻게 측정하고 있고 무엇이 부족한지부터 말씀드릴게요.</a:t>
            </a:r>
          </a:p>
          <a:p/>
          <a:p>
            <a:r>
              <a:t>현재 산업계에서 표준으로 쓰는 방법은 *통계적 추정* 이에요. 평균 파고가 얼마고 평균 주기가 얼마인지 — 그런 *평균적인 바다 상태* 만 알려주는 방식이죠. 선박이나 해양 플랫폼을 *설계* 할 때는 이 정도면 충분합니다. '이 정도 환경에서는 버티게 만들자' 식으로 설계 기준을 잡을 수 있으니까요.</a:t>
            </a:r>
          </a:p>
          <a:p/>
          <a:p>
            <a:r>
              <a:t>그런데 *실시간으로 제어* 해야 할 때는 평균 정보로 부족합니다. 예를 들어 hydrofoil — 수중 날개로 부양하는 고속선인데요 — 이게 파도를 만나서 흔들리면 승객이 멀미가 나요. 이걸 막으려면 *앞쪽에 어떤 파도가 오는지 정확히 알아야* 미리 대응할 수 있는데, 평균 정보로는 어림도 없거든요.</a:t>
            </a:r>
          </a:p>
          <a:p/>
          <a:p>
            <a:r>
              <a:t>그래서 이 연구의 목표는 phase-resolved estimation — 어렵게 들리지만 *각 파도가 언제 어디서 어떤 모양으로 오는지* 직접 추정하는 거예요. 응용 가능한 분야는 hydrofoil ride control, 자율운항 안전 판단, 선박 motion 예측 등 다양합니다.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연구가 왜 어려운지 세 가지로 풀어서 말씀드릴게요.</a:t>
            </a:r>
          </a:p>
          <a:p/>
          <a:p>
            <a:r>
              <a:t>*첫 번째 어려움 — 측정 데이터 자체가 부족합니다.* LiDAR 는 빛을 쏴서 부딪힌 점들을 측정하는 센서인데, 한 번 스캔하면 *유효한 점이 50개 정도밖에* 안 됩니다. 그것도 거리가 가까우면 점이 빽빽하고 멀면 듬성듬성하고요. 게다가 파도 표면이 매끄러우면 빛이 카메라 쪽으로 안 돌아와서 점이 빠지고 (raydrop), 앞쪽 큰 파도가 뒤쪽을 가려서 또 빠지기도 해요. 그래서 기존에 '점이 촘촘하고 균일하다' 고 가정한 방법들은 그대로 못 씁니다.</a:t>
            </a:r>
          </a:p>
          <a:p/>
          <a:p>
            <a:r>
              <a:t>*두 번째 어려움 — 시간이 너무 부족해요.* 선박 제어 루프가 보통 10 Hz 로 돌아요. 한 frame 처리에 0.1 초 안에 끝나야 하는 거죠. 그런데 기존 방법들은 다 이걸 못 만족합니다. Wang &amp; Pan 그룹의 EnKF 방식은 비선형 wave 시뮬레이션을 매번 돌려야 해서 수백 ms 이상 걸리고요, Feng Wang 의 더 가벼운 ETKF + linear 방식도 시뮬레이션 300 개를 동시에 돌려야 해서 632 ms 가 걸려요. PINN 같은 신경망 방법은 instance 마다 30 분씩 새로 학습해야 하고, FNO 같은 supervised ML 만 1.9 ms 로 빠른데 *학습 데이터 3120개* 를 미리 만들어 둬야 합니다.</a:t>
            </a:r>
          </a:p>
          <a:p/>
          <a:p>
            <a:r>
              <a:t>*세 번째 어려움 — 진짜 바다는 한 방향이 아니에요.* 실해는 바람으로 생긴 짧은 파 (wind sea) 와 먼 곳에서 온 긴 파 (swell) 가 *여러 방향에서* 섞여 옵니다. 그러니까 단순히 '파도가 어떤 길이냐' 가 아니라 '어디 방향으로 오느냐' 까지 알아야 해요. 수학적으로는 단순한 숫자 k 가 아니라 방향까지 포함된 벡터 (k_x, k_y) 로 추정하는 거죠. 선행 연구들은 단순화한다고 1D 가정 (한 방향만) 으로 처리하는 경우가 많은데, 우리는 2D 방향까지 그대로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배경 설명에 들어가기 전에 *결과부터 먼저* 보여드릴게요. '왜 이 연구를 계속할 가치가 있는지' 를 숫자로 보여드리는 게 더 직관적이거든요.</a:t>
            </a:r>
          </a:p>
          <a:p/>
          <a:p>
            <a:r>
              <a:t>12 개의 다양한 파도 시나리오 (BF2~BF5 까지) 에서 비교했을 때, 우리 *WaveSplat* 은 오차 0.211, 한 frame 처리에 13.4 밀리초가 걸립니다. 같은 데이터에 *Feng Wang 의 2025 년 baseline* 을 돌리면 오차 0.253, 632 밀리초가 걸리고요. 즉 *정확도는 16% 더 좋고 속도는 47배 빠릅니다*. 그것도 GPU 없이 CPU 만으로요. 13 밀리초면 *초당 75 번* 추정 가능하니까 10 Hz 제어 루프에 충분히 들어갑니다.</a:t>
            </a:r>
          </a:p>
          <a:p/>
          <a:p>
            <a:r>
              <a:t>이게 어떻게 가능한지 핵심 메커니즘은 두 가지예요. 첫째, *분산 관계* 라는 물리 법칙을 강제로 끼워 넣었어요. 파도의 길이와 속도 관계를 수식으로 묶어버리면, 우리가 추정해야 할 변수가 5N 개에서 4N 개로 *20% 줄어들고*, 물리적으로 말이 안 되는 답은 자동으로 배제됩니다. 둘째, *여러 frame 의 시간 정보* 를 활용해요. 파도가 시간에 따라 움직이는 걸 누적하면, 한 순간 점만 봐서는 못 풀던 문제를 풀 수 있어요. 두 가지가 결합되어야 *공간 해상도 한계* 를 우회할 수 있습니다.</a:t>
            </a:r>
          </a:p>
          <a:p/>
          <a:p>
            <a:r>
              <a:t>응용 사례도 보여드릴 거예요. hydrofoil 의 흔들림을 제어해보니 *heave 가속도가 약 48% 감소* 했습니다. 이제부터 이 결과가 어떻게 나왔는지, 선행 연구와 어떻게 다른지 차례로 설명드릴게요.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6개월간 정독한 13 편의 선행 연구를 *5 가지 접근법* 으로 분류했어요. 하나씩 어떻게 접근하는지 풀어 말씀드릴게요.</a:t>
            </a:r>
          </a:p>
          <a:p/>
          <a:p>
            <a:r>
              <a:t>*① 격자 기반 최적화* — Desmars 그룹의 방법이에요. 바다를 격자로 나눠서 각 격자점의 파고를 변수로 두고, 측정값과 모델이 잘 맞도록 최적화하는 방식이죠. 수치해석에서 잘 정립된 framework 라 안정적입니다. 단점은 격자 사이의 짧은 파장은 표현이 불가능 (Nyquist 한계라고 해요) 하고, 대부분 한 방향 (1D) 만 다룬다는 거예요.</a:t>
            </a:r>
          </a:p>
          <a:p/>
          <a:p>
            <a:r>
              <a:t>*② 앙상블 칼만 필터* — Wang &amp; Pan 그룹, Feng Wang 그룹, Yan 그룹이 있어요. 일종의 *시뮬레이션 다발* 방법인데, 50~300 개 wave simulation 을 동시에 돌리면서 측정이 들어올 때마다 통계적으로 갱신해요. Wang &amp; Pan 은 비선형 HOS 모델을 쓰고, Feng Wang 은 linear + fuzzy R 으로 가볍게, Yan 은 Navier-Stokes 까지 풀어서 wave breaking 도 처리합니다. 강점은 물리 정확도이고, 한계는 시뮬레이션 다발이라 *너무 느리다* 는 거예요.</a:t>
            </a:r>
          </a:p>
          <a:p/>
          <a:p>
            <a:r>
              <a:t>*③ 지도학습 신경망* — Ehlers 의 FNO (Fourier Neural Operator) 가 대표예요. 학습 후에는 1.9 ms 로 *엄청 빠릅니다*. 그런데 HOS 합성 데이터 3120 개를 미리 만들어 학습시켜야 하고, 학습한 분포 밖에서는 정확도가 떨어지고 (distribution shift), 1D 전용에 black-box 라 해석이 어려운 한계가 있어요.</a:t>
            </a:r>
          </a:p>
          <a:p/>
          <a:p>
            <a:r>
              <a:t>*④ 물리 기반 비지도 신경망* — Ehlers 의 PFT-PINN 이에요. 신경망에 *물리 법칙* 을 직접 강제하는 방식이라 학습 데이터가 필요 없어요. 비선형 파도까지 처리할 수 있고요. 단점은 instance 마다 *30분씩 새로 학습* 해야 해서 real-time 은 불가능합니다.</a:t>
            </a:r>
          </a:p>
          <a:p/>
          <a:p>
            <a:r>
              <a:t>*⑤ 우리 WaveSplat* — 격자를 안 쓰고 *N 개의 sine wave 파라미터를 직접 추정* 해요. 100 ms 이내 처리 + 2D 방향 + LiDAR raydrop 모사까지 *모두 만족하는 첫 사례* 입니다. 한계는 선형 가정이라 매우 가파른 파도는 못 다룬다 (ε &lt; 0.07 영역) 는 거예요. 자세한 paper 정보는 Appendix A 표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EnKF 기반 wave estimation 의 *두 독립 그룹* 을 자세히 보여드려요. 이름이 비슷해서 헷갈리는데 *완전 다른 사람들* 입니다.</a:t>
            </a:r>
          </a:p>
          <a:p/>
          <a:p>
            <a:r>
              <a:t>*Wang &amp; Pan 그룹* — Yulin Pan 교수가 이끄는 미국 미시건대 그룹이에요. 2021 년 EnKF 와 HOS (비선형 wave 모델) 를 처음 결합했고, 2022 년에는 IEnKF-HOS-C 로 *해류* 까지 같이 추정하는 데 성공했어요. 센서는 X-band radar 를 쓰고 합성 데이터 + 실측 shipborne radar 데이터 둘 다 검증했습니다.</a:t>
            </a:r>
          </a:p>
          <a:p/>
          <a:p>
            <a:r>
              <a:t>*Feng Wang 그룹* — 중국 Harbin Engineering University 의 별개 그룹이에요. 2025 년 에 ETKF (EnKF 변형) 에 fuzzy R 이라는 노이즈 자동 적응 기법과 Delaunay 보간을 추가했어요. *우리 baseline 의 직접 prior art* 입니다. 시뮬레이션 300 개를 80×60 격자에서 돌리는데, 흥미로운 점은 센서가 *스테레오 카메라* 라는 거예요. Acqua Alta 라는 베니스 인근 해양 플랫폼에서 실측 데이터를 받아 검증했고 GitHub 에 코드도 공개되어 있어요.</a:t>
            </a:r>
          </a:p>
          <a:p/>
          <a:p>
            <a:r>
              <a:t>우리 연구는 Feng Wang 의 *알고리즘만 재현* 했고, 공정한 비교를 위해 입력 sensor 는 LiDAR sim 으로 통일하고 forecast model 도 HOS 대신 linear 로 통일했어요. 알고리즘 차이만 깨끗하게 비교하기 위해서요.</a:t>
            </a:r>
          </a:p>
          <a:p/>
          <a:p>
            <a:r>
              <a:t>EnKF 류의 공통 한계는 *격자 해상도* (오차가 0.25 아래로 잘 안 내려가요) 와 *시뮬레이션 다발 비용* (632 ms / frame, real-time 안 됩니다)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*신경망을 쓰는* 두 가지 접근법을 보여드려요. 같은 Ehlers 그룹 (독일 함부르크 공대 + 임페리얼 칼리지) 이 두 방향으로 발전시킨 사례입니다.</a:t>
            </a:r>
          </a:p>
          <a:p/>
          <a:p>
            <a:r>
              <a:t>*Ehlers 2023 — FNO* 는 *지도학습* 방식이에요. Fourier Neural Operator 라는 신경망 구조인데, 이름이 어렵지만 *주파수 공간에서 패턴을 학습* 한다는 뜻이에요. 일반 CNN 보다 파도 같은 주기적 패턴에 잘 맞아요. 학습 후 추론은 1.9 ms 로 *가장 빠릅니다*. 단점은 — 학습 데이터를 *3120 개나 미리 만들어야* 하고, 학습 분포 밖에서는 정확도가 떨어지고요 (distribution shift), 1D 전용에 *black-box* 라 왜 그렇게 추정하는지 설명이 어려워요.</a:t>
            </a:r>
          </a:p>
          <a:p/>
          <a:p>
            <a:r>
              <a:t>*Ehlers 2025 — PFT-PINN* 은 *학습 데이터가 0개* 라는 게 충격적인 부분이에요. *물리 법칙 자체를 신경망의 손실 함수* 로 강제해서 학습합니다. 두 신경망을 동시에 학습 시키는데, 하나는 파도 표면 (η) 을, 다른 하나는 *유속 potential* (Φ) 을 출력해요. 비선형 파도까지 처리할 수 있고, 실험실 wave flume (MARATHON) 에서 실측 데이터로 검증했어요. 한계는 *instance 마다 30 분씩 새로 학습* 해야 한다는 거예요 (RTX 3090 GPU 기준). 1D + t 만 다루고 wave gauge 같은 점 센서만 받습니다.</a:t>
            </a:r>
          </a:p>
          <a:p/>
          <a:p>
            <a:r>
              <a:t>이 PFT-PINN 이 사실 *우리에게 가장 위협적인* 선행 연구예요. 이유는 *근본 철학이 같기 때문* — 학습 데이터 없이 물리 법칙으로 답을 좁히는 방식이거든요. 차이는 *속도* 에서 결정적입니다. 우리는 13 ms, PINN 은 30 분 — *수만 배 차이* 가 나요. 응용 영역도 달라요. 우리는 real-time 제어, PINN 은 design-time 정밀 분석.</a:t>
            </a:r>
          </a:p>
          <a:p/>
          <a:p>
            <a:r>
              <a:t>솔직히 말하면 같은 그룹이 1-3 년 안에 *2D + real-time PINN* 을 발표할 가능성도 있어서 우리 niche 가 좁아질 위험은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표가 *우리 연구가 어떤 빈 영역을 채우는지* 한눈에 보여줘요. 가로축은 6 가지 응용 요구사항, 세로축은 우리와 5 개 baseline 입니다. 노란색이 우리 WaveSplat 이고요.</a:t>
            </a:r>
          </a:p>
          <a:p/>
          <a:p>
            <a:r>
              <a:t>핵심은 — *어떤 방법도 모든 ✓ 를 받지 못합니다*. 각자 강점이 다르고 적합한 응용도 다르거든요.</a:t>
            </a:r>
          </a:p>
          <a:p/>
          <a:p>
            <a:r>
              <a:t>그런데 우리만 *4 가지를 동시에 만족* 해요. real-time 가능 + 2D 방향 추정 + 희소한 LiDAR 처리 + 학습 데이터 불필요 — 이 조합을 만족하는 선행 연구는 없습니다. 이게 우리의 *고유 영역* 이에요.</a:t>
            </a:r>
          </a:p>
          <a:p/>
          <a:p>
            <a:r>
              <a:t>응용 영역을 둘로 나눠 보면 더 명확해집니다. *real-time control 영역* 에는 우리 WaveSplat 과 FNO 가 들어가요 (즉석 결정 필요). *design-time 정밀 분석 영역* 에는 VOF-EnKF 와 PFT-PINN 이 들어갑니다 (시간 충분, 정확도 추구). 두 영역은 *경쟁이 아닌 보완* 관계예요. 우리가 PINN 과 직접 싸우는 게 아니라 서로 다른 영역을 담당 하는 거죠.</a:t>
            </a:r>
          </a:p>
          <a:p/>
          <a:p>
            <a:r>
              <a:t>물론 정직한 한계도 표에 보여요. 파도 파쇄 처리는 VOF-EnKF 만 가능하고, 유속장 추정은 PINN 영역이에요. 우리는 응용 영역 자체가 달라서 이런 건 처음부터 안 다룹 니다. paper 의 limitation 섹션에 정직히 명시할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여기서부터는 *우리가 만든 WaveSim 시뮬레이터* 를 보여드릴게요. 파도와 LiDAR 측정을 물리적으로 모사하는 도구입니다. 4 가지 구성 요소가 있어요.</a:t>
            </a:r>
          </a:p>
          <a:p/>
          <a:p>
            <a:r>
              <a:t>*첫째, 파도 모델* — Gerstner 라는 모델을 썼어요. 단순 sin 파도 (LWT) 는 *수면이 올라갔다 내려갔다* 만 표현하는데, Gerstner 는 *물 입자 자체가 원이나 타원으로 회전* 하면서 표면을 만든다고 봅니다. 더 사실적이에요. Q 라는 가파름 척도가 있는데 Q=0 이면 단순 sin 파, Q&gt;0 이면 마루는 뾰족하고 골은 평평한 약비선형 파도가 됩니다. Q 가 너무 크면 입자 궤적이 자기 자신을 교차해버려서 비물리적이라 *Σ Q·ω·A ≤ 1* 라는 제약을 강제해요 (Tessendorf 2001 의 표준 방식).</a:t>
            </a:r>
          </a:p>
          <a:p/>
          <a:p>
            <a:r>
              <a:t>*둘째, 스펙트럼* — JONSWAP 이라는 표준 파도 분포 모델을 썼어요. 1973 년 Hasselmann 이 북해 측정으로 정립한 거고요, 유의파고 H_s 와 첨두주기 T_p 만 입력하면 N 개의 파도 성분이 자동으로 sampling 됩니다. 방향은 cos² 함수로 *흩뿌려서* 여러 방향을 만들어요. 국제 학회 ITTC, IACS 가 모두 채택한 표준이라 신뢰성은 확실합니다.</a:t>
            </a:r>
          </a:p>
          <a:p/>
          <a:p>
            <a:r>
              <a:t>*셋째, 분산 관계* — 1845 년 Airy 가 정립한 *파도 길이와 속도의 관계식* 이에요. 100 년 이상 검증된 물리 법칙이고, 깊은 물에서는 단순한 형태로 떨어집니다 (ω ≈ √(g·k)).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LiDAR 센서를 어떻게 모사했는지 말씀드릴게요. *실제 marine LiDAR 인 Falcon K1 스펙* 을 그대로 본떴습니다.</a:t>
            </a:r>
          </a:p>
          <a:p/>
          <a:p>
            <a:r>
              <a:t>*센서 사양* — 152 개 채널 × 500 개 horizontal beam = 한 번 스캔에 *76,000 개 빔* 을 쏩니다. range 는 10 m 부터 250 m 까지, 파장은 1550 nm (eye-safe 적외선). 선박 위 5 m 에 마운트되어 있다고 가정했어요. 시야는 *전방 ±60°*, 수평선 *아래로 25° 까지* 내려다보는 구조예요.</a:t>
            </a:r>
          </a:p>
          <a:p/>
          <a:p>
            <a:r>
              <a:t>*Ray tracing* 은 그래픽스 분야의 표준 알고리즘 (Möller-Trumbore 1997) 을 썼어요. 각 빔이 파도 표면 mesh 와 처음 만나는 점을 찾는 거죠.</a:t>
            </a:r>
          </a:p>
          <a:p/>
          <a:p>
            <a:r>
              <a:t>*Raydrop 모델* 이 좀 복잡한데요, 이게 LiDAR 만의 특징이에요. 빛을 쐈다고 무조건 점이 찍히는 게 아니라, *받기 위해서는 충분한 비율의 빛이 카메라 방향으로 반사돼야* 해요. 그래서 Snell 굴절 + Fresnel 반사율 + Lambert 산란을 다 결합해서 backscatter 확률을 계산했어요. 1550 nm 파장에서 물의 굴절률은 1.321 입니다. 결과적으로 76,000 개 빔 중에 *50 개 정도만 valid 한 점* 으로 남게 되는 거예요. 그래서 sparse 한 거고요.</a:t>
            </a:r>
          </a:p>
          <a:p/>
          <a:p>
            <a:r>
              <a:t>*중요한 한 가지* — 이 시뮬레이션에서 *선박은 정지* 가정 (V=0 kts) 입니다. 모든 frame 이 같은 위치에서 측정되고, 그래서 multi-frame 효과는 *파도 자체의 시간 진화* 에서 옵니다. 선박이 움직이면서 생기는 synthetic aperture (SAR 처럼) 는 *현재 미적용* 이고 향후 연구로 분리했어요.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*합성 dataset 의 구성* 을 말씀드릴게요.</a:t>
            </a:r>
          </a:p>
          <a:p/>
          <a:p>
            <a:r>
              <a:t>총 *110 개 episode* 를 만들었어요. 다양한 sea state (BF2 잔잔한 바다부터 BF7 거친 폭풍까지 6 단계), 다양한 wave 성분 수 (1 개 단순한 파부터 30 개 복잡한 파까지 5 단계), seed 5 개로 재현 가능하게, 그리고 raydrop 모델도 2 가지를 섞어서요.</a:t>
            </a:r>
          </a:p>
          <a:p/>
          <a:p>
            <a:r>
              <a:t>각 episode 는 — *30 초 동안 0.1 초 간격* (10 Hz) 으로 시뮬레이션해서 frame 301 개. Ground-truth 파도장은 80×60 격자에 240 × 200 m 영역으로 만들고요, LiDAR scan 은 76,000 빔 쏴서 raydrop 후 *valid 점 50 개 정도* 가 남습니다. 실제 보면 patch coverage 가 50~150 m 정도고요.</a:t>
            </a:r>
          </a:p>
          <a:p/>
          <a:p>
            <a:r>
              <a:t>전체 용량은 *1.2 GB* 정도예요. 참고로 BF3~BF6 의 dominant 파도 길이 (λ_peak) 를 JONSWAP 으로 계산해보면 BF3 가 47 m, BF4 가 77 m, BF5 가 126 m, BF6 가 156 m 입니다. patch 가 50~150 m 니까 *1~3 wavelength 가 들어와* 방향 추정에 충분해요. 특히 BF6 는 wavenumber 가 전부 Nyquist 한계 이내라 spatial sampling 으로도 잡을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*WaveSplat 알고리즘의 근본 발상* 을 말씀드릴게요. 발상 전환이 핵심입니다.</a:t>
            </a:r>
          </a:p>
          <a:p/>
          <a:p>
            <a:r>
              <a:t>기존 격자 방법은 *80×60 = 4800 개 격자점* 의 파고를 추정해야 했어요. LiDAR 측정은 50 점밖에 없는데 4800 개를 추정하려니까 정보가 절대 부족하잖아요? 그래서 부드러움 가정 같은 추가 제약이 필요했어요.</a:t>
            </a:r>
          </a:p>
          <a:p/>
          <a:p>
            <a:r>
              <a:t>그런데 *발상을 전환했어요*. JONSWAP 으로 실해 파도를 분해해보면 *보통 5~30 개 sine wave 의 합* 으로 충분히 표현됩니다. 각 성분은 5 개 파라미터 — 진폭 A, 파수 k_x, k_y, 주파수 ω, 위상 φ 로 완전 결정되고요. *N=10 개* 성분이면 변수 50 개라 LiDAR 50 점 으로 *1:1 추정* 가능해집니다. 4800 개를 풀려는 게 아니라 50 개만 풀면 되는 거예요.</a:t>
            </a:r>
          </a:p>
          <a:p/>
          <a:p>
            <a:r>
              <a:t>수식으로 쓰면 η = Σ A_n · cos(k_n·x − ω_n·t + φ_n) 입니다. 그리고 여기서 *분산 관계를 강제* 해요 — ω 가 k 에서 자동 결정되니까 ω 를 따로 변수로 안 둬도 됩니다. 결과: 변수 5N 에서 4N 으로 *20% 감소* + 물리적으로 불가능한 (k, ω) 조합 자동 배제.</a:t>
            </a:r>
          </a:p>
          <a:p/>
          <a:p>
            <a:r>
              <a:t>그리고 추정을 *2 단계로 나눴어요*. *Init 단계* 는 처음 1 초 이내에 한 번만 실행 되고 (k_x, k_y) 를 정확히 결정합니다. *Track 단계* 는 매 frame 13 ms 안에 끝나고 (A, φ) 만 update 해요. *무거운 작업은 처음 한 번만, 가벼운 작업은 매 frame 실시간* 하는 게 핵심 디자인입니다.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 단계의 핵심 도전을 풀어 말씀드릴게요. 왜 *여러 frame 을 모아야* 하는지가 이 슬라이드의 주제예요.</a:t>
            </a:r>
          </a:p>
          <a:p/>
          <a:p>
            <a:r>
              <a:t>*Spatial Nyquist 한계* — 신호처리에 있는 유명한 정리예요 (Shannon 1949). 짧게 설명하면 *어떤 wavelength 의 신호를 측정하려면 그 wavelength 의 절반 간격으로 sampling* 해야 한다는 거예요. 우리 LiDAR 의 점 간격이 5~8 m 정도니까, 한 순간만 보면 *최대 0.4 rad/m 까지의 wavenumber* 만 추정 가능합니다.</a:t>
            </a:r>
          </a:p>
          <a:p/>
          <a:p>
            <a:r>
              <a:t>그런데 우리가 잡아야 할 wavenumber 범위는 더 넓어요. 특히 BF3 처럼 짧은 파도가 섞인 sea state 에서는 *Nyquist 한계의 3 배까지* 도달할 수 있어요. Paradox 인 거죠. 다행히 BF5-BF6 처럼 긴 파도가 dominant 인 경우는 대부분 Nyquist 이내고요. BF3 의 short tail 만 문제예요.</a:t>
            </a:r>
          </a:p>
          <a:p/>
          <a:p>
            <a:r>
              <a:t>*해결책은 — 시간을 활용하는 거예요.* 선박이 정지해 있어도 *파도 자체가 시간에 따라 이동* 하잖아요. η(x, t) = A·cos(k·x − ω·t + φ) 라는 식에서 시간 t 가 진행하면 phase 가 변하니까, 여러 frame 을 누적하면 같은 위치의 점이라도 *다른 phase 정보* 를 얻습니다. 거기에 분산 관계로 ω 와 k 를 연결하면 spatial Nyquist 한계를 *우회* 할 수 있어요.</a:t>
            </a:r>
          </a:p>
          <a:p/>
          <a:p>
            <a:r>
              <a:t>구체적으로 우리가 쓰는 init window 길이는 sea state 별 약 *10~20 초* (파도 주기의 2 배) 이고, 그 동안 *수천 개의 4D 점* (x, y, t, η) 이 누적되어 wavenumber 모호성을 해소합니다. 참고로 vessel 이 움직이면 추가로 synthetic aperture 효과까지 얻을 수 있는데 이건 향후 연구로 분리했습니다.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Init 단계가 *어떻게 작동* 하는지 풀어 말씀드릴게요. 세 가지 sub-step 이 있어요.</a:t>
            </a:r>
          </a:p>
          <a:p/>
          <a:p>
            <a:r>
              <a:t>*첫째, Beamforming score* — *어떤 wavenumber 가 측정 데이터와 가장 잘 맞는가* 를 점수로 평가하는 방식이에요. 신호처리에서 흔히 쓰는 matched filter 와 같은 원리고요. 각 후보 (k_x, k_y) 에 대해 데이터를 phase 정렬해보고 *얼마나 강하게 합산되는지* 를 score 로 매깁니다. 분산 관계 덕분에 ω 는 자동이라 2D 검색 (k_x, k_y) 만 하면 돼요. 검색 범위는 [-4, 4] rad/m, 81×81 격자에서 *수천 개 후보* 를 평가합니다.</a:t>
            </a:r>
          </a:p>
          <a:p/>
          <a:p>
            <a:r>
              <a:t>*둘째, Coarse-to-fine schedule* — 처음부터 N 개 성분을 다 찾으려고 하면 어려워서 *점진적으로 늘려가요*. 처음엔 N=3 으로 큰 성분만 찾고, 어느 정도 수렴하면 N=8 로 늘리고, 마지막에 N=15 까지. 빠르게 수렴하는 단계는 바로 다음으로 넘어가서 전체 시간을 단축해요.</a:t>
            </a:r>
          </a:p>
          <a:p/>
          <a:p>
            <a:r>
              <a:t>*셋째, Adam refinement* — Beamforming 결과는 *초기값* 일 뿐이에요. 그 후 Adam optimizer 로 init window 전체 데이터에 다시 fitting 합니다. (k_x, k_y, A, φ) 모두 update 하지만, k 는 변화에 신중해야 해서 *학습률을 절반으로* 줘요. Loss 는 세 항 — data 가 잘 맞는지 + 성분이 너무 많지 않은지 (L1 sparsity) + spectrum 이 부드러운지 (smoothness) 입니다.</a:t>
            </a:r>
          </a:p>
          <a:p/>
          <a:p>
            <a:r>
              <a:t>주요 hyperparameter 들은 — L1 가중치 0.001, smoothness 가중치 0.0001, 가파름 한계 0.15 정도예요.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Beamforming score 식이 *왜* 이런 형태인지 직관적으로 풀어드려요.</a:t>
            </a:r>
          </a:p>
          <a:p/>
          <a:p>
            <a:r>
              <a:t>*핵심 직관 — '코러스 효과' 라고 생각하시면 돼요.* 합창단이 같은 음을 정확히 부르면 소리가 *N 배로 커지지만*, 음이 다 다르면 서로 상쇄돼서 √N 정도만 커져요. 우리도 비슷합니다. 후보 (k, ω) 가 *맞으면* 모든 LiDAR 점의 phase 가 정렬돼서 합이 N 배로 강해지고요, *틀리면* random phase 로 합산돼서 약 √N 정도만 강해져요. 그러니까 SNR (신호 대 잡음비) 이득이 *점 개수에 비례* 합니다. Init window 의 수천 점 정도면 충분한 dB 의 SNR 향상이 나와요.</a:t>
            </a:r>
          </a:p>
          <a:p/>
          <a:p>
            <a:r>
              <a:t>*왜 이 형태가 표준인가* — 이건 공돌이라면 알고 있어야 할 *delay-and-sum beamforming* 이라는 신호처리 표준이에요 (Kraus 1988, Van Trees 2002). 1960 년 Turin 의 *matched filter 정리* 가 Gaussian noise 에서 SNR 을 최대화하는 *optimal filter* 임을 증명했고요. 게다가 *단순하고 robust*, covariance matrix 같은 것 안 추정해도 되는 게 sparse data 에 적합해요.</a:t>
            </a:r>
          </a:p>
          <a:p/>
          <a:p>
            <a:r>
              <a:t>*분산 관계의 차원 축소 효과* — 사실 dispersion 없이 풀면 (k_x, k_y, ω) 3 차원 검색 이라서 후보가 *수십만 개* 나오고 계산이 안 돼요. dispersion 으로 ω 를 자동 결정하게 강제하면 2 차원 검색이라 수천 개로 줄어요.</a:t>
            </a:r>
          </a:p>
          <a:p/>
          <a:p>
            <a:r>
              <a:t>참고로 더 정교한 spectral 방법 (MUSIC, ESPRIT, Capon/MVDR) 도 있는데, 이런 건 covariance matrix 가 필요하거나 sparse 점에서 불안정해서 *우리 상황에 부적합* 합니다. delay-and-sum 의 단순함이 오히려 강점이에요.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*Track 단계* 가 매 frame 13 ms 안에 끝나는 비결을 말씀드릴게요. *Adaptive N* 도 이 단계에서 작동합니다.</a:t>
            </a:r>
          </a:p>
          <a:p/>
          <a:p>
            <a:r>
              <a:t>*핵심 — 파수 k 는 Init 에서 결정한 값으로 고정해요*. 이게 WaveSplat 의 가장 중요한 설계 결정이에요. 왜냐하면 한 순간의 50 개 점만 보면 k 추정이 *극도로 불안정* 하거든요. 수학적으로 표현하면 *Fisher 정보 (k 변화에 데이터가 반응하는 정도) 가 (A, φ) 보다 1000 배 작아요*. k 를 자유롭게 두면 50 점에 over-fit 해서 비물리적인 답으로 발산해 버립니다. 그래서 k 는 init 결과로 고정하고 *진폭 A 와 위상 φ 만 매 frame update* 하는 거죠. ω 는 분산 관계로 자동.</a:t>
            </a:r>
          </a:p>
          <a:p/>
          <a:p>
            <a:r>
              <a:t>*Adam optimizer* — 딥러닝에서 가장 많이 쓰이는 최적화 방법이에요. gradient 의 1 차 모멘트와 2 차 모멘트를 추적하면서 *적응적 학습률* 로 update 합니다. 학습률 0.005, frame 당 10 step 정도 돌리면 약 *13 ms* 가 걸려요. 매 update 전에 *phase 예측* (φ ← φ + ω·Δt) 도 해줘요 — kinematic preview 라고 부릅니다. 그리고 최근 3 개 frame 을 buffer 로 모아서 gradient 가 안정적으로 계산되도록 했어요.</a:t>
            </a:r>
          </a:p>
          <a:p/>
          <a:p>
            <a:r>
              <a:t>*Adaptive N* 은 성분 수를 *동적으로 조정* 해요. 세 가지 메커니즘이 있습니다.</a:t>
            </a:r>
          </a:p>
          <a:p>
            <a:r>
              <a:t>(1) *Pruning (가지치기)* — 진폭이 작아진 성분은 제거. 누적 에너지 90% 만 유지.</a:t>
            </a:r>
          </a:p>
          <a:p>
            <a:r>
              <a:t>(2) *Growth (성장)* — 잔여 오차가 5 cm 넘으면 새 (k_x, k_y) 를 추가 (최대 30 개).</a:t>
            </a:r>
          </a:p>
          <a:p>
            <a:r>
              <a:t>(3) *Safety rollback (안전 복구)* — 변경 후 오차가 1.3 배 이상 늘어나면 즉시 이전 상태로 되돌림. 잘못된 prune/grow 가 cascade failure 로 번지는 걸 방지하는 거죠. 매 frame 에서 이 세 가지가 자동 작동하면서 N 을 적정 수준으로 유지합니다.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*핵심 비교 결과* 입니다. 12 개 다양한 파도 시나리오에서 측정한 평균 값이에요.</a:t>
            </a:r>
          </a:p>
          <a:p/>
          <a:p>
            <a:r>
              <a:t>*WaveSplat* 평균 오차 0.211, 13.4 ms / frame. *Wang2025* (Feng Wang 의 baseline 을 충실히 재현한 것) 는 0.253, 632 ms. 즉 *정확도는 16% 더 좋고 속도는 47 배 빠른* 거예요. 그것도 GPU 없이 *CPU 만으로* 입니다. 13 ms 면 초당 75 frame 처리 가능하니까 10 Hz 제어 루프에 충분히 들어갑니다. Wang2025 의 632 ms 는 초당 1.6 frame 이라 real-time 제어에는 못 써요.</a:t>
            </a:r>
          </a:p>
          <a:p/>
          <a:p>
            <a:r>
              <a:t>참고로 다른 baseline 들도 표에 넣었어요. *Ehlers FNO* 는 1.9 ms 로 가장 빠르지만 학습 데이터 3120 개를 미리 만들어야 하고요. *Ehlers PFT-PINN* 은 학습 데이터가 0 개 지만 instance 마다 30 분씩 새로 학습해야 합니다. *Yan VOF-EnKF* 는 wave breaking 까지 처리할 수 있지만 *offline 만 가능* 해요.</a:t>
            </a:r>
          </a:p>
          <a:p/>
          <a:p>
            <a:r>
              <a:t>WaveSplat 의 우위는 *모든 항목을 동시에 만족* 한다는 점이에요. 정확도 좋고, 속도 빠르고, 학습 데이터 필요 없고, 2D 방향 처리하고, 희소 LiDAR 도 받고. 다만 다음 슬라이드에서 *episode 별로* 자세히 보면 *강점도 한계도* 분명히 드러납니다.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그래프가 *우리 연구의 강점과 한계를 정직하게* 보여줘요.</a:t>
            </a:r>
          </a:p>
          <a:p/>
          <a:p>
            <a:r>
              <a:t>*단순한 파도 (1~5 개 성분) 에서는 WaveSplat 이 압도적입니다.* 예를 들어 BF3 의 2 성분 case 에서는 우리 오차가 0.052 인데 Wang2025 는 0.250 이에요. *거의 완벽한 추정* 입니다. 왜냐하면 2 개 성분이면 파라미터 10 개만 추정하면 되고, LiDAR 50 점 이면 충분히 잘 맞을 수 있거든요. 격자 방법은 성분이 적어도 *격자 해상도 한계* 가 있어서 이 정확도에 못 도달해요.</a:t>
            </a:r>
          </a:p>
          <a:p/>
          <a:p>
            <a:r>
              <a:t>*그런데 복잡한 파도 (15~30 개 성분) 에서는 일부 역전* 이 일어나요. BF4 의 15 성분 case 에서 WaveSplat 은 0.302 인데 Wang2025 는 0.249 로 *오히려 낫습니다*. 이유는 — 격자 방법은 모든 성분을 격자에 *한꺼번에 담을 수 있지만*, 우리 WaveSplat 은 beamforming 으로 peak 를 *하나하나 분리해야* 해요. 30 개 peak 를 정확히 분리하기는 쉽지 않거든요.</a:t>
            </a:r>
          </a:p>
          <a:p/>
          <a:p>
            <a:r>
              <a:t>대략 *N=15 부근에서 역전* 이 일어나요. 단순한 파도는 파라미터 표현이 효율, 복잡한 파도는 격자가 표현력 우위입니다.</a:t>
            </a:r>
          </a:p>
          <a:p/>
          <a:p>
            <a:r>
              <a:t>대응 방향은 *hybrid init* — 격자로 대략 분포를 잡은 다음 파라미터로 정밀화하는 2 단계 초기화예요. 두 표현의 장점을 결합하는 거죠. 신경망으로 초기 성분을 학습 하는 *learned init* 도 대안이고요. 이건 향후 연구로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*각 기술이 실제로 도움이 되는지* 분리해서 검증한 ablation 입니다. Ablation 이란 의학에서 온 용어인데, *기술을 하나씩 빼보면서 빠진 게 도움이 되는지* 확인하는 실험이에요.</a:t>
            </a:r>
          </a:p>
          <a:p/>
          <a:p>
            <a:r>
              <a:t>4 가지 변형을 비교했어요.</a:t>
            </a:r>
          </a:p>
          <a:p>
            <a:r>
              <a:t>  *A (기본)* — 한 frame 만 보고 dispersion 도 안 쓴 가장 단순한 버전. 오차 0.213.</a:t>
            </a:r>
          </a:p>
          <a:p>
            <a:r>
              <a:t>  *B* — A 에 multi-frame 만 추가. 0.208 로 *조금 개선*.</a:t>
            </a:r>
          </a:p>
          <a:p>
            <a:r>
              <a:t>  *C* — A 에 dispersion 만 추가 (한 frame 그대로). 0.226 으로 *오히려 악화* 됐어요!</a:t>
            </a:r>
          </a:p>
          <a:p>
            <a:r>
              <a:t>  *D = WaveSplat* — multi-frame + dispersion 둘 다. 0.211 로 *가장 안정*.</a:t>
            </a:r>
          </a:p>
          <a:p/>
          <a:p>
            <a:r>
              <a:t>*가장 흥미로운 건 C 가 오히려 악화된다는 거예요.* 이유는 — 한 frame 에서 k 가 부정확 하게 추정되면, dispersion 으로 ω 가 *그 부정확함을 그대로 따라가서* 오류가 증폭 됩니다. 즉 dispersion 은 *데이터로 k 가 잘 잡혀야만* 효과를 발휘하는 거예요.</a:t>
            </a:r>
          </a:p>
          <a:p/>
          <a:p>
            <a:r>
              <a:t>*D 가 안정적인 이유는* multi-frame 이 k 를 정확히 잡아주고, 그 위에서 dispersion 이 ω 를 자동 결정하면서 자유도를 줄여주기 때문이에요. 두 가지가 *시너지* 를 내는 거죠.</a:t>
            </a:r>
          </a:p>
          <a:p/>
          <a:p>
            <a:r>
              <a:t>*핵심 메시지* — 물리 법칙 (dispersion) 은 마법이 아니라 *정규화 역할* 입니다. 데이터 로 잘 잡힌 k 위에서 작동해야 의미가 있어요. 그래서 우리는 multi-frame 과 dispersion 을 *함께* 써야 한다는 게 핵심 발견입니다.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*우리 연구의 핵심 메시지* 예요. 분산 관계가 *정규화 역할* 을 한다는 발견이 paper 의 main framing 입니다.</a:t>
            </a:r>
          </a:p>
          <a:p/>
          <a:p>
            <a:r>
              <a:t>*메커니즘 1 — 자유도 감소* — 분산 관계 ω = √(g·|k|·tanh(|k|·d)) 라는 물리 법칙을 강제로 끼워 넣으면, ω 가 k 에서 자동 결정됩니다. 그러면 우리가 추정해야 할 변수가 5N 개에서 4N 개로 *20% 줄어들어요*. 그리고 *물리적으로 불가능한 (k, ω) 조합은 자동 배제* 됩니다. 마치 답을 미리 좁혀놓는 정규화 효과예요.</a:t>
            </a:r>
          </a:p>
          <a:p/>
          <a:p>
            <a:r>
              <a:t>*메커니즘 2 — 여러 frame 시간 정보 활용* — η(x, t) 가 시간에 따라 propagate 하는 걸 이용해요. *선박이 정지해 있어도* 파도 자체가 움직이니까 multi-frame 효과가 자연스 럽게 옵니다. 여러 frame 의 (x, y, t, η) 4D 정보를 모으면 wavenumber 의 모호성을 해소할 수 있어요. 참고로 *선박이 움직이면* SAR (synthetic aperture radar) 처럼 추가로 분해능이 향상되는 효과까지 기대할 수 있는데 이건 향후 연구로 분리했습니다.</a:t>
            </a:r>
          </a:p>
          <a:p/>
          <a:p>
            <a:r>
              <a:t>*두 메커니즘의 시너지가 핵심* — 앞 슬라이드 ablation 에서 봤듯이, dispersion 만 쓰면 *오히려 악화* (0.226), multi-frame 만 쓰면 *개선되지만 불안정* (0.208), 둘 다 쓰면 *가장 안정* (0.211) 입니다.</a:t>
            </a:r>
          </a:p>
          <a:p/>
          <a:p>
            <a:r>
              <a:t>*비유로 정리하면* — Dispersion 은 *눈가리개* (물리 법칙으로 답 좁히기), multi-frame 은 *여러 시점 사진* (시간 차이로 모호성 해소) 이라고 할 수 있어요. 두 가지가 다 있어야 sparse LiDAR 로 phase-resolved 추정이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*왜 2 단계 (Init/Track) 설계가 자연스러운지* 풀어 말씀드릴게요.</a:t>
            </a:r>
          </a:p>
          <a:p/>
          <a:p>
            <a:r>
              <a:t>*핵심 관찰부터* — 변수마다 *필요한 정보가 다르다* 는 거예요. 파수 k 는 파도의 *공간적 패턴* 이라 한 순간 50 점 LiDAR 만으로는 정확히 파악이 어려워요. 여러 frame 의 시간 정보가 필요합니다. 반면에 진폭 A 와 위상 φ 는 파도의 *크기와 현재 위치* 라서 한 순간 데이터로도 충분히 추정 가능해요.</a:t>
            </a:r>
          </a:p>
          <a:p/>
          <a:p>
            <a:r>
              <a:t>*수학적 증거도 있어요* — Fisher information matrix 라는 걸로 분석해보면, k 의 고유값이 (A, φ) 보다 *약 1000 배 작아요*. 이게 무슨 뜻이냐면 *k 가 변해도 데이터가 거의 반응 안 한다* 는 거예요. 그러면 k 를 자유롭게 두면 50 개 점에 *멋대로 over-fit 해서 비물리적인 답으로 발산* 합니다. k 를 고정하면 자유도가 5N 에서 2N 으로 줄어 *훨씬 안정적인 추정* 이 가능해져요.</a:t>
            </a:r>
          </a:p>
          <a:p/>
          <a:p>
            <a:r>
              <a:t>*그래서 전체 흐름은 자연스럽게 4 단계로 정리됩니다*:</a:t>
            </a:r>
          </a:p>
          <a:p>
            <a:r>
              <a:t>  (1) 여러 frame 시간 정보로 파수 k 추정 (Init 단계, 한 번)</a:t>
            </a:r>
          </a:p>
          <a:p>
            <a:r>
              <a:t>  (2) 분산 관계로 ω 자동 결정 → 자유도 감소 + 물리 제약</a:t>
            </a:r>
          </a:p>
          <a:p>
            <a:r>
              <a:t>  (3) 매 frame Adam 으로 (A, φ) 빠르게 추적 (Track 단계)</a:t>
            </a:r>
          </a:p>
          <a:p>
            <a:r>
              <a:t>  (4) Adaptive N 으로 성분 수 자동 조정</a:t>
            </a:r>
          </a:p>
          <a:p/>
          <a:p>
            <a:r>
              <a:t>이 4 단계가 합쳐져서 *13 ms / frame 의 real-time* + *정확도 0.211* 을 동시에 달성하는 게 우리 알고리즘의 디자인입니다.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*한계를 정직하게 공유* 하는 시간입니다. 연구 신뢰도를 높이려면 잘 되는 점뿐 아니라 한계도 먼저 인정해야 해요. 4 가지 정직한 제약을 말씀드릴게요.</a:t>
            </a:r>
          </a:p>
          <a:p/>
          <a:p>
            <a:r>
              <a:t>*한계 1 — 선형 근사를 썼다는 점* — 우리는 파도를 *sin 파의 합* 으로 표현해요. 그런데 실제 파도는 *비선형* 입니다. 마루는 뾰족하고 골은 평평하죠. Klein 2020 의 wave model 비교 연구를 보면 정확도 순서가 *HOSM &gt; NLSE2 &gt; NLSE &gt; LWT* 인데, 우리 LWT 는 가장 단순한 family 예요. 가파름 ε &lt; 0.07 영역에서만 신뢰할 수 있고 BF6 까지가 적용 한계입니다. 향후 Stokes 2 차 보정 추가하면 확장 가능해요.</a:t>
            </a:r>
          </a:p>
          <a:p/>
          <a:p>
            <a:r>
              <a:t>*한계 2 — 복잡한 파도에서 정확도 저하* — 앞에서 본 reversal 이에요. 15 개 이상 성분에서는 Wang2025 가 더 나은 경우도 있어요. BF4_15comp 에서 우리 0.302 vs Wang2025 0.249. 원인은 beamforming 이 *다수 peak 를 정확히 분리* 하기 어렵다는 거 고요. 향후 hybrid init (격자 → 파라미터 정밀화) 로 해결할 예정입니다.</a:t>
            </a:r>
          </a:p>
          <a:p/>
          <a:p>
            <a:r>
              <a:t>*한계 3 — 선박이 정지 상태라고 가정한 점* — 사실 우리 dataset 은 *vessel 정지 (V=0 kts) 로 합성* 되어 있어요. 그래서 SA (synthetic aperture) 효과를 활용하지 못합니다. 영향은 *매우 긴 swell (λ &gt; 250 m)* 의 방향 해상도가 저하될 수 있다는 거예요. 향후 vessel motion 도입하면 V·T 만큼 추가 공간 정보를 얻을 수 있습니다.</a:t>
            </a:r>
          </a:p>
          <a:p/>
          <a:p>
            <a:r>
              <a:t>*한계 4 — Wave breaking 과 유속장 추정은 미지원* — 이런 건 VOF-EnKF, PFT-PINN 같은 비선형 시뮬레이션 방법만 가능해요 (그것도 offline). 우리 연구는 *real-time 제어* 영역이라 응용 목적 자체가 다릅니다. 필요하면 그 분야 연구자들과 협업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WaveSplat 을 실제 응용에 *시험 적용* 한 사례를 보여드릴게요. *Hydrofoil ride control* 에 적용해본 결과예요.</a:t>
            </a:r>
          </a:p>
          <a:p/>
          <a:p>
            <a:r>
              <a:t>*왜 hydrofoil 인가* — Hydrofoil 은 수중 날개로 lift 를 만들어서 *선체를 물 위로 들어올리는* 고속선이에요. 그런데 *파도를 만나면 lift 가 변동* 해서 선체가 heave/pitch 로 흔들립니다. 승차감이 떨어지는 거죠. 만약 *앞쪽에 어떤 파도가 오는지 미리 알면* fin angle 을 미리 조절해서 disturbance 를 상쇄할 수 있어요. *WaveSplat 의 real-time 추정이 정확히 이 preview 를 제공* 하기 때문에 좋은 응용입니다.</a:t>
            </a:r>
          </a:p>
          <a:p/>
          <a:p>
            <a:r>
              <a:t>*제어 구조 비교* — 기존 *PD controller* 는 *현재 heave error 만* 보고 fin 을 조절 해요 (feedback only). 우리가 제안하는 *PD + Feed-Forward* 는 WaveSplat 으로 미래 wave disturbance 를 예측해서 fin angle 에 *보상값을 미리 더해줍니다*. 수식으로 쓰면 `최종 fin angle = PD(heave error) + FF(predicted wave)` 입니다.</a:t>
            </a:r>
          </a:p>
          <a:p/>
          <a:p>
            <a:r>
              <a:t>*Test setup* — WaveSim 합성 파도와 hydrofoil dynamics simulator 를 결합했어요. Preview window 는 0.3 초 lookahead 로 잡았고요 (V=11.3 m/s 에서 약 3 m 앞). 같은 파도 시퀀스에 두 controller 를 적용해 직접 비교했습니다.</a:t>
            </a:r>
          </a:p>
          <a:p/>
          <a:p>
            <a:r>
              <a:t>*강조드리고 싶은 건* — 이건 *preliminary test* 입니다. *응용 가능성을 확인* 하는 정도예요. 체계적 controller tuning, robustness 평가, 실제 deployment 변수들은 후속 연구로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*위 영상이 PD vs PD+FF 의 직접 비교* 입니다. 잠시 영상에 집중해 주세요.</a:t>
            </a:r>
          </a:p>
          <a:p/>
          <a:p>
            <a:r>
              <a:t>영상은 두 부분으로 구성되어 있어요. *위쪽* 은 시간에 따른 파도와 vessel 위치를 보여주고요, *아래쪽* 은 heave acceleration 의 time series 입니다. *파란선이 PD-only, 빨간선이 PD+FF (WaveSplat 사용)* 입니다. 보시면 빨간선의 *진동이 명확히 작아요*.</a:t>
            </a:r>
          </a:p>
          <a:p/>
          <a:p>
            <a:r>
              <a:t>*정량 결과로 보면* — aRMS (root mean square 가속도) 가 PD-only 0.090 m/s² 에서 PD+FF 0.047 m/s² 로 *약 48% 감소* 했어요. ISO 2631 ride comfort 기준에서 *의미 있는 수준의 감소* 라 승차감 향상으로 직결됩니다.</a:t>
            </a:r>
          </a:p>
          <a:p/>
          <a:p>
            <a:r>
              <a:t>*다시 강조드리지만 이건 시험 적용 결과* 예요. WaveSplat 정보가 제어에 *실제로 도움이 된다는 proof-of-concept* 입니다. 실제 deployment 에는 controller robustness, sensor noise, vessel dynamics 의 uncertainty 등 추가 고려가 필요하고요, 이건 후속 연구나 학위논문에서 이어가겠습니다.</a:t>
            </a:r>
          </a:p>
          <a:p/>
          <a:p>
            <a:r>
              <a:t>*발표 tip* — 영상을 잠시 정지하고 청자가 *두 line 의 차이를 직접 눈으로* 보게 하면 효과적이에요. *눈으로 봐도 차이* 가 가장 직관적인 evidence 거든요.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*향후 연구 방향 4 가지* 를 말씀드리겠습니다.</a:t>
            </a:r>
          </a:p>
          <a:p/>
          <a:p>
            <a:r>
              <a:t>*방향 1 — 고복잡도 파도 대응 (초기화 개선)* — 앞에서 봤듯이 15 개 이상 성분에서 정확도가 떨어져요. 두 가지 해결 방향이 있어요. *Hybrid init* 은 격자 방법으로 먼저 대략적인 분포를 잡고 그 결과를 파라미터 초기값으로 정밀화하는 거고, *Learned init* 은 신경망을 활용해서 LiDAR 점으로부터 초기 성분을 직접 추정하는 거예요. 기대 — 복잡 파도에서도 격자 방법 이상의 정확도.</a:t>
            </a:r>
          </a:p>
          <a:p/>
          <a:p>
            <a:r>
              <a:t>*방향 2 — 비선형 파도 확장* — 지금은 LWT 라서 BF6 까지만 신뢰할 수 있어요. *Stokes 2 차 보정* 을 추가하면 파도의 비대칭성 (마루 뾰족, 골 평평) 을 일부 반영할 수 있고, Klein 2020 에 따르면 적용 범위가 크게 넓어집니다. 장기적으로는 NLSE 수준까지 도달 이 목표예요.</a:t>
            </a:r>
          </a:p>
          <a:p/>
          <a:p>
            <a:r>
              <a:t>*방향 3 — Vessel motion 기반 synthetic aperture* — 이게 흥미로운 방향이에요. 지금은 vessel 정지 가정이지만, V &gt; 0 으로 움직이면 *V·T 만큼 추가 spatial coverage* 가 생깁니다. Wiley 1954 의 SAR (synthetic aperture radar) 원리를 ocean LiDAR 에 적용 하는 거죠. 우리가 *ship-mounted LiDAR 에서 SA 를 적용한 첫 사례* 가 될 가능성도 있어요.</a:t>
            </a:r>
          </a:p>
          <a:p/>
          <a:p>
            <a:r>
              <a:t>*방향 4 — 실측 데이터 검증* — 지금은 모두 합성 시뮬레이션이에요. *실제 선박에 LiDAR 를 달고* 측정한 데이터로 검증해야 합니다. 가장 큰 도전은 *ground-truth* 를 어떻게 확보할지인데, wave buoy 나 X-band radar 로 병행 측정하는 방법을 고려하고 있어요.</a:t>
            </a:r>
          </a:p>
          <a:p/>
          <a:p>
            <a:r>
              <a:t>*최종 목표* — 선박 LiDAR 로 주변 파도를 real-time 으로 추정하고, 그 정보를 hydrofoil ride control 이나 자율운항 같은 *선박 제어에 직접 활용할 수 있는 시스템* 을 만드는 것입니다.</a:t>
            </a:r>
          </a:p>
          <a:p/>
          <a:p>
            <a:r>
              <a:t>이상으로 발표를 마치겠습니다. *질문이나 피드백 환영합니다.*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C07C8241-B47D-4265-B8DC-7A83560CC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054225"/>
            <a:ext cx="9144000" cy="2232025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D8179D-E436-4C76-ADBD-8F3423C15B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25663"/>
            <a:ext cx="9144000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1D063F3-1108-4154-8347-0AB06E35D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DEB2E69D-3CDF-48CA-9224-6B58E034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0327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5B215-C573-4168-B166-EB28B28A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Times New Roman" panose="02020603050405020304" pitchFamily="18" charset="0"/>
              <a:buChar char="-"/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804C4-9697-471E-8BC1-E0A58D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37338"/>
            <a:ext cx="1403648" cy="242969"/>
          </a:xfrm>
        </p:spPr>
        <p:txBody>
          <a:bodyPr/>
          <a:lstStyle/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C737C-4C7F-4C5A-8F42-207CA8A3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03648" y="6627244"/>
            <a:ext cx="5976664" cy="240018"/>
          </a:xfrm>
        </p:spPr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8">
            <a:extLst>
              <a:ext uri="{FF2B5EF4-FFF2-40B4-BE49-F238E27FC236}">
                <a16:creationId xmlns:a16="http://schemas.microsoft.com/office/drawing/2014/main" id="{66223D9C-B720-4BD8-9066-5AAD180ABF23}"/>
              </a:ext>
            </a:extLst>
          </p:cNvPr>
          <p:cNvSpPr txBox="1">
            <a:spLocks/>
          </p:cNvSpPr>
          <p:nvPr userDrawn="1"/>
        </p:nvSpPr>
        <p:spPr>
          <a:xfrm>
            <a:off x="4067944" y="6376074"/>
            <a:ext cx="899592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-</a:t>
            </a:r>
            <a:fld id="{4B06D9A7-2E35-4533-98BA-70A08AF23C1B}" type="slidenum"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/xx</a:t>
            </a:r>
            <a:r>
              <a:rPr lang="en-US" altLang="ko-KR" dirty="0"/>
              <a:t>-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F186BCE-BF40-49B6-9640-B62E9209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5692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B40BB9-443F-4905-A0E2-B5F7F3628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"/>
            <a:ext cx="8191822" cy="781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AD3A9-72B8-461E-95E0-A034CE037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980732"/>
            <a:ext cx="8191822" cy="51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4FE15-D5B1-472D-8C03-1866CA6B9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37339"/>
            <a:ext cx="1403648" cy="215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8D6D48-DE6D-44CE-A7CA-EE6525099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3648" y="6627244"/>
            <a:ext cx="6212110" cy="2400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ACEA0B10-CC48-4B92-B94F-3F5D3EA269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85813"/>
            <a:ext cx="91440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572C12F0-8479-479A-ABC0-316A3C83A05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23050"/>
            <a:ext cx="7380312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77CD4FEF-74D3-4DAE-AE4D-9E663E34AE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79388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471CF3CB-1B69-427E-ACF8-3C89AC11B6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928813"/>
            <a:ext cx="69850" cy="46799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EFEB5F-9136-46CD-A7E7-DD92C8EE28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9361" y="6320474"/>
            <a:ext cx="512878" cy="532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6923D-4463-4616-B13E-2F75DC18C637}"/>
              </a:ext>
            </a:extLst>
          </p:cNvPr>
          <p:cNvSpPr txBox="1"/>
          <p:nvPr userDrawn="1"/>
        </p:nvSpPr>
        <p:spPr>
          <a:xfrm>
            <a:off x="7852389" y="6513991"/>
            <a:ext cx="1366080" cy="35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"/>
              </a:lnSpc>
            </a:pP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SNUTT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 National University</a:t>
            </a: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Towing Tank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2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hf sldNum="0"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gif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B3739-5194-4EC4-8994-987B3EFD5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2130200"/>
            <a:ext cx="8782744" cy="2090662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/>
              <a:t>Ocean Wave Estimation from sparse LiDAR point</a:t>
            </a:r>
            <a:endParaRPr lang="ko-KR" altLang="en-US" sz="1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05733F-0B25-40D5-BF94-DF468B066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3608" y="5373216"/>
            <a:ext cx="7992888" cy="720080"/>
          </a:xfrm>
        </p:spPr>
        <p:txBody>
          <a:bodyPr>
            <a:normAutofit/>
          </a:bodyPr>
          <a:lstStyle/>
          <a:p>
            <a:pPr algn="r"/>
            <a:r>
              <a:rPr lang="en-US" altLang="ko-KR" sz="1800" b="1" dirty="0" err="1"/>
              <a:t>Sae</a:t>
            </a:r>
            <a:r>
              <a:rPr lang="en-US" altLang="ko-KR" sz="1800" b="1" dirty="0"/>
              <a:t> Yong Park</a:t>
            </a:r>
            <a:r>
              <a:rPr lang="en-US" altLang="ko-KR" sz="1800" baseline="30000" dirty="0"/>
              <a:t> 1</a:t>
            </a:r>
            <a:r>
              <a:rPr lang="en-US" altLang="ko-KR" sz="1800" dirty="0"/>
              <a:t>, Shin</a:t>
            </a:r>
            <a:r>
              <a:rPr lang="ko-KR" altLang="en-US" sz="1800" dirty="0"/>
              <a:t> </a:t>
            </a:r>
            <a:r>
              <a:rPr lang="en-US" altLang="ko-KR" sz="1800" dirty="0"/>
              <a:t>Hyung</a:t>
            </a:r>
            <a:r>
              <a:rPr lang="ko-KR" altLang="en-US" sz="1800" dirty="0"/>
              <a:t> </a:t>
            </a:r>
            <a:r>
              <a:rPr lang="en-US" altLang="ko-KR" sz="1800" dirty="0"/>
              <a:t>Rhee</a:t>
            </a:r>
            <a:r>
              <a:rPr lang="en-US" altLang="ko-KR" sz="1800" baseline="30000" dirty="0"/>
              <a:t> 1</a:t>
            </a:r>
            <a:endParaRPr lang="en-US" altLang="ko-KR" sz="1800" dirty="0"/>
          </a:p>
          <a:p>
            <a:pPr algn="r"/>
            <a:r>
              <a:rPr lang="en-US" altLang="ko-KR" sz="1800" baseline="30000" dirty="0"/>
              <a:t> </a:t>
            </a:r>
            <a:r>
              <a:rPr lang="en-US" altLang="ko-KR" sz="1800" dirty="0"/>
              <a:t>Seoul National Univ., Seoul, Korea</a:t>
            </a:r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96E4A0B-D702-4670-BF9E-8B0501E9E89D}"/>
              </a:ext>
            </a:extLst>
          </p:cNvPr>
          <p:cNvSpPr txBox="1">
            <a:spLocks/>
          </p:cNvSpPr>
          <p:nvPr/>
        </p:nvSpPr>
        <p:spPr>
          <a:xfrm>
            <a:off x="4036223" y="0"/>
            <a:ext cx="5112568" cy="7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Aft>
                <a:spcPts val="0"/>
              </a:spcAft>
            </a:pPr>
            <a:endParaRPr kumimoji="0" lang="ko-KR" altLang="en-US" baseline="300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B59998C-8342-4240-B9B4-EE62F58858CB}"/>
              </a:ext>
            </a:extLst>
          </p:cNvPr>
          <p:cNvSpPr txBox="1">
            <a:spLocks/>
          </p:cNvSpPr>
          <p:nvPr/>
        </p:nvSpPr>
        <p:spPr>
          <a:xfrm>
            <a:off x="7164288" y="809664"/>
            <a:ext cx="1979712" cy="387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r" fontAlgn="auto">
              <a:spcAft>
                <a:spcPts val="0"/>
              </a:spcAft>
            </a:pPr>
            <a:r>
              <a:rPr kumimoji="0" lang="en-US" altLang="ko-KR" sz="2000" dirty="0">
                <a:solidFill>
                  <a:schemeClr val="tx1"/>
                </a:solidFill>
              </a:rPr>
              <a:t>May 13, 2026</a:t>
            </a:r>
            <a:endParaRPr kumimoji="0"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79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E03C2DFD-BF25-4C69-99C4-9AEF63C46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1.	Introduction &amp; Motivation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CA34253F-BB03-4785-AF99-09BF4345B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2.	Related work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957DF45F-CB86-4ACD-9E4C-5E3F81D9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3.	Method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0D143BB5-9403-4D34-8155-18B3E379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4.	Experiments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Mechanism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E39325F6-5876-1AAD-95B5-20D7C8796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8" y="4965685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5.	Limitations &amp; 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9708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Contents</a:t>
            </a:r>
          </a:p>
          <a:p>
            <a:pPr>
              <a:spcAft>
                <a:spcPts val="300"/>
              </a:spcAft>
            </a:pPr>
            <a:r>
              <a:rPr sz="1300" b="1"/>
              <a:t>  1.	Introduction &amp; Motivation</a:t>
            </a:r>
          </a:p>
          <a:p>
            <a:pPr>
              <a:spcAft>
                <a:spcPts val="300"/>
              </a:spcAft>
            </a:pPr>
            <a:r>
              <a:rPr sz="1300" b="1"/>
              <a:t>  2.	Related work</a:t>
            </a:r>
          </a:p>
          <a:p>
            <a:pPr>
              <a:spcAft>
                <a:spcPts val="300"/>
              </a:spcAft>
            </a:pPr>
            <a:r>
              <a:rPr sz="1300" b="1"/>
              <a:t>  3.	Method</a:t>
            </a:r>
          </a:p>
          <a:p>
            <a:pPr>
              <a:spcAft>
                <a:spcPts val="300"/>
              </a:spcAft>
            </a:pPr>
            <a:r>
              <a:rPr sz="1300" b="1"/>
              <a:t>  4.	Experiments &amp; Mechanism</a:t>
            </a:r>
          </a:p>
          <a:p>
            <a:pPr>
              <a:spcAft>
                <a:spcPts val="300"/>
              </a:spcAft>
            </a:pPr>
            <a:r>
              <a:rPr sz="1300" b="1"/>
              <a:t> 5.	Limitations &amp; Research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파 추정의 한계</a:t>
            </a:r>
          </a:p>
          <a:p>
            <a:pPr lvl="1">
              <a:spcAft>
                <a:spcPts val="100"/>
              </a:spcAft>
            </a:pPr>
            <a:r>
              <a:rPr sz="1100"/>
              <a:t>통계적 추정으로는 유의파고, 주기 정도만 제공</a:t>
            </a:r>
          </a:p>
          <a:p>
            <a:pPr lvl="2">
              <a:spcAft>
                <a:spcPts val="0"/>
              </a:spcAft>
            </a:pPr>
            <a:r>
              <a:rPr sz="1000"/>
              <a:t>평균적 파 환경은 알 수 있지만, 언제 어디서 파가 오는지 미지수</a:t>
            </a:r>
          </a:p>
          <a:p>
            <a:pPr lvl="2">
              <a:spcAft>
                <a:spcPts val="0"/>
              </a:spcAft>
            </a:pPr>
            <a:r>
              <a:rPr sz="1000"/>
              <a:t>선박 설계에는 충분하나 실시간 제어 목적으로는 부족</a:t>
            </a:r>
          </a:p>
          <a:p>
            <a:pPr lvl="1">
              <a:spcAft>
                <a:spcPts val="100"/>
              </a:spcAft>
            </a:pPr>
            <a:r>
              <a:rPr sz="1100"/>
              <a:t>따라서 본 연구에서는 하기와 같은 연구를 수행</a:t>
            </a:r>
          </a:p>
          <a:p>
            <a:pPr lvl="2">
              <a:spcAft>
                <a:spcPts val="0"/>
              </a:spcAft>
            </a:pPr>
            <a:r>
              <a:rPr sz="1000"/>
              <a:t>Phase resolved estimation: η(x, y, t) – 각 파도의 위치·시점을 추정</a:t>
            </a:r>
          </a:p>
          <a:p>
            <a:pPr lvl="2">
              <a:spcAft>
                <a:spcPts val="0"/>
              </a:spcAft>
            </a:pPr>
            <a:r>
              <a:rPr sz="1000"/>
              <a:t>BF4 sea state가 아닌 특정 위치 특정 시간 후 어떤 파와 같은 구체적 정보 추정</a:t>
            </a:r>
          </a:p>
          <a:p>
            <a:pPr lvl="1">
              <a:spcAft>
                <a:spcPts val="100"/>
              </a:spcAft>
            </a:pPr>
            <a:r>
              <a:rPr sz="1100"/>
              <a:t>연구 결과를 이용한 응용</a:t>
            </a:r>
          </a:p>
          <a:p>
            <a:pPr lvl="2">
              <a:spcAft>
                <a:spcPts val="0"/>
              </a:spcAft>
            </a:pPr>
            <a:r>
              <a:rPr sz="1000"/>
              <a:t>Hydrofoil ride control, 자율운항 안전판단, 선박 motion 예측 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Motivation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본 task 의 핵심 도전 과제 — 왜 어려운가</a:t>
            </a:r>
          </a:p>
          <a:p>
            <a:pPr lvl="1">
              <a:spcAft>
                <a:spcPts val="100"/>
              </a:spcAft>
            </a:pPr>
            <a:r>
              <a:rPr sz="1100"/>
              <a:t>도전 1 — 희소하고 비균일한 측정 (sparse, non-uniform)</a:t>
            </a:r>
          </a:p>
          <a:p>
            <a:pPr lvl="2">
              <a:spcAft>
                <a:spcPts val="0"/>
              </a:spcAft>
            </a:pPr>
            <a:r>
              <a:rPr sz="1000"/>
              <a:t>한 frame 의 LiDAR 유효 점이 약 50개 정도 (raydrop, shadowing 후)</a:t>
            </a:r>
          </a:p>
          <a:p>
            <a:pPr lvl="2">
              <a:spcAft>
                <a:spcPts val="0"/>
              </a:spcAft>
            </a:pPr>
            <a:r>
              <a:rPr sz="1000"/>
              <a:t>점밀도 비균일 — 가까운 거리는 dense, 먼 거리는 sparse</a:t>
            </a:r>
          </a:p>
          <a:p>
            <a:pPr lvl="2">
              <a:spcAft>
                <a:spcPts val="0"/>
              </a:spcAft>
            </a:pPr>
            <a:r>
              <a:rPr sz="1000"/>
              <a:t>Wave gauge 나 dense radar 와 다른 setup → 기존 방법 직접 적용 어려움</a:t>
            </a:r>
          </a:p>
          <a:p>
            <a:pPr lvl="1">
              <a:spcAft>
                <a:spcPts val="100"/>
              </a:spcAft>
            </a:pPr>
            <a:r>
              <a:rPr sz="1100"/>
              <a:t>도전 2 — 실시간 제약 (frame 당 100 ms 이내)</a:t>
            </a:r>
          </a:p>
          <a:p>
            <a:pPr lvl="2">
              <a:spcAft>
                <a:spcPts val="0"/>
              </a:spcAft>
            </a:pPr>
            <a:r>
              <a:rPr sz="1000"/>
              <a:t>선박 제어 루프 약 10 Hz → 한 frame 처리 100 ms 이내 필요</a:t>
            </a:r>
          </a:p>
          <a:p>
            <a:pPr lvl="2">
              <a:spcAft>
                <a:spcPts val="0"/>
              </a:spcAft>
            </a:pPr>
            <a:r>
              <a:rPr sz="1000"/>
              <a:t>선행 방법별 처리 시간 비교:</a:t>
            </a:r>
          </a:p>
          <a:p>
            <a:pPr lvl="2">
              <a:spcAft>
                <a:spcPts val="0"/>
              </a:spcAft>
            </a:pPr>
            <a:r>
              <a:rPr sz="1000"/>
              <a:t>   • EnKF + HOS 비선형 (Wang &amp; Pan): ensemble × HOS forecast 로 수백 ms 이상</a:t>
            </a:r>
          </a:p>
          <a:p>
            <a:pPr lvl="2">
              <a:spcAft>
                <a:spcPts val="0"/>
              </a:spcAft>
            </a:pPr>
            <a:r>
              <a:rPr sz="1000"/>
              <a:t>   • EnKF + linear (Feng Wang 2025, Ne=300): 632 ms — 100 ms 초과로 부적합</a:t>
            </a:r>
          </a:p>
          <a:p>
            <a:pPr lvl="2">
              <a:spcAft>
                <a:spcPts val="0"/>
              </a:spcAft>
            </a:pPr>
            <a:r>
              <a:rPr sz="1000"/>
              <a:t>   • PFT-PINN (Ehlers 2025): instance 마다 약 30 분 학습 (RTX 3090)</a:t>
            </a:r>
          </a:p>
          <a:p>
            <a:pPr lvl="2">
              <a:spcAft>
                <a:spcPts val="0"/>
              </a:spcAft>
            </a:pPr>
            <a:r>
              <a:rPr sz="1000"/>
              <a:t>   • FNO supervised (Ehlers 2023): 학습 후 inference 1.9 ms — 단 3120 sample 학습 필요</a:t>
            </a:r>
          </a:p>
          <a:p>
            <a:pPr lvl="1">
              <a:spcAft>
                <a:spcPts val="100"/>
              </a:spcAft>
            </a:pPr>
            <a:r>
              <a:rPr sz="1100"/>
              <a:t>도전 3 — 2D 방향성 sea state</a:t>
            </a:r>
          </a:p>
          <a:p>
            <a:pPr lvl="2">
              <a:spcAft>
                <a:spcPts val="0"/>
              </a:spcAft>
            </a:pPr>
            <a:r>
              <a:rPr sz="1000"/>
              <a:t>실해 파도는 한 방향 아닌 여러 방향 혼재 (wind sea + 다방향 swell)</a:t>
            </a:r>
          </a:p>
          <a:p>
            <a:pPr lvl="2">
              <a:spcAft>
                <a:spcPts val="0"/>
              </a:spcAft>
            </a:pPr>
            <a:r>
              <a:rPr sz="1000"/>
              <a:t>Wavenumber 도 단순 scalar 아닌 vector (k_x, k_y) 추정 필요</a:t>
            </a:r>
          </a:p>
          <a:p>
            <a:pPr lvl="2">
              <a:spcAft>
                <a:spcPts val="0"/>
              </a:spcAft>
            </a:pPr>
            <a:r>
              <a:rPr sz="1000"/>
              <a:t>선행 연구 다수는 1D 가정으로 단순화 (Klein 2020, Desmars 2023, FNO …)</a:t>
            </a:r>
          </a:p>
          <a:p>
            <a:pPr lvl="2">
              <a:spcAft>
                <a:spcPts val="0"/>
              </a:spcAft>
            </a:pPr>
            <a:r>
              <a:rPr sz="1000"/>
              <a:t>본 연구는 2D directional 그대로 처리 — 차별점 중 하나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Motivation</a:t>
            </a:r>
          </a:p>
        </p:txBody>
      </p:sp>
      <p:pic>
        <p:nvPicPr>
          <p:cNvPr id="4" name="Picture 3" descr="sea_trial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37034"/>
            <a:ext cx="4297680" cy="42582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본 발표의 결과 미리보기 — Spoiler</a:t>
            </a:r>
          </a:p>
          <a:p>
            <a:pPr lvl="1">
              <a:spcAft>
                <a:spcPts val="100"/>
              </a:spcAft>
            </a:pPr>
            <a:r>
              <a:rPr sz="1100"/>
              <a:t>왜 결과부터 보여주는가</a:t>
            </a:r>
          </a:p>
          <a:p>
            <a:pPr lvl="2">
              <a:spcAft>
                <a:spcPts val="0"/>
              </a:spcAft>
            </a:pPr>
            <a:r>
              <a:rPr sz="1000"/>
              <a:t>배경 설명 전에 "왜 이 연구를 계속할 가치가 있는가" 를 숫자로 먼저 제시</a:t>
            </a:r>
          </a:p>
          <a:p>
            <a:pPr lvl="1">
              <a:spcAft>
                <a:spcPts val="100"/>
              </a:spcAft>
            </a:pPr>
            <a:r>
              <a:rPr sz="1100"/>
              <a:t>핵심 정량 비교 (12-episode benchmark, BF2~BF5 sweep)</a:t>
            </a:r>
          </a:p>
          <a:p>
            <a:pPr lvl="2">
              <a:spcAft>
                <a:spcPts val="0"/>
              </a:spcAft>
            </a:pPr>
            <a:r>
              <a:rPr sz="1000"/>
              <a:t>WaveSplat (본 연구): 평균 nRMSE 0.211, 처리 13.4 ms / frame</a:t>
            </a:r>
          </a:p>
          <a:p>
            <a:pPr lvl="2">
              <a:spcAft>
                <a:spcPts val="0"/>
              </a:spcAft>
            </a:pPr>
            <a:r>
              <a:rPr sz="1000"/>
              <a:t>Wang2025 baseline (Feng Wang et al. 2025): 0.253, 632 ms / frame</a:t>
            </a:r>
          </a:p>
          <a:p>
            <a:pPr lvl="2">
              <a:spcAft>
                <a:spcPts val="0"/>
              </a:spcAft>
            </a:pPr>
            <a:r>
              <a:rPr sz="1000"/>
              <a:t>→ 정확도 16% 우위 + 속도 47배 빠름 (CPU only, GPU 불필요)</a:t>
            </a:r>
          </a:p>
          <a:p>
            <a:pPr lvl="2">
              <a:spcAft>
                <a:spcPts val="0"/>
              </a:spcAft>
            </a:pPr>
            <a:r>
              <a:rPr sz="1000"/>
              <a:t>WaveSplat 13.4 ms = 초당 약 75 frame → 10 Hz 제어 루프 충분히 적합</a:t>
            </a:r>
          </a:p>
          <a:p>
            <a:pPr lvl="1">
              <a:spcAft>
                <a:spcPts val="100"/>
              </a:spcAft>
            </a:pPr>
            <a:r>
              <a:rPr sz="1100"/>
              <a:t>핵심 메커니즘 발견</a:t>
            </a:r>
          </a:p>
          <a:p>
            <a:pPr lvl="2">
              <a:spcAft>
                <a:spcPts val="0"/>
              </a:spcAft>
            </a:pPr>
            <a:r>
              <a:rPr sz="1000"/>
              <a:t>분산 관계 (ω↔k) = 자유도 감소 + 물리 정규화 — 5N 변수 → 4N (20% 감소)</a:t>
            </a:r>
          </a:p>
          <a:p>
            <a:pPr lvl="2">
              <a:spcAft>
                <a:spcPts val="0"/>
              </a:spcAft>
            </a:pPr>
            <a:r>
              <a:rPr sz="1000"/>
              <a:t>Multi-frame temporal coherence — wave 자체의 시간 진화로 phase 정보 추출</a:t>
            </a:r>
          </a:p>
          <a:p>
            <a:pPr lvl="2">
              <a:spcAft>
                <a:spcPts val="0"/>
              </a:spcAft>
            </a:pPr>
            <a:r>
              <a:rPr sz="1000"/>
              <a:t>두 메커니즘 결합 시 spatial Nyquist 0.4 rad/m 한계 우회 가능</a:t>
            </a:r>
          </a:p>
          <a:p>
            <a:pPr lvl="1">
              <a:spcAft>
                <a:spcPts val="100"/>
              </a:spcAft>
            </a:pPr>
            <a:r>
              <a:rPr sz="1100"/>
              <a:t>응용 사례 — Hydrofoil ride control 시험 적용</a:t>
            </a:r>
          </a:p>
          <a:p>
            <a:pPr lvl="2">
              <a:spcAft>
                <a:spcPts val="0"/>
              </a:spcAft>
            </a:pPr>
            <a:r>
              <a:rPr sz="1000"/>
              <a:t>Heave aRMS: PD-only 0.090 → PD+FF (WaveSplat preview) 0.047 m/s²</a:t>
            </a:r>
          </a:p>
          <a:p>
            <a:pPr lvl="2">
              <a:spcAft>
                <a:spcPts val="0"/>
              </a:spcAft>
            </a:pPr>
            <a:r>
              <a:rPr sz="1000"/>
              <a:t>약 48% 감소 — preliminary test 단계, 응용 가능성 확인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Motivation</a:t>
            </a:r>
          </a:p>
        </p:txBody>
      </p:sp>
      <p:pic>
        <p:nvPicPr>
          <p:cNvPr id="4" name="Picture 3" descr="fig_3wa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80637"/>
            <a:ext cx="4297680" cy="2971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Contents</a:t>
            </a:r>
          </a:p>
          <a:p>
            <a:pPr>
              <a:spcAft>
                <a:spcPts val="300"/>
              </a:spcAft>
            </a:pPr>
            <a:r>
              <a:rPr sz="1300" b="1"/>
              <a:t>  1.	Introduction &amp; Motivation</a:t>
            </a:r>
          </a:p>
          <a:p>
            <a:pPr>
              <a:spcAft>
                <a:spcPts val="300"/>
              </a:spcAft>
            </a:pPr>
            <a:r>
              <a:rPr sz="1300" b="1"/>
              <a:t>  2.	Related work</a:t>
            </a:r>
          </a:p>
          <a:p>
            <a:pPr>
              <a:spcAft>
                <a:spcPts val="300"/>
              </a:spcAft>
            </a:pPr>
            <a:r>
              <a:rPr sz="1300" b="1"/>
              <a:t>  3.	Method</a:t>
            </a:r>
          </a:p>
          <a:p>
            <a:pPr>
              <a:spcAft>
                <a:spcPts val="300"/>
              </a:spcAft>
            </a:pPr>
            <a:r>
              <a:rPr sz="1300" b="1"/>
              <a:t>  4.	Experiments &amp; Mechanism</a:t>
            </a:r>
          </a:p>
          <a:p>
            <a:pPr>
              <a:spcAft>
                <a:spcPts val="300"/>
              </a:spcAft>
            </a:pPr>
            <a:r>
              <a:rPr sz="1300" b="1"/>
              <a:t> 5.	Limitations &amp; Research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선행 연구 5가지 접근법</a:t>
            </a:r>
          </a:p>
          <a:p>
            <a:pPr lvl="1">
              <a:spcAft>
                <a:spcPts val="100"/>
              </a:spcAft>
            </a:pPr>
            <a:r>
              <a:rPr sz="1100"/>
              <a:t>① 격자 기반 최적화</a:t>
            </a:r>
          </a:p>
          <a:p>
            <a:pPr lvl="2">
              <a:spcAft>
                <a:spcPts val="0"/>
              </a:spcAft>
            </a:pPr>
            <a:r>
              <a:rPr sz="1000"/>
              <a:t>Desmars 2018, 2020, 2023</a:t>
            </a:r>
          </a:p>
          <a:p>
            <a:pPr lvl="2">
              <a:spcAft>
                <a:spcPts val="0"/>
              </a:spcAft>
            </a:pPr>
            <a:r>
              <a:rPr sz="1000"/>
              <a:t>Pre-defined wavenumber grid 위 variational 최적화</a:t>
            </a:r>
          </a:p>
          <a:p>
            <a:pPr lvl="2">
              <a:spcAft>
                <a:spcPts val="0"/>
              </a:spcAft>
            </a:pPr>
            <a:r>
              <a:rPr sz="1000"/>
              <a:t>한계: on-grid (격자 사이 wavenumber 표현 불가), 대부분 1D</a:t>
            </a:r>
          </a:p>
          <a:p>
            <a:pPr lvl="1">
              <a:spcAft>
                <a:spcPts val="100"/>
              </a:spcAft>
            </a:pPr>
            <a:r>
              <a:rPr sz="1100"/>
              <a:t>② 앙상블 칼만 필터</a:t>
            </a:r>
          </a:p>
          <a:p>
            <a:pPr lvl="2">
              <a:spcAft>
                <a:spcPts val="0"/>
              </a:spcAft>
            </a:pPr>
            <a:r>
              <a:rPr sz="1000"/>
              <a:t>Wang &amp; Pan 2021/22 — EnKF + HOS 비선형 wave</a:t>
            </a:r>
          </a:p>
          <a:p>
            <a:pPr lvl="2">
              <a:spcAft>
                <a:spcPts val="0"/>
              </a:spcAft>
            </a:pPr>
            <a:r>
              <a:rPr sz="1000"/>
              <a:t>Feng Wang 2025 — ETKF + fuzzy R + Delaunay</a:t>
            </a:r>
          </a:p>
          <a:p>
            <a:pPr lvl="2">
              <a:spcAft>
                <a:spcPts val="0"/>
              </a:spcAft>
            </a:pPr>
            <a:r>
              <a:rPr sz="1000"/>
              <a:t>Yan 2025 — VOF-EnKF + Navier-Stokes (wave breaking 처리)</a:t>
            </a:r>
          </a:p>
          <a:p>
            <a:pPr lvl="2">
              <a:spcAft>
                <a:spcPts val="0"/>
              </a:spcAft>
            </a:pPr>
            <a:r>
              <a:rPr sz="1000"/>
              <a:t>한계: 50–300 ensemble × 수백 ms+ → real-time 불가, 대부분 1D</a:t>
            </a:r>
          </a:p>
          <a:p>
            <a:pPr lvl="1">
              <a:spcAft>
                <a:spcPts val="100"/>
              </a:spcAft>
            </a:pPr>
            <a:r>
              <a:rPr sz="1100"/>
              <a:t>③ 지도학습 신경망</a:t>
            </a:r>
          </a:p>
          <a:p>
            <a:pPr lvl="2">
              <a:spcAft>
                <a:spcPts val="0"/>
              </a:spcAft>
            </a:pPr>
            <a:r>
              <a:rPr sz="1000"/>
              <a:t>Ehlers 2023 — Fourier Neural Operator (FNO)</a:t>
            </a:r>
          </a:p>
          <a:p>
            <a:pPr lvl="2">
              <a:spcAft>
                <a:spcPts val="0"/>
              </a:spcAft>
            </a:pPr>
            <a:r>
              <a:rPr sz="1000"/>
              <a:t>Inference 1.9 ms (학습 후), HOS 합성 데이터 3120 sample 학습 필요</a:t>
            </a:r>
          </a:p>
          <a:p>
            <a:pPr lvl="2">
              <a:spcAft>
                <a:spcPts val="0"/>
              </a:spcAft>
            </a:pPr>
            <a:r>
              <a:rPr sz="1000"/>
              <a:t>한계: distribution shift, 1D, black-box</a:t>
            </a:r>
          </a:p>
          <a:p>
            <a:pPr lvl="1">
              <a:spcAft>
                <a:spcPts val="100"/>
              </a:spcAft>
            </a:pPr>
            <a:r>
              <a:rPr sz="1100"/>
              <a:t>④ 물리 기반 비지도 NN</a:t>
            </a:r>
          </a:p>
          <a:p>
            <a:pPr lvl="2">
              <a:spcAft>
                <a:spcPts val="0"/>
              </a:spcAft>
            </a:pPr>
            <a:r>
              <a:rPr sz="1000"/>
              <a:t>Ehlers 2025 — PFT-PINN</a:t>
            </a:r>
          </a:p>
          <a:p>
            <a:pPr lvl="2">
              <a:spcAft>
                <a:spcPts val="0"/>
              </a:spcAft>
            </a:pPr>
            <a:r>
              <a:rPr sz="1000"/>
              <a:t>학습 데이터 0개로 비선형 처리, hard-constraint trick</a:t>
            </a:r>
          </a:p>
          <a:p>
            <a:pPr lvl="2">
              <a:spcAft>
                <a:spcPts val="0"/>
              </a:spcAft>
            </a:pPr>
            <a:r>
              <a:rPr sz="1000"/>
              <a:t>한계: instance 마다 ~30 분 학습, 1D + t, buoy only</a:t>
            </a:r>
          </a:p>
          <a:p>
            <a:pPr lvl="1">
              <a:spcAft>
                <a:spcPts val="100"/>
              </a:spcAft>
            </a:pPr>
            <a:r>
              <a:rPr sz="1100"/>
              <a:t>⑤ 연속 파라미터 추정 (Ours) ⭐</a:t>
            </a:r>
          </a:p>
          <a:p>
            <a:pPr lvl="2">
              <a:spcAft>
                <a:spcPts val="0"/>
              </a:spcAft>
            </a:pPr>
            <a:r>
              <a:rPr sz="1000"/>
              <a:t>WaveSplat — 격자 없이 N개 plane wave 파라미터 직접 추정</a:t>
            </a:r>
          </a:p>
          <a:p>
            <a:pPr lvl="2">
              <a:spcAft>
                <a:spcPts val="0"/>
              </a:spcAft>
            </a:pPr>
            <a:r>
              <a:rPr sz="1000"/>
              <a:t>&lt; 100 ms inference + 2D directional + LiDAR raydrop sensor model</a:t>
            </a:r>
          </a:p>
          <a:p>
            <a:pPr lvl="2">
              <a:spcAft>
                <a:spcPts val="0"/>
              </a:spcAft>
            </a:pPr>
            <a:r>
              <a:rPr sz="1000"/>
              <a:t>한계: linear superposition (LWT), ε &lt; 0.07 영역에서만 신뢰</a:t>
            </a:r>
          </a:p>
          <a:p>
            <a:pPr lvl="1">
              <a:spcAft>
                <a:spcPts val="100"/>
              </a:spcAft>
            </a:pPr>
            <a:r>
              <a:rPr sz="1100"/>
              <a:t>※ 자세한 paper 정보는 Appendix A 참조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Related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EnKF 기반 wave estimation — 두 독립 group</a:t>
            </a:r>
          </a:p>
          <a:p>
            <a:pPr lvl="1">
              <a:spcAft>
                <a:spcPts val="100"/>
              </a:spcAft>
            </a:pPr>
            <a:r>
              <a:rPr sz="1100"/>
              <a:t>Wang &amp; Pan group (Yulin Pan, U.Michigan)</a:t>
            </a:r>
          </a:p>
          <a:p>
            <a:pPr lvl="2">
              <a:spcAft>
                <a:spcPts val="0"/>
              </a:spcAft>
            </a:pPr>
            <a:r>
              <a:rPr sz="1000"/>
              <a:t>2021: EnKF + HOS 첫 결합</a:t>
            </a:r>
          </a:p>
          <a:p>
            <a:pPr lvl="2">
              <a:spcAft>
                <a:spcPts val="0"/>
              </a:spcAft>
            </a:pPr>
            <a:r>
              <a:rPr sz="1000"/>
              <a:t>2022: IEnKF-HOS-C — current 동시 추정</a:t>
            </a:r>
          </a:p>
          <a:p>
            <a:pPr lvl="2">
              <a:spcAft>
                <a:spcPts val="0"/>
              </a:spcAft>
            </a:pPr>
            <a:r>
              <a:rPr sz="1000"/>
              <a:t>Sensor: X-band radar, Data: synthetic + 실측 shipborne radar</a:t>
            </a:r>
          </a:p>
          <a:p>
            <a:pPr lvl="1">
              <a:spcAft>
                <a:spcPts val="100"/>
              </a:spcAft>
            </a:pPr>
            <a:r>
              <a:rPr sz="1100"/>
              <a:t>Feng Wang et al. (Harbin Engineering Univ., China)</a:t>
            </a:r>
          </a:p>
          <a:p>
            <a:pPr lvl="2">
              <a:spcAft>
                <a:spcPts val="0"/>
              </a:spcAft>
            </a:pPr>
            <a:r>
              <a:rPr sz="1000"/>
              <a:t>2025: ETKF + fuzzy R + Delaunay 보간</a:t>
            </a:r>
          </a:p>
          <a:p>
            <a:pPr lvl="2">
              <a:spcAft>
                <a:spcPts val="0"/>
              </a:spcAft>
            </a:pPr>
            <a:r>
              <a:rPr sz="1000"/>
              <a:t>Ne=300, 80×60 grid, dx≈3 m</a:t>
            </a:r>
          </a:p>
          <a:p>
            <a:pPr lvl="2">
              <a:spcAft>
                <a:spcPts val="0"/>
              </a:spcAft>
            </a:pPr>
            <a:r>
              <a:rPr sz="1000"/>
              <a:t>Sensor: Stereo camera (WASS), Data: 실측 (Acqua Alta 해양 플랫폼 + 자체 2024)</a:t>
            </a:r>
          </a:p>
          <a:p>
            <a:pPr lvl="2">
              <a:spcAft>
                <a:spcPts val="0"/>
              </a:spcAft>
            </a:pPr>
            <a:r>
              <a:rPr sz="1000"/>
              <a:t>본 baseline 의 직접 prior art (GitHub 공개)</a:t>
            </a:r>
          </a:p>
          <a:p>
            <a:pPr lvl="1">
              <a:spcAft>
                <a:spcPts val="100"/>
              </a:spcAft>
            </a:pPr>
            <a:r>
              <a:rPr sz="1100"/>
              <a:t>본 연구의 baseline 재현 (공정 비교를 위한 통일)</a:t>
            </a:r>
          </a:p>
          <a:p>
            <a:pPr lvl="2">
              <a:spcAft>
                <a:spcPts val="0"/>
              </a:spcAft>
            </a:pPr>
            <a:r>
              <a:rPr sz="1000"/>
              <a:t>알고리즘만 재현 — Ne=300, 80×60 격자, fuzzy R, Delaunay 보간 동일</a:t>
            </a:r>
          </a:p>
          <a:p>
            <a:pPr lvl="2">
              <a:spcAft>
                <a:spcPts val="0"/>
              </a:spcAft>
            </a:pPr>
            <a:r>
              <a:rPr sz="1000"/>
              <a:t>입력 sensor 는 LiDAR sim 으로 통일 (원논문은 stereo camera)</a:t>
            </a:r>
          </a:p>
          <a:p>
            <a:pPr lvl="2">
              <a:spcAft>
                <a:spcPts val="0"/>
              </a:spcAft>
            </a:pPr>
            <a:r>
              <a:rPr sz="1000"/>
              <a:t>Forecast model 도 HOS 대신 linear dispersion 으로 통일</a:t>
            </a:r>
          </a:p>
          <a:p>
            <a:pPr lvl="1">
              <a:spcAft>
                <a:spcPts val="100"/>
              </a:spcAft>
            </a:pPr>
            <a:r>
              <a:rPr sz="1100"/>
              <a:t>공통 한계</a:t>
            </a:r>
          </a:p>
          <a:p>
            <a:pPr lvl="2">
              <a:spcAft>
                <a:spcPts val="0"/>
              </a:spcAft>
            </a:pPr>
            <a:r>
              <a:rPr sz="1000"/>
              <a:t>격자 해상도 한계 — 격자 밖 wavenumber 표현 불가 (~0.25 nRMSE floor)</a:t>
            </a:r>
          </a:p>
          <a:p>
            <a:pPr lvl="2">
              <a:spcAft>
                <a:spcPts val="0"/>
              </a:spcAft>
            </a:pPr>
            <a:r>
              <a:rPr sz="1000"/>
              <a:t>Ensemble cost 632 ms/frame — real-time control loop 불가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Related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학습 기반 접근 — Ehlers group (TUHH + Imperial)</a:t>
            </a:r>
          </a:p>
          <a:p>
            <a:pPr lvl="1">
              <a:spcAft>
                <a:spcPts val="100"/>
              </a:spcAft>
            </a:pPr>
            <a:r>
              <a:rPr sz="1100"/>
              <a:t>Ehlers 2023 — FNO supervised</a:t>
            </a:r>
          </a:p>
          <a:p>
            <a:pPr lvl="2">
              <a:spcAft>
                <a:spcPts val="0"/>
              </a:spcAft>
            </a:pPr>
            <a:r>
              <a:rPr sz="1000"/>
              <a:t>Architecture: Fourier Neural Operator (Fourier 공간에서 global mapping)</a:t>
            </a:r>
          </a:p>
          <a:p>
            <a:pPr lvl="2">
              <a:spcAft>
                <a:spcPts val="0"/>
              </a:spcAft>
            </a:pPr>
            <a:r>
              <a:rPr sz="1000"/>
              <a:t>Training data: 3120 sample (HOS sim + geometric radar model)</a:t>
            </a:r>
          </a:p>
          <a:p>
            <a:pPr lvl="2">
              <a:spcAft>
                <a:spcPts val="0"/>
              </a:spcAft>
            </a:pPr>
            <a:r>
              <a:rPr sz="1000"/>
              <a:t>Inference 1.9 ms, U-Net 보다 wave 패턴에 적합</a:t>
            </a:r>
          </a:p>
          <a:p>
            <a:pPr lvl="2">
              <a:spcAft>
                <a:spcPts val="0"/>
              </a:spcAft>
            </a:pPr>
            <a:r>
              <a:rPr sz="1000"/>
              <a:t>한계: distribution shift, 1D unidirectional, black-box</a:t>
            </a:r>
          </a:p>
          <a:p>
            <a:pPr lvl="1">
              <a:spcAft>
                <a:spcPts val="100"/>
              </a:spcAft>
            </a:pPr>
            <a:r>
              <a:rPr sz="1100"/>
              <a:t>Ehlers 2025 — PFT-PINN</a:t>
            </a:r>
          </a:p>
          <a:p>
            <a:pPr lvl="2">
              <a:spcAft>
                <a:spcPts val="0"/>
              </a:spcAft>
            </a:pPr>
            <a:r>
              <a:rPr sz="1000"/>
              <a:t>Architecture: 두 NN 병렬 — η-net (wave 표면) + Φ-net (velocity potential)</a:t>
            </a:r>
          </a:p>
          <a:p>
            <a:pPr lvl="2">
              <a:spcAft>
                <a:spcPts val="0"/>
              </a:spcAft>
            </a:pPr>
            <a:r>
              <a:rPr sz="1000"/>
              <a:t>PDE residual 강제 (Laplace + 표면 BC + 바닥 BC) via auto-diff</a:t>
            </a:r>
          </a:p>
          <a:p>
            <a:pPr lvl="2">
              <a:spcAft>
                <a:spcPts val="0"/>
              </a:spcAft>
            </a:pPr>
            <a:r>
              <a:rPr sz="1000"/>
              <a:t>Hard-constraint trick: 관측치 NN architecture에 직접 hard-encode</a:t>
            </a:r>
          </a:p>
          <a:p>
            <a:pPr lvl="2">
              <a:spcAft>
                <a:spcPts val="0"/>
              </a:spcAft>
            </a:pPr>
            <a:r>
              <a:rPr sz="1000"/>
              <a:t>검증: Wave flume 실측 (MARATHON, T_p=1.2 s), SSP 0.049 (assim) / 0.084 (predict)</a:t>
            </a:r>
          </a:p>
          <a:p>
            <a:pPr lvl="2">
              <a:spcAft>
                <a:spcPts val="0"/>
              </a:spcAft>
            </a:pPr>
            <a:r>
              <a:rPr sz="1000"/>
              <a:t>학습 데이터 0개로 비선형 wave 처리</a:t>
            </a:r>
          </a:p>
          <a:p>
            <a:pPr lvl="2">
              <a:spcAft>
                <a:spcPts val="0"/>
              </a:spcAft>
            </a:pPr>
            <a:r>
              <a:rPr sz="1000"/>
              <a:t>한계: ~30 분/instance (RTX 3090), 1D + t, wave gauge buoy only</a:t>
            </a:r>
          </a:p>
          <a:p>
            <a:pPr lvl="1">
              <a:spcAft>
                <a:spcPts val="100"/>
              </a:spcAft>
            </a:pPr>
            <a:r>
              <a:rPr sz="1100"/>
              <a:t>본 연구와의 핵심 차이</a:t>
            </a:r>
          </a:p>
          <a:p>
            <a:pPr lvl="2">
              <a:spcAft>
                <a:spcPts val="0"/>
              </a:spcAft>
            </a:pPr>
            <a:r>
              <a:rPr sz="1000"/>
              <a:t>속도 차이가 결정적: WaveSplat 13 ms vs PFT-PINN ~30 분 (수만 배 이상 차이)</a:t>
            </a:r>
          </a:p>
          <a:p>
            <a:pPr lvl="2">
              <a:spcAft>
                <a:spcPts val="0"/>
              </a:spcAft>
            </a:pPr>
            <a:r>
              <a:rPr sz="1000"/>
              <a:t>응용 영역 분리: WaveSplat = real-time control, PINN = design-time analysis</a:t>
            </a:r>
          </a:p>
          <a:p>
            <a:pPr lvl="2">
              <a:spcAft>
                <a:spcPts val="0"/>
              </a:spcAft>
            </a:pPr>
            <a:r>
              <a:rPr sz="1000"/>
              <a:t>향후 위협: 같은 group 이 1-3년 안에 2D + real-time PINN 발표 가능 — niche 좁아질 risk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Related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978408"/>
            <a:ext cx="8191822" cy="128016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응용 매트릭스 — 본 연구의 위치</a:t>
            </a:r>
          </a:p>
          <a:p>
            <a:pPr lvl="1">
              <a:spcAft>
                <a:spcPts val="100"/>
              </a:spcAft>
            </a:pPr>
            <a:r>
              <a:rPr sz="1100"/>
              <a:t>6가지 응용 요구사항으로 본 연구와 5개 baseline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Related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2286000"/>
          <a:ext cx="850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845"/>
                <a:gridCol w="1214845"/>
                <a:gridCol w="1214845"/>
                <a:gridCol w="1214845"/>
                <a:gridCol w="1214845"/>
                <a:gridCol w="1214845"/>
                <a:gridCol w="121485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요구사항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PFT-PINN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VOF-EnKF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Wang2025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FNO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Desmars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실시간 제어 (&lt;100 ms)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2D 방향성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파도 파쇄 처리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유속장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학습 데이터 불필요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희소 LiDAR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Contents</a:t>
            </a:r>
          </a:p>
          <a:p>
            <a:pPr>
              <a:spcAft>
                <a:spcPts val="300"/>
              </a:spcAft>
            </a:pPr>
            <a:r>
              <a:rPr sz="1300" b="1"/>
              <a:t>  1.	Introduction &amp; Motivation</a:t>
            </a:r>
          </a:p>
          <a:p>
            <a:pPr>
              <a:spcAft>
                <a:spcPts val="300"/>
              </a:spcAft>
            </a:pPr>
            <a:r>
              <a:rPr sz="1300" b="1"/>
              <a:t>  2.	Related work</a:t>
            </a:r>
          </a:p>
          <a:p>
            <a:pPr>
              <a:spcAft>
                <a:spcPts val="300"/>
              </a:spcAft>
            </a:pPr>
            <a:r>
              <a:rPr sz="1300" b="1"/>
              <a:t>  3.	Method</a:t>
            </a:r>
          </a:p>
          <a:p>
            <a:pPr>
              <a:spcAft>
                <a:spcPts val="300"/>
              </a:spcAft>
            </a:pPr>
            <a:r>
              <a:rPr sz="1300" b="1"/>
              <a:t>  4.	Experiments &amp; Mechanism</a:t>
            </a:r>
          </a:p>
          <a:p>
            <a:pPr>
              <a:spcAft>
                <a:spcPts val="300"/>
              </a:spcAft>
            </a:pPr>
            <a:r>
              <a:rPr sz="1300" b="1"/>
              <a:t> 5.	Limitations &amp; Research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WaveSim — 합성 파도장 + LiDAR 시뮬레이터</a:t>
            </a:r>
          </a:p>
          <a:p>
            <a:pPr lvl="1">
              <a:spcAft>
                <a:spcPts val="100"/>
              </a:spcAft>
            </a:pPr>
            <a:r>
              <a:rPr sz="1100"/>
              <a:t>파도 모델 — Gerstner family</a:t>
            </a:r>
          </a:p>
          <a:p>
            <a:pPr lvl="2">
              <a:spcAft>
                <a:spcPts val="0"/>
              </a:spcAft>
            </a:pPr>
            <a:r>
              <a:rPr sz="1000"/>
              <a:t>회전 정확해 — 입자 운동까지 모사 (Gerstner 1802, Tessendorf 2001)</a:t>
            </a:r>
          </a:p>
          <a:p>
            <a:pPr lvl="2">
              <a:spcAft>
                <a:spcPts val="0"/>
              </a:spcAft>
            </a:pPr>
            <a:r>
              <a:rPr sz="1000"/>
              <a:t>Q ∈ [0, 1] 가파름 — Q=0 이면 LWT (선형), Q&gt;0 이면 약비선형</a:t>
            </a:r>
          </a:p>
          <a:p>
            <a:pPr lvl="2">
              <a:spcAft>
                <a:spcPts val="0"/>
              </a:spcAft>
            </a:pPr>
            <a:r>
              <a:rPr sz="1000"/>
              <a:t>x = x₀ − Q·A·(k_x/|k|)·sin(Φ), z = A·cos(Φ), Φ = k·x − ω·t + φ</a:t>
            </a:r>
          </a:p>
          <a:p>
            <a:pPr lvl="2">
              <a:spcAft>
                <a:spcPts val="0"/>
              </a:spcAft>
            </a:pPr>
            <a:r>
              <a:rPr sz="1000"/>
              <a:t>Q 제약: Σ Q_n·ω_n·A_n ≤ 1 (입자 궤적 자체 교차 방지)</a:t>
            </a:r>
          </a:p>
          <a:p>
            <a:pPr lvl="1">
              <a:spcAft>
                <a:spcPts val="100"/>
              </a:spcAft>
            </a:pPr>
            <a:r>
              <a:rPr sz="1100"/>
              <a:t>스펙트럼 — JONSWAP (Hasselmann 1973)</a:t>
            </a:r>
          </a:p>
          <a:p>
            <a:pPr lvl="2">
              <a:spcAft>
                <a:spcPts val="0"/>
              </a:spcAft>
            </a:pPr>
            <a:r>
              <a:rPr sz="1000"/>
              <a:t>S(ω) = α·g²·ω⁻⁵·exp(−5/4·(ω_p/ω)⁴) · γ^r (γ=3.3)</a:t>
            </a:r>
          </a:p>
          <a:p>
            <a:pPr lvl="2">
              <a:spcAft>
                <a:spcPts val="0"/>
              </a:spcAft>
            </a:pPr>
            <a:r>
              <a:rPr sz="1000"/>
              <a:t>입력 H_s, T_p → N개 성분의 (A_n, ω_n) sampling</a:t>
            </a:r>
          </a:p>
          <a:p>
            <a:pPr lvl="2">
              <a:spcAft>
                <a:spcPts val="0"/>
              </a:spcAft>
            </a:pPr>
            <a:r>
              <a:rPr sz="1000"/>
              <a:t>방향 spreading: cos²ˢ 함수로 (k_xn, k_yn) 분배</a:t>
            </a:r>
          </a:p>
          <a:p>
            <a:pPr lvl="2">
              <a:spcAft>
                <a:spcPts val="0"/>
              </a:spcAft>
            </a:pPr>
            <a:r>
              <a:rPr sz="1000"/>
              <a:t>ITTC, IACS 채택 표준 wave spectrum</a:t>
            </a:r>
          </a:p>
          <a:p>
            <a:pPr lvl="1">
              <a:spcAft>
                <a:spcPts val="100"/>
              </a:spcAft>
            </a:pPr>
            <a:r>
              <a:rPr sz="1100"/>
              <a:t>분산 관계 — Airy 1845</a:t>
            </a:r>
          </a:p>
          <a:p>
            <a:pPr lvl="2">
              <a:spcAft>
                <a:spcPts val="0"/>
              </a:spcAft>
            </a:pPr>
            <a:r>
              <a:rPr sz="1000"/>
              <a:t>ω = √(g·|k|·tanh(|k|·d)) — 100 년 이상 검증된 표준</a:t>
            </a:r>
          </a:p>
          <a:p>
            <a:pPr lvl="2">
              <a:spcAft>
                <a:spcPts val="0"/>
              </a:spcAft>
            </a:pPr>
            <a:r>
              <a:rPr sz="1000"/>
              <a:t>깊은 물 한계 (kd &gt;&gt; 1): ω ≈ √(g·|k|)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  <p:pic>
        <p:nvPicPr>
          <p:cNvPr id="4" name="Picture 3" descr="wavesim_BF4_5c_wave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31556"/>
            <a:ext cx="4297680" cy="28692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LiDAR 모사 — Falcon K1</a:t>
            </a:r>
          </a:p>
          <a:p>
            <a:pPr lvl="1">
              <a:spcAft>
                <a:spcPts val="100"/>
              </a:spcAft>
            </a:pPr>
            <a:r>
              <a:rPr sz="1100"/>
              <a:t>Sensor 사양</a:t>
            </a:r>
          </a:p>
          <a:p>
            <a:pPr lvl="2">
              <a:spcAft>
                <a:spcPts val="0"/>
              </a:spcAft>
            </a:pPr>
            <a:r>
              <a:rPr sz="1000"/>
              <a:t>152 채널 × 500 horizontal beam = 76,000 ray / scan</a:t>
            </a:r>
          </a:p>
          <a:p>
            <a:pPr lvl="2">
              <a:spcAft>
                <a:spcPts val="0"/>
              </a:spcAft>
            </a:pPr>
            <a:r>
              <a:rPr sz="1000"/>
              <a:t>Range 10–250 m, 파장 1550 nm, vessel 위 5 m mount</a:t>
            </a:r>
          </a:p>
          <a:p>
            <a:pPr lvl="2">
              <a:spcAft>
                <a:spcPts val="0"/>
              </a:spcAft>
            </a:pPr>
            <a:r>
              <a:rPr sz="1000"/>
              <a:t>Horizontal FOV 120° (선수 ±60°), Vertical FOV −25° ~ 0°</a:t>
            </a:r>
          </a:p>
          <a:p>
            <a:pPr lvl="1">
              <a:spcAft>
                <a:spcPts val="100"/>
              </a:spcAft>
            </a:pPr>
            <a:r>
              <a:rPr sz="1100"/>
              <a:t>Ray tracing — Möller-Trumbore 1997</a:t>
            </a:r>
          </a:p>
          <a:p>
            <a:pPr lvl="2">
              <a:spcAft>
                <a:spcPts val="0"/>
              </a:spcAft>
            </a:pPr>
            <a:r>
              <a:rPr sz="1000"/>
              <a:t>각 ray 가 wave 표면 mesh 와 만나는 first-hit 점 검출</a:t>
            </a:r>
          </a:p>
          <a:p>
            <a:pPr lvl="2">
              <a:spcAft>
                <a:spcPts val="0"/>
              </a:spcAft>
            </a:pPr>
            <a:r>
              <a:rPr sz="1000"/>
              <a:t>Graphics 분야 표준 ray-triangle intersection 알고리즘</a:t>
            </a:r>
          </a:p>
          <a:p>
            <a:pPr lvl="1">
              <a:spcAft>
                <a:spcPts val="100"/>
              </a:spcAft>
            </a:pPr>
            <a:r>
              <a:rPr sz="1100"/>
              <a:t>Raydrop 모델 — Fresnel + geometry</a:t>
            </a:r>
          </a:p>
          <a:p>
            <a:pPr lvl="2">
              <a:spcAft>
                <a:spcPts val="0"/>
              </a:spcAft>
            </a:pPr>
            <a:r>
              <a:rPr sz="1000"/>
              <a:t>반사된 빛이 LiDAR receiver 방향으로 돌아와야 함</a:t>
            </a:r>
          </a:p>
          <a:p>
            <a:pPr lvl="2">
              <a:spcAft>
                <a:spcPts val="0"/>
              </a:spcAft>
            </a:pPr>
            <a:r>
              <a:rPr sz="1000"/>
              <a:t>Snell 굴절: sin θ_t = sin θ_i / n (n=1.321, water at 1550 nm)</a:t>
            </a:r>
          </a:p>
          <a:p>
            <a:pPr lvl="2">
              <a:spcAft>
                <a:spcPts val="0"/>
              </a:spcAft>
            </a:pPr>
            <a:r>
              <a:rPr sz="1000"/>
              <a:t>Fresnel s/p polarization 평균 → 반사율 R(θ_i)</a:t>
            </a:r>
          </a:p>
          <a:p>
            <a:pPr lvl="2">
              <a:spcAft>
                <a:spcPts val="0"/>
              </a:spcAft>
            </a:pPr>
            <a:r>
              <a:rPr sz="1000"/>
              <a:t>Lambert + Fresnel 결합: P = η · R · cos(θ_i) / (d/d_ref)²</a:t>
            </a:r>
          </a:p>
          <a:p>
            <a:pPr lvl="1">
              <a:spcAft>
                <a:spcPts val="100"/>
              </a:spcAft>
            </a:pPr>
            <a:r>
              <a:rPr sz="1100"/>
              <a:t>Vessel 정지 가정 (V=0 kts)</a:t>
            </a:r>
          </a:p>
          <a:p>
            <a:pPr lvl="2">
              <a:spcAft>
                <a:spcPts val="0"/>
              </a:spcAft>
            </a:pPr>
            <a:r>
              <a:rPr sz="1000"/>
              <a:t>모든 frame 동일 위치에서 측정 — 합성 dataset, 코드 모두 정지 가정</a:t>
            </a:r>
          </a:p>
          <a:p>
            <a:pPr lvl="2">
              <a:spcAft>
                <a:spcPts val="0"/>
              </a:spcAft>
            </a:pPr>
            <a:r>
              <a:rPr sz="1000"/>
              <a:t>Multi-frame 효과는 wave 자체의 시간 진화에서 옴</a:t>
            </a:r>
          </a:p>
          <a:p>
            <a:pPr lvl="2">
              <a:spcAft>
                <a:spcPts val="0"/>
              </a:spcAft>
            </a:pPr>
            <a:r>
              <a:rPr sz="1000"/>
              <a:t>Vessel motion 기반 synthetic aperture (SAR-style) 는 향후 연구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  <p:pic>
        <p:nvPicPr>
          <p:cNvPr id="4" name="Picture 3" descr="wavesim_BF3_1c_wave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98047"/>
            <a:ext cx="4297680" cy="2936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Dataset — 110 episode 합성</a:t>
            </a:r>
          </a:p>
          <a:p>
            <a:pPr lvl="1">
              <a:spcAft>
                <a:spcPts val="100"/>
              </a:spcAft>
            </a:pPr>
            <a:r>
              <a:rPr sz="1100"/>
              <a:t>구성</a:t>
            </a:r>
          </a:p>
          <a:p>
            <a:pPr lvl="2">
              <a:spcAft>
                <a:spcPts val="0"/>
              </a:spcAft>
            </a:pPr>
            <a:r>
              <a:rPr sz="1000"/>
              <a:t>Sea state: BF2 (Hs=0.3, Tp=4.0) ~ BF7 (Hs=5.0, Tp=12.0)</a:t>
            </a:r>
          </a:p>
          <a:p>
            <a:pPr lvl="2">
              <a:spcAft>
                <a:spcPts val="0"/>
              </a:spcAft>
            </a:pPr>
            <a:r>
              <a:rPr sz="1000"/>
              <a:t>N components: 1, 2, 5, 15, 30 (단순 ~ 복잡)</a:t>
            </a:r>
          </a:p>
          <a:p>
            <a:pPr lvl="2">
              <a:spcAft>
                <a:spcPts val="0"/>
              </a:spcAft>
            </a:pPr>
            <a:r>
              <a:rPr sz="1000"/>
              <a:t>Seeds: 0–4 (재현 가능)</a:t>
            </a:r>
          </a:p>
          <a:p>
            <a:pPr lvl="2">
              <a:spcAft>
                <a:spcPts val="0"/>
              </a:spcAft>
            </a:pPr>
            <a:r>
              <a:rPr sz="1000"/>
              <a:t>Raydrop: uniform / slope (각 episode)</a:t>
            </a:r>
          </a:p>
          <a:p>
            <a:pPr lvl="1">
              <a:spcAft>
                <a:spcPts val="100"/>
              </a:spcAft>
            </a:pPr>
            <a:r>
              <a:rPr sz="1100"/>
              <a:t>에피소드별 정량</a:t>
            </a:r>
          </a:p>
          <a:p>
            <a:pPr lvl="2">
              <a:spcAft>
                <a:spcPts val="0"/>
              </a:spcAft>
            </a:pPr>
            <a:r>
              <a:rPr sz="1000"/>
              <a:t>Duration 30 s, dt = 0.1 s (10 Hz) → frame 301개</a:t>
            </a:r>
          </a:p>
          <a:p>
            <a:pPr lvl="2">
              <a:spcAft>
                <a:spcPts val="0"/>
              </a:spcAft>
            </a:pPr>
            <a:r>
              <a:rPr sz="1000"/>
              <a:t>GT η field: 80×60 격자, 240 m × 200 m 영역</a:t>
            </a:r>
          </a:p>
          <a:p>
            <a:pPr lvl="2">
              <a:spcAft>
                <a:spcPts val="0"/>
              </a:spcAft>
            </a:pPr>
            <a:r>
              <a:rPr sz="1000"/>
              <a:t>LiDAR scan: 76,000 ray → raydrop 후 valid 점 약 50개/frame</a:t>
            </a:r>
          </a:p>
          <a:p>
            <a:pPr lvl="2">
              <a:spcAft>
                <a:spcPts val="0"/>
              </a:spcAft>
            </a:pPr>
            <a:r>
              <a:rPr sz="1000"/>
              <a:t>Patch coverage: 약 50–150 m (실측 확인)</a:t>
            </a:r>
          </a:p>
          <a:p>
            <a:pPr lvl="1">
              <a:spcAft>
                <a:spcPts val="100"/>
              </a:spcAft>
            </a:pPr>
            <a:r>
              <a:rPr sz="1100"/>
              <a:t>용량</a:t>
            </a:r>
          </a:p>
          <a:p>
            <a:pPr lvl="2">
              <a:spcAft>
                <a:spcPts val="0"/>
              </a:spcAft>
            </a:pPr>
            <a:r>
              <a:rPr sz="1000"/>
              <a:t>110 episodes × 약 12 MB = 1.2 GB 합성 dataset</a:t>
            </a:r>
          </a:p>
          <a:p>
            <a:pPr lvl="2">
              <a:spcAft>
                <a:spcPts val="0"/>
              </a:spcAft>
            </a:pPr>
            <a:r>
              <a:rPr sz="1000"/>
              <a:t>HDF5 format (timestamps, lidar_points, gt_wave_field, lidar_confidence …)</a:t>
            </a:r>
          </a:p>
          <a:p>
            <a:pPr lvl="1">
              <a:spcAft>
                <a:spcPts val="100"/>
              </a:spcAft>
            </a:pPr>
            <a:r>
              <a:rPr sz="1100"/>
              <a:t>BF3-BF6 wavenumber 범위 (실측)</a:t>
            </a:r>
          </a:p>
          <a:p>
            <a:pPr lvl="2">
              <a:spcAft>
                <a:spcPts val="0"/>
              </a:spcAft>
            </a:pPr>
            <a:r>
              <a:rPr sz="1000"/>
              <a:t>BF3 (Tp=5.5s): k = 0.04–1.16 rad/m, λ_peak ≈ 47 m</a:t>
            </a:r>
          </a:p>
          <a:p>
            <a:pPr lvl="2">
              <a:spcAft>
                <a:spcPts val="0"/>
              </a:spcAft>
            </a:pPr>
            <a:r>
              <a:rPr sz="1000"/>
              <a:t>BF4 (Tp=7.0s): k = 0.03–0.72 rad/m, λ_peak ≈ 77 m</a:t>
            </a:r>
          </a:p>
          <a:p>
            <a:pPr lvl="2">
              <a:spcAft>
                <a:spcPts val="0"/>
              </a:spcAft>
            </a:pPr>
            <a:r>
              <a:rPr sz="1000"/>
              <a:t>BF5 (Tp=9.0s): k = 0.02–0.43 rad/m, λ_peak ≈ 126 m</a:t>
            </a:r>
          </a:p>
          <a:p>
            <a:pPr lvl="2">
              <a:spcAft>
                <a:spcPts val="0"/>
              </a:spcAft>
            </a:pPr>
            <a:r>
              <a:rPr sz="1000"/>
              <a:t>BF6 (Tp=10s): k = 0.02–0.35 rad/m, λ_peak ≈ 156 m (전부 Nyquist 이내)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  <p:pic>
        <p:nvPicPr>
          <p:cNvPr id="4" name="Picture 3" descr="fig_demo_simple_2d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24978"/>
            <a:ext cx="4297680" cy="2282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WaveSplat — 알고리즘 개요</a:t>
            </a:r>
          </a:p>
          <a:p>
            <a:pPr lvl="1">
              <a:spcAft>
                <a:spcPts val="100"/>
              </a:spcAft>
            </a:pPr>
            <a:r>
              <a:rPr sz="1100"/>
              <a:t>발상 — 격자 대신 파라미터로 직접 표현</a:t>
            </a:r>
          </a:p>
          <a:p>
            <a:pPr lvl="2">
              <a:spcAft>
                <a:spcPts val="0"/>
              </a:spcAft>
            </a:pPr>
            <a:r>
              <a:rPr sz="1000"/>
              <a:t>실제 파도 = 5–30개 sine wave 의 합 (JONSWAP 분해)</a:t>
            </a:r>
          </a:p>
          <a:p>
            <a:pPr lvl="2">
              <a:spcAft>
                <a:spcPts val="0"/>
              </a:spcAft>
            </a:pPr>
            <a:r>
              <a:rPr sz="1000"/>
              <a:t>각 성분: (A, k_x, k_y, ω, φ) 5개 파라미터로 완전 결정</a:t>
            </a:r>
          </a:p>
          <a:p>
            <a:pPr lvl="2">
              <a:spcAft>
                <a:spcPts val="0"/>
              </a:spcAft>
            </a:pPr>
            <a:r>
              <a:rPr sz="1000"/>
              <a:t>N=10 이면 변수 50개 — LiDAR 50점으로 1:1 추정 가능</a:t>
            </a:r>
          </a:p>
          <a:p>
            <a:pPr lvl="1">
              <a:spcAft>
                <a:spcPts val="100"/>
              </a:spcAft>
            </a:pPr>
            <a:r>
              <a:rPr sz="1100"/>
              <a:t>Wave field 표현</a:t>
            </a:r>
          </a:p>
          <a:p>
            <a:pPr lvl="2">
              <a:spcAft>
                <a:spcPts val="0"/>
              </a:spcAft>
            </a:pPr>
            <a:r>
              <a:rPr sz="1000"/>
              <a:t>η(x, y, t; θ) = Σ_n A_n · cos(k_xn·x + k_yn·y − ω_n·t + φ_n)</a:t>
            </a:r>
          </a:p>
          <a:p>
            <a:pPr lvl="2">
              <a:spcAft>
                <a:spcPts val="0"/>
              </a:spcAft>
            </a:pPr>
            <a:r>
              <a:rPr sz="1000"/>
              <a:t>파라미터 θ = {A_n, k_xn, k_yn, φ_n} (ω_n 은 dispersion 으로 자동)</a:t>
            </a:r>
          </a:p>
          <a:p>
            <a:pPr lvl="1">
              <a:spcAft>
                <a:spcPts val="100"/>
              </a:spcAft>
            </a:pPr>
            <a:r>
              <a:rPr sz="1100"/>
              <a:t>분산 관계 hard constraint</a:t>
            </a:r>
          </a:p>
          <a:p>
            <a:pPr lvl="2">
              <a:spcAft>
                <a:spcPts val="0"/>
              </a:spcAft>
            </a:pPr>
            <a:r>
              <a:rPr sz="1000"/>
              <a:t>ω(k) = √(g·|k|·tanh(|k|·d)) 강제 → 자유도 5N → 4N (20% 감소)</a:t>
            </a:r>
          </a:p>
          <a:p>
            <a:pPr lvl="2">
              <a:spcAft>
                <a:spcPts val="0"/>
              </a:spcAft>
            </a:pPr>
            <a:r>
              <a:rPr sz="1000"/>
              <a:t>물리적으로 불가능한 (k, ω) 조합 자동 배제</a:t>
            </a:r>
          </a:p>
          <a:p>
            <a:pPr lvl="1">
              <a:spcAft>
                <a:spcPts val="100"/>
              </a:spcAft>
            </a:pPr>
            <a:r>
              <a:rPr sz="1100"/>
              <a:t>2단계 흐름</a:t>
            </a:r>
          </a:p>
          <a:p>
            <a:pPr lvl="2">
              <a:spcAft>
                <a:spcPts val="0"/>
              </a:spcAft>
            </a:pPr>
            <a:r>
              <a:rPr sz="1000"/>
              <a:t>Init (1회, 1초 이내): beamforming + coarse-to-fine + Adam refinement</a:t>
            </a:r>
          </a:p>
          <a:p>
            <a:pPr lvl="2">
              <a:spcAft>
                <a:spcPts val="0"/>
              </a:spcAft>
            </a:pPr>
            <a:r>
              <a:rPr sz="1000"/>
              <a:t>Track (매 frame, 13 ms): k 고정, (A, φ) 만 update</a:t>
            </a:r>
          </a:p>
          <a:p>
            <a:pPr lvl="2">
              <a:spcAft>
                <a:spcPts val="0"/>
              </a:spcAft>
            </a:pPr>
            <a:r>
              <a:rPr sz="1000"/>
              <a:t>무거운 작업은 처음 한 번만, 가벼운 작업은 매 frame 실시간</a:t>
            </a:r>
          </a:p>
          <a:p>
            <a:pPr lvl="1">
              <a:spcAft>
                <a:spcPts val="100"/>
              </a:spcAft>
            </a:pPr>
            <a:r>
              <a:rPr sz="1100"/>
              <a:t>Adaptive N — 성분 수 동적 조정</a:t>
            </a:r>
          </a:p>
          <a:p>
            <a:pPr lvl="2">
              <a:spcAft>
                <a:spcPts val="0"/>
              </a:spcAft>
            </a:pPr>
            <a:r>
              <a:rPr sz="1000"/>
              <a:t>Pruning + Growth + Safety rollback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  <p:pic>
        <p:nvPicPr>
          <p:cNvPr id="4" name="Picture 3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81724"/>
            <a:ext cx="4297680" cy="17688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Init (1/3) — 왜 multi-frame 이 필요한가</a:t>
            </a:r>
          </a:p>
          <a:p>
            <a:pPr lvl="1">
              <a:spcAft>
                <a:spcPts val="100"/>
              </a:spcAft>
            </a:pPr>
            <a:r>
              <a:rPr sz="1100"/>
              <a:t>Spatial Nyquist 한계 (Shannon-Nyquist 1949)</a:t>
            </a:r>
          </a:p>
          <a:p>
            <a:pPr lvl="2">
              <a:spcAft>
                <a:spcPts val="0"/>
              </a:spcAft>
            </a:pPr>
            <a:r>
              <a:rPr sz="1000"/>
              <a:t>'신호 추정에는 wavelength 의 절반 간격 sampling 필요'</a:t>
            </a:r>
          </a:p>
          <a:p>
            <a:pPr lvl="2">
              <a:spcAft>
                <a:spcPts val="0"/>
              </a:spcAft>
            </a:pPr>
            <a:r>
              <a:rPr sz="1000"/>
              <a:t>점 간격 Δy ≈ 5–8 m → k_max = π/Δy ≈ 0.4–0.6 rad/m</a:t>
            </a:r>
          </a:p>
          <a:p>
            <a:pPr lvl="2">
              <a:spcAft>
                <a:spcPts val="0"/>
              </a:spcAft>
            </a:pPr>
            <a:r>
              <a:rPr sz="1000"/>
              <a:t>Single-frame LiDAR 로 추정 가능한 wavenumber 한계: 약 0.4 rad/m</a:t>
            </a:r>
          </a:p>
          <a:p>
            <a:pPr lvl="1">
              <a:spcAft>
                <a:spcPts val="100"/>
              </a:spcAft>
            </a:pPr>
            <a:r>
              <a:rPr sz="1100"/>
              <a:t>필요한 wavenumber 범위</a:t>
            </a:r>
          </a:p>
          <a:p>
            <a:pPr lvl="2">
              <a:spcAft>
                <a:spcPts val="0"/>
              </a:spcAft>
            </a:pPr>
            <a:r>
              <a:rPr sz="1000"/>
              <a:t>BF3 의 짧은 wave 성분은 Nyquist 한계의 약 3배까지 도달</a:t>
            </a:r>
          </a:p>
          <a:p>
            <a:pPr lvl="2">
              <a:spcAft>
                <a:spcPts val="0"/>
              </a:spcAft>
            </a:pPr>
            <a:r>
              <a:rPr sz="1000"/>
              <a:t>BF5-BF6 dominant wave 는 대부분 Nyquist 이내 (longer wave)</a:t>
            </a:r>
          </a:p>
          <a:p>
            <a:pPr lvl="2">
              <a:spcAft>
                <a:spcPts val="0"/>
              </a:spcAft>
            </a:pPr>
            <a:r>
              <a:rPr sz="1000"/>
              <a:t>결과: BF3 short component 만 single-frame Nyquist 초과 — Paradox</a:t>
            </a:r>
          </a:p>
          <a:p>
            <a:pPr lvl="1">
              <a:spcAft>
                <a:spcPts val="100"/>
              </a:spcAft>
            </a:pPr>
            <a:r>
              <a:rPr sz="1100"/>
              <a:t>해결 — temporal coherence</a:t>
            </a:r>
          </a:p>
          <a:p>
            <a:pPr lvl="2">
              <a:spcAft>
                <a:spcPts val="0"/>
              </a:spcAft>
            </a:pPr>
            <a:r>
              <a:rPr sz="1000"/>
              <a:t>Vessel 정지에도 wave 자체의 시간 진화 활용 가능</a:t>
            </a:r>
          </a:p>
          <a:p>
            <a:pPr lvl="2">
              <a:spcAft>
                <a:spcPts val="0"/>
              </a:spcAft>
            </a:pPr>
            <a:r>
              <a:rPr sz="1000"/>
              <a:t>η(x, t) = A·cos(k·x − ω·t + φ) 의 t 진행이 phase 변화 제공</a:t>
            </a:r>
          </a:p>
          <a:p>
            <a:pPr lvl="2">
              <a:spcAft>
                <a:spcPts val="0"/>
              </a:spcAft>
            </a:pPr>
            <a:r>
              <a:rPr sz="1000"/>
              <a:t>여러 frame 의 (x_i, y_i, t_i, η_i) 4D 데이터 → wavenumber 모호성 해소</a:t>
            </a:r>
          </a:p>
          <a:p>
            <a:pPr lvl="1">
              <a:spcAft>
                <a:spcPts val="100"/>
              </a:spcAft>
            </a:pPr>
            <a:r>
              <a:rPr sz="1100"/>
              <a:t>본 case 정량</a:t>
            </a:r>
          </a:p>
          <a:p>
            <a:pPr lvl="2">
              <a:spcAft>
                <a:spcPts val="0"/>
              </a:spcAft>
            </a:pPr>
            <a:r>
              <a:rPr sz="1000"/>
              <a:t>Init window 길이: 2·T_p (sea state 별 약 10–20 초)</a:t>
            </a:r>
          </a:p>
          <a:p>
            <a:pPr lvl="2">
              <a:spcAft>
                <a:spcPts val="0"/>
              </a:spcAft>
            </a:pPr>
            <a:r>
              <a:rPr sz="1000"/>
              <a:t>여러 frame × 점 수십개 → 수천 개 (x, y, t, η) 4D 점 누적</a:t>
            </a:r>
          </a:p>
          <a:p>
            <a:pPr lvl="2">
              <a:spcAft>
                <a:spcPts val="0"/>
              </a:spcAft>
            </a:pPr>
            <a:r>
              <a:rPr sz="1000"/>
              <a:t>시간 정보 + dispersion 의 ω↔k 매핑 → spatial Nyquist 우회</a:t>
            </a:r>
          </a:p>
          <a:p>
            <a:pPr lvl="1">
              <a:spcAft>
                <a:spcPts val="100"/>
              </a:spcAft>
            </a:pPr>
            <a:r>
              <a:rPr sz="1100"/>
              <a:t>Vessel motion 기반 SA (synthetic aperture) 는 현재 미적용 — 향후 연구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Init (2/3) — Beamforming + Coarse-to-fine + Adam</a:t>
            </a:r>
          </a:p>
          <a:p>
            <a:pPr lvl="1">
              <a:spcAft>
                <a:spcPts val="100"/>
              </a:spcAft>
            </a:pPr>
            <a:r>
              <a:rPr sz="1100"/>
              <a:t>Beamforming score (matched filter)</a:t>
            </a:r>
          </a:p>
          <a:p>
            <a:pPr lvl="2">
              <a:spcAft>
                <a:spcPts val="0"/>
              </a:spcAft>
            </a:pPr>
            <a:r>
              <a:rPr sz="1000"/>
              <a:t>S(k) = | Σ_i η_obs(x_i, t_i) · exp(−j(k·x_i − ω(k)·t_i)) |²</a:t>
            </a:r>
          </a:p>
          <a:p>
            <a:pPr lvl="2">
              <a:spcAft>
                <a:spcPts val="0"/>
              </a:spcAft>
            </a:pPr>
            <a:r>
              <a:rPr sz="1000"/>
              <a:t>i: init window 의 모든 점 (frame × 점 수 = 수천 개)</a:t>
            </a:r>
          </a:p>
          <a:p>
            <a:pPr lvl="2">
              <a:spcAft>
                <a:spcPts val="0"/>
              </a:spcAft>
            </a:pPr>
            <a:r>
              <a:rPr sz="1000"/>
              <a:t>ω(k) 는 dispersion 으로 자동 — 2D search (k_x, k_y) 만</a:t>
            </a:r>
          </a:p>
          <a:p>
            <a:pPr lvl="2">
              <a:spcAft>
                <a:spcPts val="0"/>
              </a:spcAft>
            </a:pPr>
            <a:r>
              <a:rPr sz="1000"/>
              <a:t>Search range: k_x, k_y ∈ [-4, 4], 81×81 grid (수천 개 후보)</a:t>
            </a:r>
          </a:p>
          <a:p>
            <a:pPr lvl="1">
              <a:spcAft>
                <a:spcPts val="100"/>
              </a:spcAft>
            </a:pPr>
            <a:r>
              <a:rPr sz="1100"/>
              <a:t>Coarse-to-fine schedule</a:t>
            </a:r>
          </a:p>
          <a:p>
            <a:pPr lvl="2">
              <a:spcAft>
                <a:spcPts val="0"/>
              </a:spcAft>
            </a:pPr>
            <a:r>
              <a:rPr sz="1000"/>
              <a:t>3 stage: N = 3 → 8 → 15 (점진적 component 증가)</a:t>
            </a:r>
          </a:p>
          <a:p>
            <a:pPr lvl="2">
              <a:spcAft>
                <a:spcPts val="0"/>
              </a:spcAft>
            </a:pPr>
            <a:r>
              <a:rPr sz="1000"/>
              <a:t>Loss threshold 충족 시 다음 stage 로 advance</a:t>
            </a:r>
          </a:p>
          <a:p>
            <a:pPr lvl="2">
              <a:spcAft>
                <a:spcPts val="0"/>
              </a:spcAft>
            </a:pPr>
            <a:r>
              <a:rPr sz="1000"/>
              <a:t>빠른 수렴 → 다음 단계 즉시 진행 (전체 시간 단축)</a:t>
            </a:r>
          </a:p>
          <a:p>
            <a:pPr lvl="1">
              <a:spcAft>
                <a:spcPts val="100"/>
              </a:spcAft>
            </a:pPr>
            <a:r>
              <a:rPr sz="1100"/>
              <a:t>Adam refinement (multi-frame fitting)</a:t>
            </a:r>
          </a:p>
          <a:p>
            <a:pPr lvl="2">
              <a:spcAft>
                <a:spcPts val="0"/>
              </a:spcAft>
            </a:pPr>
            <a:r>
              <a:rPr sz="1000"/>
              <a:t>파라미터 (k_x, k_y, A, φ) 동시 update</a:t>
            </a:r>
          </a:p>
          <a:p>
            <a:pPr lvl="2">
              <a:spcAft>
                <a:spcPts val="0"/>
              </a:spcAft>
            </a:pPr>
            <a:r>
              <a:rPr sz="1000"/>
              <a:t>(k_x, k_y) 는 lr 의 절반으로 천천히 update (k 변화 신중)</a:t>
            </a:r>
          </a:p>
          <a:p>
            <a:pPr lvl="2">
              <a:spcAft>
                <a:spcPts val="0"/>
              </a:spcAft>
            </a:pPr>
            <a:r>
              <a:rPr sz="1000"/>
              <a:t>Loss = data fit (averaged + confidence-weighted) + L1 sparsity + spectral smoothness</a:t>
            </a:r>
          </a:p>
          <a:p>
            <a:pPr lvl="1">
              <a:spcAft>
                <a:spcPts val="100"/>
              </a:spcAft>
            </a:pPr>
            <a:r>
              <a:rPr sz="1100"/>
              <a:t>주요 hyperparameter</a:t>
            </a:r>
          </a:p>
          <a:p>
            <a:pPr lvl="2">
              <a:spcAft>
                <a:spcPts val="0"/>
              </a:spcAft>
            </a:pPr>
            <a:r>
              <a:rPr sz="1000"/>
              <a:t>L1 sparsity 가중치 λ_L1 = 0.001</a:t>
            </a:r>
          </a:p>
          <a:p>
            <a:pPr lvl="2">
              <a:spcAft>
                <a:spcPts val="0"/>
              </a:spcAft>
            </a:pPr>
            <a:r>
              <a:rPr sz="1000"/>
              <a:t>Spectral smoothness 가중치 λ_smooth = 0.0001</a:t>
            </a:r>
          </a:p>
          <a:p>
            <a:pPr lvl="2">
              <a:spcAft>
                <a:spcPts val="0"/>
              </a:spcAft>
            </a:pPr>
            <a:r>
              <a:rPr sz="1000"/>
              <a:t>Steepness clamp ε_max = 0.15 (Q 제약 보호)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  <p:pic>
        <p:nvPicPr>
          <p:cNvPr id="4" name="Picture 3" descr="fig_beamforming_2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51962"/>
            <a:ext cx="4297680" cy="14283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Init (3/3) — Beamforming Score 식 유도</a:t>
            </a:r>
          </a:p>
          <a:p>
            <a:pPr lvl="1">
              <a:spcAft>
                <a:spcPts val="100"/>
              </a:spcAft>
            </a:pPr>
            <a:r>
              <a:rPr sz="1100"/>
              <a:t>핵심 직관 — matched filter 의 코러스 효과</a:t>
            </a:r>
          </a:p>
          <a:p>
            <a:pPr lvl="2">
              <a:spcAft>
                <a:spcPts val="0"/>
              </a:spcAft>
            </a:pPr>
            <a:r>
              <a:rPr sz="1000"/>
              <a:t>실제 wave (k, ω) 면 measurement η_obs · exp(−j(k·x − ω·t)) 가 phase 정렬</a:t>
            </a:r>
          </a:p>
          <a:p>
            <a:pPr lvl="2">
              <a:spcAft>
                <a:spcPts val="0"/>
              </a:spcAft>
            </a:pPr>
            <a:r>
              <a:rPr sz="1000"/>
              <a:t>맞는 (k, ω): 모든 점에서 phase 일치 → 합 절댓값 N 배 증가</a:t>
            </a:r>
          </a:p>
          <a:p>
            <a:pPr lvl="2">
              <a:spcAft>
                <a:spcPts val="0"/>
              </a:spcAft>
            </a:pPr>
            <a:r>
              <a:rPr sz="1000"/>
              <a:t>틀린 (k, ω): random phase → 합 √N 으로만 증가</a:t>
            </a:r>
          </a:p>
          <a:p>
            <a:pPr lvl="2">
              <a:spcAft>
                <a:spcPts val="0"/>
              </a:spcAft>
            </a:pPr>
            <a:r>
              <a:rPr sz="1000"/>
              <a:t>→ SNR gain = N²/N = N (점 수에 비례)</a:t>
            </a:r>
          </a:p>
          <a:p>
            <a:pPr lvl="1">
              <a:spcAft>
                <a:spcPts val="100"/>
              </a:spcAft>
            </a:pPr>
            <a:r>
              <a:rPr sz="1100"/>
              <a:t>Score 식의 기여</a:t>
            </a:r>
          </a:p>
          <a:p>
            <a:pPr lvl="2">
              <a:spcAft>
                <a:spcPts val="0"/>
              </a:spcAft>
            </a:pPr>
            <a:r>
              <a:rPr sz="1000"/>
              <a:t>맞는 (k, ω) 일 때: S = (NA/2)² ∝ N² (coherent stack)</a:t>
            </a:r>
          </a:p>
          <a:p>
            <a:pPr lvl="2">
              <a:spcAft>
                <a:spcPts val="0"/>
              </a:spcAft>
            </a:pPr>
            <a:r>
              <a:rPr sz="1000"/>
              <a:t>틀린 (k, ω) 일 때: S ∝ N (random phase, incoherent)</a:t>
            </a:r>
          </a:p>
          <a:p>
            <a:pPr lvl="2">
              <a:spcAft>
                <a:spcPts val="0"/>
              </a:spcAft>
            </a:pPr>
            <a:r>
              <a:rPr sz="1000"/>
              <a:t>Init window 의 수천 4D 점으로 충분한 SNR gain 확보 (~10·log10(N) dB)</a:t>
            </a:r>
          </a:p>
          <a:p>
            <a:pPr lvl="1">
              <a:spcAft>
                <a:spcPts val="100"/>
              </a:spcAft>
            </a:pPr>
            <a:r>
              <a:rPr sz="1100"/>
              <a:t>왜 이 형태가 표준인가</a:t>
            </a:r>
          </a:p>
          <a:p>
            <a:pPr lvl="2">
              <a:spcAft>
                <a:spcPts val="0"/>
              </a:spcAft>
            </a:pPr>
            <a:r>
              <a:rPr sz="1000"/>
              <a:t>Delay-and-sum beamforming (Kraus 1988, Van Trees 2002)</a:t>
            </a:r>
          </a:p>
          <a:p>
            <a:pPr lvl="2">
              <a:spcAft>
                <a:spcPts val="0"/>
              </a:spcAft>
            </a:pPr>
            <a:r>
              <a:rPr sz="1000"/>
              <a:t>Matched filter 정리 (Turin 1960) — Gaussian noise 에서 SNR 최대화</a:t>
            </a:r>
          </a:p>
          <a:p>
            <a:pPr lvl="2">
              <a:spcAft>
                <a:spcPts val="0"/>
              </a:spcAft>
            </a:pPr>
            <a:r>
              <a:rPr sz="1000"/>
              <a:t>단순·robust — covariance matrix 추정 불필요 (sparse 적합)</a:t>
            </a:r>
          </a:p>
          <a:p>
            <a:pPr lvl="1">
              <a:spcAft>
                <a:spcPts val="100"/>
              </a:spcAft>
            </a:pPr>
            <a:r>
              <a:rPr sz="1100"/>
              <a:t>Dispersion 으로 차원 축소</a:t>
            </a:r>
          </a:p>
          <a:p>
            <a:pPr lvl="2">
              <a:spcAft>
                <a:spcPts val="0"/>
              </a:spcAft>
            </a:pPr>
            <a:r>
              <a:rPr sz="1000"/>
              <a:t>Dispersion 없이 3D search (k_x, k_y, ω) → 후보 수십만 개 (계산 비현실적)</a:t>
            </a:r>
          </a:p>
          <a:p>
            <a:pPr lvl="2">
              <a:spcAft>
                <a:spcPts val="0"/>
              </a:spcAft>
            </a:pPr>
            <a:r>
              <a:rPr sz="1000"/>
              <a:t>Dispersion 강제로 2D search (k_x, k_y) → 후보 수천 개로 축소</a:t>
            </a:r>
          </a:p>
          <a:p>
            <a:pPr lvl="1">
              <a:spcAft>
                <a:spcPts val="100"/>
              </a:spcAft>
            </a:pPr>
            <a:r>
              <a:rPr sz="1100"/>
              <a:t>다른 spectral 방법 비교</a:t>
            </a:r>
          </a:p>
          <a:p>
            <a:pPr lvl="2">
              <a:spcAft>
                <a:spcPts val="0"/>
              </a:spcAft>
            </a:pPr>
            <a:r>
              <a:rPr sz="1000"/>
              <a:t>MUSIC, ESPRIT (subspace): 더 정확하나 covariance 필요 → sparse 부적합</a:t>
            </a:r>
          </a:p>
          <a:p>
            <a:pPr lvl="2">
              <a:spcAft>
                <a:spcPts val="0"/>
              </a:spcAft>
            </a:pPr>
            <a:r>
              <a:rPr sz="1000"/>
              <a:t>Capon/MVDR (adaptive): 더 좋은 resolution 이나 ill-conditioning 위험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Track + Adaptive N — 매 frame 13 ms</a:t>
            </a:r>
          </a:p>
          <a:p>
            <a:pPr lvl="1">
              <a:spcAft>
                <a:spcPts val="100"/>
              </a:spcAft>
            </a:pPr>
            <a:r>
              <a:rPr sz="1100"/>
              <a:t>w_phi tracking mode (configs default)</a:t>
            </a:r>
          </a:p>
          <a:p>
            <a:pPr lvl="2">
              <a:spcAft>
                <a:spcPts val="0"/>
              </a:spcAft>
            </a:pPr>
            <a:r>
              <a:rPr sz="1000"/>
              <a:t>(k_x, k_y): Init 결과 고정 — 변경 안 함</a:t>
            </a:r>
          </a:p>
          <a:p>
            <a:pPr lvl="2">
              <a:spcAft>
                <a:spcPts val="0"/>
              </a:spcAft>
            </a:pPr>
            <a:r>
              <a:rPr sz="1000"/>
              <a:t>ω: dispersion 으로 자동 (k 에서 계산)</a:t>
            </a:r>
          </a:p>
          <a:p>
            <a:pPr lvl="2">
              <a:spcAft>
                <a:spcPts val="0"/>
              </a:spcAft>
            </a:pPr>
            <a:r>
              <a:rPr sz="1000"/>
              <a:t>(A, φ): Adam 으로 매 frame update — 자유도 2N</a:t>
            </a:r>
          </a:p>
          <a:p>
            <a:pPr lvl="1">
              <a:spcAft>
                <a:spcPts val="100"/>
              </a:spcAft>
            </a:pPr>
            <a:r>
              <a:rPr sz="1100"/>
              <a:t>Adam optimizer update rule (Kingma &amp; Ba 2015, arXiv:1412.6980)</a:t>
            </a:r>
          </a:p>
          <a:p>
            <a:pPr lvl="2">
              <a:spcAft>
                <a:spcPts val="0"/>
              </a:spcAft>
            </a:pPr>
            <a:r>
              <a:rPr sz="1000"/>
              <a:t>m_t = β₁·m_{t-1} + (1−β₁)·∇L (β₁=0.9)</a:t>
            </a:r>
          </a:p>
          <a:p>
            <a:pPr lvl="2">
              <a:spcAft>
                <a:spcPts val="0"/>
              </a:spcAft>
            </a:pPr>
            <a:r>
              <a:rPr sz="1000"/>
              <a:t>v_t = β₂·v_{t-1} + (1−β₂)·(∇L)² (β₂=0.999)</a:t>
            </a:r>
          </a:p>
          <a:p>
            <a:pPr lvl="2">
              <a:spcAft>
                <a:spcPts val="0"/>
              </a:spcAft>
            </a:pPr>
            <a:r>
              <a:rPr sz="1000"/>
              <a:t>θ ← θ − lr · m̂_t / (√v̂_t + ε)</a:t>
            </a:r>
          </a:p>
          <a:p>
            <a:pPr lvl="2">
              <a:spcAft>
                <a:spcPts val="0"/>
              </a:spcAft>
            </a:pPr>
            <a:r>
              <a:rPr sz="1000"/>
              <a:t>tracking_lr = 0.005, tracking_steps = 10/frame → 약 13 ms</a:t>
            </a:r>
          </a:p>
          <a:p>
            <a:pPr lvl="1">
              <a:spcAft>
                <a:spcPts val="100"/>
              </a:spcAft>
            </a:pPr>
            <a:r>
              <a:rPr sz="1100"/>
              <a:t>Phase prediction (kinematic preview)</a:t>
            </a:r>
          </a:p>
          <a:p>
            <a:pPr lvl="2">
              <a:spcAft>
                <a:spcPts val="0"/>
              </a:spcAft>
            </a:pPr>
            <a:r>
              <a:rPr sz="1000"/>
              <a:t>매 update 전: φ_i ← φ_i + ω_i · Δt</a:t>
            </a:r>
          </a:p>
          <a:p>
            <a:pPr lvl="2">
              <a:spcAft>
                <a:spcPts val="0"/>
              </a:spcAft>
            </a:pPr>
            <a:r>
              <a:rPr sz="1000"/>
              <a:t>Tracking window = 3 frames (recent buffer)</a:t>
            </a:r>
          </a:p>
          <a:p>
            <a:pPr lvl="1">
              <a:spcAft>
                <a:spcPts val="100"/>
              </a:spcAft>
            </a:pPr>
            <a:r>
              <a:rPr sz="1100"/>
              <a:t>Adaptive N — component 수 동적 조정</a:t>
            </a:r>
          </a:p>
          <a:p>
            <a:pPr lvl="2">
              <a:spcAft>
                <a:spcPts val="0"/>
              </a:spcAft>
            </a:pPr>
            <a:r>
              <a:rPr sz="1000"/>
              <a:t>Pruning: cumulative energy 90% 유지 (prune_threshold=0.10)</a:t>
            </a:r>
          </a:p>
          <a:p>
            <a:pPr lvl="2">
              <a:spcAft>
                <a:spcPts val="0"/>
              </a:spcAft>
            </a:pPr>
            <a:r>
              <a:rPr sz="1000"/>
              <a:t>Growth: residual RMS &gt; 0.05 m 시 새 (k_x,k_y) 추가 (max_n=30)</a:t>
            </a:r>
          </a:p>
          <a:p>
            <a:pPr lvl="2">
              <a:spcAft>
                <a:spcPts val="0"/>
              </a:spcAft>
            </a:pPr>
            <a:r>
              <a:rPr sz="1000"/>
              <a:t>Safety rollback: 변경 전후 RMS_after &gt; 1.3 × RMS_before → 즉시 복구</a:t>
            </a:r>
          </a:p>
          <a:p>
            <a:pPr lvl="1">
              <a:spcAft>
                <a:spcPts val="100"/>
              </a:spcAft>
            </a:pPr>
            <a:r>
              <a:rPr sz="1100"/>
              <a:t>왜 k 고정?</a:t>
            </a:r>
          </a:p>
          <a:p>
            <a:pPr lvl="2">
              <a:spcAft>
                <a:spcPts val="0"/>
              </a:spcAft>
            </a:pPr>
            <a:r>
              <a:rPr sz="1000"/>
              <a:t>Single frame 에서 k 의 FIM eigenvalue 가 (A,φ) 보다 10⁻³ 작음</a:t>
            </a:r>
          </a:p>
          <a:p>
            <a:pPr lvl="2">
              <a:spcAft>
                <a:spcPts val="0"/>
              </a:spcAft>
            </a:pPr>
            <a:r>
              <a:rPr sz="1000"/>
              <a:t>k 자유 시 50점에 over-fit → 비물리적 발산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Contents</a:t>
            </a:r>
          </a:p>
          <a:p>
            <a:pPr>
              <a:spcAft>
                <a:spcPts val="300"/>
              </a:spcAft>
            </a:pPr>
            <a:r>
              <a:rPr sz="1300" b="1"/>
              <a:t>  1.	Introduction &amp; Motivation</a:t>
            </a:r>
          </a:p>
          <a:p>
            <a:pPr>
              <a:spcAft>
                <a:spcPts val="300"/>
              </a:spcAft>
            </a:pPr>
            <a:r>
              <a:rPr sz="1300" b="1"/>
              <a:t>  2.	Related work</a:t>
            </a:r>
          </a:p>
          <a:p>
            <a:pPr>
              <a:spcAft>
                <a:spcPts val="300"/>
              </a:spcAft>
            </a:pPr>
            <a:r>
              <a:rPr sz="1300" b="1"/>
              <a:t>  3.	Method</a:t>
            </a:r>
          </a:p>
          <a:p>
            <a:pPr>
              <a:spcAft>
                <a:spcPts val="300"/>
              </a:spcAft>
            </a:pPr>
            <a:r>
              <a:rPr sz="1300" b="1"/>
              <a:t>  4.	Experiments &amp; Mechanism</a:t>
            </a:r>
          </a:p>
          <a:p>
            <a:pPr>
              <a:spcAft>
                <a:spcPts val="300"/>
              </a:spcAft>
            </a:pPr>
            <a:r>
              <a:rPr sz="1300" b="1"/>
              <a:t> 5.	Limitations &amp; Research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978408"/>
            <a:ext cx="8191822" cy="182880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12-episode benchmark 결과</a:t>
            </a:r>
          </a:p>
          <a:p>
            <a:pPr lvl="1">
              <a:spcAft>
                <a:spcPts val="100"/>
              </a:spcAft>
            </a:pPr>
            <a:r>
              <a:rPr sz="1100"/>
              <a:t>WaveSplat 정확도 16% 우위 + 47배 빠름 (CPU only)</a:t>
            </a:r>
          </a:p>
          <a:p>
            <a:pPr lvl="1">
              <a:spcAft>
                <a:spcPts val="100"/>
              </a:spcAft>
            </a:pPr>
            <a:r>
              <a:rPr sz="1100"/>
              <a:t>단순 파도 (1–5 comp): 압도적 / 복잡 파도 (≥15): 일부 역전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2926080"/>
          <a:ext cx="8503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nRMSE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속도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특징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WaveSplat (ours)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0.211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13 ms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연속 파라미터 추정, real-time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Wang2025 ETKF (Ne=300)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632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논문 충실 재현 (격자 기반)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Ehlers 2023 FNO (참고)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1.9 ms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학습 데이터 3120개 필요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Ehlers 2025 PFT-PINN (참고)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~30 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학습 데이터 0개, instance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Yan 2025 VOF-EnKF (참고)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오프라인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wave breaking 처리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Episode-level 패턴 — 강점과 한계</a:t>
            </a:r>
          </a:p>
          <a:p>
            <a:pPr lvl="1">
              <a:spcAft>
                <a:spcPts val="100"/>
              </a:spcAft>
            </a:pPr>
            <a:r>
              <a:rPr sz="1100"/>
              <a:t>단순 파도 (1–5 components) — WaveSplat 압도</a:t>
            </a:r>
          </a:p>
          <a:p>
            <a:pPr lvl="2">
              <a:spcAft>
                <a:spcPts val="0"/>
              </a:spcAft>
            </a:pPr>
            <a:r>
              <a:rPr sz="1000"/>
              <a:t>BF3_2comp: 0.052 vs Wang2025 0.250 — 거의 완벽 추정</a:t>
            </a:r>
          </a:p>
          <a:p>
            <a:pPr lvl="2">
              <a:spcAft>
                <a:spcPts val="0"/>
              </a:spcAft>
            </a:pPr>
            <a:r>
              <a:rPr sz="1000"/>
              <a:t>소성분이면 파라미터 적어 50개 관측으로 직접 추정 가능</a:t>
            </a:r>
          </a:p>
          <a:p>
            <a:pPr lvl="2">
              <a:spcAft>
                <a:spcPts val="0"/>
              </a:spcAft>
            </a:pPr>
            <a:r>
              <a:rPr sz="1000"/>
              <a:t>격자 방법은 성분 수와 무관하게 격자 해상도 한계</a:t>
            </a:r>
          </a:p>
          <a:p>
            <a:pPr lvl="1">
              <a:spcAft>
                <a:spcPts val="100"/>
              </a:spcAft>
            </a:pPr>
            <a:r>
              <a:rPr sz="1100"/>
              <a:t>복잡 파도 (15–30 components) — Wang2025 일부 우세</a:t>
            </a:r>
          </a:p>
          <a:p>
            <a:pPr lvl="2">
              <a:spcAft>
                <a:spcPts val="0"/>
              </a:spcAft>
            </a:pPr>
            <a:r>
              <a:rPr sz="1000"/>
              <a:t>BF4_15comp: WaveSplat 0.302 vs Wang2025 0.249 (역전)</a:t>
            </a:r>
          </a:p>
          <a:p>
            <a:pPr lvl="2">
              <a:spcAft>
                <a:spcPts val="0"/>
              </a:spcAft>
            </a:pPr>
            <a:r>
              <a:rPr sz="1000"/>
              <a:t>격자는 모든 성분을 한꺼번에 담을 수 있음</a:t>
            </a:r>
          </a:p>
          <a:p>
            <a:pPr lvl="2">
              <a:spcAft>
                <a:spcPts val="0"/>
              </a:spcAft>
            </a:pPr>
            <a:r>
              <a:rPr sz="1000"/>
              <a:t>WaveSplat 은 성분을 하나씩 찾아야 — beamforming peak 분리 어려움</a:t>
            </a:r>
          </a:p>
          <a:p>
            <a:pPr lvl="1">
              <a:spcAft>
                <a:spcPts val="100"/>
              </a:spcAft>
            </a:pPr>
            <a:r>
              <a:rPr sz="1100"/>
              <a:t>Reversal point — 약 N=15 component</a:t>
            </a:r>
          </a:p>
          <a:p>
            <a:pPr lvl="2">
              <a:spcAft>
                <a:spcPts val="0"/>
              </a:spcAft>
            </a:pPr>
            <a:r>
              <a:rPr sz="1000"/>
              <a:t>단순 파도: 파라미터 표현이 효율</a:t>
            </a:r>
          </a:p>
          <a:p>
            <a:pPr lvl="2">
              <a:spcAft>
                <a:spcPts val="0"/>
              </a:spcAft>
            </a:pPr>
            <a:r>
              <a:rPr sz="1000"/>
              <a:t>복잡 파도: 격자 표현이 표현력 우위</a:t>
            </a:r>
          </a:p>
          <a:p>
            <a:pPr lvl="1">
              <a:spcAft>
                <a:spcPts val="100"/>
              </a:spcAft>
            </a:pPr>
            <a:r>
              <a:rPr sz="1100"/>
              <a:t>대응 — hybrid init (향후 연구)</a:t>
            </a:r>
          </a:p>
          <a:p>
            <a:pPr lvl="2">
              <a:spcAft>
                <a:spcPts val="0"/>
              </a:spcAft>
            </a:pPr>
            <a:r>
              <a:rPr sz="1000"/>
              <a:t>격자로 대략 분포 파악 → 파라미터로 정밀화</a:t>
            </a:r>
          </a:p>
          <a:p>
            <a:pPr lvl="2">
              <a:spcAft>
                <a:spcPts val="0"/>
              </a:spcAft>
            </a:pPr>
            <a:r>
              <a:rPr sz="1000"/>
              <a:t>두 표현의 장점 결합</a:t>
            </a:r>
          </a:p>
          <a:p>
            <a:pPr lvl="2">
              <a:spcAft>
                <a:spcPts val="0"/>
              </a:spcAft>
            </a:pPr>
            <a:r>
              <a:rPr sz="1000"/>
              <a:t>Learned init (NN 기반) 도 대안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pic>
        <p:nvPicPr>
          <p:cNvPr id="4" name="Picture 3" descr="fig_complex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10624"/>
            <a:ext cx="4297680" cy="21110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Ablation — 두 메커니즘의 시너지</a:t>
            </a:r>
          </a:p>
          <a:p>
            <a:pPr lvl="1">
              <a:spcAft>
                <a:spcPts val="100"/>
              </a:spcAft>
            </a:pPr>
            <a:r>
              <a:rPr sz="1100"/>
              <a:t>4 가지 변형 비교 (12 episodes)</a:t>
            </a:r>
          </a:p>
          <a:p>
            <a:pPr lvl="2">
              <a:spcAft>
                <a:spcPts val="0"/>
              </a:spcAft>
            </a:pPr>
            <a:r>
              <a:rPr sz="1000"/>
              <a:t>A (spatial-only): single-frame, no dispersion → nRMSE 0.213</a:t>
            </a:r>
          </a:p>
          <a:p>
            <a:pPr lvl="2">
              <a:spcAft>
                <a:spcPts val="0"/>
              </a:spcAft>
            </a:pPr>
            <a:r>
              <a:rPr sz="1000"/>
              <a:t>B (multi-frame, no dispersion): → 0.208 (A 보다 개선)</a:t>
            </a:r>
          </a:p>
          <a:p>
            <a:pPr lvl="2">
              <a:spcAft>
                <a:spcPts val="0"/>
              </a:spcAft>
            </a:pPr>
            <a:r>
              <a:rPr sz="1000"/>
              <a:t>C (disp-coupled, single-frame): → 0.226 (오히려 악화)</a:t>
            </a:r>
          </a:p>
          <a:p>
            <a:pPr lvl="2">
              <a:spcAft>
                <a:spcPts val="0"/>
              </a:spcAft>
            </a:pPr>
            <a:r>
              <a:rPr sz="1000"/>
              <a:t>D = WaveSplat (full): → 0.211 (가장 안정)</a:t>
            </a:r>
          </a:p>
          <a:p>
            <a:pPr lvl="1">
              <a:spcAft>
                <a:spcPts val="100"/>
              </a:spcAft>
            </a:pPr>
            <a:r>
              <a:rPr sz="1100"/>
              <a:t>C 가 왜 악화되는가</a:t>
            </a:r>
          </a:p>
          <a:p>
            <a:pPr lvl="2">
              <a:spcAft>
                <a:spcPts val="0"/>
              </a:spcAft>
            </a:pPr>
            <a:r>
              <a:rPr sz="1000"/>
              <a:t>Single frame 에서 k 추정 부정확</a:t>
            </a:r>
          </a:p>
          <a:p>
            <a:pPr lvl="2">
              <a:spcAft>
                <a:spcPts val="0"/>
              </a:spcAft>
            </a:pPr>
            <a:r>
              <a:rPr sz="1000"/>
              <a:t>Dispersion 으로 잘못된 k → 잘못된 ω 전파</a:t>
            </a:r>
          </a:p>
          <a:p>
            <a:pPr lvl="2">
              <a:spcAft>
                <a:spcPts val="0"/>
              </a:spcAft>
            </a:pPr>
            <a:r>
              <a:rPr sz="1000"/>
              <a:t>오류가 amplify 됨 (cascading failure)</a:t>
            </a:r>
          </a:p>
          <a:p>
            <a:pPr lvl="1">
              <a:spcAft>
                <a:spcPts val="100"/>
              </a:spcAft>
            </a:pPr>
            <a:r>
              <a:rPr sz="1100"/>
              <a:t>D 가 어떻게 안정화 되는가</a:t>
            </a:r>
          </a:p>
          <a:p>
            <a:pPr lvl="2">
              <a:spcAft>
                <a:spcPts val="0"/>
              </a:spcAft>
            </a:pPr>
            <a:r>
              <a:rPr sz="1000"/>
              <a:t>Multi-frame 으로 k 정확 추정</a:t>
            </a:r>
          </a:p>
          <a:p>
            <a:pPr lvl="2">
              <a:spcAft>
                <a:spcPts val="0"/>
              </a:spcAft>
            </a:pPr>
            <a:r>
              <a:rPr sz="1000"/>
              <a:t>Dispersion 으로 ω 자동 결정 (자유도 감소)</a:t>
            </a:r>
          </a:p>
          <a:p>
            <a:pPr lvl="2">
              <a:spcAft>
                <a:spcPts val="0"/>
              </a:spcAft>
            </a:pPr>
            <a:r>
              <a:rPr sz="1000"/>
              <a:t>Multi-frame + dispersion 결합 시 시너지</a:t>
            </a:r>
          </a:p>
          <a:p>
            <a:pPr lvl="1">
              <a:spcAft>
                <a:spcPts val="100"/>
              </a:spcAft>
            </a:pPr>
            <a:r>
              <a:rPr sz="1100"/>
              <a:t>핵심 메시지</a:t>
            </a:r>
          </a:p>
          <a:p>
            <a:pPr lvl="2">
              <a:spcAft>
                <a:spcPts val="0"/>
              </a:spcAft>
            </a:pPr>
            <a:r>
              <a:rPr sz="1000"/>
              <a:t>물리 법칙 (dispersion) 은 마법 아닌 *정규화* 역할</a:t>
            </a:r>
          </a:p>
          <a:p>
            <a:pPr lvl="2">
              <a:spcAft>
                <a:spcPts val="0"/>
              </a:spcAft>
            </a:pPr>
            <a:r>
              <a:rPr sz="1000"/>
              <a:t>Multi-frame 과 함께 써야 효과 발휘</a:t>
            </a:r>
          </a:p>
          <a:p>
            <a:pPr lvl="2">
              <a:spcAft>
                <a:spcPts val="0"/>
              </a:spcAft>
            </a:pPr>
            <a:r>
              <a:rPr sz="1000"/>
              <a:t>두 메커니즘 단독은 불완전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pic>
        <p:nvPicPr>
          <p:cNvPr id="4" name="Picture 3" descr="fig_abl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90402"/>
            <a:ext cx="4297680" cy="235151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핵심 메커니즘 — 분산 관계 = 물리적 정규화 장치</a:t>
            </a:r>
          </a:p>
          <a:p>
            <a:pPr lvl="1">
              <a:spcAft>
                <a:spcPts val="100"/>
              </a:spcAft>
            </a:pPr>
            <a:r>
              <a:rPr sz="1100"/>
              <a:t>메커니즘 1 — 자유도 감소</a:t>
            </a:r>
          </a:p>
          <a:p>
            <a:pPr lvl="2">
              <a:spcAft>
                <a:spcPts val="0"/>
              </a:spcAft>
            </a:pPr>
            <a:r>
              <a:rPr sz="1000"/>
              <a:t>분산 관계: ω = √(g·|k|·tanh(|k|·d))</a:t>
            </a:r>
          </a:p>
          <a:p>
            <a:pPr lvl="2">
              <a:spcAft>
                <a:spcPts val="0"/>
              </a:spcAft>
            </a:pPr>
            <a:r>
              <a:rPr sz="1000"/>
              <a:t>주파수 ω 가 파수 k 로부터 자동 결정</a:t>
            </a:r>
          </a:p>
          <a:p>
            <a:pPr lvl="2">
              <a:spcAft>
                <a:spcPts val="0"/>
              </a:spcAft>
            </a:pPr>
            <a:r>
              <a:rPr sz="1000"/>
              <a:t>적용 전: 5N 변수 (A, k_x, k_y, ω, φ)</a:t>
            </a:r>
          </a:p>
          <a:p>
            <a:pPr lvl="2">
              <a:spcAft>
                <a:spcPts val="0"/>
              </a:spcAft>
            </a:pPr>
            <a:r>
              <a:rPr sz="1000"/>
              <a:t>적용 후: 4N 변수 (A, k_x, k_y, φ) — 20% 감소</a:t>
            </a:r>
          </a:p>
          <a:p>
            <a:pPr lvl="2">
              <a:spcAft>
                <a:spcPts val="0"/>
              </a:spcAft>
            </a:pPr>
            <a:r>
              <a:rPr sz="1000"/>
              <a:t>추가 효과: 물리적으로 불가능한 (k, ω) 자동 배제</a:t>
            </a:r>
          </a:p>
          <a:p>
            <a:pPr lvl="1">
              <a:spcAft>
                <a:spcPts val="100"/>
              </a:spcAft>
            </a:pPr>
            <a:r>
              <a:rPr sz="1100"/>
              <a:t>메커니즘 2 — Multi-frame temporal coherence</a:t>
            </a:r>
          </a:p>
          <a:p>
            <a:pPr lvl="2">
              <a:spcAft>
                <a:spcPts val="0"/>
              </a:spcAft>
            </a:pPr>
            <a:r>
              <a:rPr sz="1000"/>
              <a:t>η(x, t) = A·cos(k·x − ω·t + φ) 의 t 진행이 phase 변화 제공</a:t>
            </a:r>
          </a:p>
          <a:p>
            <a:pPr lvl="2">
              <a:spcAft>
                <a:spcPts val="0"/>
              </a:spcAft>
            </a:pPr>
            <a:r>
              <a:rPr sz="1000"/>
              <a:t>Vessel 정지여도 wave 자체의 시간 진화 → multi-frame 효과</a:t>
            </a:r>
          </a:p>
          <a:p>
            <a:pPr lvl="2">
              <a:spcAft>
                <a:spcPts val="0"/>
              </a:spcAft>
            </a:pPr>
            <a:r>
              <a:rPr sz="1000"/>
              <a:t>여러 frame 의 (x, y, t, η) 4D 정보 → k 모호성 해소</a:t>
            </a:r>
          </a:p>
          <a:p>
            <a:pPr lvl="2">
              <a:spcAft>
                <a:spcPts val="0"/>
              </a:spcAft>
            </a:pPr>
            <a:r>
              <a:rPr sz="1000"/>
              <a:t>Note: vessel motion 기반 SA 는 현재 미적용 → 향후 연구</a:t>
            </a:r>
          </a:p>
          <a:p>
            <a:pPr lvl="1">
              <a:spcAft>
                <a:spcPts val="100"/>
              </a:spcAft>
            </a:pPr>
            <a:r>
              <a:rPr sz="1100"/>
              <a:t>두 메커니즘의 시너지 (Ablation 결과)</a:t>
            </a:r>
          </a:p>
          <a:p>
            <a:pPr lvl="2">
              <a:spcAft>
                <a:spcPts val="0"/>
              </a:spcAft>
            </a:pPr>
            <a:r>
              <a:rPr sz="1000"/>
              <a:t>단독으로는 불완전: dispersion 단독 → 0.226 (악화)</a:t>
            </a:r>
          </a:p>
          <a:p>
            <a:pPr lvl="2">
              <a:spcAft>
                <a:spcPts val="0"/>
              </a:spcAft>
            </a:pPr>
            <a:r>
              <a:rPr sz="1000"/>
              <a:t>Multi-frame 단독 → 0.208 (개선되나 불안정)</a:t>
            </a:r>
          </a:p>
          <a:p>
            <a:pPr lvl="2">
              <a:spcAft>
                <a:spcPts val="0"/>
              </a:spcAft>
            </a:pPr>
            <a:r>
              <a:rPr sz="1000"/>
              <a:t>결합 (D=WaveSplat) → 0.211 (가장 안정)</a:t>
            </a:r>
          </a:p>
          <a:p>
            <a:pPr lvl="1">
              <a:spcAft>
                <a:spcPts val="100"/>
              </a:spcAft>
            </a:pPr>
            <a:r>
              <a:rPr sz="1100"/>
              <a:t>직관 비유</a:t>
            </a:r>
          </a:p>
          <a:p>
            <a:pPr lvl="2">
              <a:spcAft>
                <a:spcPts val="0"/>
              </a:spcAft>
            </a:pPr>
            <a:r>
              <a:rPr sz="1000"/>
              <a:t>Dispersion = '눈가리개' (물리 법칙으로 답 좁히기)</a:t>
            </a:r>
          </a:p>
          <a:p>
            <a:pPr lvl="2">
              <a:spcAft>
                <a:spcPts val="0"/>
              </a:spcAft>
            </a:pPr>
            <a:r>
              <a:rPr sz="1000"/>
              <a:t>Multi-frame = '여러 사진 으로 모호성 해소'</a:t>
            </a:r>
          </a:p>
          <a:p>
            <a:pPr lvl="2">
              <a:spcAft>
                <a:spcPts val="0"/>
              </a:spcAft>
            </a:pPr>
            <a:r>
              <a:rPr sz="1000"/>
              <a:t>둘 다 있어야 sparse LiDAR 로 phase-resolved 추정 가능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pic>
        <p:nvPicPr>
          <p:cNvPr id="4" name="Picture 3" descr="3dgs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85241"/>
            <a:ext cx="4297680" cy="17618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왜 2단계 설계가 자연스러운가</a:t>
            </a:r>
          </a:p>
          <a:p>
            <a:pPr lvl="1">
              <a:spcAft>
                <a:spcPts val="100"/>
              </a:spcAft>
            </a:pPr>
            <a:r>
              <a:rPr sz="1100"/>
              <a:t>핵심 관찰 — 변수마다 필요한 정보가 다름</a:t>
            </a:r>
          </a:p>
          <a:p>
            <a:pPr lvl="2">
              <a:spcAft>
                <a:spcPts val="0"/>
              </a:spcAft>
            </a:pPr>
            <a:r>
              <a:rPr sz="1000"/>
              <a:t>파수 k = (k_x, k_y): 여러 frame 시간 정보 필요 (공간 패턴)</a:t>
            </a:r>
          </a:p>
          <a:p>
            <a:pPr lvl="2">
              <a:spcAft>
                <a:spcPts val="0"/>
              </a:spcAft>
            </a:pPr>
            <a:r>
              <a:rPr sz="1000"/>
              <a:t>주파수 ω, 진폭 A, 위상 φ: 한 frame 만으로도 추정 가능</a:t>
            </a:r>
          </a:p>
          <a:p>
            <a:pPr lvl="1">
              <a:spcAft>
                <a:spcPts val="100"/>
              </a:spcAft>
            </a:pPr>
            <a:r>
              <a:rPr sz="1100"/>
              <a:t>2단계로 자연 분리</a:t>
            </a:r>
          </a:p>
          <a:p>
            <a:pPr lvl="2">
              <a:spcAft>
                <a:spcPts val="0"/>
              </a:spcAft>
            </a:pPr>
            <a:r>
              <a:rPr sz="1000"/>
              <a:t>Init: 여러 frame 모아 k 정확히 결정 — 한 번만 (&lt; 1 s)</a:t>
            </a:r>
          </a:p>
          <a:p>
            <a:pPr lvl="2">
              <a:spcAft>
                <a:spcPts val="0"/>
              </a:spcAft>
            </a:pPr>
            <a:r>
              <a:rPr sz="1000"/>
              <a:t>Track: k 고정, ω·A·φ 만 매 frame update — 실시간 (&lt; 13 ms)</a:t>
            </a:r>
          </a:p>
          <a:p>
            <a:pPr lvl="2">
              <a:spcAft>
                <a:spcPts val="0"/>
              </a:spcAft>
            </a:pPr>
            <a:r>
              <a:rPr sz="1000"/>
              <a:t>무거운 작업은 한 번, 가벼운 작업은 매 frame</a:t>
            </a:r>
          </a:p>
          <a:p>
            <a:pPr lvl="1">
              <a:spcAft>
                <a:spcPts val="100"/>
              </a:spcAft>
            </a:pPr>
            <a:r>
              <a:rPr sz="1100"/>
              <a:t>Identifiability 증거</a:t>
            </a:r>
          </a:p>
          <a:p>
            <a:pPr lvl="2">
              <a:spcAft>
                <a:spcPts val="0"/>
              </a:spcAft>
            </a:pPr>
            <a:r>
              <a:rPr sz="1000"/>
              <a:t>Single frame 에서 k 의 FIM eigenvalue 가 (A,φ) 보다 10⁻³ 작음</a:t>
            </a:r>
          </a:p>
          <a:p>
            <a:pPr lvl="2">
              <a:spcAft>
                <a:spcPts val="0"/>
              </a:spcAft>
            </a:pPr>
            <a:r>
              <a:rPr sz="1000"/>
              <a:t>k 자유 시 50점에 over-fit → 비물리적 발산</a:t>
            </a:r>
          </a:p>
          <a:p>
            <a:pPr lvl="2">
              <a:spcAft>
                <a:spcPts val="0"/>
              </a:spcAft>
            </a:pPr>
            <a:r>
              <a:rPr sz="1000"/>
              <a:t>k 고정 → 자유도 5N → 2N → 안정적 추정</a:t>
            </a:r>
          </a:p>
          <a:p>
            <a:pPr lvl="1">
              <a:spcAft>
                <a:spcPts val="100"/>
              </a:spcAft>
            </a:pPr>
            <a:r>
              <a:rPr sz="1100"/>
              <a:t>전체 흐름 정리</a:t>
            </a:r>
          </a:p>
          <a:p>
            <a:pPr lvl="2">
              <a:spcAft>
                <a:spcPts val="0"/>
              </a:spcAft>
            </a:pPr>
            <a:r>
              <a:rPr sz="1000"/>
              <a:t>1. Multi-frame temporal coherence → 파수 추정 (Init)</a:t>
            </a:r>
          </a:p>
          <a:p>
            <a:pPr lvl="2">
              <a:spcAft>
                <a:spcPts val="0"/>
              </a:spcAft>
            </a:pPr>
            <a:r>
              <a:rPr sz="1000"/>
              <a:t>2. 분산 관계로 ω↔k 결합 → 자유도 감소 + 물리적 제약</a:t>
            </a:r>
          </a:p>
          <a:p>
            <a:pPr lvl="2">
              <a:spcAft>
                <a:spcPts val="0"/>
              </a:spcAft>
            </a:pPr>
            <a:r>
              <a:rPr sz="1000"/>
              <a:t>3. 매 frame Adam → 실시간 (A, φ) 추적</a:t>
            </a:r>
          </a:p>
          <a:p>
            <a:pPr lvl="2">
              <a:spcAft>
                <a:spcPts val="0"/>
              </a:spcAft>
            </a:pPr>
            <a:r>
              <a:rPr sz="1000"/>
              <a:t>4. Adaptive N → 성분 수 자동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pic>
        <p:nvPicPr>
          <p:cNvPr id="4" name="Picture 3" descr="fig_beamforming_2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51962"/>
            <a:ext cx="4297680" cy="14283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Contents</a:t>
            </a:r>
          </a:p>
          <a:p>
            <a:pPr>
              <a:spcAft>
                <a:spcPts val="300"/>
              </a:spcAft>
            </a:pPr>
            <a:r>
              <a:rPr sz="1300" b="1"/>
              <a:t>  1.	Introduction &amp; Motivation</a:t>
            </a:r>
          </a:p>
          <a:p>
            <a:pPr>
              <a:spcAft>
                <a:spcPts val="300"/>
              </a:spcAft>
            </a:pPr>
            <a:r>
              <a:rPr sz="1300" b="1"/>
              <a:t>  2.	Related work</a:t>
            </a:r>
          </a:p>
          <a:p>
            <a:pPr>
              <a:spcAft>
                <a:spcPts val="300"/>
              </a:spcAft>
            </a:pPr>
            <a:r>
              <a:rPr sz="1300" b="1"/>
              <a:t>  3.	Method</a:t>
            </a:r>
          </a:p>
          <a:p>
            <a:pPr>
              <a:spcAft>
                <a:spcPts val="300"/>
              </a:spcAft>
            </a:pPr>
            <a:r>
              <a:rPr sz="1300" b="1"/>
              <a:t>  4.	Experiments &amp; Mechanism</a:t>
            </a:r>
          </a:p>
          <a:p>
            <a:pPr>
              <a:spcAft>
                <a:spcPts val="300"/>
              </a:spcAft>
            </a:pPr>
            <a:r>
              <a:rPr sz="1300" b="1"/>
              <a:t> 5.	Limitations &amp; Research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한계 — 4 가지 정직한 제약</a:t>
            </a:r>
          </a:p>
          <a:p>
            <a:pPr lvl="1">
              <a:spcAft>
                <a:spcPts val="100"/>
              </a:spcAft>
            </a:pPr>
            <a:r>
              <a:rPr sz="1100"/>
              <a:t>한계 1 — 선형 근사 (Linear Wave Theory)</a:t>
            </a:r>
          </a:p>
          <a:p>
            <a:pPr lvl="2">
              <a:spcAft>
                <a:spcPts val="0"/>
              </a:spcAft>
            </a:pPr>
            <a:r>
              <a:rPr sz="1000"/>
              <a:t>파도를 사인파의 합으로 표현</a:t>
            </a:r>
          </a:p>
          <a:p>
            <a:pPr lvl="2">
              <a:spcAft>
                <a:spcPts val="0"/>
              </a:spcAft>
            </a:pPr>
            <a:r>
              <a:rPr sz="1000"/>
              <a:t>실제 파도는 꼭대기 뾰족·골 넓음 (비선형)</a:t>
            </a:r>
          </a:p>
          <a:p>
            <a:pPr lvl="2">
              <a:spcAft>
                <a:spcPts val="0"/>
              </a:spcAft>
            </a:pPr>
            <a:r>
              <a:rPr sz="1000"/>
              <a:t>Klein 2020 비교: HOSM &gt; NLSE2 &gt; NLSE &gt; LWT 순서</a:t>
            </a:r>
          </a:p>
          <a:p>
            <a:pPr lvl="2">
              <a:spcAft>
                <a:spcPts val="0"/>
              </a:spcAft>
            </a:pPr>
            <a:r>
              <a:rPr sz="1000"/>
              <a:t>ε &lt; 0.07 신뢰 → BF6 까지 적용 가능</a:t>
            </a:r>
          </a:p>
          <a:p>
            <a:pPr lvl="2">
              <a:spcAft>
                <a:spcPts val="0"/>
              </a:spcAft>
            </a:pPr>
            <a:r>
              <a:rPr sz="1000"/>
              <a:t>개선 방향: Stokes 2차 보정 → 적용 범위 확장</a:t>
            </a:r>
          </a:p>
          <a:p>
            <a:pPr lvl="1">
              <a:spcAft>
                <a:spcPts val="100"/>
              </a:spcAft>
            </a:pPr>
            <a:r>
              <a:rPr sz="1100"/>
              <a:t>한계 2 — 복잡 파도 (≥15 components) 정확도 저하</a:t>
            </a:r>
          </a:p>
          <a:p>
            <a:pPr lvl="2">
              <a:spcAft>
                <a:spcPts val="0"/>
              </a:spcAft>
            </a:pPr>
            <a:r>
              <a:rPr sz="1000"/>
              <a:t>BF4_15comp: WaveSplat 0.302 vs Wang2025 0.249 (역전)</a:t>
            </a:r>
          </a:p>
          <a:p>
            <a:pPr lvl="2">
              <a:spcAft>
                <a:spcPts val="0"/>
              </a:spcAft>
            </a:pPr>
            <a:r>
              <a:rPr sz="1000"/>
              <a:t>원인: beamforming 이 다수 peak 분리 어려움</a:t>
            </a:r>
          </a:p>
          <a:p>
            <a:pPr lvl="2">
              <a:spcAft>
                <a:spcPts val="0"/>
              </a:spcAft>
            </a:pPr>
            <a:r>
              <a:rPr sz="1000"/>
              <a:t>개선 방향: hybrid init (격자 + 파라미터 정밀화)</a:t>
            </a:r>
          </a:p>
          <a:p>
            <a:pPr lvl="1">
              <a:spcAft>
                <a:spcPts val="100"/>
              </a:spcAft>
            </a:pPr>
            <a:r>
              <a:rPr sz="1100"/>
              <a:t>한계 3 — Vessel 정지 가정 (V=0 kts)</a:t>
            </a:r>
          </a:p>
          <a:p>
            <a:pPr lvl="2">
              <a:spcAft>
                <a:spcPts val="0"/>
              </a:spcAft>
            </a:pPr>
            <a:r>
              <a:rPr sz="1000"/>
              <a:t>본 dataset 은 vessel 정지 상태로 합성 — synthetic aperture (SA) 미적용</a:t>
            </a:r>
          </a:p>
          <a:p>
            <a:pPr lvl="2">
              <a:spcAft>
                <a:spcPts val="0"/>
              </a:spcAft>
            </a:pPr>
            <a:r>
              <a:rPr sz="1000"/>
              <a:t>Multi-frame 효과는 wave 자체 시간 진화에 의존 (vessel 운동 효과 X)</a:t>
            </a:r>
          </a:p>
          <a:p>
            <a:pPr lvl="2">
              <a:spcAft>
                <a:spcPts val="0"/>
              </a:spcAft>
            </a:pPr>
            <a:r>
              <a:rPr sz="1000"/>
              <a:t>영향: 매우 긴 swell (λ &gt; 250 m) 의 direction 해상도 저하 가능</a:t>
            </a:r>
          </a:p>
          <a:p>
            <a:pPr lvl="2">
              <a:spcAft>
                <a:spcPts val="0"/>
              </a:spcAft>
            </a:pPr>
            <a:r>
              <a:rPr sz="1000"/>
              <a:t>개선 방향: vessel motion 도입 → V·T 만큼 synthetic aperture 효과</a:t>
            </a:r>
          </a:p>
          <a:p>
            <a:pPr lvl="1">
              <a:spcAft>
                <a:spcPts val="100"/>
              </a:spcAft>
            </a:pPr>
            <a:r>
              <a:rPr sz="1100"/>
              <a:t>한계 4 — Wave breaking + 유속장 미지원</a:t>
            </a:r>
          </a:p>
          <a:p>
            <a:pPr lvl="2">
              <a:spcAft>
                <a:spcPts val="0"/>
              </a:spcAft>
            </a:pPr>
            <a:r>
              <a:rPr sz="1000"/>
              <a:t>VOF-EnKF, PFT-PINN 영역 (offline only)</a:t>
            </a:r>
          </a:p>
          <a:p>
            <a:pPr lvl="2">
              <a:spcAft>
                <a:spcPts val="0"/>
              </a:spcAft>
            </a:pPr>
            <a:r>
              <a:rPr sz="1000"/>
              <a:t>본 연구는 real-time 제어 영역 — 응용 자체가 다름</a:t>
            </a:r>
          </a:p>
          <a:p>
            <a:pPr lvl="2">
              <a:spcAft>
                <a:spcPts val="0"/>
              </a:spcAft>
            </a:pPr>
            <a:r>
              <a:rPr sz="1000"/>
              <a:t>필요 시 응용 분야 분리하여 향후 협업 연구 가능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Limitations &amp; Research plan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응용 사례 — Hydrofoil ride control</a:t>
            </a:r>
          </a:p>
          <a:p>
            <a:pPr lvl="1">
              <a:spcAft>
                <a:spcPts val="100"/>
              </a:spcAft>
            </a:pPr>
            <a:r>
              <a:rPr sz="1100"/>
              <a:t>왜 hydrofoil 인가</a:t>
            </a:r>
          </a:p>
          <a:p>
            <a:pPr lvl="2">
              <a:spcAft>
                <a:spcPts val="0"/>
              </a:spcAft>
            </a:pPr>
            <a:r>
              <a:rPr sz="1000"/>
              <a:t>Hydrofoil 은 파도 만나면 lift 변동 → heave/pitch 흔들림 → 승차감 저하</a:t>
            </a:r>
          </a:p>
          <a:p>
            <a:pPr lvl="2">
              <a:spcAft>
                <a:spcPts val="0"/>
              </a:spcAft>
            </a:pPr>
            <a:r>
              <a:rPr sz="1000"/>
              <a:t>앞쪽 파도 preview 있으면 fin angle 미리 조절 가능</a:t>
            </a:r>
          </a:p>
          <a:p>
            <a:pPr lvl="1">
              <a:spcAft>
                <a:spcPts val="100"/>
              </a:spcAft>
            </a:pPr>
            <a:r>
              <a:rPr sz="1100"/>
              <a:t>제어 구조 — PD vs PD + FF (Feed-Forward)</a:t>
            </a:r>
          </a:p>
          <a:p>
            <a:pPr lvl="2">
              <a:spcAft>
                <a:spcPts val="0"/>
              </a:spcAft>
            </a:pPr>
            <a:r>
              <a:rPr sz="1000"/>
              <a:t>기존 PD: heave error 만 보고 fin 조절 (feedback only)</a:t>
            </a:r>
          </a:p>
          <a:p>
            <a:pPr lvl="2">
              <a:spcAft>
                <a:spcPts val="0"/>
              </a:spcAft>
            </a:pPr>
            <a:r>
              <a:rPr sz="1000"/>
              <a:t>제안 PD + FF: WaveSplat 추정 → 미래 wave disturbance 예측 → fin 보상</a:t>
            </a:r>
          </a:p>
          <a:p>
            <a:pPr lvl="2">
              <a:spcAft>
                <a:spcPts val="0"/>
              </a:spcAft>
            </a:pPr>
            <a:r>
              <a:rPr sz="1000"/>
              <a:t>최종 fin angle = PD(heave error) + FF(predicted wave disturbance)</a:t>
            </a:r>
          </a:p>
          <a:p>
            <a:pPr lvl="1">
              <a:spcAft>
                <a:spcPts val="100"/>
              </a:spcAft>
            </a:pPr>
            <a:r>
              <a:rPr sz="1100"/>
              <a:t>Test setup</a:t>
            </a:r>
          </a:p>
          <a:p>
            <a:pPr lvl="2">
              <a:spcAft>
                <a:spcPts val="0"/>
              </a:spcAft>
            </a:pPr>
            <a:r>
              <a:rPr sz="1000"/>
              <a:t>WaveSim 파도 + hydrofoil dynamics simulator</a:t>
            </a:r>
          </a:p>
          <a:p>
            <a:pPr lvl="2">
              <a:spcAft>
                <a:spcPts val="0"/>
              </a:spcAft>
            </a:pPr>
            <a:r>
              <a:rPr sz="1000"/>
              <a:t>Preview window: 0.3 s lookahead (V=11.3 m/s 에서 약 3 m 앞)</a:t>
            </a:r>
          </a:p>
          <a:p>
            <a:pPr lvl="1">
              <a:spcAft>
                <a:spcPts val="100"/>
              </a:spcAft>
            </a:pPr>
            <a:r>
              <a:rPr sz="1100"/>
              <a:t>현재 단계 — preliminary test (응용 가능성 확인)</a:t>
            </a:r>
          </a:p>
          <a:p>
            <a:pPr lvl="2">
              <a:spcAft>
                <a:spcPts val="0"/>
              </a:spcAft>
            </a:pPr>
            <a:r>
              <a:rPr sz="1000"/>
              <a:t>체계적 controller tuning + robustness 평가는 후속 연구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Limitations &amp; Research plan</a:t>
            </a:r>
          </a:p>
        </p:txBody>
      </p:sp>
      <p:pic>
        <p:nvPicPr>
          <p:cNvPr id="4" name="Picture 3" descr="hydrofoil_controll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08655"/>
            <a:ext cx="4297680" cy="151500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5212080"/>
            <a:ext cx="8191822" cy="128016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PD vs PD + FF — heave acceleration 감소 확인</a:t>
            </a:r>
          </a:p>
          <a:p>
            <a:pPr lvl="1">
              <a:spcAft>
                <a:spcPts val="100"/>
              </a:spcAft>
            </a:pPr>
            <a:r>
              <a:rPr sz="1100"/>
              <a:t>aRMS: PD 0.090 m/s² → PD+FF 0.047 m/s² (약 48% 감소)</a:t>
            </a:r>
          </a:p>
          <a:p>
            <a:pPr lvl="1">
              <a:spcAft>
                <a:spcPts val="100"/>
              </a:spcAft>
            </a:pPr>
            <a:r>
              <a:rPr sz="1100"/>
              <a:t>ISO 2631 ride comfort 기준에서 의미 있는 수준의 감소</a:t>
            </a:r>
          </a:p>
          <a:p>
            <a:pPr lvl="1">
              <a:spcAft>
                <a:spcPts val="100"/>
              </a:spcAft>
            </a:pPr>
            <a:r>
              <a:rPr sz="1100"/>
              <a:t>같은 파도 시퀀스, 두 controller 직접 비교 (위 영상)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Limitations &amp; Research plan</a:t>
            </a:r>
          </a:p>
        </p:txBody>
      </p:sp>
      <p:pic>
        <p:nvPicPr>
          <p:cNvPr id="4" name="Picture 3" descr="hydrofoil_wave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9144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향후 연구 — 4가지 방향</a:t>
            </a:r>
          </a:p>
          <a:p>
            <a:pPr lvl="1">
              <a:spcAft>
                <a:spcPts val="100"/>
              </a:spcAft>
            </a:pPr>
            <a:r>
              <a:rPr sz="1100"/>
              <a:t>방향 1 — 고복잡도 파도 대응 (초기화 개선)</a:t>
            </a:r>
          </a:p>
          <a:p>
            <a:pPr lvl="2">
              <a:spcAft>
                <a:spcPts val="0"/>
              </a:spcAft>
            </a:pPr>
            <a:r>
              <a:rPr sz="1000"/>
              <a:t>현재: ≥15 component 에서 정확도 저하 (Wang2025 가 일부 우세)</a:t>
            </a:r>
          </a:p>
          <a:p>
            <a:pPr lvl="2">
              <a:spcAft>
                <a:spcPts val="0"/>
              </a:spcAft>
            </a:pPr>
            <a:r>
              <a:rPr sz="1000"/>
              <a:t>계획: hybrid init (격자 + 파라미터 정밀화)</a:t>
            </a:r>
          </a:p>
          <a:p>
            <a:pPr lvl="2">
              <a:spcAft>
                <a:spcPts val="0"/>
              </a:spcAft>
            </a:pPr>
            <a:r>
              <a:rPr sz="1000"/>
              <a:t>대안: learned init (NN 으로 초기 component 추정)</a:t>
            </a:r>
          </a:p>
          <a:p>
            <a:pPr lvl="2">
              <a:spcAft>
                <a:spcPts val="0"/>
              </a:spcAft>
            </a:pPr>
            <a:r>
              <a:rPr sz="1000"/>
              <a:t>기대: 고복잡도에서도 격자 방법 이상 정확도</a:t>
            </a:r>
          </a:p>
          <a:p>
            <a:pPr lvl="1">
              <a:spcAft>
                <a:spcPts val="100"/>
              </a:spcAft>
            </a:pPr>
            <a:r>
              <a:rPr sz="1100"/>
              <a:t>방향 2 — 비선형 파도 확장</a:t>
            </a:r>
          </a:p>
          <a:p>
            <a:pPr lvl="2">
              <a:spcAft>
                <a:spcPts val="0"/>
              </a:spcAft>
            </a:pPr>
            <a:r>
              <a:rPr sz="1000"/>
              <a:t>현재: LWT (선형) → BF6 까지 신뢰 (ε &lt; 0.07)</a:t>
            </a:r>
          </a:p>
          <a:p>
            <a:pPr lvl="2">
              <a:spcAft>
                <a:spcPts val="0"/>
              </a:spcAft>
            </a:pPr>
            <a:r>
              <a:rPr sz="1000"/>
              <a:t>계획: Stokes 2차 보정 추가</a:t>
            </a:r>
          </a:p>
          <a:p>
            <a:pPr lvl="2">
              <a:spcAft>
                <a:spcPts val="0"/>
              </a:spcAft>
            </a:pPr>
            <a:r>
              <a:rPr sz="1000"/>
              <a:t>장기: Klein 2020 의 NLSE 수준 도달</a:t>
            </a:r>
          </a:p>
          <a:p>
            <a:pPr lvl="1">
              <a:spcAft>
                <a:spcPts val="100"/>
              </a:spcAft>
            </a:pPr>
            <a:r>
              <a:rPr sz="1100"/>
              <a:t>방향 3 — Vessel motion 기반 synthetic aperture (SAR-style)</a:t>
            </a:r>
          </a:p>
          <a:p>
            <a:pPr lvl="2">
              <a:spcAft>
                <a:spcPts val="0"/>
              </a:spcAft>
            </a:pPr>
            <a:r>
              <a:rPr sz="1000"/>
              <a:t>현재: 코드/dataset 모두 vessel 정지 (V=0 kts) — SA 미적용</a:t>
            </a:r>
          </a:p>
          <a:p>
            <a:pPr lvl="2">
              <a:spcAft>
                <a:spcPts val="0"/>
              </a:spcAft>
            </a:pPr>
            <a:r>
              <a:rPr sz="1000"/>
              <a:t>계획: V &gt; 0 시 V·T 만큼 추가 spatial coverage 효과 검증</a:t>
            </a:r>
          </a:p>
          <a:p>
            <a:pPr lvl="2">
              <a:spcAft>
                <a:spcPts val="0"/>
              </a:spcAft>
            </a:pPr>
            <a:r>
              <a:rPr sz="1000"/>
              <a:t>Reference: Wiley 1954 SAR 원리</a:t>
            </a:r>
          </a:p>
          <a:p>
            <a:pPr lvl="2">
              <a:spcAft>
                <a:spcPts val="0"/>
              </a:spcAft>
            </a:pPr>
            <a:r>
              <a:rPr sz="1000"/>
              <a:t>Ship-mounted LiDAR 에서 SA 적용 — 첫 시도가 될 가능성</a:t>
            </a:r>
          </a:p>
          <a:p>
            <a:pPr lvl="1">
              <a:spcAft>
                <a:spcPts val="100"/>
              </a:spcAft>
            </a:pPr>
            <a:r>
              <a:rPr sz="1100"/>
              <a:t>방향 4 — 실측 데이터 검증</a:t>
            </a:r>
          </a:p>
          <a:p>
            <a:pPr lvl="2">
              <a:spcAft>
                <a:spcPts val="0"/>
              </a:spcAft>
            </a:pPr>
            <a:r>
              <a:rPr sz="1000"/>
              <a:t>현재: 합성 dataset (110 episode) 만 검증</a:t>
            </a:r>
          </a:p>
          <a:p>
            <a:pPr lvl="2">
              <a:spcAft>
                <a:spcPts val="0"/>
              </a:spcAft>
            </a:pPr>
            <a:r>
              <a:rPr sz="1000"/>
              <a:t>계획: 실제 선박 LiDAR 데이터</a:t>
            </a:r>
          </a:p>
          <a:p>
            <a:pPr lvl="2">
              <a:spcAft>
                <a:spcPts val="0"/>
              </a:spcAft>
            </a:pPr>
            <a:r>
              <a:rPr sz="1000"/>
              <a:t>Ground-truth: wave buoy 또는 X-band radar 병행 측정</a:t>
            </a:r>
          </a:p>
          <a:p>
            <a:pPr lvl="1">
              <a:spcAft>
                <a:spcPts val="100"/>
              </a:spcAft>
            </a:pPr>
            <a:r>
              <a:rPr sz="1100"/>
              <a:t>최종 목표 — 선박 실시간 제어용 phase-resolved wave 추정 시스템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Limitations &amp; Research plan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A. Related work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9461" y="960120"/>
          <a:ext cx="626151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302"/>
                <a:gridCol w="1252302"/>
                <a:gridCol w="1252302"/>
                <a:gridCol w="1252302"/>
                <a:gridCol w="1252302"/>
              </a:tblGrid>
              <a:tr h="382088">
                <a:tc>
                  <a:txBody>
                    <a:bodyPr/>
                    <a:lstStyle/>
                    <a:p>
                      <a:r>
                        <a:rPr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Paper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Sensor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핵심 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한계 / 우리 차별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Desmars 2018 (OMAE)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LIDAR (proposed)</a:t>
                      </a:r>
                    </a:p>
                    <a:p>
                      <a:r>
                        <a:t>Sim only (HOS synth)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LIDAR + ICWM, on-grid variational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LIDAR concept, 1D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Desmars 2020 (Ocean Eng 212)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 gauge array</a:t>
                      </a:r>
                    </a:p>
                    <a:p>
                      <a:r>
                        <a:t>실측 (wave tank)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 gauge + dispersion correction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 gauge ≠ LiDAR, 1D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Desmars 2023 (JFM 975)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X-band radar (modeled)</a:t>
                      </a:r>
                    </a:p>
                    <a:p>
                      <a:r>
                        <a:t>Sim only + wave tank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HOS-OCM, vessel optical, 3-stage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1D, on-grid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Wang &amp; Pan 2021 (JFM 918)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X-band radar</a:t>
                      </a:r>
                    </a:p>
                    <a:p>
                      <a:r>
                        <a:t>Sim + 실측 radar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EnKF + HOS 첫 결합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Dense obs, 1D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Wang &amp; Pan 2022 (JFM 949)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Shipborne radar</a:t>
                      </a:r>
                    </a:p>
                    <a:p>
                      <a:r>
                        <a:t>실측 + sim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EnKF-HOS-C (current 동시)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1D, dense obs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Feng Wang 2025</a:t>
                      </a:r>
                    </a:p>
                    <a:p>
                      <a:r>
                        <a:t>(Coastal Eng 197)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Stereo camera (WASS)</a:t>
                      </a:r>
                    </a:p>
                    <a:p>
                      <a:r>
                        <a:t>실측 (Acqua Alta)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ETKF + Ne=300 + fuzzy 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격자 한계, 632 ms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Hunt 2007 (Physica D 230)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기상학</a:t>
                      </a:r>
                    </a:p>
                    <a:p>
                      <a:r>
                        <a:t>Sim (atmospheric)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LETKF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Wave-specific 아님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Klein 2020 (Fluids 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Model 비교</a:t>
                      </a:r>
                    </a:p>
                    <a:p>
                      <a:r>
                        <a:t>Sim + semi-exp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LWT/NLSE/HOSM 정량 비교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새 알고리즘 아님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Ehlers 2023 (OE 288)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X-band radar</a:t>
                      </a:r>
                    </a:p>
                    <a:p>
                      <a:r>
                        <a:t>Sim only (HOS+geom radar)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FNO supervised, 1.9 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3120 sample 학습 필요, 1D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Ehlers 2025 (arXiv:2501.08430)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 gauge</a:t>
                      </a:r>
                    </a:p>
                    <a:p>
                      <a:r>
                        <a:t>실측 (wave flume)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PFT-PINN unsupervised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30 분/instance, 1D + t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Yan 2025 (arXiv:2510.14356)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Synthetic</a:t>
                      </a:r>
                    </a:p>
                    <a:p>
                      <a:r>
                        <a:t>Sim only (VOF NWT)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NS + EnKF + POD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Offline only, 1D xz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Tang 2013 (IEEE TIT 59)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이론</a:t>
                      </a:r>
                    </a:p>
                    <a:p>
                      <a:r>
                        <a:t>— (theoretical)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Atomic norm off-grid 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1D, SDP 비용</a:t>
                      </a:r>
                    </a:p>
                  </a:txBody>
                  <a:tcPr/>
                </a:tc>
              </a:tr>
              <a:tr h="382096">
                <a:tc>
                  <a:txBody>
                    <a:bodyPr wrap="square"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Möller-Trumbore 1997 (JGT)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Graphics</a:t>
                      </a:r>
                    </a:p>
                    <a:p>
                      <a:r>
                        <a:t>— (algorithm only)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Ray-triangle intersection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비물리적 (geometry only)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B. Dataset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6319" y="2121408"/>
          <a:ext cx="617235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70"/>
                <a:gridCol w="1234470"/>
                <a:gridCol w="1234470"/>
                <a:gridCol w="1234470"/>
                <a:gridCol w="1234474"/>
              </a:tblGrid>
              <a:tr h="342900">
                <a:tc>
                  <a:txBody>
                    <a:bodyPr/>
                    <a:lstStyle/>
                    <a:p>
                      <a:r>
                        <a:rPr b="1"/>
                        <a:t>Sea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ε (steepness)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N_components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Episode 수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BF2 (Hs=0.3, Tp=4.0)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BF3 (Hs=0.6, Tp=5.5)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1, 2, 5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BF4 (Hs=1.2, Tp=7.0)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1, 5, 15, 30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BF5 (Hs=2.0, Tp=9.0)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BF6 (Hs=3.0, Tp=10.0)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1, 5, 15, 30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BF7 (Hs=5.0, Tp=12.0)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1, 5, 15, 30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 episodes (1.2 GB)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C-1. BF3 / N=2</a:t>
            </a:r>
          </a:p>
        </p:txBody>
      </p:sp>
      <p:pic>
        <p:nvPicPr>
          <p:cNvPr id="4" name="Picture 3" descr="fig_wang_compare_bf3_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C-2. BF3 / N=5</a:t>
            </a:r>
          </a:p>
        </p:txBody>
      </p:sp>
      <p:pic>
        <p:nvPicPr>
          <p:cNvPr id="4" name="Picture 3" descr="fig_wang_compare_bf3_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C-3. BF4 / N=5</a:t>
            </a:r>
          </a:p>
        </p:txBody>
      </p:sp>
      <p:pic>
        <p:nvPicPr>
          <p:cNvPr id="4" name="Picture 3" descr="fig_wang_compare_bf4_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74713</TotalTime>
  <Words>1029</Words>
  <Application>Microsoft Office PowerPoint</Application>
  <PresentationFormat>화면 슬라이드 쇼(4:3)</PresentationFormat>
  <Paragraphs>185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굴림</vt:lpstr>
      <vt:lpstr>Arial</vt:lpstr>
      <vt:lpstr>Arial Black</vt:lpstr>
      <vt:lpstr>Times New Roman</vt:lpstr>
      <vt:lpstr>Wingdings</vt:lpstr>
      <vt:lpstr>디자인 사용자 지정</vt:lpstr>
      <vt:lpstr>Ocean Wave Estimation from sparse LiDAR point</vt:lpstr>
      <vt:lpstr>Contents</vt:lpstr>
      <vt:lpstr>Contents</vt:lpstr>
      <vt:lpstr>1. Introduction &amp; Motivation</vt:lpstr>
      <vt:lpstr>1. Introduction &amp; Motivation</vt:lpstr>
      <vt:lpstr>Contents</vt:lpstr>
      <vt:lpstr>PowerPoint 프레젠테이션</vt:lpstr>
      <vt:lpstr>Contents</vt:lpstr>
      <vt:lpstr>PowerPoint 프레젠테이션</vt:lpstr>
      <vt:lpstr>Contents</vt:lpstr>
      <vt:lpstr>PowerPoint 프레젠테이션</vt:lpstr>
      <vt:lpstr>Contents</vt:lpstr>
      <vt:lpstr>PowerPoint 프레젠테이션</vt:lpstr>
      <vt:lpstr>감사합니다.</vt:lpstr>
      <vt:lpstr>Appendix A. Related work table</vt:lpstr>
      <vt:lpstr>Appendix B. Dataset table</vt:lpstr>
      <vt:lpstr>Appendix C. Comparison result</vt:lpstr>
      <vt:lpstr>Appendix C. Comparison result</vt:lpstr>
      <vt:lpstr>Appendix C. Comparison result</vt:lpstr>
    </vt:vector>
  </TitlesOfParts>
  <Company>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Sogang</dc:creator>
  <cp:lastModifiedBy>박세용</cp:lastModifiedBy>
  <cp:revision>4617</cp:revision>
  <cp:lastPrinted>2021-11-03T00:28:46Z</cp:lastPrinted>
  <dcterms:created xsi:type="dcterms:W3CDTF">2007-03-29T05:53:49Z</dcterms:created>
  <dcterms:modified xsi:type="dcterms:W3CDTF">2026-05-10T09:34:19Z</dcterms:modified>
</cp:coreProperties>
</file>