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21"/>
  </p:notesMasterIdLst>
  <p:handoutMasterIdLst>
    <p:handoutMasterId r:id="rId22"/>
  </p:handoutMasterIdLst>
  <p:sldIdLst>
    <p:sldId id="1001" r:id="rId2"/>
    <p:sldId id="1272" r:id="rId3"/>
    <p:sldId id="1273" r:id="rId11"/>
    <p:sldId id="1274" r:id="rId12"/>
    <p:sldId id="1275" r:id="rId13"/>
    <p:sldId id="1276" r:id="rId14"/>
    <p:sldId id="1277" r:id="rId15"/>
    <p:sldId id="1278" r:id="rId16"/>
    <p:sldId id="1279" r:id="rId17"/>
    <p:sldId id="1280" r:id="rId18"/>
    <p:sldId id="1281" r:id="rId19"/>
    <p:sldId id="1282" r:id="rId20"/>
    <p:sldId id="1283" r:id="rId10"/>
    <p:sldId id="1284" r:id="rId9"/>
    <p:sldId id="1285" r:id="rId8"/>
    <p:sldId id="1286" r:id="rId7"/>
    <p:sldId id="1287" r:id="rId6"/>
    <p:sldId id="1288" r:id="rId5"/>
    <p:sldId id="1289" r:id="rId4"/>
    <p:sldId id="1290" r:id="rId28"/>
    <p:sldId id="1291" r:id="rId29"/>
    <p:sldId id="1292" r:id="rId30"/>
    <p:sldId id="1293" r:id="rId31"/>
    <p:sldId id="1294" r:id="rId32"/>
    <p:sldId id="1295" r:id="rId33"/>
    <p:sldId id="1296" r:id="rId34"/>
    <p:sldId id="1297" r:id="rId35"/>
    <p:sldId id="1298" r:id="rId36"/>
    <p:sldId id="1299" r:id="rId37"/>
    <p:sldId id="1300" r:id="rId38"/>
    <p:sldId id="1301" r:id="rId39"/>
    <p:sldId id="1302" r:id="rId40"/>
    <p:sldId id="1303" r:id="rId41"/>
    <p:sldId id="1304" r:id="rId42"/>
    <p:sldId id="1305" r:id="rId43"/>
    <p:sldId id="1306" r:id="rId44"/>
    <p:sldId id="1307" r:id="rId45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5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9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commentAuthors" Target="commentAuthors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39167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235325" y="519113"/>
            <a:ext cx="3398838" cy="2549525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CF72608-E96E-40E0-AA36-7D967661FE69}" type="slidenum">
              <a:rPr lang="en-US" altLang="ko-KR" smtClean="0"/>
              <a:pPr>
                <a:defRPr/>
              </a:pPr>
              <a:t>1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539678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3B3739-5194-4EC4-8994-987B3EFD5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130200"/>
            <a:ext cx="8782744" cy="2090662"/>
          </a:xfrm>
        </p:spPr>
        <p:txBody>
          <a:bodyPr anchor="ctr">
            <a:norm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dirty="0"/>
              <a:t>Ocean Wave Estimation from sparse LiDAR point</a:t>
            </a:r>
            <a:endParaRPr lang="ko-KR" altLang="en-US" sz="1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B05733F-0B25-40D5-BF94-DF468B0665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3608" y="5373216"/>
            <a:ext cx="7992888" cy="720080"/>
          </a:xfrm>
        </p:spPr>
        <p:txBody>
          <a:bodyPr>
            <a:normAutofit/>
          </a:bodyPr>
          <a:lstStyle/>
          <a:p>
            <a:pPr algn="r"/>
            <a:r>
              <a:rPr lang="en-US" altLang="ko-KR" sz="1800" b="1" dirty="0" err="1"/>
              <a:t>Sae</a:t>
            </a:r>
            <a:r>
              <a:rPr lang="en-US" altLang="ko-KR" sz="1800" b="1" dirty="0"/>
              <a:t> Yong Park</a:t>
            </a:r>
            <a:r>
              <a:rPr lang="en-US" altLang="ko-KR" sz="1800" baseline="30000" dirty="0"/>
              <a:t> 1</a:t>
            </a:r>
            <a:r>
              <a:rPr lang="en-US" altLang="ko-KR" sz="1800" dirty="0"/>
              <a:t>, Shin</a:t>
            </a:r>
            <a:r>
              <a:rPr lang="ko-KR" altLang="en-US" sz="1800" dirty="0"/>
              <a:t> </a:t>
            </a:r>
            <a:r>
              <a:rPr lang="en-US" altLang="ko-KR" sz="1800" dirty="0"/>
              <a:t>Hyung</a:t>
            </a:r>
            <a:r>
              <a:rPr lang="ko-KR" altLang="en-US" sz="1800" dirty="0"/>
              <a:t> </a:t>
            </a:r>
            <a:r>
              <a:rPr lang="en-US" altLang="ko-KR" sz="1800" dirty="0"/>
              <a:t>Rhee</a:t>
            </a:r>
            <a:r>
              <a:rPr lang="en-US" altLang="ko-KR" sz="1800" baseline="30000" dirty="0"/>
              <a:t> 1</a:t>
            </a:r>
            <a:endParaRPr lang="en-US" altLang="ko-KR" sz="1800" dirty="0"/>
          </a:p>
          <a:p>
            <a:pPr algn="r"/>
            <a:r>
              <a:rPr lang="en-US" altLang="ko-KR" sz="1800" baseline="30000" dirty="0"/>
              <a:t> </a:t>
            </a:r>
            <a:r>
              <a:rPr lang="en-US" altLang="ko-KR" sz="1800" dirty="0"/>
              <a:t>Seoul National Univ., Seoul, Korea</a:t>
            </a:r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  <a:p>
            <a:pPr algn="r"/>
            <a:endParaRPr lang="en-US" altLang="ko-KR" sz="1800" dirty="0"/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96E4A0B-D702-4670-BF9E-8B0501E9E89D}"/>
              </a:ext>
            </a:extLst>
          </p:cNvPr>
          <p:cNvSpPr txBox="1">
            <a:spLocks/>
          </p:cNvSpPr>
          <p:nvPr/>
        </p:nvSpPr>
        <p:spPr>
          <a:xfrm>
            <a:off x="4036223" y="0"/>
            <a:ext cx="5112568" cy="7647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Aft>
                <a:spcPts val="0"/>
              </a:spcAft>
            </a:pPr>
            <a:endParaRPr kumimoji="0" lang="ko-KR" altLang="en-US" baseline="30000" dirty="0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B59998C-8342-4240-B9B4-EE62F58858CB}"/>
              </a:ext>
            </a:extLst>
          </p:cNvPr>
          <p:cNvSpPr txBox="1">
            <a:spLocks/>
          </p:cNvSpPr>
          <p:nvPr/>
        </p:nvSpPr>
        <p:spPr>
          <a:xfrm>
            <a:off x="7164288" y="809664"/>
            <a:ext cx="1979712" cy="387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pPr algn="r" fontAlgn="auto">
              <a:spcAft>
                <a:spcPts val="0"/>
              </a:spcAft>
            </a:pPr>
            <a:r>
              <a:rPr kumimoji="0" lang="en-US" altLang="ko-KR" sz="2000" dirty="0">
                <a:solidFill>
                  <a:schemeClr val="tx1"/>
                </a:solidFill>
              </a:rPr>
              <a:t>May 13, 2026</a:t>
            </a:r>
            <a:endParaRPr kumimoji="0" lang="ko-KR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5790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6" name="AutoShape 17">
            <a:extLst>
              <a:ext uri="{FF2B5EF4-FFF2-40B4-BE49-F238E27FC236}">
                <a16:creationId xmlns:a16="http://schemas.microsoft.com/office/drawing/2014/main" id="{E03C2DFD-BF25-4C69-99C4-9AEF63C469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129008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1.	Introduction &amp; Motivation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7" name="AutoShape 17">
            <a:extLst>
              <a:ext uri="{FF2B5EF4-FFF2-40B4-BE49-F238E27FC236}">
                <a16:creationId xmlns:a16="http://schemas.microsoft.com/office/drawing/2014/main" id="{CA34253F-BB03-4785-AF99-09BF4345B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221032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2.	Related work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8" name="AutoShape 17">
            <a:extLst>
              <a:ext uri="{FF2B5EF4-FFF2-40B4-BE49-F238E27FC236}">
                <a16:creationId xmlns:a16="http://schemas.microsoft.com/office/drawing/2014/main" id="{957DF45F-CB86-4ACD-9E4C-5E3F81D9C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30" y="3130567"/>
            <a:ext cx="6500813" cy="503238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3.	Method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9" name="AutoShape 17">
            <a:extLst>
              <a:ext uri="{FF2B5EF4-FFF2-40B4-BE49-F238E27FC236}">
                <a16:creationId xmlns:a16="http://schemas.microsoft.com/office/drawing/2014/main" id="{0D143BB5-9403-4D34-8155-18B3E3796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9" y="4050807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 4.	Experiments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Mechanism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  <p:sp>
        <p:nvSpPr>
          <p:cNvPr id="2" name="AutoShape 17">
            <a:extLst>
              <a:ext uri="{FF2B5EF4-FFF2-40B4-BE49-F238E27FC236}">
                <a16:creationId xmlns:a16="http://schemas.microsoft.com/office/drawing/2014/main" id="{E39325F6-5876-1AAD-95B5-20D7C8796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128" y="4965685"/>
            <a:ext cx="6500813" cy="503237"/>
          </a:xfrm>
          <a:prstGeom prst="roundRect">
            <a:avLst>
              <a:gd name="adj" fmla="val 34208"/>
            </a:avLst>
          </a:prstGeom>
          <a:solidFill>
            <a:schemeClr val="accent2">
              <a:lumMod val="75000"/>
            </a:schemeClr>
          </a:solidFill>
          <a:ln w="25400">
            <a:solidFill>
              <a:schemeClr val="bg1">
                <a:lumMod val="75000"/>
              </a:schemeClr>
            </a:solidFill>
            <a:round/>
            <a:headEnd/>
            <a:tailEnd/>
          </a:ln>
          <a:effectLst/>
        </p:spPr>
        <p:txBody>
          <a:bodyPr wrap="none" lIns="36000" rIns="36000" anchor="ctr"/>
          <a:lstStyle/>
          <a:p>
            <a:pPr>
              <a:defRPr/>
            </a:pPr>
            <a:r>
              <a:rPr lang="en-US" altLang="ko-KR" sz="2200" b="1" dirty="0">
                <a:solidFill>
                  <a:schemeClr val="bg1"/>
                </a:solidFill>
                <a:latin typeface="Times New Roman" panose="02020603050405020304" pitchFamily="18" charset="0"/>
                <a:ea typeface="맑은 고딕" pitchFamily="50" charset="-127"/>
                <a:cs typeface="Times New Roman" panose="02020603050405020304" pitchFamily="18" charset="0"/>
              </a:rPr>
              <a:t> 5.	Limitations &amp; Research plan</a:t>
            </a:r>
            <a:endParaRPr lang="ko-KR" altLang="en-US" sz="2200" b="1" dirty="0">
              <a:solidFill>
                <a:schemeClr val="bg1"/>
              </a:solidFill>
              <a:latin typeface="Times New Roman" panose="02020603050405020304" pitchFamily="18" charset="0"/>
              <a:ea typeface="맑은 고딕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9708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파 추정의 한계</a:t>
            </a:r>
          </a:p>
          <a:p>
            <a:pPr lvl="1">
              <a:spcAft>
                <a:spcPts val="100"/>
              </a:spcAft>
            </a:pPr>
            <a:r>
              <a:rPr sz="1100"/>
              <a:t>통계적 추정으로는 유의파고, 주기 정도만 제공</a:t>
            </a:r>
          </a:p>
          <a:p>
            <a:pPr lvl="2">
              <a:spcAft>
                <a:spcPts val="0"/>
              </a:spcAft>
            </a:pPr>
            <a:r>
              <a:rPr sz="1000"/>
              <a:t>평균적 파 환경은 알 수 있지만, 언제 어디서 파가 오는지 미지수</a:t>
            </a:r>
          </a:p>
          <a:p>
            <a:pPr lvl="2">
              <a:spcAft>
                <a:spcPts val="0"/>
              </a:spcAft>
            </a:pPr>
            <a:r>
              <a:rPr sz="1000"/>
              <a:t>선박 설계에는 충분하나 실시간 제어 목적으로는 부족</a:t>
            </a:r>
          </a:p>
          <a:p>
            <a:pPr lvl="1">
              <a:spcAft>
                <a:spcPts val="100"/>
              </a:spcAft>
            </a:pPr>
            <a:r>
              <a:rPr sz="1100"/>
              <a:t>따라서 본 연구에서는 하기와 같은 연구를 수행</a:t>
            </a:r>
          </a:p>
          <a:p>
            <a:pPr lvl="2">
              <a:spcAft>
                <a:spcPts val="0"/>
              </a:spcAft>
            </a:pPr>
            <a:r>
              <a:rPr sz="1000"/>
              <a:t>Phase resolved estimation: η(x, y, t) – 각 파도의 위치·시점을 추정</a:t>
            </a:r>
          </a:p>
          <a:p>
            <a:pPr lvl="2">
              <a:spcAft>
                <a:spcPts val="0"/>
              </a:spcAft>
            </a:pPr>
            <a:r>
              <a:rPr sz="1000"/>
              <a:t>BF4 sea state가 아닌 특정 위치 특정 시간 후 어떤 파와 같은 구체적 정보 추정</a:t>
            </a:r>
          </a:p>
          <a:p>
            <a:pPr lvl="1">
              <a:spcAft>
                <a:spcPts val="100"/>
              </a:spcAft>
            </a:pPr>
            <a:r>
              <a:rPr sz="1100"/>
              <a:t>연구 결과를 이용한 응용</a:t>
            </a:r>
          </a:p>
          <a:p>
            <a:pPr lvl="2">
              <a:spcAft>
                <a:spcPts val="0"/>
              </a:spcAft>
            </a:pPr>
            <a:r>
              <a:rPr sz="1000"/>
              <a:t>Hydrofoil ride control, 자율운항 안전판단, 선박 motion 예측 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task 의 핵심 도전 과제 — 왜 어려운가</a:t>
            </a:r>
          </a:p>
          <a:p>
            <a:pPr lvl="1">
              <a:spcAft>
                <a:spcPts val="100"/>
              </a:spcAft>
            </a:pPr>
            <a:r>
              <a:rPr sz="1100"/>
              <a:t>도전 1 — 희소하고 비균일한 측정 (sparse, non-uniform)</a:t>
            </a:r>
          </a:p>
          <a:p>
            <a:pPr lvl="2">
              <a:spcAft>
                <a:spcPts val="0"/>
              </a:spcAft>
            </a:pPr>
            <a:r>
              <a:rPr sz="1000"/>
              <a:t>한 frame 의 LiDAR 유효 점이 약 50개 정도 (raydrop, shadowing 후)</a:t>
            </a:r>
          </a:p>
          <a:p>
            <a:pPr lvl="2">
              <a:spcAft>
                <a:spcPts val="0"/>
              </a:spcAft>
            </a:pPr>
            <a:r>
              <a:rPr sz="1000"/>
              <a:t>점밀도 비균일 — 가까운 거리는 dense, 먼 거리는 sparse</a:t>
            </a:r>
          </a:p>
          <a:p>
            <a:pPr lvl="2">
              <a:spcAft>
                <a:spcPts val="0"/>
              </a:spcAft>
            </a:pPr>
            <a:r>
              <a:rPr sz="1000"/>
              <a:t>Wave gauge 나 dense radar 와 다른 setup → 기존 방법 직접 적용 어려움</a:t>
            </a:r>
          </a:p>
          <a:p>
            <a:pPr lvl="1">
              <a:spcAft>
                <a:spcPts val="100"/>
              </a:spcAft>
            </a:pPr>
            <a:r>
              <a:rPr sz="1100"/>
              <a:t>도전 2 — 실시간 제약 (frame 당 100 ms 이내)</a:t>
            </a:r>
          </a:p>
          <a:p>
            <a:pPr lvl="2">
              <a:spcAft>
                <a:spcPts val="0"/>
              </a:spcAft>
            </a:pPr>
            <a:r>
              <a:rPr sz="1000"/>
              <a:t>선박 제어 루프 약 10 Hz → 한 frame 처리 100 ms 이내 필요</a:t>
            </a:r>
          </a:p>
          <a:p>
            <a:pPr lvl="2">
              <a:spcAft>
                <a:spcPts val="0"/>
              </a:spcAft>
            </a:pPr>
            <a:r>
              <a:rPr sz="1000"/>
              <a:t>선행 방법별 처리 시간 비교:</a:t>
            </a:r>
          </a:p>
          <a:p>
            <a:pPr lvl="2">
              <a:spcAft>
                <a:spcPts val="0"/>
              </a:spcAft>
            </a:pPr>
            <a:r>
              <a:rPr sz="1000"/>
              <a:t>   • EnKF + HOS 비선형 (Wang &amp; Pan): ensemble × HOS forecast 로 수백 ms 이상</a:t>
            </a:r>
          </a:p>
          <a:p>
            <a:pPr lvl="2">
              <a:spcAft>
                <a:spcPts val="0"/>
              </a:spcAft>
            </a:pPr>
            <a:r>
              <a:rPr sz="1000"/>
              <a:t>   • EnKF + linear (Feng Wang 2025, Ne=300): 632 ms — 100 ms 초과로 부적합</a:t>
            </a:r>
          </a:p>
          <a:p>
            <a:pPr lvl="2">
              <a:spcAft>
                <a:spcPts val="0"/>
              </a:spcAft>
            </a:pPr>
            <a:r>
              <a:rPr sz="1000"/>
              <a:t>   • PFT-PINN (Ehlers 2025): instance 마다 약 30 분 학습 (RTX 3090)</a:t>
            </a:r>
          </a:p>
          <a:p>
            <a:pPr lvl="2">
              <a:spcAft>
                <a:spcPts val="0"/>
              </a:spcAft>
            </a:pPr>
            <a:r>
              <a:rPr sz="1000"/>
              <a:t>   • FNO supervised (Ehlers 2023): 학습 후 inference 1.9 ms — 단 3120 sample 학습 필요</a:t>
            </a:r>
          </a:p>
          <a:p>
            <a:pPr lvl="1">
              <a:spcAft>
                <a:spcPts val="100"/>
              </a:spcAft>
            </a:pPr>
            <a:r>
              <a:rPr sz="1100"/>
              <a:t>도전 3 — 2D 방향성 sea state</a:t>
            </a:r>
          </a:p>
          <a:p>
            <a:pPr lvl="2">
              <a:spcAft>
                <a:spcPts val="0"/>
              </a:spcAft>
            </a:pPr>
            <a:r>
              <a:rPr sz="1000"/>
              <a:t>실해 파도는 한 방향 아닌 여러 방향 혼재 (wind sea + 다방향 swell)</a:t>
            </a:r>
          </a:p>
          <a:p>
            <a:pPr lvl="2">
              <a:spcAft>
                <a:spcPts val="0"/>
              </a:spcAft>
            </a:pPr>
            <a:r>
              <a:rPr sz="1000"/>
              <a:t>Wavenumber 도 단순 scalar 아닌 vector (k_x, k_y) 추정 필요</a:t>
            </a:r>
          </a:p>
          <a:p>
            <a:pPr lvl="2">
              <a:spcAft>
                <a:spcPts val="0"/>
              </a:spcAft>
            </a:pPr>
            <a:r>
              <a:rPr sz="1000"/>
              <a:t>선행 연구 다수는 1D 가정으로 단순화 (Klein 2020, Desmars 2023, FNO …)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2D directional 그대로 처리 — 차별점 중 하나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sea_trial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37034"/>
            <a:ext cx="4297680" cy="42582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본 발표의 결과 미리보기 — Spoiler</a:t>
            </a:r>
          </a:p>
          <a:p>
            <a:pPr lvl="1">
              <a:spcAft>
                <a:spcPts val="100"/>
              </a:spcAft>
            </a:pPr>
            <a:r>
              <a:rPr sz="1100"/>
              <a:t>왜 결과부터 보여주는가</a:t>
            </a:r>
          </a:p>
          <a:p>
            <a:pPr lvl="2">
              <a:spcAft>
                <a:spcPts val="0"/>
              </a:spcAft>
            </a:pPr>
            <a:r>
              <a:rPr sz="1000"/>
              <a:t>배경 설명 전에 "왜 이 연구를 계속할 가치가 있는가" 를 숫자로 먼저 제시</a:t>
            </a:r>
          </a:p>
          <a:p>
            <a:pPr lvl="1">
              <a:spcAft>
                <a:spcPts val="100"/>
              </a:spcAft>
            </a:pPr>
            <a:r>
              <a:rPr sz="1100"/>
              <a:t>핵심 정량 비교 (12-episode benchmark, BF2~BF5 sweep)</a:t>
            </a:r>
          </a:p>
          <a:p>
            <a:pPr lvl="2">
              <a:spcAft>
                <a:spcPts val="0"/>
              </a:spcAft>
            </a:pPr>
            <a:r>
              <a:rPr sz="1000"/>
              <a:t>WaveSplat (본 연구): 평균 nRMSE 0.211, 처리 13.4 ms / frame</a:t>
            </a:r>
          </a:p>
          <a:p>
            <a:pPr lvl="2">
              <a:spcAft>
                <a:spcPts val="0"/>
              </a:spcAft>
            </a:pPr>
            <a:r>
              <a:rPr sz="1000"/>
              <a:t>Wang2025 baseline (Feng Wang et al. 2025): 0.253, 632 ms / frame</a:t>
            </a:r>
          </a:p>
          <a:p>
            <a:pPr lvl="2">
              <a:spcAft>
                <a:spcPts val="0"/>
              </a:spcAft>
            </a:pPr>
            <a:r>
              <a:rPr sz="1000"/>
              <a:t>→ 정확도 16% 우위 + 속도 47배 빠름 (CPU only, GPU 불필요)</a:t>
            </a:r>
          </a:p>
          <a:p>
            <a:pPr lvl="2">
              <a:spcAft>
                <a:spcPts val="0"/>
              </a:spcAft>
            </a:pPr>
            <a:r>
              <a:rPr sz="1000"/>
              <a:t>WaveSplat 13.4 ms = 초당 약 75 frame → 10 Hz 제어 루프 충분히 적합</a:t>
            </a:r>
          </a:p>
          <a:p>
            <a:pPr lvl="1">
              <a:spcAft>
                <a:spcPts val="100"/>
              </a:spcAft>
            </a:pPr>
            <a:r>
              <a:rPr sz="1100"/>
              <a:t>핵심 메커니즘 발견</a:t>
            </a:r>
          </a:p>
          <a:p>
            <a:pPr lvl="2">
              <a:spcAft>
                <a:spcPts val="0"/>
              </a:spcAft>
            </a:pPr>
            <a:r>
              <a:rPr sz="1000"/>
              <a:t>분산 관계 (ω↔k) = 자유도 감소 + 물리 정규화 — 5N 변수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temporal coherence — wave 자체의 시간 진화로 phase 정보 추출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결합 시 spatial Nyquist 0.4 rad/m 한계 우회 가능</a:t>
            </a:r>
          </a:p>
          <a:p>
            <a:pPr lvl="1">
              <a:spcAft>
                <a:spcPts val="100"/>
              </a:spcAft>
            </a:pPr>
            <a:r>
              <a:rPr sz="1100"/>
              <a:t>응용 사례 — Hydrofoil ride control 시험 적용</a:t>
            </a:r>
          </a:p>
          <a:p>
            <a:pPr lvl="2">
              <a:spcAft>
                <a:spcPts val="0"/>
              </a:spcAft>
            </a:pPr>
            <a:r>
              <a:rPr sz="1000"/>
              <a:t>Heave aRMS: PD-only 0.090 → PD+FF (WaveSplat preview) 0.047 m/s²</a:t>
            </a:r>
          </a:p>
          <a:p>
            <a:pPr lvl="2">
              <a:spcAft>
                <a:spcPts val="0"/>
              </a:spcAft>
            </a:pPr>
            <a:r>
              <a:rPr sz="1000"/>
              <a:t>약 48% 감소 — preliminary test 단계, 응용 가능성 확인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Introduction &amp; Motivation</a:t>
            </a:r>
          </a:p>
        </p:txBody>
      </p:sp>
      <p:pic>
        <p:nvPicPr>
          <p:cNvPr id="4" name="Picture 3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80637"/>
            <a:ext cx="4297680" cy="29710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선행 연구 5가지 접근법</a:t>
            </a:r>
          </a:p>
          <a:p>
            <a:pPr lvl="1">
              <a:spcAft>
                <a:spcPts val="100"/>
              </a:spcAft>
            </a:pPr>
            <a:r>
              <a:rPr sz="1100"/>
              <a:t>① 격자 기반 최적화</a:t>
            </a:r>
          </a:p>
          <a:p>
            <a:pPr lvl="2">
              <a:spcAft>
                <a:spcPts val="0"/>
              </a:spcAft>
            </a:pPr>
            <a:r>
              <a:rPr sz="1000"/>
              <a:t>Desmars 2018 (OMAE), 2020 (OE 212), 2023 (JFM 975 A8)</a:t>
            </a:r>
          </a:p>
          <a:p>
            <a:pPr lvl="2">
              <a:spcAft>
                <a:spcPts val="0"/>
              </a:spcAft>
            </a:pPr>
            <a:r>
              <a:rPr sz="1000"/>
              <a:t>Pre-defined wavenumber grid 위 variational 최적화</a:t>
            </a:r>
          </a:p>
          <a:p>
            <a:pPr lvl="2">
              <a:spcAft>
                <a:spcPts val="0"/>
              </a:spcAft>
            </a:pPr>
            <a:r>
              <a:rPr sz="1000"/>
              <a:t>한계: on-grid (격자 사이 wavenumber 표현 불가),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② 앙상블 칼만 필터</a:t>
            </a:r>
          </a:p>
          <a:p>
            <a:pPr lvl="2">
              <a:spcAft>
                <a:spcPts val="0"/>
              </a:spcAft>
            </a:pPr>
            <a:r>
              <a:rPr sz="1000"/>
              <a:t>Wang &amp; Pan 2021/22 (JFM 918, 949) — EnKF + HOS 비선형 wave</a:t>
            </a:r>
          </a:p>
          <a:p>
            <a:pPr lvl="2">
              <a:spcAft>
                <a:spcPts val="0"/>
              </a:spcAft>
            </a:pPr>
            <a:r>
              <a:rPr sz="1000"/>
              <a:t>Feng Wang 2025 (Coastal Eng 197) — ETKF + fuzzy R + Delaunay</a:t>
            </a:r>
          </a:p>
          <a:p>
            <a:pPr lvl="2">
              <a:spcAft>
                <a:spcPts val="0"/>
              </a:spcAft>
            </a:pPr>
            <a:r>
              <a:rPr sz="1000"/>
              <a:t>Yan 2025 (arXiv 2510.14356) — VOF-EnKF + Navier-Stokes (wave breaking)</a:t>
            </a:r>
          </a:p>
          <a:p>
            <a:pPr lvl="2">
              <a:spcAft>
                <a:spcPts val="0"/>
              </a:spcAft>
            </a:pPr>
            <a:r>
              <a:rPr sz="1000"/>
              <a:t>한계: 50–300 ensemble × 수백 ms+ → real-time 불가, 대부분 1D</a:t>
            </a:r>
          </a:p>
          <a:p>
            <a:pPr lvl="1">
              <a:spcAft>
                <a:spcPts val="100"/>
              </a:spcAft>
            </a:pPr>
            <a:r>
              <a:rPr sz="1100"/>
              <a:t>③ 지도학습 신경망</a:t>
            </a:r>
          </a:p>
          <a:p>
            <a:pPr lvl="2">
              <a:spcAft>
                <a:spcPts val="0"/>
              </a:spcAft>
            </a:pPr>
            <a:r>
              <a:rPr sz="1000"/>
              <a:t>Ehlers 2023 (OE 288) — Fourier Neural Operator (FNO)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 (학습 후), HOS 합성 데이터 3120 sample 학습 필요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1D, black-box</a:t>
            </a:r>
          </a:p>
          <a:p>
            <a:pPr lvl="1">
              <a:spcAft>
                <a:spcPts val="100"/>
              </a:spcAft>
            </a:pPr>
            <a:r>
              <a:rPr sz="1100"/>
              <a:t>④ 물리 기반 비지도 NN</a:t>
            </a:r>
          </a:p>
          <a:p>
            <a:pPr lvl="2">
              <a:spcAft>
                <a:spcPts val="0"/>
              </a:spcAft>
            </a:pPr>
            <a:r>
              <a:rPr sz="1000"/>
              <a:t>Ehlers 2025 (arXiv 2501.08430) — PFT-PINN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처리, hard-constraint trick</a:t>
            </a:r>
          </a:p>
          <a:p>
            <a:pPr lvl="2">
              <a:spcAft>
                <a:spcPts val="0"/>
              </a:spcAft>
            </a:pPr>
            <a:r>
              <a:rPr sz="1000"/>
              <a:t>한계: instance 마다 ~30 분 학습, 1D + t, buoy only</a:t>
            </a:r>
          </a:p>
          <a:p>
            <a:pPr lvl="1">
              <a:spcAft>
                <a:spcPts val="100"/>
              </a:spcAft>
            </a:pPr>
            <a:r>
              <a:rPr sz="1100"/>
              <a:t>⑤ 연속 파라미터 추정 (Ours) ⭐</a:t>
            </a:r>
          </a:p>
          <a:p>
            <a:pPr lvl="2">
              <a:spcAft>
                <a:spcPts val="0"/>
              </a:spcAft>
            </a:pPr>
            <a:r>
              <a:rPr sz="1000"/>
              <a:t>WaveSplat — 격자 없이 N개 plane wave 파라미터 직접 추정</a:t>
            </a:r>
          </a:p>
          <a:p>
            <a:pPr lvl="2">
              <a:spcAft>
                <a:spcPts val="0"/>
              </a:spcAft>
            </a:pPr>
            <a:r>
              <a:rPr sz="1000"/>
              <a:t>&lt; 100 ms inference + 2D directional + LiDAR raydrop sensor model</a:t>
            </a:r>
          </a:p>
          <a:p>
            <a:pPr lvl="2">
              <a:spcAft>
                <a:spcPts val="0"/>
              </a:spcAft>
            </a:pPr>
            <a:r>
              <a:rPr sz="1000"/>
              <a:t>한계: linear superposition (LWT), ε &lt; 0.07 영역에서만 신뢰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EnKF 기반 wave estimation — 두 독립 group</a:t>
            </a:r>
          </a:p>
          <a:p>
            <a:pPr lvl="1">
              <a:spcAft>
                <a:spcPts val="100"/>
              </a:spcAft>
            </a:pPr>
            <a:r>
              <a:rPr sz="1100"/>
              <a:t>Wang &amp; Pan group (Yulin Pan, U.Michigan)</a:t>
            </a:r>
          </a:p>
          <a:p>
            <a:pPr lvl="2">
              <a:spcAft>
                <a:spcPts val="0"/>
              </a:spcAft>
            </a:pPr>
            <a:r>
              <a:rPr sz="1000"/>
              <a:t>2021 (JFM 918, A19): EnKF + HOS 첫 결합</a:t>
            </a:r>
          </a:p>
          <a:p>
            <a:pPr lvl="2">
              <a:spcAft>
                <a:spcPts val="0"/>
              </a:spcAft>
            </a:pPr>
            <a:r>
              <a:rPr sz="1000"/>
              <a:t>2022 (JFM 949, A31): IEnKF-HOS-C — current 동시 추정</a:t>
            </a:r>
          </a:p>
          <a:p>
            <a:pPr lvl="2">
              <a:spcAft>
                <a:spcPts val="0"/>
              </a:spcAft>
            </a:pPr>
            <a:r>
              <a:rPr sz="1000"/>
              <a:t>Sensor: X-band radar, Data: synthetic + 실측 shipborne radar</a:t>
            </a:r>
          </a:p>
          <a:p>
            <a:pPr lvl="1">
              <a:spcAft>
                <a:spcPts val="100"/>
              </a:spcAft>
            </a:pPr>
            <a:r>
              <a:rPr sz="1100"/>
              <a:t>Feng Wang et al. (Harbin Engineering Univ., China)</a:t>
            </a:r>
          </a:p>
          <a:p>
            <a:pPr lvl="2">
              <a:spcAft>
                <a:spcPts val="0"/>
              </a:spcAft>
            </a:pPr>
            <a:r>
              <a:rPr sz="1000"/>
              <a:t>2025 (Coastal Eng 197, 104690): ETKF + fuzzy R + Delaunay 보간</a:t>
            </a:r>
          </a:p>
          <a:p>
            <a:pPr lvl="2">
              <a:spcAft>
                <a:spcPts val="0"/>
              </a:spcAft>
            </a:pPr>
            <a:r>
              <a:rPr sz="1000"/>
              <a:t>Ne=300, 80×60 grid, dx≈3 m</a:t>
            </a:r>
          </a:p>
          <a:p>
            <a:pPr lvl="2">
              <a:spcAft>
                <a:spcPts val="0"/>
              </a:spcAft>
            </a:pPr>
            <a:r>
              <a:rPr sz="1000"/>
              <a:t>Sensor: Stereo camera (WASS), Data: 실측 (Acqua Alta 해양 플랫폼 + 자체 2024)</a:t>
            </a:r>
          </a:p>
          <a:p>
            <a:pPr lvl="2">
              <a:spcAft>
                <a:spcPts val="0"/>
              </a:spcAft>
            </a:pPr>
            <a:r>
              <a:rPr sz="1000"/>
              <a:t>GitHub 공개 (fengHEU/Wave-ETKF) — 본 baseline 의 직접 prior art</a:t>
            </a:r>
          </a:p>
          <a:p>
            <a:pPr lvl="1">
              <a:spcAft>
                <a:spcPts val="100"/>
              </a:spcAft>
            </a:pPr>
            <a:r>
              <a:rPr sz="1100"/>
              <a:t>본 연구의 baseline 재현 (공정 비교를 위한 통일)</a:t>
            </a:r>
          </a:p>
          <a:p>
            <a:pPr lvl="2">
              <a:spcAft>
                <a:spcPts val="0"/>
              </a:spcAft>
            </a:pPr>
            <a:r>
              <a:rPr sz="1000"/>
              <a:t>알고리즘만 재현 — Ne=300, 80×60 격자, fuzzy R, Delaunay 보간 동일</a:t>
            </a:r>
          </a:p>
          <a:p>
            <a:pPr lvl="2">
              <a:spcAft>
                <a:spcPts val="0"/>
              </a:spcAft>
            </a:pPr>
            <a:r>
              <a:rPr sz="1000"/>
              <a:t>입력 sensor 는 LiDAR sim 으로 통일 (원논문은 stereo camera)</a:t>
            </a:r>
          </a:p>
          <a:p>
            <a:pPr lvl="2">
              <a:spcAft>
                <a:spcPts val="0"/>
              </a:spcAft>
            </a:pPr>
            <a:r>
              <a:rPr sz="1000"/>
              <a:t>Forecast model 도 HOS 대신 linear dispersion 으로 통일</a:t>
            </a:r>
          </a:p>
          <a:p>
            <a:pPr lvl="1">
              <a:spcAft>
                <a:spcPts val="100"/>
              </a:spcAft>
            </a:pPr>
            <a:r>
              <a:rPr sz="1100"/>
              <a:t>공통 한계</a:t>
            </a:r>
          </a:p>
          <a:p>
            <a:pPr lvl="2">
              <a:spcAft>
                <a:spcPts val="0"/>
              </a:spcAft>
            </a:pPr>
            <a:r>
              <a:rPr sz="1000"/>
              <a:t>격자 해상도 한계 — 격자 밖 wavenumber 표현 불가 (~0.25 nRMSE floor)</a:t>
            </a:r>
          </a:p>
          <a:p>
            <a:pPr lvl="2">
              <a:spcAft>
                <a:spcPts val="0"/>
              </a:spcAft>
            </a:pPr>
            <a:r>
              <a:rPr sz="1000"/>
              <a:t>Ensemble cost 632 ms/frame — real-time control loop 불가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학습 기반 접근 — Ehlers group (TUHH + Imperial)</a:t>
            </a:r>
          </a:p>
          <a:p>
            <a:pPr lvl="1">
              <a:spcAft>
                <a:spcPts val="100"/>
              </a:spcAft>
            </a:pPr>
            <a:r>
              <a:rPr sz="1100"/>
              <a:t>Ehlers 2023 (Ocean Eng 288) — FNO supervised</a:t>
            </a:r>
          </a:p>
          <a:p>
            <a:pPr lvl="2">
              <a:spcAft>
                <a:spcPts val="0"/>
              </a:spcAft>
            </a:pPr>
            <a:r>
              <a:rPr sz="1000"/>
              <a:t>Architecture: Fourier Neural Operator (Fourier 공간에서 global mapping)</a:t>
            </a:r>
          </a:p>
          <a:p>
            <a:pPr lvl="2">
              <a:spcAft>
                <a:spcPts val="0"/>
              </a:spcAft>
            </a:pPr>
            <a:r>
              <a:rPr sz="1000"/>
              <a:t>Training data: 3120 sample (HOS sim + geometric radar model)</a:t>
            </a:r>
          </a:p>
          <a:p>
            <a:pPr lvl="2">
              <a:spcAft>
                <a:spcPts val="0"/>
              </a:spcAft>
            </a:pPr>
            <a:r>
              <a:rPr sz="1000"/>
              <a:t>Inference 1.9 ms, U-Net 보다 wave 패턴에 적합</a:t>
            </a:r>
          </a:p>
          <a:p>
            <a:pPr lvl="2">
              <a:spcAft>
                <a:spcPts val="0"/>
              </a:spcAft>
            </a:pPr>
            <a:r>
              <a:rPr sz="1000"/>
              <a:t>한계: distribution shift, 1D unidirectional, black-box</a:t>
            </a:r>
          </a:p>
          <a:p>
            <a:pPr lvl="1">
              <a:spcAft>
                <a:spcPts val="100"/>
              </a:spcAft>
            </a:pPr>
            <a:r>
              <a:rPr sz="1100"/>
              <a:t>Ehlers 2025 (arXiv:2501.08430) — PFT-PINN</a:t>
            </a:r>
          </a:p>
          <a:p>
            <a:pPr lvl="2">
              <a:spcAft>
                <a:spcPts val="0"/>
              </a:spcAft>
            </a:pPr>
            <a:r>
              <a:rPr sz="1000"/>
              <a:t>Architecture: 두 NN 병렬 — η-net (wave 표면) + Φ-net (velocity potential)</a:t>
            </a:r>
          </a:p>
          <a:p>
            <a:pPr lvl="2">
              <a:spcAft>
                <a:spcPts val="0"/>
              </a:spcAft>
            </a:pPr>
            <a:r>
              <a:rPr sz="1000"/>
              <a:t>PDE residual 강제 (Laplace + 표면 BC + 바닥 BC) via auto-diff</a:t>
            </a:r>
          </a:p>
          <a:p>
            <a:pPr lvl="2">
              <a:spcAft>
                <a:spcPts val="0"/>
              </a:spcAft>
            </a:pPr>
            <a:r>
              <a:rPr sz="1000"/>
              <a:t>Hard-constraint trick: 관측치 NN architecture에 직접 hard-encode</a:t>
            </a:r>
          </a:p>
          <a:p>
            <a:pPr lvl="2">
              <a:spcAft>
                <a:spcPts val="0"/>
              </a:spcAft>
            </a:pPr>
            <a:r>
              <a:rPr sz="1000"/>
              <a:t>검증: Wave flume 실측 (MARATHON, T_p=1.2 s), SSP 0.049 (assim) / 0.084 (predict)</a:t>
            </a:r>
          </a:p>
          <a:p>
            <a:pPr lvl="2">
              <a:spcAft>
                <a:spcPts val="0"/>
              </a:spcAft>
            </a:pPr>
            <a:r>
              <a:rPr sz="1000"/>
              <a:t>학습 데이터 0개로 비선형 wave 처리</a:t>
            </a:r>
          </a:p>
          <a:p>
            <a:pPr lvl="2">
              <a:spcAft>
                <a:spcPts val="0"/>
              </a:spcAft>
            </a:pPr>
            <a:r>
              <a:rPr sz="1000"/>
              <a:t>한계: ~30 분/instance (RTX 3090), 1D + t, wave gauge buoy only</a:t>
            </a:r>
          </a:p>
          <a:p>
            <a:pPr lvl="1">
              <a:spcAft>
                <a:spcPts val="100"/>
              </a:spcAft>
            </a:pPr>
            <a:r>
              <a:rPr sz="1100"/>
              <a:t>본 연구와의 핵심 차이</a:t>
            </a:r>
          </a:p>
          <a:p>
            <a:pPr lvl="2">
              <a:spcAft>
                <a:spcPts val="0"/>
              </a:spcAft>
            </a:pPr>
            <a:r>
              <a:rPr sz="1000"/>
              <a:t>속도 차이가 결정적: WaveSplat 13 ms vs PFT-PINN ~30 분 (수만 배 이상 차이)</a:t>
            </a:r>
          </a:p>
          <a:p>
            <a:pPr lvl="2">
              <a:spcAft>
                <a:spcPts val="0"/>
              </a:spcAft>
            </a:pPr>
            <a:r>
              <a:rPr sz="1000"/>
              <a:t>응용 영역 분리: WaveSplat = real-time control, PINN = design-time analysis</a:t>
            </a:r>
          </a:p>
          <a:p>
            <a:pPr lvl="2">
              <a:spcAft>
                <a:spcPts val="0"/>
              </a:spcAft>
            </a:pPr>
            <a:r>
              <a:rPr sz="1000"/>
              <a:t>향후 위협: 같은 group 이 1-3년 안에 2D + real-time PINN 발표 가능 — niche 좁아질 risk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매트릭스 — 본 연구의 위치</a:t>
            </a:r>
          </a:p>
          <a:p>
            <a:pPr lvl="1">
              <a:spcAft>
                <a:spcPts val="100"/>
              </a:spcAft>
            </a:pPr>
            <a:r>
              <a:rPr sz="1100"/>
              <a:t>6가지 응용 요구사항으로 본 연구와 5개 baseline 비교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Related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286000"/>
          <a:ext cx="8503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4845"/>
                <a:gridCol w="1214845"/>
                <a:gridCol w="1214845"/>
                <a:gridCol w="1214845"/>
                <a:gridCol w="1214845"/>
                <a:gridCol w="1214845"/>
                <a:gridCol w="121485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요구사항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실시간 제어 (&lt;100 ms)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파도 파쇄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유속장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학습 데이터 불필요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900"/>
                        <a:t>희소 LiDAR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/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WaveSim — 합성 파도장 + LiDAR 시뮬레이터</a:t>
            </a:r>
          </a:p>
          <a:p>
            <a:pPr lvl="1">
              <a:spcAft>
                <a:spcPts val="100"/>
              </a:spcAft>
            </a:pPr>
            <a:r>
              <a:rPr sz="1100"/>
              <a:t>파도 모델 — Gerstner family</a:t>
            </a:r>
          </a:p>
          <a:p>
            <a:pPr lvl="2">
              <a:spcAft>
                <a:spcPts val="0"/>
              </a:spcAft>
            </a:pPr>
            <a:r>
              <a:rPr sz="1000"/>
              <a:t>회전 정확해 — 입자 운동까지 모사 (Gerstner 1802, Tessendorf 2001)</a:t>
            </a:r>
          </a:p>
          <a:p>
            <a:pPr lvl="2">
              <a:spcAft>
                <a:spcPts val="0"/>
              </a:spcAft>
            </a:pPr>
            <a:r>
              <a:rPr sz="1000"/>
              <a:t>Q ∈ [0, 1] 가파름 — Q=0 이면 LWT (선형), Q&gt;0 이면 약비선형</a:t>
            </a:r>
          </a:p>
          <a:p>
            <a:pPr lvl="2">
              <a:spcAft>
                <a:spcPts val="0"/>
              </a:spcAft>
            </a:pPr>
            <a:r>
              <a:rPr sz="1000"/>
              <a:t>x = x₀ − Q·A·(k_x/|k|)·sin(Φ), z = A·cos(Φ), Φ = k·x − ω·t + φ</a:t>
            </a:r>
          </a:p>
          <a:p>
            <a:pPr lvl="2">
              <a:spcAft>
                <a:spcPts val="0"/>
              </a:spcAft>
            </a:pPr>
            <a:r>
              <a:rPr sz="1000"/>
              <a:t>Q 제약: Σ Q_n·ω_n·A_n ≤ 1 (입자 궤적 자체 교차 방지)</a:t>
            </a:r>
          </a:p>
          <a:p>
            <a:pPr lvl="1">
              <a:spcAft>
                <a:spcPts val="100"/>
              </a:spcAft>
            </a:pPr>
            <a:r>
              <a:rPr sz="1100"/>
              <a:t>스펙트럼 — JONSWAP (Hasselmann 1973)</a:t>
            </a:r>
          </a:p>
          <a:p>
            <a:pPr lvl="2">
              <a:spcAft>
                <a:spcPts val="0"/>
              </a:spcAft>
            </a:pPr>
            <a:r>
              <a:rPr sz="1000"/>
              <a:t>S(ω) = α·g²·ω⁻⁵·exp(−5/4·(ω_p/ω)⁴) · γ^r (γ=3.3)</a:t>
            </a:r>
          </a:p>
          <a:p>
            <a:pPr lvl="2">
              <a:spcAft>
                <a:spcPts val="0"/>
              </a:spcAft>
            </a:pPr>
            <a:r>
              <a:rPr sz="1000"/>
              <a:t>입력 H_s, T_p → N개 성분의 (A_n, ω_n) sampling</a:t>
            </a:r>
          </a:p>
          <a:p>
            <a:pPr lvl="2">
              <a:spcAft>
                <a:spcPts val="0"/>
              </a:spcAft>
            </a:pPr>
            <a:r>
              <a:rPr sz="1000"/>
              <a:t>방향 spreading: cos²ˢ 함수로 (k_xn, k_yn) 분배</a:t>
            </a:r>
          </a:p>
          <a:p>
            <a:pPr lvl="2">
              <a:spcAft>
                <a:spcPts val="0"/>
              </a:spcAft>
            </a:pPr>
            <a:r>
              <a:rPr sz="1000"/>
              <a:t>ITTC, IACS 채택 표준 wave spectrum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— Airy 1845</a:t>
            </a:r>
          </a:p>
          <a:p>
            <a:pPr lvl="2">
              <a:spcAft>
                <a:spcPts val="0"/>
              </a:spcAft>
            </a:pPr>
            <a:r>
              <a:rPr sz="1000"/>
              <a:t>ω = √(g·|k|·tanh(|k|·d)) — 100 년 이상 검증된 표준</a:t>
            </a:r>
          </a:p>
          <a:p>
            <a:pPr lvl="2">
              <a:spcAft>
                <a:spcPts val="0"/>
              </a:spcAft>
            </a:pPr>
            <a:r>
              <a:rPr sz="1000"/>
              <a:t>깊은 물 한계 (kd &gt;&gt; 1): ω ≈ √(g·|k|)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131556"/>
            <a:ext cx="4297680" cy="286920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LiDAR 모사 — Falcon K1</a:t>
            </a:r>
          </a:p>
          <a:p>
            <a:pPr lvl="1">
              <a:spcAft>
                <a:spcPts val="100"/>
              </a:spcAft>
            </a:pPr>
            <a:r>
              <a:rPr sz="1100"/>
              <a:t>Sensor 사양</a:t>
            </a:r>
          </a:p>
          <a:p>
            <a:pPr lvl="2">
              <a:spcAft>
                <a:spcPts val="0"/>
              </a:spcAft>
            </a:pPr>
            <a:r>
              <a:rPr sz="1000"/>
              <a:t>152 채널 × 500 horizontal beam = 76,000 ray / scan</a:t>
            </a:r>
          </a:p>
          <a:p>
            <a:pPr lvl="2">
              <a:spcAft>
                <a:spcPts val="0"/>
              </a:spcAft>
            </a:pPr>
            <a:r>
              <a:rPr sz="1000"/>
              <a:t>Range 10–250 m, 파장 1550 nm, vessel 위 5 m mount</a:t>
            </a:r>
          </a:p>
          <a:p>
            <a:pPr lvl="2">
              <a:spcAft>
                <a:spcPts val="0"/>
              </a:spcAft>
            </a:pPr>
            <a:r>
              <a:rPr sz="1000"/>
              <a:t>Horizontal FOV 120° (선수 ±60°), Vertical FOV −25° ~ 0°</a:t>
            </a:r>
          </a:p>
          <a:p>
            <a:pPr lvl="1">
              <a:spcAft>
                <a:spcPts val="100"/>
              </a:spcAft>
            </a:pPr>
            <a:r>
              <a:rPr sz="1100"/>
              <a:t>Ray tracing — Möller-Trumbore 1997</a:t>
            </a:r>
          </a:p>
          <a:p>
            <a:pPr lvl="2">
              <a:spcAft>
                <a:spcPts val="0"/>
              </a:spcAft>
            </a:pPr>
            <a:r>
              <a:rPr sz="1000"/>
              <a:t>각 ray 가 wave 표면 mesh 와 만나는 first-hit 점 검출</a:t>
            </a:r>
          </a:p>
          <a:p>
            <a:pPr lvl="2">
              <a:spcAft>
                <a:spcPts val="0"/>
              </a:spcAft>
            </a:pPr>
            <a:r>
              <a:rPr sz="1000"/>
              <a:t>Graphics 분야 표준 ray-triangle intersection 알고리즘</a:t>
            </a:r>
          </a:p>
          <a:p>
            <a:pPr lvl="1">
              <a:spcAft>
                <a:spcPts val="100"/>
              </a:spcAft>
            </a:pPr>
            <a:r>
              <a:rPr sz="1100"/>
              <a:t>Raydrop 모델 — Fresnel + geometry</a:t>
            </a:r>
          </a:p>
          <a:p>
            <a:pPr lvl="2">
              <a:spcAft>
                <a:spcPts val="0"/>
              </a:spcAft>
            </a:pPr>
            <a:r>
              <a:rPr sz="1000"/>
              <a:t>반사된 빛이 LiDAR receiver 방향으로 돌아와야 함</a:t>
            </a:r>
          </a:p>
          <a:p>
            <a:pPr lvl="2">
              <a:spcAft>
                <a:spcPts val="0"/>
              </a:spcAft>
            </a:pPr>
            <a:r>
              <a:rPr sz="1000"/>
              <a:t>Snell 굴절: sin θ_t = sin θ_i / n (n=1.321, water at 1550 nm)</a:t>
            </a:r>
          </a:p>
          <a:p>
            <a:pPr lvl="2">
              <a:spcAft>
                <a:spcPts val="0"/>
              </a:spcAft>
            </a:pPr>
            <a:r>
              <a:rPr sz="1000"/>
              <a:t>Fresnel s/p polarization 평균 → 반사율 R(θ_i)</a:t>
            </a:r>
          </a:p>
          <a:p>
            <a:pPr lvl="2">
              <a:spcAft>
                <a:spcPts val="0"/>
              </a:spcAft>
            </a:pPr>
            <a:r>
              <a:rPr sz="1000"/>
              <a:t>Lambert + Fresnel 결합: P = η · R · cos(θ_i) / (d/d_ref)²</a:t>
            </a:r>
          </a:p>
          <a:p>
            <a:pPr lvl="1">
              <a:spcAft>
                <a:spcPts val="100"/>
              </a:spcAft>
            </a:pPr>
            <a:r>
              <a:rPr sz="1100"/>
              <a:t>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모든 frame 동일 위치에서 측정 — 합성 dataset, 코드 모두 정지 가정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자체의 시간 진화에서 옴</a:t>
            </a:r>
          </a:p>
          <a:p>
            <a:pPr lvl="2">
              <a:spcAft>
                <a:spcPts val="0"/>
              </a:spcAft>
            </a:pPr>
            <a:r>
              <a:rPr sz="1000"/>
              <a:t>Vessel motion 기반 synthetic aperture (SAR-style) 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wavesim_BF3_1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98047"/>
            <a:ext cx="4297680" cy="29362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Dataset — 110 episode 합성</a:t>
            </a:r>
          </a:p>
          <a:p>
            <a:pPr lvl="1">
              <a:spcAft>
                <a:spcPts val="100"/>
              </a:spcAft>
            </a:pPr>
            <a:r>
              <a:rPr sz="1100"/>
              <a:t>구성</a:t>
            </a:r>
          </a:p>
          <a:p>
            <a:pPr lvl="2">
              <a:spcAft>
                <a:spcPts val="0"/>
              </a:spcAft>
            </a:pPr>
            <a:r>
              <a:rPr sz="1000"/>
              <a:t>Sea state: BF2 (Hs=0.3, Tp=4.0) ~ BF7 (Hs=5.0, Tp=12.0)</a:t>
            </a:r>
          </a:p>
          <a:p>
            <a:pPr lvl="2">
              <a:spcAft>
                <a:spcPts val="0"/>
              </a:spcAft>
            </a:pPr>
            <a:r>
              <a:rPr sz="1000"/>
              <a:t>N components: 1, 2, 5, 15, 30 (단순 ~ 복잡)</a:t>
            </a:r>
          </a:p>
          <a:p>
            <a:pPr lvl="2">
              <a:spcAft>
                <a:spcPts val="0"/>
              </a:spcAft>
            </a:pPr>
            <a:r>
              <a:rPr sz="1000"/>
              <a:t>Seeds: 0–4 (재현 가능)</a:t>
            </a:r>
          </a:p>
          <a:p>
            <a:pPr lvl="2">
              <a:spcAft>
                <a:spcPts val="0"/>
              </a:spcAft>
            </a:pPr>
            <a:r>
              <a:rPr sz="1000"/>
              <a:t>Raydrop: uniform / slope (각 episode)</a:t>
            </a:r>
          </a:p>
          <a:p>
            <a:pPr lvl="1">
              <a:spcAft>
                <a:spcPts val="100"/>
              </a:spcAft>
            </a:pPr>
            <a:r>
              <a:rPr sz="1100"/>
              <a:t>에피소드별 정량</a:t>
            </a:r>
          </a:p>
          <a:p>
            <a:pPr lvl="2">
              <a:spcAft>
                <a:spcPts val="0"/>
              </a:spcAft>
            </a:pPr>
            <a:r>
              <a:rPr sz="1000"/>
              <a:t>Duration 30 s, dt = 0.1 s (10 Hz) → frame 301개</a:t>
            </a:r>
          </a:p>
          <a:p>
            <a:pPr lvl="2">
              <a:spcAft>
                <a:spcPts val="0"/>
              </a:spcAft>
            </a:pPr>
            <a:r>
              <a:rPr sz="1000"/>
              <a:t>GT η field: 80×60 격자, 240 m × 200 m 영역</a:t>
            </a:r>
          </a:p>
          <a:p>
            <a:pPr lvl="2">
              <a:spcAft>
                <a:spcPts val="0"/>
              </a:spcAft>
            </a:pPr>
            <a:r>
              <a:rPr sz="1000"/>
              <a:t>LiDAR scan: 76,000 ray → raydrop 후 valid 점 약 50개/frame</a:t>
            </a:r>
          </a:p>
          <a:p>
            <a:pPr lvl="2">
              <a:spcAft>
                <a:spcPts val="0"/>
              </a:spcAft>
            </a:pPr>
            <a:r>
              <a:rPr sz="1000"/>
              <a:t>Patch coverage: 약 50–150 m (실측 확인)</a:t>
            </a:r>
          </a:p>
          <a:p>
            <a:pPr lvl="1">
              <a:spcAft>
                <a:spcPts val="100"/>
              </a:spcAft>
            </a:pPr>
            <a:r>
              <a:rPr sz="1100"/>
              <a:t>용량</a:t>
            </a:r>
          </a:p>
          <a:p>
            <a:pPr lvl="2">
              <a:spcAft>
                <a:spcPts val="0"/>
              </a:spcAft>
            </a:pPr>
            <a:r>
              <a:rPr sz="1000"/>
              <a:t>110 episodes × 약 12 MB = 1.2 GB 합성 dataset</a:t>
            </a:r>
          </a:p>
          <a:p>
            <a:pPr lvl="2">
              <a:spcAft>
                <a:spcPts val="0"/>
              </a:spcAft>
            </a:pPr>
            <a:r>
              <a:rPr sz="1000"/>
              <a:t>HDF5 format (timestamps, lidar_points, gt_wave_field, lidar_confidence …)</a:t>
            </a:r>
          </a:p>
          <a:p>
            <a:pPr lvl="1">
              <a:spcAft>
                <a:spcPts val="100"/>
              </a:spcAft>
            </a:pPr>
            <a:r>
              <a:rPr sz="1100"/>
              <a:t>BF3-BF6 wavenumber 범위 (실측)</a:t>
            </a:r>
          </a:p>
          <a:p>
            <a:pPr lvl="2">
              <a:spcAft>
                <a:spcPts val="0"/>
              </a:spcAft>
            </a:pPr>
            <a:r>
              <a:rPr sz="1000"/>
              <a:t>BF3 (Tp=5.5s): k = 0.04–1.16 rad/m, λ_peak ≈ 47 m</a:t>
            </a:r>
          </a:p>
          <a:p>
            <a:pPr lvl="2">
              <a:spcAft>
                <a:spcPts val="0"/>
              </a:spcAft>
            </a:pPr>
            <a:r>
              <a:rPr sz="1000"/>
              <a:t>BF4 (Tp=7.0s): k = 0.03–0.72 rad/m, λ_peak ≈ 77 m</a:t>
            </a:r>
          </a:p>
          <a:p>
            <a:pPr lvl="2">
              <a:spcAft>
                <a:spcPts val="0"/>
              </a:spcAft>
            </a:pPr>
            <a:r>
              <a:rPr sz="1000"/>
              <a:t>BF5 (Tp=9.0s): k = 0.02–0.43 rad/m, λ_peak ≈ 126 m</a:t>
            </a:r>
          </a:p>
          <a:p>
            <a:pPr lvl="2">
              <a:spcAft>
                <a:spcPts val="0"/>
              </a:spcAft>
            </a:pPr>
            <a:r>
              <a:rPr sz="1000"/>
              <a:t>BF6 (Tp=10s): k = 0.02–0.35 rad/m, λ_peak ≈ 156 m (전부 Nyquist 이내)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24978"/>
            <a:ext cx="4297680" cy="228236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WaveSplat — 알고리즘 개요</a:t>
            </a:r>
          </a:p>
          <a:p>
            <a:pPr lvl="1">
              <a:spcAft>
                <a:spcPts val="100"/>
              </a:spcAft>
            </a:pPr>
            <a:r>
              <a:rPr sz="1100"/>
              <a:t>발상 — 격자 대신 파라미터로 직접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 = 5–30개 sine wave 의 합 (JONSWAP 분해)</a:t>
            </a:r>
          </a:p>
          <a:p>
            <a:pPr lvl="2">
              <a:spcAft>
                <a:spcPts val="0"/>
              </a:spcAft>
            </a:pPr>
            <a:r>
              <a:rPr sz="1000"/>
              <a:t>각 성분: (A, k_x, k_y, ω, φ) 5개 파라미터로 완전 결정</a:t>
            </a:r>
          </a:p>
          <a:p>
            <a:pPr lvl="2">
              <a:spcAft>
                <a:spcPts val="0"/>
              </a:spcAft>
            </a:pPr>
            <a:r>
              <a:rPr sz="1000"/>
              <a:t>N=10 이면 변수 50개 — LiDAR 50점으로 1:1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Wave field 표현</a:t>
            </a:r>
          </a:p>
          <a:p>
            <a:pPr lvl="2">
              <a:spcAft>
                <a:spcPts val="0"/>
              </a:spcAft>
            </a:pPr>
            <a:r>
              <a:rPr sz="1000"/>
              <a:t>η(x, y, t; θ) = Σ_n A_n · cos(k_xn·x + k_yn·y − ω_n·t + φ_n)</a:t>
            </a:r>
          </a:p>
          <a:p>
            <a:pPr lvl="2">
              <a:spcAft>
                <a:spcPts val="0"/>
              </a:spcAft>
            </a:pPr>
            <a:r>
              <a:rPr sz="1000"/>
              <a:t>파라미터 θ = {A_n, k_xn, k_yn, φ_n} (ω_n 은 dispersion 으로 자동)</a:t>
            </a:r>
          </a:p>
          <a:p>
            <a:pPr lvl="1">
              <a:spcAft>
                <a:spcPts val="100"/>
              </a:spcAft>
            </a:pPr>
            <a:r>
              <a:rPr sz="1100"/>
              <a:t>분산 관계 hard constraint</a:t>
            </a:r>
          </a:p>
          <a:p>
            <a:pPr lvl="2">
              <a:spcAft>
                <a:spcPts val="0"/>
              </a:spcAft>
            </a:pPr>
            <a:r>
              <a:rPr sz="1000"/>
              <a:t>ω(k) = √(g·|k|·tanh(|k|·d)) 강제 → 자유도 5N → 4N (20% 감소)</a:t>
            </a:r>
          </a:p>
          <a:p>
            <a:pPr lvl="2">
              <a:spcAft>
                <a:spcPts val="0"/>
              </a:spcAft>
            </a:pPr>
            <a:r>
              <a:rPr sz="1000"/>
              <a:t>물리적으로 불가능한 (k, ω) 조합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2단계 흐름</a:t>
            </a:r>
          </a:p>
          <a:p>
            <a:pPr lvl="2">
              <a:spcAft>
                <a:spcPts val="0"/>
              </a:spcAft>
            </a:pPr>
            <a:r>
              <a:rPr sz="1000"/>
              <a:t>Init (1회, 1초 이내): beamforming + coarse-to-fine + Adam refinement</a:t>
            </a:r>
          </a:p>
          <a:p>
            <a:pPr lvl="2">
              <a:spcAft>
                <a:spcPts val="0"/>
              </a:spcAft>
            </a:pPr>
            <a:r>
              <a:rPr sz="1000"/>
              <a:t>Track (매 frame, 13 ms): k 고정, (A, φ) 만 update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처음 한 번만, 가벼운 작업은 매 frame 실시간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성분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 + Growth + Safety rollback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1724"/>
            <a:ext cx="4297680" cy="17688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(1/3) — 왜 multi-frame 이 필요한가</a:t>
            </a:r>
          </a:p>
          <a:p>
            <a:pPr lvl="1">
              <a:spcAft>
                <a:spcPts val="100"/>
              </a:spcAft>
            </a:pPr>
            <a:r>
              <a:rPr sz="1100"/>
              <a:t>Spatial Nyquist 한계 (Shannon-Nyquist 1949)</a:t>
            </a:r>
          </a:p>
          <a:p>
            <a:pPr lvl="2">
              <a:spcAft>
                <a:spcPts val="0"/>
              </a:spcAft>
            </a:pPr>
            <a:r>
              <a:rPr sz="1000"/>
              <a:t>'신호 추정에는 wavelength 의 절반 간격 sampling 필요'</a:t>
            </a:r>
          </a:p>
          <a:p>
            <a:pPr lvl="2">
              <a:spcAft>
                <a:spcPts val="0"/>
              </a:spcAft>
            </a:pPr>
            <a:r>
              <a:rPr sz="1000"/>
              <a:t>점 간격 Δy ≈ 5–8 m → k_max = π/Δy ≈ 0.4–0.6 rad/m</a:t>
            </a:r>
          </a:p>
          <a:p>
            <a:pPr lvl="2">
              <a:spcAft>
                <a:spcPts val="0"/>
              </a:spcAft>
            </a:pPr>
            <a:r>
              <a:rPr sz="1000"/>
              <a:t>Single-frame LiDAR 로 추정 가능한 wavenumber 한계: 약 0.4 rad/m</a:t>
            </a:r>
          </a:p>
          <a:p>
            <a:pPr lvl="1">
              <a:spcAft>
                <a:spcPts val="100"/>
              </a:spcAft>
            </a:pPr>
            <a:r>
              <a:rPr sz="1100"/>
              <a:t>필요한 wavenumber 범위</a:t>
            </a:r>
          </a:p>
          <a:p>
            <a:pPr lvl="2">
              <a:spcAft>
                <a:spcPts val="0"/>
              </a:spcAft>
            </a:pPr>
            <a:r>
              <a:rPr sz="1000"/>
              <a:t>BF3 의 짧은 wave 성분은 Nyquist 한계의 약 3배까지 도달</a:t>
            </a:r>
          </a:p>
          <a:p>
            <a:pPr lvl="2">
              <a:spcAft>
                <a:spcPts val="0"/>
              </a:spcAft>
            </a:pPr>
            <a:r>
              <a:rPr sz="1000"/>
              <a:t>BF5-BF6 dominant wave 는 대부분 Nyquist 이내 (longer wave)</a:t>
            </a:r>
          </a:p>
          <a:p>
            <a:pPr lvl="2">
              <a:spcAft>
                <a:spcPts val="0"/>
              </a:spcAft>
            </a:pPr>
            <a:r>
              <a:rPr sz="1000"/>
              <a:t>결과: BF3 short component 만 single-frame Nyquist 초과 — Paradox</a:t>
            </a:r>
          </a:p>
          <a:p>
            <a:pPr lvl="1">
              <a:spcAft>
                <a:spcPts val="100"/>
              </a:spcAft>
            </a:pPr>
            <a:r>
              <a:rPr sz="1100"/>
              <a:t>해결 —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정지에도 wave 자체의 시간 진화 활용 가능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(x_i, y_i, t_i, η_i) 4D 데이터 → wavenumber 모호성 해소</a:t>
            </a:r>
          </a:p>
          <a:p>
            <a:pPr lvl="1">
              <a:spcAft>
                <a:spcPts val="100"/>
              </a:spcAft>
            </a:pPr>
            <a:r>
              <a:rPr sz="1100"/>
              <a:t>본 case 정량</a:t>
            </a:r>
          </a:p>
          <a:p>
            <a:pPr lvl="2">
              <a:spcAft>
                <a:spcPts val="0"/>
              </a:spcAft>
            </a:pPr>
            <a:r>
              <a:rPr sz="1000"/>
              <a:t>Init window 길이: 2·T_p (sea state 별 약 10–20 초)</a:t>
            </a:r>
          </a:p>
          <a:p>
            <a:pPr lvl="2">
              <a:spcAft>
                <a:spcPts val="0"/>
              </a:spcAft>
            </a:pPr>
            <a:r>
              <a:rPr sz="1000"/>
              <a:t>여러 frame × 점 수십개 → 수천 개 (x, y, t, η) 4D 점 누적</a:t>
            </a:r>
          </a:p>
          <a:p>
            <a:pPr lvl="2">
              <a:spcAft>
                <a:spcPts val="0"/>
              </a:spcAft>
            </a:pPr>
            <a:r>
              <a:rPr sz="1000"/>
              <a:t>시간 정보 + dispersion 의 ω↔k 매핑 → spatial Nyquist 우회</a:t>
            </a:r>
          </a:p>
          <a:p>
            <a:pPr lvl="1">
              <a:spcAft>
                <a:spcPts val="100"/>
              </a:spcAft>
            </a:pPr>
            <a:r>
              <a:rPr sz="1100"/>
              <a:t>Vessel motion 기반 SA (synthetic aperture) 는 현재 미적용 — 향후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(2/3) — Beamforming + Coarse-to-fine + Adam</a:t>
            </a:r>
          </a:p>
          <a:p>
            <a:pPr lvl="1">
              <a:spcAft>
                <a:spcPts val="100"/>
              </a:spcAft>
            </a:pPr>
            <a:r>
              <a:rPr sz="1100"/>
              <a:t>Beamforming score (matched filter)</a:t>
            </a:r>
          </a:p>
          <a:p>
            <a:pPr lvl="2">
              <a:spcAft>
                <a:spcPts val="0"/>
              </a:spcAft>
            </a:pPr>
            <a:r>
              <a:rPr sz="1000"/>
              <a:t>S(k) = | Σ_i η_obs(x_i, t_i) · exp(−j(k·x_i − ω(k)·t_i)) |²</a:t>
            </a:r>
          </a:p>
          <a:p>
            <a:pPr lvl="2">
              <a:spcAft>
                <a:spcPts val="0"/>
              </a:spcAft>
            </a:pPr>
            <a:r>
              <a:rPr sz="1000"/>
              <a:t>i: init window 의 모든 점 (frame × 점 수 = 수천 개)</a:t>
            </a:r>
          </a:p>
          <a:p>
            <a:pPr lvl="2">
              <a:spcAft>
                <a:spcPts val="0"/>
              </a:spcAft>
            </a:pPr>
            <a:r>
              <a:rPr sz="1000"/>
              <a:t>ω(k) 는 dispersion 으로 자동 — 2D search (k_x, k_y) 만</a:t>
            </a:r>
          </a:p>
          <a:p>
            <a:pPr lvl="2">
              <a:spcAft>
                <a:spcPts val="0"/>
              </a:spcAft>
            </a:pPr>
            <a:r>
              <a:rPr sz="1000"/>
              <a:t>Search range: k_x, k_y ∈ [-4, 4], 81×81 grid (수천 개 후보)</a:t>
            </a:r>
          </a:p>
          <a:p>
            <a:pPr lvl="1">
              <a:spcAft>
                <a:spcPts val="100"/>
              </a:spcAft>
            </a:pPr>
            <a:r>
              <a:rPr sz="1100"/>
              <a:t>Coarse-to-fine schedule</a:t>
            </a:r>
          </a:p>
          <a:p>
            <a:pPr lvl="2">
              <a:spcAft>
                <a:spcPts val="0"/>
              </a:spcAft>
            </a:pPr>
            <a:r>
              <a:rPr sz="1000"/>
              <a:t>3 stage: N = 3 → 8 → 15 (점진적 component 증가)</a:t>
            </a:r>
          </a:p>
          <a:p>
            <a:pPr lvl="2">
              <a:spcAft>
                <a:spcPts val="0"/>
              </a:spcAft>
            </a:pPr>
            <a:r>
              <a:rPr sz="1000"/>
              <a:t>Loss threshold 충족 시 다음 stage 로 advance</a:t>
            </a:r>
          </a:p>
          <a:p>
            <a:pPr lvl="2">
              <a:spcAft>
                <a:spcPts val="0"/>
              </a:spcAft>
            </a:pPr>
            <a:r>
              <a:rPr sz="1000"/>
              <a:t>빠른 수렴 → 다음 단계 즉시 진행 (전체 시간 단축)</a:t>
            </a:r>
          </a:p>
          <a:p>
            <a:pPr lvl="1">
              <a:spcAft>
                <a:spcPts val="100"/>
              </a:spcAft>
            </a:pPr>
            <a:r>
              <a:rPr sz="1100"/>
              <a:t>Adam refinement (multi-frame fitting)</a:t>
            </a:r>
          </a:p>
          <a:p>
            <a:pPr lvl="2">
              <a:spcAft>
                <a:spcPts val="0"/>
              </a:spcAft>
            </a:pPr>
            <a:r>
              <a:rPr sz="1000"/>
              <a:t>파라미터 (k_x, k_y, A, φ) 동시 update</a:t>
            </a:r>
          </a:p>
          <a:p>
            <a:pPr lvl="2">
              <a:spcAft>
                <a:spcPts val="0"/>
              </a:spcAft>
            </a:pPr>
            <a:r>
              <a:rPr sz="1000"/>
              <a:t>(k_x, k_y) 는 lr 의 절반으로 천천히 update (k 변화 신중)</a:t>
            </a:r>
          </a:p>
          <a:p>
            <a:pPr lvl="2">
              <a:spcAft>
                <a:spcPts val="0"/>
              </a:spcAft>
            </a:pPr>
            <a:r>
              <a:rPr sz="1000"/>
              <a:t>Loss = data fit (averaged + confidence-weighted) + L1 sparsity + spectral smoothness</a:t>
            </a:r>
          </a:p>
          <a:p>
            <a:pPr lvl="1">
              <a:spcAft>
                <a:spcPts val="100"/>
              </a:spcAft>
            </a:pPr>
            <a:r>
              <a:rPr sz="1100"/>
              <a:t>주요 hyperparameter</a:t>
            </a:r>
          </a:p>
          <a:p>
            <a:pPr lvl="2">
              <a:spcAft>
                <a:spcPts val="0"/>
              </a:spcAft>
            </a:pPr>
            <a:r>
              <a:rPr sz="1000"/>
              <a:t>L1 sparsity 가중치 λ_L1 = 0.001</a:t>
            </a:r>
          </a:p>
          <a:p>
            <a:pPr lvl="2">
              <a:spcAft>
                <a:spcPts val="0"/>
              </a:spcAft>
            </a:pPr>
            <a:r>
              <a:rPr sz="1000"/>
              <a:t>Spectral smoothness 가중치 λ_smooth = 0.0001</a:t>
            </a:r>
          </a:p>
          <a:p>
            <a:pPr lvl="2">
              <a:spcAft>
                <a:spcPts val="0"/>
              </a:spcAft>
            </a:pPr>
            <a:r>
              <a:rPr sz="1000"/>
              <a:t>Steepness clamp ε_max = 0.15 (Q 제약 보호)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Init (3/3) — Beamforming Score 식 유도</a:t>
            </a:r>
          </a:p>
          <a:p>
            <a:pPr lvl="1">
              <a:spcAft>
                <a:spcPts val="100"/>
              </a:spcAft>
            </a:pPr>
            <a:r>
              <a:rPr sz="1100"/>
              <a:t>핵심 직관 — matched filter 의 코러스 효과</a:t>
            </a:r>
          </a:p>
          <a:p>
            <a:pPr lvl="2">
              <a:spcAft>
                <a:spcPts val="0"/>
              </a:spcAft>
            </a:pPr>
            <a:r>
              <a:rPr sz="1000"/>
              <a:t>실제 wave (k, ω) 면 measurement η_obs · exp(−j(k·x − ω·t)) 가 phase 정렬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ω): 모든 점에서 phase 일치 → 합 절댓값 N 배 증가</a:t>
            </a:r>
          </a:p>
          <a:p>
            <a:pPr lvl="2">
              <a:spcAft>
                <a:spcPts val="0"/>
              </a:spcAft>
            </a:pPr>
            <a:r>
              <a:rPr sz="1000"/>
              <a:t>틀린 (k, ω): random phase → 합 √N 으로만 증가</a:t>
            </a:r>
          </a:p>
          <a:p>
            <a:pPr lvl="2">
              <a:spcAft>
                <a:spcPts val="0"/>
              </a:spcAft>
            </a:pPr>
            <a:r>
              <a:rPr sz="1000"/>
              <a:t>→ SNR gain = N²/N = N (점 수에 비례)</a:t>
            </a:r>
          </a:p>
          <a:p>
            <a:pPr lvl="1">
              <a:spcAft>
                <a:spcPts val="100"/>
              </a:spcAft>
            </a:pPr>
            <a:r>
              <a:rPr sz="1100"/>
              <a:t>Score 식의 기여</a:t>
            </a:r>
          </a:p>
          <a:p>
            <a:pPr lvl="2">
              <a:spcAft>
                <a:spcPts val="0"/>
              </a:spcAft>
            </a:pPr>
            <a:r>
              <a:rPr sz="1000"/>
              <a:t>맞는 (k, ω) 일 때: S = (NA/2)² ∝ N² (coherent stack)</a:t>
            </a:r>
          </a:p>
          <a:p>
            <a:pPr lvl="2">
              <a:spcAft>
                <a:spcPts val="0"/>
              </a:spcAft>
            </a:pPr>
            <a:r>
              <a:rPr sz="1000"/>
              <a:t>틀린 (k, ω) 일 때: S ∝ N (random phase, incoherent)</a:t>
            </a:r>
          </a:p>
          <a:p>
            <a:pPr lvl="2">
              <a:spcAft>
                <a:spcPts val="0"/>
              </a:spcAft>
            </a:pPr>
            <a:r>
              <a:rPr sz="1000"/>
              <a:t>Init window 의 수천 4D 점으로 충분한 SNR gain 확보 (~10·log10(N) dB)</a:t>
            </a:r>
          </a:p>
          <a:p>
            <a:pPr lvl="1">
              <a:spcAft>
                <a:spcPts val="100"/>
              </a:spcAft>
            </a:pPr>
            <a:r>
              <a:rPr sz="1100"/>
              <a:t>왜 이 형태가 표준인가</a:t>
            </a:r>
          </a:p>
          <a:p>
            <a:pPr lvl="2">
              <a:spcAft>
                <a:spcPts val="0"/>
              </a:spcAft>
            </a:pPr>
            <a:r>
              <a:rPr sz="1000"/>
              <a:t>Delay-and-sum beamforming (Kraus 1988, Van Trees 2002)</a:t>
            </a:r>
          </a:p>
          <a:p>
            <a:pPr lvl="2">
              <a:spcAft>
                <a:spcPts val="0"/>
              </a:spcAft>
            </a:pPr>
            <a:r>
              <a:rPr sz="1000"/>
              <a:t>Matched filter 정리 (Turin 1960) — Gaussian noise 에서 SNR 최대화</a:t>
            </a:r>
          </a:p>
          <a:p>
            <a:pPr lvl="2">
              <a:spcAft>
                <a:spcPts val="0"/>
              </a:spcAft>
            </a:pPr>
            <a:r>
              <a:rPr sz="1000"/>
              <a:t>단순·robust — covariance matrix 추정 불필요 (sparse 적합)</a:t>
            </a:r>
          </a:p>
          <a:p>
            <a:pPr lvl="1">
              <a:spcAft>
                <a:spcPts val="100"/>
              </a:spcAft>
            </a:pPr>
            <a:r>
              <a:rPr sz="1100"/>
              <a:t>Dispersion 으로 차원 축소</a:t>
            </a:r>
          </a:p>
          <a:p>
            <a:pPr lvl="2">
              <a:spcAft>
                <a:spcPts val="0"/>
              </a:spcAft>
            </a:pPr>
            <a:r>
              <a:rPr sz="1000"/>
              <a:t>Dispersion 없이 3D search (k_x, k_y, ω) → 후보 수십만 개 (계산 비현실적)</a:t>
            </a:r>
          </a:p>
          <a:p>
            <a:pPr lvl="2">
              <a:spcAft>
                <a:spcPts val="0"/>
              </a:spcAft>
            </a:pPr>
            <a:r>
              <a:rPr sz="1000"/>
              <a:t>Dispersion 강제로 2D search (k_x, k_y) → 후보 수천 개로 축소</a:t>
            </a:r>
          </a:p>
          <a:p>
            <a:pPr lvl="1">
              <a:spcAft>
                <a:spcPts val="100"/>
              </a:spcAft>
            </a:pPr>
            <a:r>
              <a:rPr sz="1100"/>
              <a:t>다른 spectral 방법 비교</a:t>
            </a:r>
          </a:p>
          <a:p>
            <a:pPr lvl="2">
              <a:spcAft>
                <a:spcPts val="0"/>
              </a:spcAft>
            </a:pPr>
            <a:r>
              <a:rPr sz="1000"/>
              <a:t>MUSIC, ESPRIT (subspace): 더 정확하나 covariance 필요 → sparse 부적합</a:t>
            </a:r>
          </a:p>
          <a:p>
            <a:pPr lvl="2">
              <a:spcAft>
                <a:spcPts val="0"/>
              </a:spcAft>
            </a:pPr>
            <a:r>
              <a:rPr sz="1000"/>
              <a:t>Capon/MVDR (adaptive): 더 좋은 resolution 이나 ill-conditioning 위험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Track + Adaptive N — 매 frame 13 ms</a:t>
            </a:r>
          </a:p>
          <a:p>
            <a:pPr lvl="1">
              <a:spcAft>
                <a:spcPts val="100"/>
              </a:spcAft>
            </a:pPr>
            <a:r>
              <a:rPr sz="1100"/>
              <a:t>w_phi tracking mode (configs default)</a:t>
            </a:r>
          </a:p>
          <a:p>
            <a:pPr lvl="2">
              <a:spcAft>
                <a:spcPts val="0"/>
              </a:spcAft>
            </a:pPr>
            <a:r>
              <a:rPr sz="1000"/>
              <a:t>(k_x, k_y): Init 결과 고정 — 변경 안 함</a:t>
            </a:r>
          </a:p>
          <a:p>
            <a:pPr lvl="2">
              <a:spcAft>
                <a:spcPts val="0"/>
              </a:spcAft>
            </a:pPr>
            <a:r>
              <a:rPr sz="1000"/>
              <a:t>ω: dispersion 으로 자동 (k 에서 계산)</a:t>
            </a:r>
          </a:p>
          <a:p>
            <a:pPr lvl="2">
              <a:spcAft>
                <a:spcPts val="0"/>
              </a:spcAft>
            </a:pPr>
            <a:r>
              <a:rPr sz="1000"/>
              <a:t>(A, φ): Adam 으로 매 frame update — 자유도 2N</a:t>
            </a:r>
          </a:p>
          <a:p>
            <a:pPr lvl="1">
              <a:spcAft>
                <a:spcPts val="100"/>
              </a:spcAft>
            </a:pPr>
            <a:r>
              <a:rPr sz="1100"/>
              <a:t>Adam optimizer update rule (Kingma &amp; Ba 2015, arXiv:1412.6980)</a:t>
            </a:r>
          </a:p>
          <a:p>
            <a:pPr lvl="2">
              <a:spcAft>
                <a:spcPts val="0"/>
              </a:spcAft>
            </a:pPr>
            <a:r>
              <a:rPr sz="1000"/>
              <a:t>m_t = β₁·m_{t-1} + (1−β₁)·∇L (β₁=0.9)</a:t>
            </a:r>
          </a:p>
          <a:p>
            <a:pPr lvl="2">
              <a:spcAft>
                <a:spcPts val="0"/>
              </a:spcAft>
            </a:pPr>
            <a:r>
              <a:rPr sz="1000"/>
              <a:t>v_t = β₂·v_{t-1} + (1−β₂)·(∇L)² (β₂=0.999)</a:t>
            </a:r>
          </a:p>
          <a:p>
            <a:pPr lvl="2">
              <a:spcAft>
                <a:spcPts val="0"/>
              </a:spcAft>
            </a:pPr>
            <a:r>
              <a:rPr sz="1000"/>
              <a:t>θ ← θ − lr · m̂_t / (√v̂_t + ε)</a:t>
            </a:r>
          </a:p>
          <a:p>
            <a:pPr lvl="2">
              <a:spcAft>
                <a:spcPts val="0"/>
              </a:spcAft>
            </a:pPr>
            <a:r>
              <a:rPr sz="1000"/>
              <a:t>tracking_lr = 0.005, tracking_steps = 10/frame → 약 13 ms</a:t>
            </a:r>
          </a:p>
          <a:p>
            <a:pPr lvl="1">
              <a:spcAft>
                <a:spcPts val="100"/>
              </a:spcAft>
            </a:pPr>
            <a:r>
              <a:rPr sz="1100"/>
              <a:t>Phase prediction (kinematic preview)</a:t>
            </a:r>
          </a:p>
          <a:p>
            <a:pPr lvl="2">
              <a:spcAft>
                <a:spcPts val="0"/>
              </a:spcAft>
            </a:pPr>
            <a:r>
              <a:rPr sz="1000"/>
              <a:t>매 update 전: φ_i ← φ_i + ω_i · Δt</a:t>
            </a:r>
          </a:p>
          <a:p>
            <a:pPr lvl="2">
              <a:spcAft>
                <a:spcPts val="0"/>
              </a:spcAft>
            </a:pPr>
            <a:r>
              <a:rPr sz="1000"/>
              <a:t>Tracking window = 3 frames (recent buffer)</a:t>
            </a:r>
          </a:p>
          <a:p>
            <a:pPr lvl="1">
              <a:spcAft>
                <a:spcPts val="100"/>
              </a:spcAft>
            </a:pPr>
            <a:r>
              <a:rPr sz="1100"/>
              <a:t>Adaptive N — component 수 동적 조정</a:t>
            </a:r>
          </a:p>
          <a:p>
            <a:pPr lvl="2">
              <a:spcAft>
                <a:spcPts val="0"/>
              </a:spcAft>
            </a:pPr>
            <a:r>
              <a:rPr sz="1000"/>
              <a:t>Pruning: cumulative energy 90% 유지 (prune_threshold=0.10)</a:t>
            </a:r>
          </a:p>
          <a:p>
            <a:pPr lvl="2">
              <a:spcAft>
                <a:spcPts val="0"/>
              </a:spcAft>
            </a:pPr>
            <a:r>
              <a:rPr sz="1000"/>
              <a:t>Growth: residual RMS &gt; 0.05 m 시 새 (k_x,k_y) 추가 (max_n=30)</a:t>
            </a:r>
          </a:p>
          <a:p>
            <a:pPr lvl="2">
              <a:spcAft>
                <a:spcPts val="0"/>
              </a:spcAft>
            </a:pPr>
            <a:r>
              <a:rPr sz="1000"/>
              <a:t>Safety rollback: 변경 전후 RMS_after &gt; 1.3 × RMS_before → 즉시 복구</a:t>
            </a:r>
          </a:p>
          <a:p>
            <a:pPr lvl="1">
              <a:spcAft>
                <a:spcPts val="100"/>
              </a:spcAft>
            </a:pPr>
            <a:r>
              <a:rPr sz="1100"/>
              <a:t>왜 k 고정?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Method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978408"/>
            <a:ext cx="8191822" cy="182880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12-episode benchmark 결과</a:t>
            </a:r>
          </a:p>
          <a:p>
            <a:pPr lvl="1">
              <a:spcAft>
                <a:spcPts val="100"/>
              </a:spcAft>
            </a:pPr>
            <a:r>
              <a:rPr sz="1100"/>
              <a:t>WaveSplat 정확도 16% 우위 + 47배 빠름 (CPU only)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comp): 압도적 / 복잡 파도 (≥15): 일부 역전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2926080"/>
          <a:ext cx="8503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5980"/>
                <a:gridCol w="2125980"/>
                <a:gridCol w="2125980"/>
                <a:gridCol w="212598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특징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0.211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13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연속 파라미터 추정, real-time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Wang2025 ETKF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논문 충실 재현 (격자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2023 FNO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1.9 ms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3120개 필요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Ehlers 2025 PFT-PINN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~30 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학습 데이터 0개, instance 학습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000"/>
                        <a:t>Yan 2025 VOF-EnKF (참고)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—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오프라인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/>
                        <a:t>wave breaking 처리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Episode-level 패턴 — 강점과 한계</a:t>
            </a:r>
          </a:p>
          <a:p>
            <a:pPr lvl="1">
              <a:spcAft>
                <a:spcPts val="100"/>
              </a:spcAft>
            </a:pPr>
            <a:r>
              <a:rPr sz="1100"/>
              <a:t>단순 파도 (1–5 components) — WaveSplat 압도</a:t>
            </a:r>
          </a:p>
          <a:p>
            <a:pPr lvl="2">
              <a:spcAft>
                <a:spcPts val="0"/>
              </a:spcAft>
            </a:pPr>
            <a:r>
              <a:rPr sz="1000"/>
              <a:t>BF3_2comp: 0.052 vs Wang2025 0.250 — 거의 완벽 추정</a:t>
            </a:r>
          </a:p>
          <a:p>
            <a:pPr lvl="2">
              <a:spcAft>
                <a:spcPts val="0"/>
              </a:spcAft>
            </a:pPr>
            <a:r>
              <a:rPr sz="1000"/>
              <a:t>소성분이면 파라미터 적어 50개 관측으로 직접 추정 가능</a:t>
            </a:r>
          </a:p>
          <a:p>
            <a:pPr lvl="2">
              <a:spcAft>
                <a:spcPts val="0"/>
              </a:spcAft>
            </a:pPr>
            <a:r>
              <a:rPr sz="1000"/>
              <a:t>격자 방법은 성분 수와 무관하게 격자 해상도 한계</a:t>
            </a:r>
          </a:p>
          <a:p>
            <a:pPr lvl="1">
              <a:spcAft>
                <a:spcPts val="100"/>
              </a:spcAft>
            </a:pPr>
            <a:r>
              <a:rPr sz="1100"/>
              <a:t>복잡 파도 (15–30 components) — Wang2025 일부 우세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격자는 모든 성분을 한꺼번에 담을 수 있음</a:t>
            </a:r>
          </a:p>
          <a:p>
            <a:pPr lvl="2">
              <a:spcAft>
                <a:spcPts val="0"/>
              </a:spcAft>
            </a:pPr>
            <a:r>
              <a:rPr sz="1000"/>
              <a:t>WaveSplat 은 성분을 하나씩 찾아야 — beamforming peak 분리 어려움</a:t>
            </a:r>
          </a:p>
          <a:p>
            <a:pPr lvl="1">
              <a:spcAft>
                <a:spcPts val="100"/>
              </a:spcAft>
            </a:pPr>
            <a:r>
              <a:rPr sz="1100"/>
              <a:t>Reversal point — 약 N=15 component</a:t>
            </a:r>
          </a:p>
          <a:p>
            <a:pPr lvl="2">
              <a:spcAft>
                <a:spcPts val="0"/>
              </a:spcAft>
            </a:pPr>
            <a:r>
              <a:rPr sz="1000"/>
              <a:t>단순 파도: 파라미터 표현이 효율</a:t>
            </a:r>
          </a:p>
          <a:p>
            <a:pPr lvl="2">
              <a:spcAft>
                <a:spcPts val="0"/>
              </a:spcAft>
            </a:pPr>
            <a:r>
              <a:rPr sz="1000"/>
              <a:t>복잡 파도: 격자 표현이 표현력 우위</a:t>
            </a:r>
          </a:p>
          <a:p>
            <a:pPr lvl="1">
              <a:spcAft>
                <a:spcPts val="100"/>
              </a:spcAft>
            </a:pPr>
            <a:r>
              <a:rPr sz="1100"/>
              <a:t>대응 — hybrid init (향후 연구)</a:t>
            </a:r>
          </a:p>
          <a:p>
            <a:pPr lvl="2">
              <a:spcAft>
                <a:spcPts val="0"/>
              </a:spcAft>
            </a:pPr>
            <a:r>
              <a:rPr sz="1000"/>
              <a:t>격자로 대략 분포 파악 → 파라미터로 정밀화</a:t>
            </a:r>
          </a:p>
          <a:p>
            <a:pPr lvl="2">
              <a:spcAft>
                <a:spcPts val="0"/>
              </a:spcAft>
            </a:pPr>
            <a:r>
              <a:rPr sz="1000"/>
              <a:t>두 표현의 장점 결합</a:t>
            </a:r>
          </a:p>
          <a:p>
            <a:pPr lvl="2">
              <a:spcAft>
                <a:spcPts val="0"/>
              </a:spcAft>
            </a:pPr>
            <a:r>
              <a:rPr sz="1000"/>
              <a:t>Learned init (NN 기반) 도 대안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510624"/>
            <a:ext cx="4297680" cy="211107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Ablation — 두 메커니즘의 시너지</a:t>
            </a:r>
          </a:p>
          <a:p>
            <a:pPr lvl="1">
              <a:spcAft>
                <a:spcPts val="100"/>
              </a:spcAft>
            </a:pPr>
            <a:r>
              <a:rPr sz="1100"/>
              <a:t>4 가지 변형 비교 (12 episodes)</a:t>
            </a:r>
          </a:p>
          <a:p>
            <a:pPr lvl="2">
              <a:spcAft>
                <a:spcPts val="0"/>
              </a:spcAft>
            </a:pPr>
            <a:r>
              <a:rPr sz="1000"/>
              <a:t>A (spatial-only): single-frame, no dispersion → nRMSE 0.213</a:t>
            </a:r>
          </a:p>
          <a:p>
            <a:pPr lvl="2">
              <a:spcAft>
                <a:spcPts val="0"/>
              </a:spcAft>
            </a:pPr>
            <a:r>
              <a:rPr sz="1000"/>
              <a:t>B (multi-frame, no dispersion): → 0.208 (A 보다 개선)</a:t>
            </a:r>
          </a:p>
          <a:p>
            <a:pPr lvl="2">
              <a:spcAft>
                <a:spcPts val="0"/>
              </a:spcAft>
            </a:pPr>
            <a:r>
              <a:rPr sz="1000"/>
              <a:t>C (disp-coupled, single-frame): → 0.226 (오히려 악화)</a:t>
            </a:r>
          </a:p>
          <a:p>
            <a:pPr lvl="2">
              <a:spcAft>
                <a:spcPts val="0"/>
              </a:spcAft>
            </a:pPr>
            <a:r>
              <a:rPr sz="1000"/>
              <a:t>D = WaveSplat (full):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C 가 왜 악화되는가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추정 부정확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잘못된 k → 잘못된 ω 전파</a:t>
            </a:r>
          </a:p>
          <a:p>
            <a:pPr lvl="2">
              <a:spcAft>
                <a:spcPts val="0"/>
              </a:spcAft>
            </a:pPr>
            <a:r>
              <a:rPr sz="1000"/>
              <a:t>오류가 amplify 됨 (cascading failure)</a:t>
            </a:r>
          </a:p>
          <a:p>
            <a:pPr lvl="1">
              <a:spcAft>
                <a:spcPts val="100"/>
              </a:spcAft>
            </a:pPr>
            <a:r>
              <a:rPr sz="1100"/>
              <a:t>D 가 어떻게 안정화 되는가</a:t>
            </a:r>
          </a:p>
          <a:p>
            <a:pPr lvl="2">
              <a:spcAft>
                <a:spcPts val="0"/>
              </a:spcAft>
            </a:pPr>
            <a:r>
              <a:rPr sz="1000"/>
              <a:t>Multi-frame 으로 k 정확 추정</a:t>
            </a:r>
          </a:p>
          <a:p>
            <a:pPr lvl="2">
              <a:spcAft>
                <a:spcPts val="0"/>
              </a:spcAft>
            </a:pPr>
            <a:r>
              <a:rPr sz="1000"/>
              <a:t>Dispersion 으로 ω 자동 결정 (자유도 감소)</a:t>
            </a:r>
          </a:p>
          <a:p>
            <a:pPr lvl="2">
              <a:spcAft>
                <a:spcPts val="0"/>
              </a:spcAft>
            </a:pPr>
            <a:r>
              <a:rPr sz="1000"/>
              <a:t>Multi-frame + dispersion 결합 시 시너지</a:t>
            </a:r>
          </a:p>
          <a:p>
            <a:pPr lvl="1">
              <a:spcAft>
                <a:spcPts val="100"/>
              </a:spcAft>
            </a:pPr>
            <a:r>
              <a:rPr sz="1100"/>
              <a:t>핵심 메시지</a:t>
            </a:r>
          </a:p>
          <a:p>
            <a:pPr lvl="2">
              <a:spcAft>
                <a:spcPts val="0"/>
              </a:spcAft>
            </a:pPr>
            <a:r>
              <a:rPr sz="1000"/>
              <a:t>물리 법칙 (dispersion) 은 마법 아닌 *정규화* 역할</a:t>
            </a:r>
          </a:p>
          <a:p>
            <a:pPr lvl="2">
              <a:spcAft>
                <a:spcPts val="0"/>
              </a:spcAft>
            </a:pPr>
            <a:r>
              <a:rPr sz="1000"/>
              <a:t>Multi-frame 과 함께 써야 효과 발휘</a:t>
            </a:r>
          </a:p>
          <a:p>
            <a:pPr lvl="2">
              <a:spcAft>
                <a:spcPts val="0"/>
              </a:spcAft>
            </a:pPr>
            <a:r>
              <a:rPr sz="1000"/>
              <a:t>두 메커니즘 단독은 불완전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390402"/>
            <a:ext cx="4297680" cy="235151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핵심 메커니즘 — 분산 관계 = 물리적 정규화 장치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1 — 자유도 감소</a:t>
            </a:r>
          </a:p>
          <a:p>
            <a:pPr lvl="2">
              <a:spcAft>
                <a:spcPts val="0"/>
              </a:spcAft>
            </a:pPr>
            <a:r>
              <a:rPr sz="1000"/>
              <a:t>분산 관계: ω = √(g·|k|·tanh(|k|·d))</a:t>
            </a:r>
          </a:p>
          <a:p>
            <a:pPr lvl="2">
              <a:spcAft>
                <a:spcPts val="0"/>
              </a:spcAft>
            </a:pPr>
            <a:r>
              <a:rPr sz="1000"/>
              <a:t>주파수 ω 가 파수 k 로부터 자동 결정</a:t>
            </a:r>
          </a:p>
          <a:p>
            <a:pPr lvl="2">
              <a:spcAft>
                <a:spcPts val="0"/>
              </a:spcAft>
            </a:pPr>
            <a:r>
              <a:rPr sz="1000"/>
              <a:t>적용 전: 5N 변수 (A, k_x, k_y, ω, φ)</a:t>
            </a:r>
          </a:p>
          <a:p>
            <a:pPr lvl="2">
              <a:spcAft>
                <a:spcPts val="0"/>
              </a:spcAft>
            </a:pPr>
            <a:r>
              <a:rPr sz="1000"/>
              <a:t>적용 후: 4N 변수 (A, k_x, k_y, φ) — 20% 감소</a:t>
            </a:r>
          </a:p>
          <a:p>
            <a:pPr lvl="2">
              <a:spcAft>
                <a:spcPts val="0"/>
              </a:spcAft>
            </a:pPr>
            <a:r>
              <a:rPr sz="1000"/>
              <a:t>추가 효과: 물리적으로 불가능한 (k, ω) 자동 배제</a:t>
            </a:r>
          </a:p>
          <a:p>
            <a:pPr lvl="1">
              <a:spcAft>
                <a:spcPts val="100"/>
              </a:spcAft>
            </a:pPr>
            <a:r>
              <a:rPr sz="1100"/>
              <a:t>메커니즘 2 — Multi-frame temporal coherence</a:t>
            </a:r>
          </a:p>
          <a:p>
            <a:pPr lvl="2">
              <a:spcAft>
                <a:spcPts val="0"/>
              </a:spcAft>
            </a:pPr>
            <a:r>
              <a:rPr sz="1000"/>
              <a:t>η(x, t) = A·cos(k·x − ω·t + φ) 의 t 진행이 phase 변화 제공</a:t>
            </a:r>
          </a:p>
          <a:p>
            <a:pPr lvl="2">
              <a:spcAft>
                <a:spcPts val="0"/>
              </a:spcAft>
            </a:pPr>
            <a:r>
              <a:rPr sz="1000"/>
              <a:t>Vessel 정지여도 wave 자체의 시간 진화 → multi-frame 효과</a:t>
            </a:r>
          </a:p>
          <a:p>
            <a:pPr lvl="2">
              <a:spcAft>
                <a:spcPts val="0"/>
              </a:spcAft>
            </a:pPr>
            <a:r>
              <a:rPr sz="1000"/>
              <a:t>여러 frame 의 (x, y, t, η) 4D 정보 → k 모호성 해소</a:t>
            </a:r>
          </a:p>
          <a:p>
            <a:pPr lvl="2">
              <a:spcAft>
                <a:spcPts val="0"/>
              </a:spcAft>
            </a:pPr>
            <a:r>
              <a:rPr sz="1000"/>
              <a:t>Note: vessel motion 기반 SA 는 현재 미적용 → 향후 연구</a:t>
            </a:r>
          </a:p>
          <a:p>
            <a:pPr lvl="1">
              <a:spcAft>
                <a:spcPts val="100"/>
              </a:spcAft>
            </a:pPr>
            <a:r>
              <a:rPr sz="1100"/>
              <a:t>두 메커니즘의 시너지 (Ablation 결과)</a:t>
            </a:r>
          </a:p>
          <a:p>
            <a:pPr lvl="2">
              <a:spcAft>
                <a:spcPts val="0"/>
              </a:spcAft>
            </a:pPr>
            <a:r>
              <a:rPr sz="1000"/>
              <a:t>단독으로는 불완전: dispersion 단독 → 0.226 (악화)</a:t>
            </a:r>
          </a:p>
          <a:p>
            <a:pPr lvl="2">
              <a:spcAft>
                <a:spcPts val="0"/>
              </a:spcAft>
            </a:pPr>
            <a:r>
              <a:rPr sz="1000"/>
              <a:t>Multi-frame 단독 → 0.208 (개선되나 불안정)</a:t>
            </a:r>
          </a:p>
          <a:p>
            <a:pPr lvl="2">
              <a:spcAft>
                <a:spcPts val="0"/>
              </a:spcAft>
            </a:pPr>
            <a:r>
              <a:rPr sz="1000"/>
              <a:t>결합 (D=WaveSplat) → 0.211 (가장 안정)</a:t>
            </a:r>
          </a:p>
          <a:p>
            <a:pPr lvl="1">
              <a:spcAft>
                <a:spcPts val="100"/>
              </a:spcAft>
            </a:pPr>
            <a:r>
              <a:rPr sz="1100"/>
              <a:t>직관 비유</a:t>
            </a:r>
          </a:p>
          <a:p>
            <a:pPr lvl="2">
              <a:spcAft>
                <a:spcPts val="0"/>
              </a:spcAft>
            </a:pPr>
            <a:r>
              <a:rPr sz="1000"/>
              <a:t>Dispersion = '눈가리개' (물리 법칙으로 답 좁히기)</a:t>
            </a:r>
          </a:p>
          <a:p>
            <a:pPr lvl="2">
              <a:spcAft>
                <a:spcPts val="0"/>
              </a:spcAft>
            </a:pPr>
            <a:r>
              <a:rPr sz="1000"/>
              <a:t>Multi-frame = '여러 사진 으로 모호성 해소'</a:t>
            </a:r>
          </a:p>
          <a:p>
            <a:pPr lvl="2">
              <a:spcAft>
                <a:spcPts val="0"/>
              </a:spcAft>
            </a:pPr>
            <a:r>
              <a:rPr sz="1000"/>
              <a:t>둘 다 있어야 sparse LiDAR 로 phase-resolved 추정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685241"/>
            <a:ext cx="4297680" cy="17618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왜 2단계 설계가 자연스러운가</a:t>
            </a:r>
          </a:p>
          <a:p>
            <a:pPr lvl="1">
              <a:spcAft>
                <a:spcPts val="100"/>
              </a:spcAft>
            </a:pPr>
            <a:r>
              <a:rPr sz="1100"/>
              <a:t>핵심 관찰 — 변수마다 필요한 정보가 다름</a:t>
            </a:r>
          </a:p>
          <a:p>
            <a:pPr lvl="2">
              <a:spcAft>
                <a:spcPts val="0"/>
              </a:spcAft>
            </a:pPr>
            <a:r>
              <a:rPr sz="1000"/>
              <a:t>파수 k = (k_x, k_y): 여러 frame 시간 정보 필요 (공간 패턴)</a:t>
            </a:r>
          </a:p>
          <a:p>
            <a:pPr lvl="2">
              <a:spcAft>
                <a:spcPts val="0"/>
              </a:spcAft>
            </a:pPr>
            <a:r>
              <a:rPr sz="1000"/>
              <a:t>주파수 ω, 진폭 A, 위상 φ: 한 frame 만으로도 추정 가능</a:t>
            </a:r>
          </a:p>
          <a:p>
            <a:pPr lvl="1">
              <a:spcAft>
                <a:spcPts val="100"/>
              </a:spcAft>
            </a:pPr>
            <a:r>
              <a:rPr sz="1100"/>
              <a:t>2단계로 자연 분리</a:t>
            </a:r>
          </a:p>
          <a:p>
            <a:pPr lvl="2">
              <a:spcAft>
                <a:spcPts val="0"/>
              </a:spcAft>
            </a:pPr>
            <a:r>
              <a:rPr sz="1000"/>
              <a:t>Init: 여러 frame 모아 k 정확히 결정 — 한 번만 (&lt; 1 s)</a:t>
            </a:r>
          </a:p>
          <a:p>
            <a:pPr lvl="2">
              <a:spcAft>
                <a:spcPts val="0"/>
              </a:spcAft>
            </a:pPr>
            <a:r>
              <a:rPr sz="1000"/>
              <a:t>Track: k 고정, ω·A·φ 만 매 frame update — 실시간 (&lt; 13 ms)</a:t>
            </a:r>
          </a:p>
          <a:p>
            <a:pPr lvl="2">
              <a:spcAft>
                <a:spcPts val="0"/>
              </a:spcAft>
            </a:pPr>
            <a:r>
              <a:rPr sz="1000"/>
              <a:t>무거운 작업은 한 번, 가벼운 작업은 매 frame</a:t>
            </a:r>
          </a:p>
          <a:p>
            <a:pPr lvl="1">
              <a:spcAft>
                <a:spcPts val="100"/>
              </a:spcAft>
            </a:pPr>
            <a:r>
              <a:rPr sz="1100"/>
              <a:t>Identifiability 증거</a:t>
            </a:r>
          </a:p>
          <a:p>
            <a:pPr lvl="2">
              <a:spcAft>
                <a:spcPts val="0"/>
              </a:spcAft>
            </a:pPr>
            <a:r>
              <a:rPr sz="1000"/>
              <a:t>Single frame 에서 k 의 FIM eigenvalue 가 (A,φ) 보다 10⁻³ 작음</a:t>
            </a:r>
          </a:p>
          <a:p>
            <a:pPr lvl="2">
              <a:spcAft>
                <a:spcPts val="0"/>
              </a:spcAft>
            </a:pPr>
            <a:r>
              <a:rPr sz="1000"/>
              <a:t>k 자유 시 50점에 over-fit → 비물리적 발산</a:t>
            </a:r>
          </a:p>
          <a:p>
            <a:pPr lvl="2">
              <a:spcAft>
                <a:spcPts val="0"/>
              </a:spcAft>
            </a:pPr>
            <a:r>
              <a:rPr sz="1000"/>
              <a:t>k 고정 → 자유도 5N → 2N → 안정적 추정</a:t>
            </a:r>
          </a:p>
          <a:p>
            <a:pPr lvl="1">
              <a:spcAft>
                <a:spcPts val="100"/>
              </a:spcAft>
            </a:pPr>
            <a:r>
              <a:rPr sz="1100"/>
              <a:t>전체 흐름 정리</a:t>
            </a:r>
          </a:p>
          <a:p>
            <a:pPr lvl="2">
              <a:spcAft>
                <a:spcPts val="0"/>
              </a:spcAft>
            </a:pPr>
            <a:r>
              <a:rPr sz="1000"/>
              <a:t>1. Multi-frame temporal coherence → 파수 추정 (Init)</a:t>
            </a:r>
          </a:p>
          <a:p>
            <a:pPr lvl="2">
              <a:spcAft>
                <a:spcPts val="0"/>
              </a:spcAft>
            </a:pPr>
            <a:r>
              <a:rPr sz="1000"/>
              <a:t>2. 분산 관계로 ω↔k 결합 → 자유도 감소 + 물리적 제약</a:t>
            </a:r>
          </a:p>
          <a:p>
            <a:pPr lvl="2">
              <a:spcAft>
                <a:spcPts val="0"/>
              </a:spcAft>
            </a:pPr>
            <a:r>
              <a:rPr sz="1000"/>
              <a:t>3. 매 frame Adam → 실시간 (A, φ) 추적</a:t>
            </a:r>
          </a:p>
          <a:p>
            <a:pPr lvl="2">
              <a:spcAft>
                <a:spcPts val="0"/>
              </a:spcAft>
            </a:pPr>
            <a:r>
              <a:rPr sz="1000"/>
              <a:t>4. Adaptive N → 성분 수 자동 조정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Experiments &amp; Mechanism</a:t>
            </a:r>
          </a:p>
        </p:txBody>
      </p:sp>
      <p:pic>
        <p:nvPicPr>
          <p:cNvPr id="4" name="Picture 3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51962"/>
            <a:ext cx="4297680" cy="142839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Contents</a:t>
            </a:r>
          </a:p>
          <a:p>
            <a:pPr>
              <a:spcAft>
                <a:spcPts val="300"/>
              </a:spcAft>
            </a:pPr>
            <a:r>
              <a:rPr sz="1300" b="1"/>
              <a:t>  1.	Introduction &amp; Motivation</a:t>
            </a:r>
          </a:p>
          <a:p>
            <a:pPr>
              <a:spcAft>
                <a:spcPts val="300"/>
              </a:spcAft>
            </a:pPr>
            <a:r>
              <a:rPr sz="1300" b="1"/>
              <a:t>  2.	Related work</a:t>
            </a:r>
          </a:p>
          <a:p>
            <a:pPr>
              <a:spcAft>
                <a:spcPts val="300"/>
              </a:spcAft>
            </a:pPr>
            <a:r>
              <a:rPr sz="1300" b="1"/>
              <a:t>  3.	Method</a:t>
            </a:r>
          </a:p>
          <a:p>
            <a:pPr>
              <a:spcAft>
                <a:spcPts val="300"/>
              </a:spcAft>
            </a:pPr>
            <a:r>
              <a:rPr sz="1300" b="1"/>
              <a:t>  4.	Experiments &amp; Mechanism</a:t>
            </a:r>
          </a:p>
          <a:p>
            <a:pPr>
              <a:spcAft>
                <a:spcPts val="300"/>
              </a:spcAft>
            </a:pPr>
            <a:r>
              <a:rPr sz="1300" b="1"/>
              <a:t> 5.	Limitations &amp; Research 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한계 — 4 가지 정직한 제약</a:t>
            </a:r>
          </a:p>
          <a:p>
            <a:pPr lvl="1">
              <a:spcAft>
                <a:spcPts val="100"/>
              </a:spcAft>
            </a:pPr>
            <a:r>
              <a:rPr sz="1100"/>
              <a:t>한계 1 — 선형 근사 (Linear Wave Theory)</a:t>
            </a:r>
          </a:p>
          <a:p>
            <a:pPr lvl="2">
              <a:spcAft>
                <a:spcPts val="0"/>
              </a:spcAft>
            </a:pPr>
            <a:r>
              <a:rPr sz="1000"/>
              <a:t>파도를 사인파의 합으로 표현</a:t>
            </a:r>
          </a:p>
          <a:p>
            <a:pPr lvl="2">
              <a:spcAft>
                <a:spcPts val="0"/>
              </a:spcAft>
            </a:pPr>
            <a:r>
              <a:rPr sz="1000"/>
              <a:t>실제 파도는 꼭대기 뾰족·골 넓음 (비선형)</a:t>
            </a:r>
          </a:p>
          <a:p>
            <a:pPr lvl="2">
              <a:spcAft>
                <a:spcPts val="0"/>
              </a:spcAft>
            </a:pPr>
            <a:r>
              <a:rPr sz="1000"/>
              <a:t>Klein 2020 비교: HOSM &gt; NLSE2 &gt; NLSE &gt; LWT 순서</a:t>
            </a:r>
          </a:p>
          <a:p>
            <a:pPr lvl="2">
              <a:spcAft>
                <a:spcPts val="0"/>
              </a:spcAft>
            </a:pPr>
            <a:r>
              <a:rPr sz="1000"/>
              <a:t>ε &lt; 0.07 신뢰 → BF6 까지 적용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Stokes 2차 보정 → 적용 범위 확장</a:t>
            </a:r>
          </a:p>
          <a:p>
            <a:pPr lvl="1">
              <a:spcAft>
                <a:spcPts val="100"/>
              </a:spcAft>
            </a:pPr>
            <a:r>
              <a:rPr sz="1100"/>
              <a:t>한계 2 — 복잡 파도 (≥15 components) 정확도 저하</a:t>
            </a:r>
          </a:p>
          <a:p>
            <a:pPr lvl="2">
              <a:spcAft>
                <a:spcPts val="0"/>
              </a:spcAft>
            </a:pPr>
            <a:r>
              <a:rPr sz="1000"/>
              <a:t>BF4_15comp: WaveSplat 0.302 vs Wang2025 0.249 (역전)</a:t>
            </a:r>
          </a:p>
          <a:p>
            <a:pPr lvl="2">
              <a:spcAft>
                <a:spcPts val="0"/>
              </a:spcAft>
            </a:pPr>
            <a:r>
              <a:rPr sz="1000"/>
              <a:t>원인: beamforming 이 다수 peak 분리 어려움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hybrid init (격자 + 파라미터 정밀화)</a:t>
            </a:r>
          </a:p>
          <a:p>
            <a:pPr lvl="1">
              <a:spcAft>
                <a:spcPts val="100"/>
              </a:spcAft>
            </a:pPr>
            <a:r>
              <a:rPr sz="1100"/>
              <a:t>한계 3 — Vessel 정지 가정 (V=0 kts)</a:t>
            </a:r>
          </a:p>
          <a:p>
            <a:pPr lvl="2">
              <a:spcAft>
                <a:spcPts val="0"/>
              </a:spcAft>
            </a:pPr>
            <a:r>
              <a:rPr sz="1000"/>
              <a:t>본 dataset 은 vessel 정지 상태로 합성 — synthetic aperture (SA) 미적용</a:t>
            </a:r>
          </a:p>
          <a:p>
            <a:pPr lvl="2">
              <a:spcAft>
                <a:spcPts val="0"/>
              </a:spcAft>
            </a:pPr>
            <a:r>
              <a:rPr sz="1000"/>
              <a:t>Multi-frame 효과는 wave 자체 시간 진화에 의존 (vessel 운동 효과 X)</a:t>
            </a:r>
          </a:p>
          <a:p>
            <a:pPr lvl="2">
              <a:spcAft>
                <a:spcPts val="0"/>
              </a:spcAft>
            </a:pPr>
            <a:r>
              <a:rPr sz="1000"/>
              <a:t>영향: 매우 긴 swell (λ &gt; 250 m) 의 direction 해상도 저하 가능</a:t>
            </a:r>
          </a:p>
          <a:p>
            <a:pPr lvl="2">
              <a:spcAft>
                <a:spcPts val="0"/>
              </a:spcAft>
            </a:pPr>
            <a:r>
              <a:rPr sz="1000"/>
              <a:t>개선 방향: vessel motion 도입 → V·T 만큼 synthetic aperture 효과</a:t>
            </a:r>
          </a:p>
          <a:p>
            <a:pPr lvl="1">
              <a:spcAft>
                <a:spcPts val="100"/>
              </a:spcAft>
            </a:pPr>
            <a:r>
              <a:rPr sz="1100"/>
              <a:t>한계 4 — Wave breaking + 유속장 미지원</a:t>
            </a:r>
          </a:p>
          <a:p>
            <a:pPr lvl="2">
              <a:spcAft>
                <a:spcPts val="0"/>
              </a:spcAft>
            </a:pPr>
            <a:r>
              <a:rPr sz="1000"/>
              <a:t>VOF-EnKF, PFT-PINN 영역 (offline only)</a:t>
            </a:r>
          </a:p>
          <a:p>
            <a:pPr lvl="2">
              <a:spcAft>
                <a:spcPts val="0"/>
              </a:spcAft>
            </a:pPr>
            <a:r>
              <a:rPr sz="1000"/>
              <a:t>본 연구는 real-time 제어 영역 — 응용 자체가 다름</a:t>
            </a:r>
          </a:p>
          <a:p>
            <a:pPr lvl="2">
              <a:spcAft>
                <a:spcPts val="0"/>
              </a:spcAft>
            </a:pPr>
            <a:r>
              <a:rPr sz="1000"/>
              <a:t>필요 시 응용 분야 분리하여 향후 협업 연구 가능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0040" y="980732"/>
            <a:ext cx="4114800" cy="5196231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응용 사례 — Hydrofoil ride control</a:t>
            </a:r>
          </a:p>
          <a:p>
            <a:pPr lvl="1">
              <a:spcAft>
                <a:spcPts val="100"/>
              </a:spcAft>
            </a:pPr>
            <a:r>
              <a:rPr sz="1100"/>
              <a:t>왜 hydrofoil 인가</a:t>
            </a:r>
          </a:p>
          <a:p>
            <a:pPr lvl="2">
              <a:spcAft>
                <a:spcPts val="0"/>
              </a:spcAft>
            </a:pPr>
            <a:r>
              <a:rPr sz="1000"/>
              <a:t>Hydrofoil 은 파도 만나면 lift 변동 → heave/pitch 흔들림 → 승차감 저하</a:t>
            </a:r>
          </a:p>
          <a:p>
            <a:pPr lvl="2">
              <a:spcAft>
                <a:spcPts val="0"/>
              </a:spcAft>
            </a:pPr>
            <a:r>
              <a:rPr sz="1000"/>
              <a:t>앞쪽 파도 preview 있으면 fin angle 미리 조절 가능</a:t>
            </a:r>
          </a:p>
          <a:p>
            <a:pPr lvl="1">
              <a:spcAft>
                <a:spcPts val="100"/>
              </a:spcAft>
            </a:pPr>
            <a:r>
              <a:rPr sz="1100"/>
              <a:t>제어 구조 — PD vs PD + FF (Feed-Forward)</a:t>
            </a:r>
          </a:p>
          <a:p>
            <a:pPr lvl="2">
              <a:spcAft>
                <a:spcPts val="0"/>
              </a:spcAft>
            </a:pPr>
            <a:r>
              <a:rPr sz="1000"/>
              <a:t>기존 PD: heave error 만 보고 fin 조절 (feedback only)</a:t>
            </a:r>
          </a:p>
          <a:p>
            <a:pPr lvl="2">
              <a:spcAft>
                <a:spcPts val="0"/>
              </a:spcAft>
            </a:pPr>
            <a:r>
              <a:rPr sz="1000"/>
              <a:t>제안 PD + FF: WaveSplat 추정 → 미래 wave disturbance 예측 → fin 보상</a:t>
            </a:r>
          </a:p>
          <a:p>
            <a:pPr lvl="2">
              <a:spcAft>
                <a:spcPts val="0"/>
              </a:spcAft>
            </a:pPr>
            <a:r>
              <a:rPr sz="1000"/>
              <a:t>최종 fin angle = PD(heave error) + FF(predicted wave disturbance)</a:t>
            </a:r>
          </a:p>
          <a:p>
            <a:pPr lvl="1">
              <a:spcAft>
                <a:spcPts val="100"/>
              </a:spcAft>
            </a:pPr>
            <a:r>
              <a:rPr sz="1100"/>
              <a:t>Test setup</a:t>
            </a:r>
          </a:p>
          <a:p>
            <a:pPr lvl="2">
              <a:spcAft>
                <a:spcPts val="0"/>
              </a:spcAft>
            </a:pPr>
            <a:r>
              <a:rPr sz="1000"/>
              <a:t>WaveSim 파도 + hydrofoil dynamics simulator</a:t>
            </a:r>
          </a:p>
          <a:p>
            <a:pPr lvl="2">
              <a:spcAft>
                <a:spcPts val="0"/>
              </a:spcAft>
            </a:pPr>
            <a:r>
              <a:rPr sz="1000"/>
              <a:t>Preview window: 0.3 s lookahead (V=11.3 m/s 에서 약 3 m 앞)</a:t>
            </a:r>
          </a:p>
          <a:p>
            <a:pPr lvl="1">
              <a:spcAft>
                <a:spcPts val="100"/>
              </a:spcAft>
            </a:pPr>
            <a:r>
              <a:rPr sz="1100"/>
              <a:t>현재 단계 — preliminary test (응용 가능성 확인)</a:t>
            </a:r>
          </a:p>
          <a:p>
            <a:pPr lvl="2">
              <a:spcAft>
                <a:spcPts val="0"/>
              </a:spcAft>
            </a:pPr>
            <a:r>
              <a:rPr sz="1000"/>
              <a:t>체계적 controller tuning + robustness 평가는 후속 연구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808655"/>
            <a:ext cx="4297680" cy="151500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23528" y="5212080"/>
            <a:ext cx="8191822" cy="1280160"/>
          </a:xfrm>
        </p:spPr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PD vs PD + FF — heave acceleration 감소 확인</a:t>
            </a:r>
          </a:p>
          <a:p>
            <a:pPr lvl="1">
              <a:spcAft>
                <a:spcPts val="100"/>
              </a:spcAft>
            </a:pPr>
            <a:r>
              <a:rPr sz="1100"/>
              <a:t>aRMS: PD 0.090 m/s² → PD+FF 0.047 m/s² (약 48% 감소)</a:t>
            </a:r>
          </a:p>
          <a:p>
            <a:pPr lvl="1">
              <a:spcAft>
                <a:spcPts val="100"/>
              </a:spcAft>
            </a:pPr>
            <a:r>
              <a:rPr sz="1100"/>
              <a:t>ISO 2631 ride comfort 기준에서 의미 있는 수준의 감소</a:t>
            </a:r>
          </a:p>
          <a:p>
            <a:pPr lvl="1">
              <a:spcAft>
                <a:spcPts val="100"/>
              </a:spcAft>
            </a:pPr>
            <a:r>
              <a:rPr sz="1100"/>
              <a:t>같은 파도 시퀀스, 두 controller 직접 비교 (위 영상)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  <p:pic>
        <p:nvPicPr>
          <p:cNvPr id="4" name="Picture 3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9144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300" b="1"/>
              <a:t>향후 연구 — 4가지 방향</a:t>
            </a:r>
          </a:p>
          <a:p>
            <a:pPr lvl="1">
              <a:spcAft>
                <a:spcPts val="100"/>
              </a:spcAft>
            </a:pPr>
            <a:r>
              <a:rPr sz="1100"/>
              <a:t>방향 1 — 고복잡도 파도 대응 (초기화 개선)</a:t>
            </a:r>
          </a:p>
          <a:p>
            <a:pPr lvl="2">
              <a:spcAft>
                <a:spcPts val="0"/>
              </a:spcAft>
            </a:pPr>
            <a:r>
              <a:rPr sz="1000"/>
              <a:t>현재: ≥15 component 에서 정확도 저하 (Wang2025 가 일부 우세)</a:t>
            </a:r>
          </a:p>
          <a:p>
            <a:pPr lvl="2">
              <a:spcAft>
                <a:spcPts val="0"/>
              </a:spcAft>
            </a:pPr>
            <a:r>
              <a:rPr sz="1000"/>
              <a:t>계획: hybrid init (격자 + 파라미터 정밀화)</a:t>
            </a:r>
          </a:p>
          <a:p>
            <a:pPr lvl="2">
              <a:spcAft>
                <a:spcPts val="0"/>
              </a:spcAft>
            </a:pPr>
            <a:r>
              <a:rPr sz="1000"/>
              <a:t>대안: learned init (NN 으로 초기 component 추정)</a:t>
            </a:r>
          </a:p>
          <a:p>
            <a:pPr lvl="2">
              <a:spcAft>
                <a:spcPts val="0"/>
              </a:spcAft>
            </a:pPr>
            <a:r>
              <a:rPr sz="1000"/>
              <a:t>기대: 고복잡도에서도 격자 방법 이상 정확도</a:t>
            </a:r>
          </a:p>
          <a:p>
            <a:pPr lvl="1">
              <a:spcAft>
                <a:spcPts val="100"/>
              </a:spcAft>
            </a:pPr>
            <a:r>
              <a:rPr sz="1100"/>
              <a:t>방향 2 — 비선형 파도 확장</a:t>
            </a:r>
          </a:p>
          <a:p>
            <a:pPr lvl="2">
              <a:spcAft>
                <a:spcPts val="0"/>
              </a:spcAft>
            </a:pPr>
            <a:r>
              <a:rPr sz="1000"/>
              <a:t>현재: LWT (선형) → BF6 까지 신뢰 (ε &lt; 0.07)</a:t>
            </a:r>
          </a:p>
          <a:p>
            <a:pPr lvl="2">
              <a:spcAft>
                <a:spcPts val="0"/>
              </a:spcAft>
            </a:pPr>
            <a:r>
              <a:rPr sz="1000"/>
              <a:t>계획: Stokes 2차 보정 추가</a:t>
            </a:r>
          </a:p>
          <a:p>
            <a:pPr lvl="2">
              <a:spcAft>
                <a:spcPts val="0"/>
              </a:spcAft>
            </a:pPr>
            <a:r>
              <a:rPr sz="1000"/>
              <a:t>장기: Klein 2020 의 NLSE 수준 도달</a:t>
            </a:r>
          </a:p>
          <a:p>
            <a:pPr lvl="1">
              <a:spcAft>
                <a:spcPts val="100"/>
              </a:spcAft>
            </a:pPr>
            <a:r>
              <a:rPr sz="1100"/>
              <a:t>방향 3 — Vessel motion 기반 synthetic aperture (SAR-style)</a:t>
            </a:r>
          </a:p>
          <a:p>
            <a:pPr lvl="2">
              <a:spcAft>
                <a:spcPts val="0"/>
              </a:spcAft>
            </a:pPr>
            <a:r>
              <a:rPr sz="1000"/>
              <a:t>현재: 코드/dataset 모두 vessel 정지 (V=0 kts) — SA 미적용</a:t>
            </a:r>
          </a:p>
          <a:p>
            <a:pPr lvl="2">
              <a:spcAft>
                <a:spcPts val="0"/>
              </a:spcAft>
            </a:pPr>
            <a:r>
              <a:rPr sz="1000"/>
              <a:t>계획: V &gt; 0 시 V·T 만큼 추가 spatial coverage 효과 검증</a:t>
            </a:r>
          </a:p>
          <a:p>
            <a:pPr lvl="2">
              <a:spcAft>
                <a:spcPts val="0"/>
              </a:spcAft>
            </a:pPr>
            <a:r>
              <a:rPr sz="1000"/>
              <a:t>Reference: Wiley 1954 SAR 원리</a:t>
            </a:r>
          </a:p>
          <a:p>
            <a:pPr lvl="2">
              <a:spcAft>
                <a:spcPts val="0"/>
              </a:spcAft>
            </a:pPr>
            <a:r>
              <a:rPr sz="1000"/>
              <a:t>Ship-mounted LiDAR 에서 SA 적용 — 첫 시도가 될 가능성</a:t>
            </a:r>
          </a:p>
          <a:p>
            <a:pPr lvl="1">
              <a:spcAft>
                <a:spcPts val="100"/>
              </a:spcAft>
            </a:pPr>
            <a:r>
              <a:rPr sz="1100"/>
              <a:t>방향 4 — 실측 데이터 검증</a:t>
            </a:r>
          </a:p>
          <a:p>
            <a:pPr lvl="2">
              <a:spcAft>
                <a:spcPts val="0"/>
              </a:spcAft>
            </a:pPr>
            <a:r>
              <a:rPr sz="1000"/>
              <a:t>현재: 합성 dataset (110 episode) 만 검증</a:t>
            </a:r>
          </a:p>
          <a:p>
            <a:pPr lvl="2">
              <a:spcAft>
                <a:spcPts val="0"/>
              </a:spcAft>
            </a:pPr>
            <a:r>
              <a:rPr sz="1000"/>
              <a:t>계획: 실제 선박 LiDAR 데이터</a:t>
            </a:r>
          </a:p>
          <a:p>
            <a:pPr lvl="2">
              <a:spcAft>
                <a:spcPts val="0"/>
              </a:spcAft>
            </a:pPr>
            <a:r>
              <a:rPr sz="1000"/>
              <a:t>Ground-truth: wave buoy 또는 X-band radar 병행 측정</a:t>
            </a:r>
          </a:p>
          <a:p>
            <a:pPr lvl="1">
              <a:spcAft>
                <a:spcPts val="100"/>
              </a:spcAft>
            </a:pPr>
            <a:r>
              <a:rPr sz="1100"/>
              <a:t>최종 목표 — 선박 실시간 제어용 phase-resolved wave 추정 시스템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Limitations &amp; Research plan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A. Related work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19461" y="960120"/>
          <a:ext cx="626151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2302"/>
                <a:gridCol w="1252302"/>
                <a:gridCol w="1252302"/>
                <a:gridCol w="1252302"/>
                <a:gridCol w="1252302"/>
              </a:tblGrid>
              <a:tr h="382088">
                <a:tc>
                  <a:txBody>
                    <a:bodyPr/>
                    <a:lstStyle/>
                    <a:p>
                      <a:r>
                        <a:rPr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Paper (Year)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Sensor /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핵심 방법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한계 / 우리 차별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2018 (OMAE)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(proposed)</a:t>
                      </a:r>
                    </a:p>
                    <a:p>
                      <a:r>
                        <a:t>Sim only (HOS synth)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+ ICWM, on-grid variational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LIDAR concept,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2020 (Ocean Eng 212)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array</a:t>
                      </a:r>
                    </a:p>
                    <a:p>
                      <a:r>
                        <a:t>실측 (wave tank)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+ dispersion correction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 ≠ LiDAR,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Desmars 2023 (JFM 975)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 (modeled)</a:t>
                      </a:r>
                    </a:p>
                    <a:p>
                      <a:r>
                        <a:t>Sim only + wave tank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HOS-OCM, vessel optical, 3-stage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on-grid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2021 (JFM 918)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+ 실측 radar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 + HOS 첫 결합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Dense obs,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Wang &amp; Pan 2022 (JFM 949)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Shipborne radar</a:t>
                      </a:r>
                    </a:p>
                    <a:p>
                      <a:r>
                        <a:t>실측 + sim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EnKF-HOS-C (current 동시)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dense obs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Feng Wang 2025</a:t>
                      </a:r>
                    </a:p>
                    <a:p>
                      <a:r>
                        <a:t>(Coastal Eng 197)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Stereo camera (WASS)</a:t>
                      </a:r>
                    </a:p>
                    <a:p>
                      <a:r>
                        <a:t>실측 (Acqua Alta)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ETKF + Ne=300 + fuzzy 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격자 한계, 632 ms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Hunt 2007 (Physica D 230)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기상학</a:t>
                      </a:r>
                    </a:p>
                    <a:p>
                      <a:r>
                        <a:t>Sim (atmospheric)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LETKF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Wave-specific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Klein 2020 (Fluids 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Model 비교</a:t>
                      </a:r>
                    </a:p>
                    <a:p>
                      <a:r>
                        <a:t>Sim + semi-exp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LWT/NLSE/HOSM 정량 비교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새 알고리즘 아님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2023 (OE 288)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X-band radar</a:t>
                      </a:r>
                    </a:p>
                    <a:p>
                      <a:r>
                        <a:t>Sim only (HOS+geom radar)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FNO supervised, 1.9 ms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3120 sample 학습 필요, 1D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Ehlers 2025 (arXiv:2501.08430)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Wave gauge</a:t>
                      </a:r>
                    </a:p>
                    <a:p>
                      <a:r>
                        <a:t>실측 (wave flume)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PFT-PINN unsupervised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30 분/instance, 1D + t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Yan 2025 (arXiv:2510.14356)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Synthetic</a:t>
                      </a:r>
                    </a:p>
                    <a:p>
                      <a:r>
                        <a:t>Sim only (VOF NWT)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NS + EnKF + POD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Offline only, 1D xz</a:t>
                      </a:r>
                    </a:p>
                  </a:txBody>
                  <a:tcPr/>
                </a:tc>
              </a:tr>
              <a:tr h="382088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Tang 2013 (IEEE TIT 59)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이론</a:t>
                      </a:r>
                    </a:p>
                    <a:p>
                      <a:r>
                        <a:t>— (theoretical)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Atomic norm off-grid CS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1D, SDP 비용</a:t>
                      </a:r>
                    </a:p>
                  </a:txBody>
                  <a:tcPr/>
                </a:tc>
              </a:tr>
              <a:tr h="382096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Möller-Trumbore 1997 (JGT)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Graphics</a:t>
                      </a:r>
                    </a:p>
                    <a:p>
                      <a:r>
                        <a:t>— (algorithm only)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Ray-triangle intersection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t>비물리적 (geometry only)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B. Dataset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6319" y="2121408"/>
          <a:ext cx="617235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70"/>
                <a:gridCol w="1234470"/>
                <a:gridCol w="1234470"/>
                <a:gridCol w="1234470"/>
                <a:gridCol w="1234474"/>
              </a:tblGrid>
              <a:tr h="342900">
                <a:tc>
                  <a:txBody>
                    <a:bodyPr/>
                    <a:lstStyle/>
                    <a:p>
                      <a:r>
                        <a:rPr b="1"/>
                        <a:t>Sea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ε (steepness)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N_components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Episode 수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BF2 (Hs=0.3, Tp=4.0)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BF3 (Hs=0.6, Tp=5.5)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1, 2, 5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BF4 (Hs=1.2, Tp=7.0)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BF5 (Hs=2.0, Tp=9.0)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0–4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BF6 (Hs=3.0, Tp=10.0)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BF7 (Hs=5.0, Tp=12.0)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1, 5, 15, 30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t>합계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110 episodes (1.2 GB)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C-1. BF3 / N=2</a:t>
            </a:r>
          </a:p>
        </p:txBody>
      </p:sp>
      <p:pic>
        <p:nvPicPr>
          <p:cNvPr id="4" name="Picture 3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C-2. BF3 / N=5</a:t>
            </a:r>
          </a:p>
        </p:txBody>
      </p:sp>
      <p:pic>
        <p:nvPicPr>
          <p:cNvPr id="4" name="Picture 3" descr="fig_wang_compare_bf3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C-3. BF4 / N=5</a:t>
            </a:r>
          </a:p>
        </p:txBody>
      </p:sp>
      <p:pic>
        <p:nvPicPr>
          <p:cNvPr id="4" name="Picture 3" descr="fig_wang_compare_bf4_n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74713</TotalTime>
  <Words>1029</Words>
  <Application>Microsoft Office PowerPoint</Application>
  <PresentationFormat>화면 슬라이드 쇼(4:3)</PresentationFormat>
  <Paragraphs>185</Paragraphs>
  <Slides>19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굴림</vt:lpstr>
      <vt:lpstr>Arial</vt:lpstr>
      <vt:lpstr>Arial Black</vt:lpstr>
      <vt:lpstr>Times New Roman</vt:lpstr>
      <vt:lpstr>Wingdings</vt:lpstr>
      <vt:lpstr>디자인 사용자 지정</vt:lpstr>
      <vt:lpstr>Ocean Wave Estimation from sparse LiDAR point</vt:lpstr>
      <vt:lpstr>Contents</vt:lpstr>
      <vt:lpstr>Contents</vt:lpstr>
      <vt:lpstr>1. Introduction &amp; Motivation</vt:lpstr>
      <vt:lpstr>1. Introduction &amp; Motivation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감사합니다.</vt:lpstr>
      <vt:lpstr>Appendix A. Related work table</vt:lpstr>
      <vt:lpstr>Appendix B. Dataset table</vt:lpstr>
      <vt:lpstr>Appendix C. Comparison result</vt:lpstr>
      <vt:lpstr>Appendix C. Comparison result</vt:lpstr>
      <vt:lpstr>Appendix C. Comparison result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4617</cp:revision>
  <cp:lastPrinted>2021-11-03T00:28:46Z</cp:lastPrinted>
  <dcterms:created xsi:type="dcterms:W3CDTF">2007-03-29T05:53:49Z</dcterms:created>
  <dcterms:modified xsi:type="dcterms:W3CDTF">2026-05-10T09:34:19Z</dcterms:modified>
</cp:coreProperties>
</file>