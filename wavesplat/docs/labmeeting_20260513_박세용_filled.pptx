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21"/>
  </p:notesMasterIdLst>
  <p:handoutMasterIdLst>
    <p:handoutMasterId r:id="rId22"/>
  </p:handoutMasterIdLst>
  <p:sldIdLst>
    <p:sldId id="1001" r:id="rId2"/>
    <p:sldId id="1272" r:id="rId3"/>
    <p:sldId id="1273" r:id="rId11"/>
    <p:sldId id="1274" r:id="rId12"/>
    <p:sldId id="1275" r:id="rId13"/>
    <p:sldId id="1276" r:id="rId14"/>
    <p:sldId id="1277" r:id="rId15"/>
    <p:sldId id="1278" r:id="rId16"/>
    <p:sldId id="1279" r:id="rId17"/>
    <p:sldId id="1280" r:id="rId18"/>
    <p:sldId id="1281" r:id="rId19"/>
    <p:sldId id="1282" r:id="rId20"/>
    <p:sldId id="1283" r:id="rId10"/>
    <p:sldId id="1284" r:id="rId9"/>
    <p:sldId id="1285" r:id="rId8"/>
    <p:sldId id="1286" r:id="rId7"/>
    <p:sldId id="1287" r:id="rId6"/>
    <p:sldId id="1288" r:id="rId5"/>
    <p:sldId id="1289" r:id="rId4"/>
    <p:sldId id="1290" r:id="rId28"/>
    <p:sldId id="1291" r:id="rId29"/>
    <p:sldId id="1292" r:id="rId30"/>
    <p:sldId id="1293" r:id="rId31"/>
    <p:sldId id="1294" r:id="rId32"/>
    <p:sldId id="1295" r:id="rId33"/>
    <p:sldId id="1296" r:id="rId34"/>
    <p:sldId id="1297" r:id="rId35"/>
    <p:sldId id="1298" r:id="rId36"/>
    <p:sldId id="1299" r:id="rId37"/>
    <p:sldId id="1300" r:id="rId38"/>
    <p:sldId id="1301" r:id="rId39"/>
    <p:sldId id="1302" r:id="rId40"/>
    <p:sldId id="1303" r:id="rId41"/>
    <p:sldId id="1304" r:id="rId42"/>
    <p:sldId id="1305" r:id="rId43"/>
    <p:sldId id="1306" r:id="rId44"/>
    <p:sldId id="1307" r:id="rId45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9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commentAuthors" Target="commentAuthors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39167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5396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 추정의 한계부터 짚어드립니다. 현재 표준은 통계적 추정 — 유의파고, 첨두주기, JONSWAP 스펙트럼 — 으로 평균적 sea state 만 알 수 있습니다. 선박 설계나 해양 구조물 설계에는 충분하지만, 실시간 제어처럼 *언제 어디서 큰 파도가 오는가* 를 정확히 알아야 하는 응용에는 부족합니다.</a:t>
            </a:r>
          </a:p>
          <a:p/>
          <a:p>
            <a:r>
              <a:t>그래서 본 연구는 phase-resolved estimation — 파도장 η(x, y, t) 를 직접 추정 — 을 목표로 합니다. 평균 정보가 아니라 특정 위치, 특정 시점에 어떤 파도가 오는지 구체적으로 답하는 것이죠. 응용 영역은 hydrofoil ride control, 자율운항 안전 판단, 선박 motion 예측 등 다양합니다.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본 task 가 어려운 이유 세 가지로 정리합니다.</a:t>
            </a:r>
          </a:p>
          <a:p/>
          <a:p>
            <a:r>
              <a:t>첫째 *희소·비균일 측정* — LiDAR 는 frame 당 valid 점이 약 50 개 정도로 매우 희소하고, raydrop·shadowing 으로 점이 누락되며 거리에 따라 점밀도가 달라집니다. 기존 wave gauge·dense radar 가정과 다른 setup 이라 직접 적용이 어렵습니다.</a:t>
            </a:r>
          </a:p>
          <a:p/>
          <a:p>
            <a:r>
              <a:t>둘째 *실시간 제약* — 제어 루프 10 Hz 이므로 frame 당 100 ms 이내 처리가 필요한데, 선행 방법들은 모두 이를 초과합니다. Wang &amp; Pan 의 EnKF + HOS 는 비선형 wave model 이라 수백 ms 이상, Feng Wang 의 ETKF + linear 도 Ne=300 으로 632 ms, PFT-PINN 은 아예 instance 마다 30 분 학습이 필요합니다. FNO 만 1.9 ms 로 빠르지만 학습 데이터 3120 개를 미리 만들어야 합니다.</a:t>
            </a:r>
          </a:p>
          <a:p/>
          <a:p>
            <a:r>
              <a:t>셋째 *2D directional* — 실해 파도는 한 방향이 아니라 wind sea 와 다방향 swell 이 섞여 있어서 wavenumber 도 vector (k_x, k_y) 추정이 필요합니다. 선행 연구 다수가 1D 로 단순화하지만 본 연구는 2D 그대로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결과부터 보여드립니다 — 왜 이 연구를 계속할 가치가 있는가 를 숫자로 먼저 제시.</a:t>
            </a:r>
          </a:p>
          <a:p/>
          <a:p>
            <a:r>
              <a:t>12 episode benchmark (BF2~BF5 sweep) 평균 결과: WaveSplat 0.211 nRMSE / 13.4 ms, Feng Wang 2025 baseline (Ne=300, fuzzy R) 0.253 / 632 ms. 정확도 16% 우위 + 속도 47 배 빠름, CPU only 입니다. 13 ms 는 초당 약 75 frame 이라 10 Hz 제어 루프에 충분히 적합합니다.</a:t>
            </a:r>
          </a:p>
          <a:p/>
          <a:p>
            <a:r>
              <a:t>이게 가능한 핵심 메커니즘은 두 가지 — 분산 관계 hard constraint 가 자유도를 5N → 4N 으로 20% 줄이면서 물리적으로 불가능한 답을 자동 배제하는 정규화 역할을 하고, multi-frame temporal coherence 가 wave 자체의 시간 진화로 phase 정보를 추출합니다. 두 메커니즘이 결합되어야 spatial Nyquist 0.4 rad/m 한계를 우회할 수 있습니다.</a:t>
            </a:r>
          </a:p>
          <a:p/>
          <a:p>
            <a:r>
              <a:t>응용 사례 — hydrofoil ride control 시험에서 heave aRMS 0.090 → 0.047 m/s² (약 48% 감소) 까지 확인했습니다. 이제부터 이 결과가 어떻게 나왔는지, 선행 연구와 어떻게 다른지를 차례로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 prior art 를 정독해 5 가지 접근법으로 분류했습니다.</a:t>
            </a:r>
          </a:p>
          <a:p/>
          <a:p>
            <a:r>
              <a:t>① 격자 기반 최적화 (Desmars family) — pre-defined wavenumber grid 위 비용함수 최소화. 수치해석 분야에서 framework 가 잘 정립돼 안정적이지만, 격자 사이 wavenumber 표현 불가 (Nyquist 한계) + 대부분 1D 가정.</a:t>
            </a:r>
          </a:p>
          <a:p/>
          <a:p>
            <a:r>
              <a:t>② 앙상블 칼만 필터 (Wang &amp; Pan, Feng Wang, Yan VOF) — 50–300 개 wave simulation 을 동시 진행하며 측정값으로 베이지안 update. Wang-Pan 은 HOS 비선형, Feng Wang 은 linear + fuzzy R, Yan 은 Navier-Stokes 까지 써서 wave breaking 처리. 강점은 물리 충실도, 한계는 ensemble 비용으로 real-time 불가.</a:t>
            </a:r>
          </a:p>
          <a:p/>
          <a:p>
            <a:r>
              <a:t>③ 지도학습 (Ehlers FNO) — 학습 후 inference 1.9 ms 매우 빠름. 단 HOS 합성 데이터 3120 개 학습 필요 + distribution shift + 1D + black-box.</a:t>
            </a:r>
          </a:p>
          <a:p/>
          <a:p>
            <a:r>
              <a:t>④ 비지도 PINN (Ehlers PFT-PINN) — 학습 데이터 0 개로 비선형 처리. 단 instance 마다 30 분 학습이라 real-time 불가.</a:t>
            </a:r>
          </a:p>
          <a:p/>
          <a:p>
            <a:r>
              <a:t>⑤ 본 연구 WaveSplat — 격자 없이 N 개 plane wave 파라미터 직접 추정. 100 ms 이내 + 2D directional + LiDAR sensor model 까지 갖춘 첫 사례. 한계는 LWT linear superposition 가정, ε &lt; 0.07 영역에서만 신뢰. 자세한 paper 정보는 Appendix A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EnKF 기반 wave estimation 의 두 독립 그룹을 자세히 소개합니다.</a:t>
            </a:r>
          </a:p>
          <a:p/>
          <a:p>
            <a:r>
              <a:t>*Wang &amp; Pan group* (Yulin Pan, U.Michigan) 은 2021 년 EnKF + HOS 첫 결합으로 phase-resolved 의 시작을 열었고, 2022 년 IEnKF-HOS-C 로 wave + current 동시 추정 까지 확장했습니다. Sensor 는 X-band radar, 데이터는 합성 + 실측 shipborne radar.</a:t>
            </a:r>
          </a:p>
          <a:p/>
          <a:p>
            <a:r>
              <a:t>*Feng Wang et al.* (Harbin Engineering Univ., 중국) 은 2025 년 ETKF + fuzzy R + Delaunay 보간 — 우리 baseline 의 직접 prior art 입니다. Ne=300, 80×60 격자, dx ≈ 3 m. Sensor 는 stereo camera (WASS), 데이터는 Acqua Alta 해양 플랫폼 + 자체 2024 년 vessel keeping 측정. GitHub 까지 공개되어 있습니다.</a:t>
            </a:r>
          </a:p>
          <a:p/>
          <a:p>
            <a:r>
              <a:t>본 연구는 Feng Wang 의 *알고리즘만* 재현하고 입력 sensor 와 forecast model 을 공정 비교를 위해 통일했습니다 — 입력은 LiDAR sim, forecast 는 HOS 대신 linear dispersion. EnKF 류의 공통 한계는 격자 해상도 (≈ 0.25 nRMSE floor) 와 ensemble 비용 (632 ms / frame, real-time 불가) 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기반 접근의 두 paper — Ehlers group 의 supervised 와 unsupervised 진화 사례.</a:t>
            </a:r>
          </a:p>
          <a:p/>
          <a:p>
            <a:r>
              <a:t>*Ehlers 2023* 의 FNO 는 ML supervised SOTA 입니다. Fourier Neural Operator 가 Fourier 공간에서 global mapping 을 학습해 U-Net 같은 지역 CNN 보다 wave 패턴에 잘 맞습니다. 학습 후 inference 1.9 ms — 가장 빠름. 단 HOS 합성 데이터 3120 개 학습이 필요하고 distribution shift, 1D, black-box 한계가 있습니다.</a:t>
            </a:r>
          </a:p>
          <a:p/>
          <a:p>
            <a:r>
              <a:t>*Ehlers 2025* 의 PFT-PINN 은 우리에게 *가장 위협적인* 선행 연구입니다. 이유는 근본 철학이 같기 때문 — 학습 데이터 없이 physics constraint 를 직접 강제. 두 NN 병렬 (η-net + Φ-net) + Laplace + 표면 BC + 바닥 BC 의 PDE residual 강제 + hard-constraint trick. MARATHON wave flume 실측 검증, SSP 0.049–0.084. 한계는 instance 마다 30 분 학습 (RTX 3090) → real-time 불가, 1D + t, buoy only.</a:t>
            </a:r>
          </a:p>
          <a:p/>
          <a:p>
            <a:r>
              <a:t>본 연구와의 차이는 속도 — 13 ms vs 30 분 (수만 배 차이). 응용 영역도 다름 — WaveSplat = real-time control, PINN = design-time analysis. 다만 같은 group 이 1-3 년 안에 2D + real-time PINN 발표 가능 — niche 좁아질 risk 도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응용 매트릭스로 본 연구의 정확한 위치를 확정합니다.</a:t>
            </a:r>
          </a:p>
          <a:p/>
          <a:p>
            <a:r>
              <a:t>행은 6 가지 응용 요구사항, 열은 본 연구와 5 개 baseline. 핵심 관찰은 — *어떤 방법도 모든 항목에 ✓ 를 받지는 못한다*. 각 방법마다 고유한 강점이 있고 적합한 응용 영역이 다릅니다.</a:t>
            </a:r>
          </a:p>
          <a:p/>
          <a:p>
            <a:r>
              <a:t>본 연구의 고유 위치는 *real-time + 2D directional + sparse LiDAR + 학습 데이터 0개* 의 4 가지 동시 만족 — 이 조합을 만족하는 선행 연구는 없습니다.</a:t>
            </a:r>
          </a:p>
          <a:p/>
          <a:p>
            <a:r>
              <a:t>응용 영역을 둘로 나누면, *real-time control 영역* 에는 WaveSplat, FNO 가 들어가고 (즉시 결정), *design-time analysis 영역* 에는 VOF-EnKF, PFT-PINN 이 들어갑니다 (시간 충분, 정확도 추구). 두 영역은 경쟁이 아닌 보완 관계.</a:t>
            </a:r>
          </a:p>
          <a:p/>
          <a:p>
            <a:r>
              <a:t>정직한 한계도 표에 보입니다 — 파도 파쇄는 VOF-EnKF 만, 유속장은 PINN/EnKF 영역. 본 연구는 응용 영역 자체가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센서.</a:t>
            </a:r>
          </a:p>
          <a:p/>
          <a:p>
            <a:r>
              <a:t>*파도 모델* 은 Gerstner family. 단순 sinusoidal LWT 는 수면 변위만 표현하지만, Gerstner 는 입자 운동까지 모사 — 입자가 원/타원 궤적으로 회전하며 표면을 형성합니다. Q ∈ [0, 1] 가파름 척도로 Q=0 이면 LWT, Q&gt;0 이면 약비선형 (crest sharp, trough flat). Q 제약 ΣQ·ω·A ≤ 1 은 입자 궤적 자체 교차 방지 (Tessendorf 2001).</a:t>
            </a:r>
          </a:p>
          <a:p/>
          <a:p>
            <a:r>
              <a:t>*스펙트럼* 은 JONSWAP — Hasselmann 1973 이 북해 측정으로 정립한 표준. 입력 H_s, T_p 에서 N 개 성분의 (A, ω) sampling. 방향 spreading 으로 (k_x, k_y) 분배. ITTC, IACS 모두 채택한 표준이라 합당성은 검증됨.</a:t>
            </a:r>
          </a:p>
          <a:p/>
          <a:p>
            <a:r>
              <a:t>*분산 관계* 는 Airy 1845 — ω = √(g·|k|·tanh(|k|·d)). 100 년 이상 검증된 표준. 깊은 물에서 ω ≈ √(g·|k|) 로 단순화.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LiDAR 센서 모사 — Falcon K1 spec 기준입니다.</a:t>
            </a:r>
          </a:p>
          <a:p/>
          <a:p>
            <a:r>
              <a:t>*Sensor 사양* — 152 채널 × 500 horizontal beam = 76,000 ray / scan, range 10–250 m, 파장 1550 nm, vessel 위 5 m mount. HFOV 120° 는 선수 ±60° 반구 (marine LiDAR 의 일반 setup), VFOV −25° ~ 0° 로 surface 측정용 down-looking.</a:t>
            </a:r>
          </a:p>
          <a:p/>
          <a:p>
            <a:r>
              <a:t>*Ray tracing* 은 Möller-Trumbore 1997 의 graphics 표준 알고리즘 — 각 ray 가 wave 표면 mesh 와 만나는 first-hit 점 검출.</a:t>
            </a:r>
          </a:p>
          <a:p/>
          <a:p>
            <a:r>
              <a:t>*Raydrop 모델* 은 Fresnel + geometry 결합. 충분한 비율의 빛이 LiDAR receiver 방향 으로 돌아와야 점이 찍힙니다. Snell 굴절 (n=1.321 water at 1550 nm) → Fresnel s/p polarization 평균 → Lambert + Fresnel 결합으로 backscatter probability 계산.</a:t>
            </a:r>
          </a:p>
          <a:p/>
          <a:p>
            <a:r>
              <a:t>중요한 정정 — 본 dataset 은 vessel 정지 (V=0 kts) 로 합성. 모든 frame 동일 위치 에서 측정이고, multi-frame 효과는 wave 자체의 시간 진화에서 옵니다. Vessel motion 기반 synthetic aperture (SAR-style) 는 향후 연구.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합성 dataset 의 구성과 정량입니다.</a:t>
            </a:r>
          </a:p>
          <a:p/>
          <a:p>
            <a:r>
              <a:t>BF2 (Hs=0.3, Tp=4) 부터 BF7 (Hs=5.0, Tp=12) 까지 6 개 sea state, N components 1 ~ 30 (단순 ~ 복잡), seed 0–4 재현 가능, raydrop uniform/slope 두 가지. 총 110 episode.</a:t>
            </a:r>
          </a:p>
          <a:p/>
          <a:p>
            <a:r>
              <a:t>Per episode — 30 초 시뮬레이션, dt 0.1 s (10 Hz) 로 frame 301 개. GT η field 는 80×60 격자, 240 m × 200 m 영역. LiDAR scan 은 76,000 ray 발사 후 raydrop 적용해 valid 점 약 50 개 / frame. 실측해보면 patch coverage 50–150 m 정도.</a:t>
            </a:r>
          </a:p>
          <a:p/>
          <a:p>
            <a:r>
              <a:t>전체 용량 1.2 GB. JONSWAP 으로 BF3-BF6 의 wavenumber 분포를 보면 λ_peak 이 BF3 47 m, BF4 77 m, BF5 126 m, BF6 156 m — 대부분 patch 안에 1–3 wavelength 가 들어와 direction 추정에 충분합니다. BF6 는 전부 Nyquist 이내.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알고리즘의 근본 발상 — 격자 대신 파라미터로 직접 표현.</a:t>
            </a:r>
          </a:p>
          <a:p/>
          <a:p>
            <a:r>
              <a:t>JONSWAP 분해를 보면 실해 파도는 보통 5–30 개 sine wave 의 합으로 충분히 표현됩니다. 각 성분은 5 개 파라미터 (A, k_x, k_y, ω, φ) 로 완전 결정. N=10 이면 변수 50 개 — LiDAR 50 점으로 1:1 추정 가능합니다. 이게 격자 4,800 개와의 큰 차이.</a:t>
            </a:r>
          </a:p>
          <a:p/>
          <a:p>
            <a:r>
              <a:t>Wave field 표현은 η = Σ A_n · cos(k_n·x − ω_n·t + φ_n). 분산 관계 hard constraint 강제 — ω(k) = √(g·|k|·tanh(|k|·d)) 로 ω 가 k 에서 자동 결정. 자유도 5N → 4N (20% 감소) + 물리적으로 불가능한 (k, ω) 조합 자동 배제.</a:t>
            </a:r>
          </a:p>
          <a:p/>
          <a:p>
            <a:r>
              <a:t>2 단계 흐름 — Init (1 회, 1 초 이내) 은 beamforming + coarse-to-fine + Adam 정밀화로 (k_x, k_y) 결정. Track (매 frame, 13 ms) 은 k 고정하고 (A, φ) 만 update. 무거운 작업은 처음 한 번만, 가벼운 작업은 매 frame 실시간.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 의 핵심 도전 — 왜 multi-frame 이 필요한가.</a:t>
            </a:r>
          </a:p>
          <a:p/>
          <a:p>
            <a:r>
              <a:t>Spatial Nyquist 한계 (Shannon 1949) — 점 간격 Δy 면 추정 가능한 최대 wavenumber 가 π/Δy. 우리 LiDAR 의 점 간격이 5–8 m 이라 single-frame 으로 추정 가능한 k 는 약 0.4 rad/m 까지.</a:t>
            </a:r>
          </a:p>
          <a:p/>
          <a:p>
            <a:r>
              <a:t>그런데 추정해야 할 wavenumber 범위를 보면 — BF3 의 짧은 wave 성분이 Nyquist 한계의 약 3 배까지 도달. Paradox 입니다. 단 BF5-BF6 dominant wave 는 longer wave 라 대부분 Nyquist 이내 — BF3 short tail 만 문제.</a:t>
            </a:r>
          </a:p>
          <a:p/>
          <a:p>
            <a:r>
              <a:t>해결 — *temporal coherence*. Vessel 이 정지해 있어도 wave 자체가 시간에 따라 propagate 하므로 multi-frame 효과가 자연스럽게 옵니다. η(x, t) = A·cos(k·x − ω·t + φ) 의 t 진행이 phase 변화를 만들고, 여러 frame 의 (x, y, t, η) 4D 데이터 + dispersion 의 ω↔k 매핑이 결합되면 spatial Nyquist 우회 가능.</a:t>
            </a:r>
          </a:p>
          <a:p/>
          <a:p>
            <a:r>
              <a:t>Init window 길이는 sea state 별 약 10–20 초 (2·T_p), 수천 개 4D 점이 누적됩니다.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 의 세 단계 — beamforming + coarse-to-fine + Adam refinement.</a:t>
            </a:r>
          </a:p>
          <a:p/>
          <a:p>
            <a:r>
              <a:t>*Beamforming score* 는 matched filter 형태 — S(k) = | Σ η_obs · exp(−j(k·x − ω(k)·t)) |². ω(k) 는 dispersion 으로 자동이라 2D search (k_x, k_y) 만 필요. Search range k_x, k_y ∈ [-4, 4], 81×81 격자에서 수천 개 후보 평가.</a:t>
            </a:r>
          </a:p>
          <a:p/>
          <a:p>
            <a:r>
              <a:t>*Coarse-to-fine schedule* — 3 stage 의 N 점진 증가 (3 → 8 → 15). Loss threshold 충족 시 다음 stage advance. 빠르게 수렴하는 stage 는 즉시 진행해서 전체 시간 단축.</a:t>
            </a:r>
          </a:p>
          <a:p/>
          <a:p>
            <a:r>
              <a:t>*Adam refinement* — beamforming 결과는 *초기값* 일 뿐. 그 후 multi-frame init window 전체에 fitting 합니다. (k_x, k_y, A, φ) 동시 update, 단 (k_x, k_y) 는 lr 의 절반 (0.005) 으로 천천히 — k 변화에 신중. Loss 는 data fit + L1 sparsity + spectral smoothness 3 항.</a:t>
            </a:r>
          </a:p>
          <a:p/>
          <a:p>
            <a:r>
              <a:t>주요 hyperparameter — λ_L1 = 0.001, λ_smooth = 0.0001, max_steepness = 0.15.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Beamforming score 식이 *왜* 이 형태인지 유도.</a:t>
            </a:r>
          </a:p>
          <a:p/>
          <a:p>
            <a:r>
              <a:t>*핵심 직관* — matched filter 의 코러스 효과. 실제 wave 가 (k, ω) 로 진행하면 측정 η_obs 에 phase factor exp(−j(k·x − ω·t)) 곱했을 때 모든 점에서 phase 가 정렬됩니다. 맞는 (k, ω): 합 절댓값 N 배 증가 → power N². 틀린 (k, ω): random phase 라 √N 으로만 증가 → power N. 결과: SNR gain = N²/N = N (점 수에 비례). Init window 의 수천 4D 점 이면 충분한 dB gain (약 10·log10(N)) 확보.</a:t>
            </a:r>
          </a:p>
          <a:p/>
          <a:p>
            <a:r>
              <a:t>*왜 표준 형태인가* — Delay-and-sum beamforming (Kraus 1988, Van Trees 2002) 이 신호처리의 standard, Matched filter 정리 (Turin 1960) 가 Gaussian noise 에서 SNR 최대화하는 optimal filter 임을 보장. 단순 robust + covariance 추정 불필요라 sparse 에 적합.</a:t>
            </a:r>
          </a:p>
          <a:p/>
          <a:p>
            <a:r>
              <a:t>*Dispersion 의 차원 축소 효과* — 없으면 (k_x, k_y, ω) 3D search → 후보 수십만 개 (계산 비현실적). 강제하면 2D search → 수천 개로 축소. 80 배 정도 절약.</a:t>
            </a:r>
          </a:p>
          <a:p/>
          <a:p>
            <a:r>
              <a:t>다른 spectral 방법 (MUSIC, ESPRIT, Capon/MVDR) 도 있지만 covariance matrix 필요 또는 ill-conditioning 위험으로 sparse 점에는 부적합.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Track 단계와 Adaptive N — 매 frame 13 ms 의 핵심.</a:t>
            </a:r>
          </a:p>
          <a:p/>
          <a:p>
            <a:r>
              <a:t>*w_phi tracking mode* — k 는 Init 결과로 *고정* 합니다. 이게 WaveSplat 의 가장 중요한 설계 결정. Single frame 에서 k 의 FIM eigenvalue 가 (A, φ) 보다 ~10⁻³ 작아 k 자유 시 50 점에 over-fit 해서 비물리적 발산. ω 는 dispersion 으로 자동, (A, φ) 만 매 frame Adam update.</a:t>
            </a:r>
          </a:p>
          <a:p/>
          <a:p>
            <a:r>
              <a:t>*Adam optimizer* update rule — m_t (1차 모멘트, β₁=0.9) + v_t (2차 모멘트, β₂=0.999) + bias correction. tracking_lr = 0.005, tracking_steps = 10/frame 로 약 13 ms / frame. 매 update 전 phase prediction (φ ← φ + ω·Δt) 로 kinematic preview, tracking window 3 frames 의 buffer 로 stable gradient.</a:t>
            </a:r>
          </a:p>
          <a:p/>
          <a:p>
            <a:r>
              <a:t>*Adaptive N* — 성분 수 동적 조정. (1) Pruning: cumulative energy 90% 유지 (작은 성분 제거). (2) Growth: residual RMS &gt; 0.05 m 이면 새 (k_x, k_y) 추가 (max_n=30). (3) Safety rollback: 변경 후 RMS 가 1.3 배 초과 증가하면 즉시 이전 상태 복구. 이게 잘못된 prune/grow 의 cascade failure 방지.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episode benchmark 결과 — 이 표가 *핵심 비교* 입니다.</a:t>
            </a:r>
          </a:p>
          <a:p/>
          <a:p>
            <a:r>
              <a:t>WaveSplat 평균 0.211 nRMSE / 13.4 ms 대비 Wang2025 (Feng Wang 충실 재현, Ne=300) 0.253 / 632 ms. 정확도 16% 우위, 속도 47 배 빠름, CPU only 입니다. 13 ms = 75 fps 이라 10 Hz 제어 충분. 632 ms 는 1.6 fps 라 real-time 부적합.</a:t>
            </a:r>
          </a:p>
          <a:p/>
          <a:p>
            <a:r>
              <a:t>참고 데이터 — Ehlers FNO 1.9 ms 매우 빠르지만 학습 데이터 3120 개 필요. Ehlers PFT-PINN 은 학습 데이터 0 이지만 instance 마다 30 분 학습. Yan VOF-EnKF 는 wave breaking 처리 가능하지만 offline only.</a:t>
            </a:r>
          </a:p>
          <a:p/>
          <a:p>
            <a:r>
              <a:t>WaveSplat 의 우위는 *모든 항목 동시 만족* — 정확도 + 속도 + 학습 데이터 0 + 2D directional + sparse LiDAR. 다만 다음 슬라이드에서 Episode-level 패턴 보면 강점과 한계가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Episode-level 패턴 — 강점과 한계를 정직하게 보여드립니다.</a:t>
            </a:r>
          </a:p>
          <a:p/>
          <a:p>
            <a:r>
              <a:t>*단순 파도 (1–5 components) 에서는 WaveSplat 압도* — BF3_2comp 에서 0.052 vs Wang2025 0.250. 거의 완벽한 추정이죠. 왜? 2 개 성분이면 파라미터 10 개, LiDAR 50 점이면 충분히 잘 맞습니다. 격자 방법은 성분이 적어도 격자 해상도 한계가 있어 이 정확도에 못 도달.</a:t>
            </a:r>
          </a:p>
          <a:p/>
          <a:p>
            <a:r>
              <a:t>*복잡 파도 (15–30 components) 에서는 일부 역전* — BF4_15comp 에서 WaveSplat 0.302 vs Wang2025 0.249. 격자는 모든 성분을 한꺼번에 담을 수 있지만, WaveSplat 은 beamforming 으로 peak 를 하나하나 분리해야 해서 30 개를 정확히 찾기 어렵기 때문.</a:t>
            </a:r>
          </a:p>
          <a:p/>
          <a:p>
            <a:r>
              <a:t>Reversal point 는 약 N=15. 단순 파도는 파라미터 표현이 효율, 복잡 파도는 격자가 표현력 우위.</a:t>
            </a:r>
          </a:p>
          <a:p/>
          <a:p>
            <a:r>
              <a:t>대응은 hybrid init — 격자로 대략 분포 파악 → 파라미터로 정밀화. 두 표현의 장점 결합. Learned init (NN) 도 대안. 향후 연구.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Ablation — 두 메커니즘 (multi-frame + dispersion) 의 시너지 검증.</a:t>
            </a:r>
          </a:p>
          <a:p/>
          <a:p>
            <a:r>
              <a:t>4 가지 변형 비교 (12 episodes):</a:t>
            </a:r>
          </a:p>
          <a:p>
            <a:r>
              <a:t>  A (spatial-only, single-frame, no dispersion): 0.213</a:t>
            </a:r>
          </a:p>
          <a:p>
            <a:r>
              <a:t>  B (+multi-frame, no dispersion): 0.208 (개선)</a:t>
            </a:r>
          </a:p>
          <a:p>
            <a:r>
              <a:t>  C (+dispersion, single-frame): 0.226 (오히려 악화!)</a:t>
            </a:r>
          </a:p>
          <a:p>
            <a:r>
              <a:t>  D (= WaveSplat full): 0.211 (가장 안정)</a:t>
            </a:r>
          </a:p>
          <a:p/>
          <a:p>
            <a:r>
              <a:t>*C 가 왜 악화되는가* — single frame 에서 k 추정이 부정확하면 dispersion 으로 잘못된 ω 가 결정되고, 그 오류가 amplify 됩니다 (cascading failure). 즉 dispersion 은 multi-frame 과 함께 써야 효과 발휘.</a:t>
            </a:r>
          </a:p>
          <a:p/>
          <a:p>
            <a:r>
              <a:t>*D 의 안정성* — multi-frame 으로 k 정확 추정 → dispersion 으로 ω 자동 → 시너지. 두 메커니즘 단독은 불완전, 결합 시 안정.</a:t>
            </a:r>
          </a:p>
          <a:p/>
          <a:p>
            <a:r>
              <a:t>핵심 메시지 — 물리 법칙 (dispersion) 은 마법이 아닌 *정규화* 역할. 데이터로 잘 잡힌 k 위에서 작동해야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본 연구의 핵심 메커니즘 — 분산 관계가 *정규화 장치* 라는 발견.</a:t>
            </a:r>
          </a:p>
          <a:p/>
          <a:p>
            <a:r>
              <a:t>*메커니즘 1: 자유도 감소* — ω = √(g·|k|·tanh(|k|·d)) 로 ω 가 k 에서 자동 결정. 변수 5N → 4N (20% 감소) + 물리적으로 불가능한 (k, ω) 조합 자동 배제. 정규화 효과.</a:t>
            </a:r>
          </a:p>
          <a:p/>
          <a:p>
            <a:r>
              <a:t>*메커니즘 2: Multi-frame temporal coherence* — η(x, t) 의 t 진행이 매 frame phase 변화 제공. Vessel 정지 상태에서도 wave 자체의 시간 진화로 multi-frame 효과 작동. 여러 frame 의 (x, y, t, η) 4D 정보로 wavenumber 모호성 해소. Vessel motion 기반 synthetic aperture (SAR-style) 는 *향후 연구* — 현재는 wave 시간 진화만 활용.</a:t>
            </a:r>
          </a:p>
          <a:p/>
          <a:p>
            <a:r>
              <a:t>*두 메커니즘의 시너지* — Ablation 결과: dispersion 단독 0.226 (악화), multi-frame 단독 0.208 (개선되나 불안정), 결합 D=WaveSplat 0.211 (가장 안정).</a:t>
            </a:r>
          </a:p>
          <a:p/>
          <a:p>
            <a:r>
              <a:t>비유로 정리하면 — Dispersion = 눈가리개 (물리 법칙으로 답 좁히기), Multi-frame = 여러 사진 (시점 차이로 모호성 해소). 둘 다 있어야 sparse LiDAR 로 phase-resolved 추정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2 단계 (Init/Track) 설계가 자연스러운가 — Identifiability 분석.</a:t>
            </a:r>
          </a:p>
          <a:p/>
          <a:p>
            <a:r>
              <a:t>*핵심 관찰* — 변수마다 필요한 정보가 다릅니다. 파수 k 는 *공간적 패턴* 이라 한 순간의 LiDAR 50 점만으로는 정확히 파악 어려움 — 여러 frame 의 시간 정보 필요. 반면 진폭 A 와 위상 φ 는 *크기와 현재 위치* 라 한 순간 데이터로도 충분.</a:t>
            </a:r>
          </a:p>
          <a:p/>
          <a:p>
            <a:r>
              <a:t>*Identifiability 증거* — single frame 에서 k 의 FIM eigenvalue 가 (A, φ) 보다 약 10⁻³ 작음. 즉 k 변화에 데이터가 거의 반응 안 함. k 자유 시 50 점에 over-fit 해서 비물리적 발산. k 고정하면 자유도 5N → 2N 으로 안정적 추정.</a:t>
            </a:r>
          </a:p>
          <a:p/>
          <a:p>
            <a:r>
              <a:t>*전체 흐름* — (1) Multi-frame temporal coherence 로 파수 추정 (Init), (2) Dispersion 으로 ω↔k 결합 → 자유도 감소 + 물리 제약, (3) 매 frame Adam 으로 real-time (A, φ) 추적, (4) Adaptive N 으로 성분 수 자동 조정.</a:t>
            </a:r>
          </a:p>
          <a:p/>
          <a:p>
            <a:r>
              <a:t>이 4 단계가 합쳐져 13 ms / frame 의 real-time + 정확도 0.211 을 동시 달성합니다.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한계를 정직하게 공유합니다 — 신뢰도를 높이려면 잘 되는 점뿐 아니라 한계도 먼저 인정해야 합니다.</a:t>
            </a:r>
          </a:p>
          <a:p/>
          <a:p>
            <a:r>
              <a:t>*한계 1 — 선형 근사 (LWT)* — 파도를 사인파의 합으로 표현. 실제 파도는 비선형 (꼭대기 뾰족, 골 넓음). Klein 2020 의 wave model 비교: HOSM &gt; NLSE2 &gt; NLSE &gt; LWT. ε &lt; 0.07 신뢰 영역, BF6 까지 적용 가능. 향후 Stokes 2차 보정으로 확장 가능.</a:t>
            </a:r>
          </a:p>
          <a:p/>
          <a:p>
            <a:r>
              <a:t>*한계 2 — 복잡 파도 정확도 저하* — 15 components 이상에서 격자 방법이 일부 우세. BF4_15comp 0.302 vs 0.249 (역전). 원인은 beamforming 이 다수 peak 분리 어려움. Hybrid init (격자 + 파라미터 정밀화) 로 향후 해결 예정.</a:t>
            </a:r>
          </a:p>
          <a:p/>
          <a:p>
            <a:r>
              <a:t>*한계 3 — Vessel 정지 가정 (V=0 kts)* — 본 dataset 은 vessel 정지로 합성. SA (synthetic aperture) 효과 미적용. 영향: 매우 긴 swell (λ &gt; 250 m) direction 해상도 저하 가능. 향후 vessel motion 도입 시 V·T 만큼 추가 spatial coverage.</a:t>
            </a:r>
          </a:p>
          <a:p/>
          <a:p>
            <a:r>
              <a:t>*한계 4 — Wave breaking + 유속장 미지원* — VOF-EnKF, PFT-PINN 영역 (offline). 본 연구는 real-time 제어 영역 — 응용 자체가 다름. 협업 연구로 보완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 의 응용 사례 — hydrofoil ride control 에 시험 적용.</a:t>
            </a:r>
          </a:p>
          <a:p/>
          <a:p>
            <a:r>
              <a:t>*왜 hydrofoil 인가* — 수중 날개로 lift 생성해 vessel 부양하는 구조인데, 파도 만나면 lift 변동으로 heave/pitch 흔들림 → 승차감 저하. 앞쪽 파도 preview 가 있으면 fin angle 미리 조절해서 disturbance 상쇄 가능. WaveSplat 의 real-time phase-resolved 추정이 정확히 이 preview 를 제공.</a:t>
            </a:r>
          </a:p>
          <a:p/>
          <a:p>
            <a:r>
              <a:t>*제어 구조 비교* — 기존 PD: heave error 만 보고 fin 조절 (feedback only). 제안 PD + Feed-Forward: WaveSplat 추정 → 미래 wave disturbance 예측 → fin angle 보상 추가. 최종 fin angle = PD(heave error) + FF(predicted wave).</a:t>
            </a:r>
          </a:p>
          <a:p/>
          <a:p>
            <a:r>
              <a:t>*Test setup* — WaveSim 합성 파도 + hydrofoil dynamics simulator. Preview window 0.3 s lookahead (V=11.3 m/s 에서 약 3 m 앞). 같은 파도 시퀀스에 두 controller 비교.</a:t>
            </a:r>
          </a:p>
          <a:p/>
          <a:p>
            <a:r>
              <a:t>*현재 단계* — preliminary test, 응용 가능성 확인 정도. 체계적 controller tuning + robustness 평가는 후속 연구.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Hydrofoil 결과 — 위 영상이 PD vs PD+FF 의 직접 비교입니다.</a:t>
            </a:r>
          </a:p>
          <a:p/>
          <a:p>
            <a:r>
              <a:t>위쪽은 시간에 따른 wave + vessel 위치, 아래쪽은 heave acceleration time series. 파란선 PD-only, 빨간선 PD+FF (WaveSplat 사용). PD+FF 가 명확히 진동이 작습니다.</a:t>
            </a:r>
          </a:p>
          <a:p/>
          <a:p>
            <a:r>
              <a:t>정량 — aRMS PD 0.090 m/s² → PD+FF 0.047 m/s² (약 48% 감소). ISO 2631 ride comfort 기준에서 의미 있는 수준 — 승차감 향상으로 직결됩니다.</a:t>
            </a:r>
          </a:p>
          <a:p/>
          <a:p>
            <a:r>
              <a:t>이건 *시험 적용* 결과 — WaveSplat 정보가 제어에 실제로 도움이 된다는 *proof-of-concept* 입니다. 실제 deployment 에는 controller robustness, sensor noise, vessel dynamics uncertainty 등 추가 고려가 필요. 후속 연구로 이어가겠습니다.</a:t>
            </a:r>
          </a:p>
          <a:p/>
          <a:p>
            <a:r>
              <a:t>발표 tip — 잠시 영상 정지하고 청자가 두 line 의 차이를 직접 보게 하면 효과적. *눈으로 봐도 차이* 가 가장 직관적인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— 향후 연구 4 가지 방향.</a:t>
            </a:r>
          </a:p>
          <a:p/>
          <a:p>
            <a:r>
              <a:t>*방향 1: 고복잡도 파도 대응 (초기화 개선)* — 현재 15 component 이상에서 정확도 저하. 계획: hybrid init (격자 → 파라미터 정밀화) 또는 learned init (NN 으로 초기 성분 추정). 기대: Wang2025 수준 이상.</a:t>
            </a:r>
          </a:p>
          <a:p/>
          <a:p>
            <a:r>
              <a:t>*방향 2: 비선형 파도 확장* — 현재 LWT (BF6 까지 신뢰). 계획: Stokes 2 차 보정 추가. 장기: NLSE 수준 도달.</a:t>
            </a:r>
          </a:p>
          <a:p/>
          <a:p>
            <a:r>
              <a:t>*방향 3: Vessel motion 기반 synthetic aperture (SAR-style)* — 현재 코드/dataset 모두 vessel 정지 가정. 계획: V &gt; 0 시 V·T 만큼 추가 spatial coverage 검증. Wiley 1954 의 SAR 원리, ship-mounted LiDAR 첫 시도가 될 가능성.</a:t>
            </a:r>
          </a:p>
          <a:p/>
          <a:p>
            <a:r>
              <a:t>*방향 4: 실측 데이터 검증* — 현재 합성 dataset 만 검증. 계획: 실제 선박 LiDAR + wave buoy 또는 X-band radar 병행 측정으로 ground-truth 확보.</a:t>
            </a:r>
          </a:p>
          <a:p/>
          <a:p>
            <a:r>
              <a:t>최종 목표 — 선박 LiDAR 로 주변 파도를 real-time 추정하고 hydrofoil ride control, 자율운항 같은 선박 제어에 직접 활용 가능한 시스템.</a:t>
            </a:r>
          </a:p>
          <a:p/>
          <a:p>
            <a:r>
              <a:t>이상으로 발표 마치겠습니다. 질문 환영합니다.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gif"/><Relationship Id="rId3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3B3739-5194-4EC4-8994-987B3EFD5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130200"/>
            <a:ext cx="8782744" cy="2090662"/>
          </a:xfrm>
        </p:spPr>
        <p:txBody>
          <a:bodyPr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/>
              <a:t>Ocean Wave Estimation from sparse LiDAR point</a:t>
            </a:r>
            <a:endParaRPr lang="ko-KR" altLang="en-US" sz="1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05733F-0B25-40D5-BF94-DF468B066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608" y="5373216"/>
            <a:ext cx="7992888" cy="720080"/>
          </a:xfrm>
        </p:spPr>
        <p:txBody>
          <a:bodyPr>
            <a:normAutofit/>
          </a:bodyPr>
          <a:lstStyle/>
          <a:p>
            <a:pPr algn="r"/>
            <a:r>
              <a:rPr lang="en-US" altLang="ko-KR" sz="1800" b="1" dirty="0" err="1"/>
              <a:t>Sae</a:t>
            </a:r>
            <a:r>
              <a:rPr lang="en-US" altLang="ko-KR" sz="1800" b="1" dirty="0"/>
              <a:t> Yong Park</a:t>
            </a:r>
            <a:r>
              <a:rPr lang="en-US" altLang="ko-KR" sz="1800" baseline="30000" dirty="0"/>
              <a:t> 1</a:t>
            </a:r>
            <a:r>
              <a:rPr lang="en-US" altLang="ko-KR" sz="1800" dirty="0"/>
              <a:t>, Shin</a:t>
            </a:r>
            <a:r>
              <a:rPr lang="ko-KR" altLang="en-US" sz="1800" dirty="0"/>
              <a:t> </a:t>
            </a:r>
            <a:r>
              <a:rPr lang="en-US" altLang="ko-KR" sz="1800" dirty="0"/>
              <a:t>Hyung</a:t>
            </a:r>
            <a:r>
              <a:rPr lang="ko-KR" altLang="en-US" sz="1800" dirty="0"/>
              <a:t> </a:t>
            </a:r>
            <a:r>
              <a:rPr lang="en-US" altLang="ko-KR" sz="1800" dirty="0"/>
              <a:t>Rhee</a:t>
            </a:r>
            <a:r>
              <a:rPr lang="en-US" altLang="ko-KR" sz="1800" baseline="30000" dirty="0"/>
              <a:t> 1</a:t>
            </a:r>
            <a:endParaRPr lang="en-US" altLang="ko-KR" sz="1800" dirty="0"/>
          </a:p>
          <a:p>
            <a:pPr algn="r"/>
            <a:r>
              <a:rPr lang="en-US" altLang="ko-KR" sz="1800" baseline="30000" dirty="0"/>
              <a:t> </a:t>
            </a:r>
            <a:r>
              <a:rPr lang="en-US" altLang="ko-KR" sz="1800" dirty="0"/>
              <a:t>Seoul National Univ., Seoul, Korea</a:t>
            </a:r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96E4A0B-D702-4670-BF9E-8B0501E9E89D}"/>
              </a:ext>
            </a:extLst>
          </p:cNvPr>
          <p:cNvSpPr txBox="1">
            <a:spLocks/>
          </p:cNvSpPr>
          <p:nvPr/>
        </p:nvSpPr>
        <p:spPr>
          <a:xfrm>
            <a:off x="4036223" y="0"/>
            <a:ext cx="5112568" cy="76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Aft>
                <a:spcPts val="0"/>
              </a:spcAft>
            </a:pPr>
            <a:endParaRPr kumimoji="0" lang="ko-KR" altLang="en-US" baseline="30000" dirty="0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B59998C-8342-4240-B9B4-EE62F58858CB}"/>
              </a:ext>
            </a:extLst>
          </p:cNvPr>
          <p:cNvSpPr txBox="1">
            <a:spLocks/>
          </p:cNvSpPr>
          <p:nvPr/>
        </p:nvSpPr>
        <p:spPr>
          <a:xfrm>
            <a:off x="7164288" y="809664"/>
            <a:ext cx="1979712" cy="387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r" fontAlgn="auto">
              <a:spcAft>
                <a:spcPts val="0"/>
              </a:spcAft>
            </a:pPr>
            <a:r>
              <a:rPr kumimoji="0" lang="en-US" altLang="ko-KR" sz="2000" dirty="0">
                <a:solidFill>
                  <a:schemeClr val="tx1"/>
                </a:solidFill>
              </a:rPr>
              <a:t>May 13, 2026</a:t>
            </a:r>
            <a:endParaRPr kumimoji="0"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790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6" name="AutoShape 17">
            <a:extLst>
              <a:ext uri="{FF2B5EF4-FFF2-40B4-BE49-F238E27FC236}">
                <a16:creationId xmlns:a16="http://schemas.microsoft.com/office/drawing/2014/main" id="{E03C2DFD-BF25-4C69-99C4-9AEF63C46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129008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1.	Introduction &amp; Motivation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7" name="AutoShape 17">
            <a:extLst>
              <a:ext uri="{FF2B5EF4-FFF2-40B4-BE49-F238E27FC236}">
                <a16:creationId xmlns:a16="http://schemas.microsoft.com/office/drawing/2014/main" id="{CA34253F-BB03-4785-AF99-09BF4345B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221032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2.	Related work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8" name="AutoShape 17">
            <a:extLst>
              <a:ext uri="{FF2B5EF4-FFF2-40B4-BE49-F238E27FC236}">
                <a16:creationId xmlns:a16="http://schemas.microsoft.com/office/drawing/2014/main" id="{957DF45F-CB86-4ACD-9E4C-5E3F81D9C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3130567"/>
            <a:ext cx="6500813" cy="503238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3.	Method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9" name="AutoShape 17">
            <a:extLst>
              <a:ext uri="{FF2B5EF4-FFF2-40B4-BE49-F238E27FC236}">
                <a16:creationId xmlns:a16="http://schemas.microsoft.com/office/drawing/2014/main" id="{0D143BB5-9403-4D34-8155-18B3E3796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9" y="405080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4.	Experiments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Mechanism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2" name="AutoShape 17">
            <a:extLst>
              <a:ext uri="{FF2B5EF4-FFF2-40B4-BE49-F238E27FC236}">
                <a16:creationId xmlns:a16="http://schemas.microsoft.com/office/drawing/2014/main" id="{E39325F6-5876-1AAD-95B5-20D7C8796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8" y="4965685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5.	Limitations &amp; Research plan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9708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파 추정의 한계</a:t>
            </a:r>
          </a:p>
          <a:p>
            <a:pPr lvl="1">
              <a:spcAft>
                <a:spcPts val="100"/>
              </a:spcAft>
            </a:pPr>
            <a:r>
              <a:rPr sz="1100"/>
              <a:t>통계적 추정으로는 유의파고, 주기 정도만 제공</a:t>
            </a:r>
          </a:p>
          <a:p>
            <a:pPr lvl="2">
              <a:spcAft>
                <a:spcPts val="0"/>
              </a:spcAft>
            </a:pPr>
            <a:r>
              <a:rPr sz="1000"/>
              <a:t>평균적 파 환경은 알 수 있지만, 언제 어디서 파가 오는지 미지수</a:t>
            </a:r>
          </a:p>
          <a:p>
            <a:pPr lvl="2">
              <a:spcAft>
                <a:spcPts val="0"/>
              </a:spcAft>
            </a:pPr>
            <a:r>
              <a:rPr sz="1000"/>
              <a:t>선박 설계에는 충분하나 실시간 제어 목적으로는 부족</a:t>
            </a:r>
          </a:p>
          <a:p>
            <a:pPr lvl="1">
              <a:spcAft>
                <a:spcPts val="100"/>
              </a:spcAft>
            </a:pPr>
            <a:r>
              <a:rPr sz="1100"/>
              <a:t>따라서 본 연구에서는 하기와 같은 연구를 수행</a:t>
            </a:r>
          </a:p>
          <a:p>
            <a:pPr lvl="2">
              <a:spcAft>
                <a:spcPts val="0"/>
              </a:spcAft>
            </a:pPr>
            <a:r>
              <a:rPr sz="1000"/>
              <a:t>Phase resolved estimation: η(x, y, t) – 각 파도의 위치·시점을 추정</a:t>
            </a:r>
          </a:p>
          <a:p>
            <a:pPr lvl="2">
              <a:spcAft>
                <a:spcPts val="0"/>
              </a:spcAft>
            </a:pPr>
            <a:r>
              <a:rPr sz="1000"/>
              <a:t>BF4 sea state가 아닌 특정 위치 특정 시간 후 어떤 파와 같은 구체적 정보 추정</a:t>
            </a:r>
          </a:p>
          <a:p>
            <a:pPr lvl="1">
              <a:spcAft>
                <a:spcPts val="100"/>
              </a:spcAft>
            </a:pPr>
            <a:r>
              <a:rPr sz="1100"/>
              <a:t>연구 결과를 이용한 응용</a:t>
            </a:r>
          </a:p>
          <a:p>
            <a:pPr lvl="2">
              <a:spcAft>
                <a:spcPts val="0"/>
              </a:spcAft>
            </a:pPr>
            <a:r>
              <a:rPr sz="1000"/>
              <a:t>Hydrofoil ride control, 자율운항 안전판단, 선박 motion 예측 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task 의 핵심 도전 과제 — 왜 어려운가</a:t>
            </a:r>
          </a:p>
          <a:p>
            <a:pPr lvl="1">
              <a:spcAft>
                <a:spcPts val="100"/>
              </a:spcAft>
            </a:pPr>
            <a:r>
              <a:rPr sz="1100"/>
              <a:t>도전 1 — 희소하고 비균일한 측정 (sparse, non-uniform)</a:t>
            </a:r>
          </a:p>
          <a:p>
            <a:pPr lvl="2">
              <a:spcAft>
                <a:spcPts val="0"/>
              </a:spcAft>
            </a:pPr>
            <a:r>
              <a:rPr sz="1000"/>
              <a:t>한 frame 의 LiDAR 유효 점이 약 50개 정도 (raydrop, shadowing 후)</a:t>
            </a:r>
          </a:p>
          <a:p>
            <a:pPr lvl="2">
              <a:spcAft>
                <a:spcPts val="0"/>
              </a:spcAft>
            </a:pPr>
            <a:r>
              <a:rPr sz="1000"/>
              <a:t>점밀도 비균일 — 가까운 거리는 dense, 먼 거리는 sparse</a:t>
            </a:r>
          </a:p>
          <a:p>
            <a:pPr lvl="2">
              <a:spcAft>
                <a:spcPts val="0"/>
              </a:spcAft>
            </a:pPr>
            <a:r>
              <a:rPr sz="1000"/>
              <a:t>Wave gauge 나 dense radar 와 다른 setup → 기존 방법 직접 적용 어려움</a:t>
            </a:r>
          </a:p>
          <a:p>
            <a:pPr lvl="1">
              <a:spcAft>
                <a:spcPts val="100"/>
              </a:spcAft>
            </a:pPr>
            <a:r>
              <a:rPr sz="1100"/>
              <a:t>도전 2 — 실시간 제약 (frame 당 100 ms 이내)</a:t>
            </a:r>
          </a:p>
          <a:p>
            <a:pPr lvl="2">
              <a:spcAft>
                <a:spcPts val="0"/>
              </a:spcAft>
            </a:pPr>
            <a:r>
              <a:rPr sz="1000"/>
              <a:t>선박 제어 루프 약 10 Hz → 한 frame 처리 100 ms 이내 필요</a:t>
            </a:r>
          </a:p>
          <a:p>
            <a:pPr lvl="2">
              <a:spcAft>
                <a:spcPts val="0"/>
              </a:spcAft>
            </a:pPr>
            <a:r>
              <a:rPr sz="1000"/>
              <a:t>선행 방법별 처리 시간 비교:</a:t>
            </a:r>
          </a:p>
          <a:p>
            <a:pPr lvl="2">
              <a:spcAft>
                <a:spcPts val="0"/>
              </a:spcAft>
            </a:pPr>
            <a:r>
              <a:rPr sz="1000"/>
              <a:t>   • EnKF + HOS 비선형 (Wang &amp; Pan): ensemble × HOS forecast 로 수백 ms 이상</a:t>
            </a:r>
          </a:p>
          <a:p>
            <a:pPr lvl="2">
              <a:spcAft>
                <a:spcPts val="0"/>
              </a:spcAft>
            </a:pPr>
            <a:r>
              <a:rPr sz="1000"/>
              <a:t>   • EnKF + linear (Feng Wang 2025, Ne=300): 632 ms — 100 ms 초과로 부적합</a:t>
            </a:r>
          </a:p>
          <a:p>
            <a:pPr lvl="2">
              <a:spcAft>
                <a:spcPts val="0"/>
              </a:spcAft>
            </a:pPr>
            <a:r>
              <a:rPr sz="1000"/>
              <a:t>   • PFT-PINN (Ehlers 2025): instance 마다 약 30 분 학습 (RTX 3090)</a:t>
            </a:r>
          </a:p>
          <a:p>
            <a:pPr lvl="2">
              <a:spcAft>
                <a:spcPts val="0"/>
              </a:spcAft>
            </a:pPr>
            <a:r>
              <a:rPr sz="1000"/>
              <a:t>   • FNO supervised (Ehlers 2023): 학습 후 inference 1.9 ms — 단 3120 sample 학습 필요</a:t>
            </a:r>
          </a:p>
          <a:p>
            <a:pPr lvl="1">
              <a:spcAft>
                <a:spcPts val="100"/>
              </a:spcAft>
            </a:pPr>
            <a:r>
              <a:rPr sz="1100"/>
              <a:t>도전 3 — 2D 방향성 sea state</a:t>
            </a:r>
          </a:p>
          <a:p>
            <a:pPr lvl="2">
              <a:spcAft>
                <a:spcPts val="0"/>
              </a:spcAft>
            </a:pPr>
            <a:r>
              <a:rPr sz="1000"/>
              <a:t>실해 파도는 한 방향 아닌 여러 방향 혼재 (wind sea + 다방향 swell)</a:t>
            </a:r>
          </a:p>
          <a:p>
            <a:pPr lvl="2">
              <a:spcAft>
                <a:spcPts val="0"/>
              </a:spcAft>
            </a:pPr>
            <a:r>
              <a:rPr sz="1000"/>
              <a:t>Wavenumber 도 단순 scalar 아닌 vector (k_x, k_y) 추정 필요</a:t>
            </a:r>
          </a:p>
          <a:p>
            <a:pPr lvl="2">
              <a:spcAft>
                <a:spcPts val="0"/>
              </a:spcAft>
            </a:pPr>
            <a:r>
              <a:rPr sz="1000"/>
              <a:t>선행 연구 다수는 1D 가정으로 단순화 (Klein 2020, Desmars 2023, FNO …)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2D directional 그대로 처리 — 차별점 중 하나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sea_trial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37034"/>
            <a:ext cx="4297680" cy="42582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발표의 결과 미리보기 — Spoiler</a:t>
            </a:r>
          </a:p>
          <a:p>
            <a:pPr lvl="1">
              <a:spcAft>
                <a:spcPts val="100"/>
              </a:spcAft>
            </a:pPr>
            <a:r>
              <a:rPr sz="1100"/>
              <a:t>왜 결과부터 보여주는가</a:t>
            </a:r>
          </a:p>
          <a:p>
            <a:pPr lvl="2">
              <a:spcAft>
                <a:spcPts val="0"/>
              </a:spcAft>
            </a:pPr>
            <a:r>
              <a:rPr sz="1000"/>
              <a:t>배경 설명 전에 "왜 이 연구를 계속할 가치가 있는가" 를 숫자로 먼저 제시</a:t>
            </a:r>
          </a:p>
          <a:p>
            <a:pPr lvl="1">
              <a:spcAft>
                <a:spcPts val="100"/>
              </a:spcAft>
            </a:pPr>
            <a:r>
              <a:rPr sz="1100"/>
              <a:t>핵심 정량 비교 (12-episode benchmark, BF2~BF5 sweep)</a:t>
            </a:r>
          </a:p>
          <a:p>
            <a:pPr lvl="2">
              <a:spcAft>
                <a:spcPts val="0"/>
              </a:spcAft>
            </a:pPr>
            <a:r>
              <a:rPr sz="1000"/>
              <a:t>WaveSplat (본 연구): 평균 nRMSE 0.211, 처리 13.4 ms / frame</a:t>
            </a:r>
          </a:p>
          <a:p>
            <a:pPr lvl="2">
              <a:spcAft>
                <a:spcPts val="0"/>
              </a:spcAft>
            </a:pPr>
            <a:r>
              <a:rPr sz="1000"/>
              <a:t>Wang2025 baseline (Feng Wang et al. 2025): 0.253, 632 ms / frame</a:t>
            </a:r>
          </a:p>
          <a:p>
            <a:pPr lvl="2">
              <a:spcAft>
                <a:spcPts val="0"/>
              </a:spcAft>
            </a:pPr>
            <a:r>
              <a:rPr sz="1000"/>
              <a:t>→ 정확도 16% 우위 + 속도 47배 빠름 (CPU only, GPU 불필요)</a:t>
            </a:r>
          </a:p>
          <a:p>
            <a:pPr lvl="2">
              <a:spcAft>
                <a:spcPts val="0"/>
              </a:spcAft>
            </a:pPr>
            <a:r>
              <a:rPr sz="1000"/>
              <a:t>WaveSplat 13.4 ms = 초당 약 75 frame → 10 Hz 제어 루프 충분히 적합</a:t>
            </a:r>
          </a:p>
          <a:p>
            <a:pPr lvl="1">
              <a:spcAft>
                <a:spcPts val="100"/>
              </a:spcAft>
            </a:pPr>
            <a:r>
              <a:rPr sz="1100"/>
              <a:t>핵심 메커니즘 발견</a:t>
            </a:r>
          </a:p>
          <a:p>
            <a:pPr lvl="2">
              <a:spcAft>
                <a:spcPts val="0"/>
              </a:spcAft>
            </a:pPr>
            <a:r>
              <a:rPr sz="1000"/>
              <a:t>분산 관계 (ω↔k) = 자유도 감소 + 물리 정규화 — 5N 변수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temporal coherence — wave 자체의 시간 진화로 phase 정보 추출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결합 시 spatial Nyquist 0.4 rad/m 한계 우회 가능</a:t>
            </a:r>
          </a:p>
          <a:p>
            <a:pPr lvl="1">
              <a:spcAft>
                <a:spcPts val="100"/>
              </a:spcAft>
            </a:pPr>
            <a:r>
              <a:rPr sz="1100"/>
              <a:t>응용 사례 — Hydrofoil ride control 시험 적용</a:t>
            </a:r>
          </a:p>
          <a:p>
            <a:pPr lvl="2">
              <a:spcAft>
                <a:spcPts val="0"/>
              </a:spcAft>
            </a:pPr>
            <a:r>
              <a:rPr sz="1000"/>
              <a:t>Heave aRMS: PD-only 0.090 → PD+FF (WaveSplat preview) 0.047 m/s²</a:t>
            </a:r>
          </a:p>
          <a:p>
            <a:pPr lvl="2">
              <a:spcAft>
                <a:spcPts val="0"/>
              </a:spcAft>
            </a:pPr>
            <a:r>
              <a:rPr sz="1000"/>
              <a:t>약 48% 감소 — preliminary test 단계, 응용 가능성 확인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80637"/>
            <a:ext cx="4297680" cy="29710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선행 연구 5가지 접근법</a:t>
            </a:r>
          </a:p>
          <a:p>
            <a:pPr lvl="1">
              <a:spcAft>
                <a:spcPts val="100"/>
              </a:spcAft>
            </a:pPr>
            <a:r>
              <a:rPr sz="1100"/>
              <a:t>① 격자 기반 최적화</a:t>
            </a:r>
          </a:p>
          <a:p>
            <a:pPr lvl="2">
              <a:spcAft>
                <a:spcPts val="0"/>
              </a:spcAft>
            </a:pPr>
            <a:r>
              <a:rPr sz="1000"/>
              <a:t>Desmars 2018, 2020, 2023</a:t>
            </a:r>
          </a:p>
          <a:p>
            <a:pPr lvl="2">
              <a:spcAft>
                <a:spcPts val="0"/>
              </a:spcAft>
            </a:pPr>
            <a:r>
              <a:rPr sz="1000"/>
              <a:t>Pre-defined wavenumber grid 위 variational 최적화</a:t>
            </a:r>
          </a:p>
          <a:p>
            <a:pPr lvl="2">
              <a:spcAft>
                <a:spcPts val="0"/>
              </a:spcAft>
            </a:pPr>
            <a:r>
              <a:rPr sz="1000"/>
              <a:t>한계: on-grid (격자 사이 wavenumber 표현 불가),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② 앙상블 칼만 필터</a:t>
            </a:r>
          </a:p>
          <a:p>
            <a:pPr lvl="2">
              <a:spcAft>
                <a:spcPts val="0"/>
              </a:spcAft>
            </a:pPr>
            <a:r>
              <a:rPr sz="1000"/>
              <a:t>Wang &amp; Pan 2021/22 — EnKF + HOS 비선형 wave</a:t>
            </a:r>
          </a:p>
          <a:p>
            <a:pPr lvl="2">
              <a:spcAft>
                <a:spcPts val="0"/>
              </a:spcAft>
            </a:pPr>
            <a:r>
              <a:rPr sz="1000"/>
              <a:t>Feng Wang 2025 — ETKF + fuzzy R + Delaunay</a:t>
            </a:r>
          </a:p>
          <a:p>
            <a:pPr lvl="2">
              <a:spcAft>
                <a:spcPts val="0"/>
              </a:spcAft>
            </a:pPr>
            <a:r>
              <a:rPr sz="1000"/>
              <a:t>Yan 2025 — VOF-EnKF + Navier-Stokes (wave breaking 처리)</a:t>
            </a:r>
          </a:p>
          <a:p>
            <a:pPr lvl="2">
              <a:spcAft>
                <a:spcPts val="0"/>
              </a:spcAft>
            </a:pPr>
            <a:r>
              <a:rPr sz="1000"/>
              <a:t>한계: 50–300 ensemble × 수백 ms+ → real-time 불가,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③ 지도학습 신경망</a:t>
            </a:r>
          </a:p>
          <a:p>
            <a:pPr lvl="2">
              <a:spcAft>
                <a:spcPts val="0"/>
              </a:spcAft>
            </a:pPr>
            <a:r>
              <a:rPr sz="1000"/>
              <a:t>Ehlers 2023 — Fourier Neural Operator (FNO)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 (학습 후), HOS 합성 데이터 3120 sample 학습 필요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1D, black-box</a:t>
            </a:r>
          </a:p>
          <a:p>
            <a:pPr lvl="1">
              <a:spcAft>
                <a:spcPts val="100"/>
              </a:spcAft>
            </a:pPr>
            <a:r>
              <a:rPr sz="1100"/>
              <a:t>④ 물리 기반 비지도 NN</a:t>
            </a:r>
          </a:p>
          <a:p>
            <a:pPr lvl="2">
              <a:spcAft>
                <a:spcPts val="0"/>
              </a:spcAft>
            </a:pPr>
            <a:r>
              <a:rPr sz="1000"/>
              <a:t>Ehlers 2025 — PFT-PINN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처리, hard-constraint trick</a:t>
            </a:r>
          </a:p>
          <a:p>
            <a:pPr lvl="2">
              <a:spcAft>
                <a:spcPts val="0"/>
              </a:spcAft>
            </a:pPr>
            <a:r>
              <a:rPr sz="1000"/>
              <a:t>한계: instance 마다 ~30 분 학습, 1D + t, buoy only</a:t>
            </a:r>
          </a:p>
          <a:p>
            <a:pPr lvl="1">
              <a:spcAft>
                <a:spcPts val="100"/>
              </a:spcAft>
            </a:pPr>
            <a:r>
              <a:rPr sz="1100"/>
              <a:t>⑤ 연속 파라미터 추정 (Ours) ⭐</a:t>
            </a:r>
          </a:p>
          <a:p>
            <a:pPr lvl="2">
              <a:spcAft>
                <a:spcPts val="0"/>
              </a:spcAft>
            </a:pPr>
            <a:r>
              <a:rPr sz="1000"/>
              <a:t>WaveSplat — 격자 없이 N개 plane wave 파라미터 직접 추정</a:t>
            </a:r>
          </a:p>
          <a:p>
            <a:pPr lvl="2">
              <a:spcAft>
                <a:spcPts val="0"/>
              </a:spcAft>
            </a:pPr>
            <a:r>
              <a:rPr sz="1000"/>
              <a:t>&lt; 100 ms inference + 2D directional + LiDAR raydrop sensor model</a:t>
            </a:r>
          </a:p>
          <a:p>
            <a:pPr lvl="2">
              <a:spcAft>
                <a:spcPts val="0"/>
              </a:spcAft>
            </a:pPr>
            <a:r>
              <a:rPr sz="1000"/>
              <a:t>한계: linear superposition (LWT), ε &lt; 0.07 영역에서만 신뢰</a:t>
            </a:r>
          </a:p>
          <a:p>
            <a:pPr lvl="1">
              <a:spcAft>
                <a:spcPts val="100"/>
              </a:spcAft>
            </a:pPr>
            <a:r>
              <a:rPr sz="1100"/>
              <a:t>※ 자세한 paper 정보는 Appendix A 참조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EnKF 기반 wave estimation — 두 독립 group</a:t>
            </a:r>
          </a:p>
          <a:p>
            <a:pPr lvl="1">
              <a:spcAft>
                <a:spcPts val="100"/>
              </a:spcAft>
            </a:pPr>
            <a:r>
              <a:rPr sz="1100"/>
              <a:t>Wang &amp; Pan group (Yulin Pan, U.Michigan)</a:t>
            </a:r>
          </a:p>
          <a:p>
            <a:pPr lvl="2">
              <a:spcAft>
                <a:spcPts val="0"/>
              </a:spcAft>
            </a:pPr>
            <a:r>
              <a:rPr sz="1000"/>
              <a:t>2021: EnKF + HOS 첫 결합</a:t>
            </a:r>
          </a:p>
          <a:p>
            <a:pPr lvl="2">
              <a:spcAft>
                <a:spcPts val="0"/>
              </a:spcAft>
            </a:pPr>
            <a:r>
              <a:rPr sz="1000"/>
              <a:t>2022: IEnKF-HOS-C — current 동시 추정</a:t>
            </a:r>
          </a:p>
          <a:p>
            <a:pPr lvl="2">
              <a:spcAft>
                <a:spcPts val="0"/>
              </a:spcAft>
            </a:pPr>
            <a:r>
              <a:rPr sz="1000"/>
              <a:t>Sensor: X-band radar, Data: synthetic + 실측 shipborne radar</a:t>
            </a:r>
          </a:p>
          <a:p>
            <a:pPr lvl="1">
              <a:spcAft>
                <a:spcPts val="100"/>
              </a:spcAft>
            </a:pPr>
            <a:r>
              <a:rPr sz="1100"/>
              <a:t>Feng Wang et al. (Harbin Engineering Univ., China)</a:t>
            </a:r>
          </a:p>
          <a:p>
            <a:pPr lvl="2">
              <a:spcAft>
                <a:spcPts val="0"/>
              </a:spcAft>
            </a:pPr>
            <a:r>
              <a:rPr sz="1000"/>
              <a:t>2025: ETKF + fuzzy R + Delaunay 보간</a:t>
            </a:r>
          </a:p>
          <a:p>
            <a:pPr lvl="2">
              <a:spcAft>
                <a:spcPts val="0"/>
              </a:spcAft>
            </a:pPr>
            <a:r>
              <a:rPr sz="1000"/>
              <a:t>Ne=300, 80×60 grid, dx≈3 m</a:t>
            </a:r>
          </a:p>
          <a:p>
            <a:pPr lvl="2">
              <a:spcAft>
                <a:spcPts val="0"/>
              </a:spcAft>
            </a:pPr>
            <a:r>
              <a:rPr sz="1000"/>
              <a:t>Sensor: Stereo camera (WASS), Data: 실측 (Acqua Alta 해양 플랫폼 + 자체 2024)</a:t>
            </a:r>
          </a:p>
          <a:p>
            <a:pPr lvl="2">
              <a:spcAft>
                <a:spcPts val="0"/>
              </a:spcAft>
            </a:pPr>
            <a:r>
              <a:rPr sz="1000"/>
              <a:t>본 baseline 의 직접 prior art (GitHub 공개)</a:t>
            </a:r>
          </a:p>
          <a:p>
            <a:pPr lvl="1">
              <a:spcAft>
                <a:spcPts val="100"/>
              </a:spcAft>
            </a:pPr>
            <a:r>
              <a:rPr sz="1100"/>
              <a:t>본 연구의 baseline 재현 (공정 비교를 위한 통일)</a:t>
            </a:r>
          </a:p>
          <a:p>
            <a:pPr lvl="2">
              <a:spcAft>
                <a:spcPts val="0"/>
              </a:spcAft>
            </a:pPr>
            <a:r>
              <a:rPr sz="1000"/>
              <a:t>알고리즘만 재현 — Ne=300, 80×60 격자, fuzzy R, Delaunay 보간 동일</a:t>
            </a:r>
          </a:p>
          <a:p>
            <a:pPr lvl="2">
              <a:spcAft>
                <a:spcPts val="0"/>
              </a:spcAft>
            </a:pPr>
            <a:r>
              <a:rPr sz="1000"/>
              <a:t>입력 sensor 는 LiDAR sim 으로 통일 (원논문은 stereo camera)</a:t>
            </a:r>
          </a:p>
          <a:p>
            <a:pPr lvl="2">
              <a:spcAft>
                <a:spcPts val="0"/>
              </a:spcAft>
            </a:pPr>
            <a:r>
              <a:rPr sz="1000"/>
              <a:t>Forecast model 도 HOS 대신 linear dispersion 으로 통일</a:t>
            </a:r>
          </a:p>
          <a:p>
            <a:pPr lvl="1">
              <a:spcAft>
                <a:spcPts val="100"/>
              </a:spcAft>
            </a:pPr>
            <a:r>
              <a:rPr sz="1100"/>
              <a:t>공통 한계</a:t>
            </a:r>
          </a:p>
          <a:p>
            <a:pPr lvl="2">
              <a:spcAft>
                <a:spcPts val="0"/>
              </a:spcAft>
            </a:pPr>
            <a:r>
              <a:rPr sz="1000"/>
              <a:t>격자 해상도 한계 — 격자 밖 wavenumber 표현 불가 (~0.25 nRMSE floor)</a:t>
            </a:r>
          </a:p>
          <a:p>
            <a:pPr lvl="2">
              <a:spcAft>
                <a:spcPts val="0"/>
              </a:spcAft>
            </a:pPr>
            <a:r>
              <a:rPr sz="1000"/>
              <a:t>Ensemble cost 632 ms/frame — real-time control loop 불가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학습 기반 접근 — Ehlers group (TUHH + Imperial)</a:t>
            </a:r>
          </a:p>
          <a:p>
            <a:pPr lvl="1">
              <a:spcAft>
                <a:spcPts val="100"/>
              </a:spcAft>
            </a:pPr>
            <a:r>
              <a:rPr sz="1100"/>
              <a:t>Ehlers 2023 — FNO supervised</a:t>
            </a:r>
          </a:p>
          <a:p>
            <a:pPr lvl="2">
              <a:spcAft>
                <a:spcPts val="0"/>
              </a:spcAft>
            </a:pPr>
            <a:r>
              <a:rPr sz="1000"/>
              <a:t>Architecture: Fourier Neural Operator (Fourier 공간에서 global mapping)</a:t>
            </a:r>
          </a:p>
          <a:p>
            <a:pPr lvl="2">
              <a:spcAft>
                <a:spcPts val="0"/>
              </a:spcAft>
            </a:pPr>
            <a:r>
              <a:rPr sz="1000"/>
              <a:t>Training data: 3120 sample (HOS sim + geometric radar model)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ms, U-Net 보다 wave 패턴에 적합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 unidirectional, black-box</a:t>
            </a:r>
          </a:p>
          <a:p>
            <a:pPr lvl="1">
              <a:spcAft>
                <a:spcPts val="100"/>
              </a:spcAft>
            </a:pPr>
            <a:r>
              <a:rPr sz="1100"/>
              <a:t>Ehlers 2025 — PFT-PINN</a:t>
            </a:r>
          </a:p>
          <a:p>
            <a:pPr lvl="2">
              <a:spcAft>
                <a:spcPts val="0"/>
              </a:spcAft>
            </a:pPr>
            <a:r>
              <a:rPr sz="1000"/>
              <a:t>Architecture: 두 NN 병렬 — η-net (wave 표면) + Φ-net (velocity potential)</a:t>
            </a:r>
          </a:p>
          <a:p>
            <a:pPr lvl="2">
              <a:spcAft>
                <a:spcPts val="0"/>
              </a:spcAft>
            </a:pPr>
            <a:r>
              <a:rPr sz="1000"/>
              <a:t>PDE residual 강제 (Laplace + 표면 BC + 바닥 BC) via auto-diff</a:t>
            </a:r>
          </a:p>
          <a:p>
            <a:pPr lvl="2">
              <a:spcAft>
                <a:spcPts val="0"/>
              </a:spcAft>
            </a:pPr>
            <a:r>
              <a:rPr sz="1000"/>
              <a:t>Hard-constraint trick: 관측치 NN architecture에 직접 hard-encode</a:t>
            </a:r>
          </a:p>
          <a:p>
            <a:pPr lvl="2">
              <a:spcAft>
                <a:spcPts val="0"/>
              </a:spcAft>
            </a:pPr>
            <a:r>
              <a:rPr sz="1000"/>
              <a:t>검증: Wave flume 실측 (MARATHON, T_p=1.2 s), SSP 0.049 (assim) / 0.084 (predict)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wave 처리</a:t>
            </a:r>
          </a:p>
          <a:p>
            <a:pPr lvl="2">
              <a:spcAft>
                <a:spcPts val="0"/>
              </a:spcAft>
            </a:pPr>
            <a:r>
              <a:rPr sz="1000"/>
              <a:t>한계: ~30 분/instance (RTX 3090), 1D + t, wave gauge buoy only</a:t>
            </a:r>
          </a:p>
          <a:p>
            <a:pPr lvl="1">
              <a:spcAft>
                <a:spcPts val="100"/>
              </a:spcAft>
            </a:pPr>
            <a:r>
              <a:rPr sz="1100"/>
              <a:t>본 연구와의 핵심 차이</a:t>
            </a:r>
          </a:p>
          <a:p>
            <a:pPr lvl="2">
              <a:spcAft>
                <a:spcPts val="0"/>
              </a:spcAft>
            </a:pPr>
            <a:r>
              <a:rPr sz="1000"/>
              <a:t>속도 차이가 결정적: WaveSplat 13 ms vs PFT-PINN ~30 분 (수만 배 이상 차이)</a:t>
            </a:r>
          </a:p>
          <a:p>
            <a:pPr lvl="2">
              <a:spcAft>
                <a:spcPts val="0"/>
              </a:spcAft>
            </a:pPr>
            <a:r>
              <a:rPr sz="1000"/>
              <a:t>응용 영역 분리: WaveSplat = real-time control, PINN = design-time analysis</a:t>
            </a:r>
          </a:p>
          <a:p>
            <a:pPr lvl="2">
              <a:spcAft>
                <a:spcPts val="0"/>
              </a:spcAft>
            </a:pPr>
            <a:r>
              <a:rPr sz="1000"/>
              <a:t>향후 위협: 같은 group 이 1-3년 안에 2D + real-time PINN 발표 가능 — niche 좁아질 risk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매트릭스 — 본 연구의 위치</a:t>
            </a:r>
          </a:p>
          <a:p>
            <a:pPr lvl="1">
              <a:spcAft>
                <a:spcPts val="100"/>
              </a:spcAft>
            </a:pPr>
            <a:r>
              <a:rPr sz="1100"/>
              <a:t>6가지 응용 요구사항으로 본 연구와 5개 baseline 비교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286000"/>
          <a:ext cx="8503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4845"/>
                <a:gridCol w="1214845"/>
                <a:gridCol w="1214845"/>
                <a:gridCol w="1214845"/>
                <a:gridCol w="1214845"/>
                <a:gridCol w="1214845"/>
                <a:gridCol w="121485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요구사항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실시간 제어 (&lt;100 ms)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파도 파쇄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유속장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학습 데이터 불필요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희소 LiDAR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WaveSim — 합성 파도장 + LiDAR 시뮬레이터</a:t>
            </a:r>
          </a:p>
          <a:p>
            <a:pPr lvl="1">
              <a:spcAft>
                <a:spcPts val="100"/>
              </a:spcAft>
            </a:pPr>
            <a:r>
              <a:rPr sz="1100"/>
              <a:t>파도 모델 — Gerstner family</a:t>
            </a:r>
          </a:p>
          <a:p>
            <a:pPr lvl="2">
              <a:spcAft>
                <a:spcPts val="0"/>
              </a:spcAft>
            </a:pPr>
            <a:r>
              <a:rPr sz="1000"/>
              <a:t>회전 정확해 — 입자 운동까지 모사 (Gerstner 1802, Tessendorf 2001)</a:t>
            </a:r>
          </a:p>
          <a:p>
            <a:pPr lvl="2">
              <a:spcAft>
                <a:spcPts val="0"/>
              </a:spcAft>
            </a:pPr>
            <a:r>
              <a:rPr sz="1000"/>
              <a:t>Q ∈ [0, 1] 가파름 — Q=0 이면 LWT (선형), Q&gt;0 이면 약비선형</a:t>
            </a:r>
          </a:p>
          <a:p>
            <a:pPr lvl="2">
              <a:spcAft>
                <a:spcPts val="0"/>
              </a:spcAft>
            </a:pPr>
            <a:r>
              <a:rPr sz="1000"/>
              <a:t>x = x₀ − Q·A·(k_x/|k|)·sin(Φ), z = A·cos(Φ), Φ = k·x − ω·t + φ</a:t>
            </a:r>
          </a:p>
          <a:p>
            <a:pPr lvl="2">
              <a:spcAft>
                <a:spcPts val="0"/>
              </a:spcAft>
            </a:pPr>
            <a:r>
              <a:rPr sz="1000"/>
              <a:t>Q 제약: Σ Q_n·ω_n·A_n ≤ 1 (입자 궤적 자체 교차 방지)</a:t>
            </a:r>
          </a:p>
          <a:p>
            <a:pPr lvl="1">
              <a:spcAft>
                <a:spcPts val="100"/>
              </a:spcAft>
            </a:pPr>
            <a:r>
              <a:rPr sz="1100"/>
              <a:t>스펙트럼 — JONSWAP (Hasselmann 1973)</a:t>
            </a:r>
          </a:p>
          <a:p>
            <a:pPr lvl="2">
              <a:spcAft>
                <a:spcPts val="0"/>
              </a:spcAft>
            </a:pPr>
            <a:r>
              <a:rPr sz="1000"/>
              <a:t>S(ω) = α·g²·ω⁻⁵·exp(−5/4·(ω_p/ω)⁴) · γ^r (γ=3.3)</a:t>
            </a:r>
          </a:p>
          <a:p>
            <a:pPr lvl="2">
              <a:spcAft>
                <a:spcPts val="0"/>
              </a:spcAft>
            </a:pPr>
            <a:r>
              <a:rPr sz="1000"/>
              <a:t>입력 H_s, T_p → N개 성분의 (A_n, ω_n) sampling</a:t>
            </a:r>
          </a:p>
          <a:p>
            <a:pPr lvl="2">
              <a:spcAft>
                <a:spcPts val="0"/>
              </a:spcAft>
            </a:pPr>
            <a:r>
              <a:rPr sz="1000"/>
              <a:t>방향 spreading: cos²ˢ 함수로 (k_xn, k_yn) 분배</a:t>
            </a:r>
          </a:p>
          <a:p>
            <a:pPr lvl="2">
              <a:spcAft>
                <a:spcPts val="0"/>
              </a:spcAft>
            </a:pPr>
            <a:r>
              <a:rPr sz="1000"/>
              <a:t>ITTC, IACS 채택 표준 wave spectrum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— Airy 1845</a:t>
            </a:r>
          </a:p>
          <a:p>
            <a:pPr lvl="2">
              <a:spcAft>
                <a:spcPts val="0"/>
              </a:spcAft>
            </a:pPr>
            <a:r>
              <a:rPr sz="1000"/>
              <a:t>ω = √(g·|k|·tanh(|k|·d)) — 100 년 이상 검증된 표준</a:t>
            </a:r>
          </a:p>
          <a:p>
            <a:pPr lvl="2">
              <a:spcAft>
                <a:spcPts val="0"/>
              </a:spcAft>
            </a:pPr>
            <a:r>
              <a:rPr sz="1000"/>
              <a:t>깊은 물 한계 (kd &gt;&gt; 1): ω ≈ √(g·|k|)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131556"/>
            <a:ext cx="4297680" cy="28692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LiDAR 모사 — Falcon K1</a:t>
            </a:r>
          </a:p>
          <a:p>
            <a:pPr lvl="1">
              <a:spcAft>
                <a:spcPts val="100"/>
              </a:spcAft>
            </a:pPr>
            <a:r>
              <a:rPr sz="1100"/>
              <a:t>Sensor 사양</a:t>
            </a:r>
          </a:p>
          <a:p>
            <a:pPr lvl="2">
              <a:spcAft>
                <a:spcPts val="0"/>
              </a:spcAft>
            </a:pPr>
            <a:r>
              <a:rPr sz="1000"/>
              <a:t>152 채널 × 500 horizontal beam = 76,000 ray / scan</a:t>
            </a:r>
          </a:p>
          <a:p>
            <a:pPr lvl="2">
              <a:spcAft>
                <a:spcPts val="0"/>
              </a:spcAft>
            </a:pPr>
            <a:r>
              <a:rPr sz="1000"/>
              <a:t>Range 10–250 m, 파장 1550 nm, vessel 위 5 m mount</a:t>
            </a:r>
          </a:p>
          <a:p>
            <a:pPr lvl="2">
              <a:spcAft>
                <a:spcPts val="0"/>
              </a:spcAft>
            </a:pPr>
            <a:r>
              <a:rPr sz="1000"/>
              <a:t>Horizontal FOV 120° (선수 ±60°), Vertical FOV −25° ~ 0°</a:t>
            </a:r>
          </a:p>
          <a:p>
            <a:pPr lvl="1">
              <a:spcAft>
                <a:spcPts val="100"/>
              </a:spcAft>
            </a:pPr>
            <a:r>
              <a:rPr sz="1100"/>
              <a:t>Ray tracing — Möller-Trumbore 1997</a:t>
            </a:r>
          </a:p>
          <a:p>
            <a:pPr lvl="2">
              <a:spcAft>
                <a:spcPts val="0"/>
              </a:spcAft>
            </a:pPr>
            <a:r>
              <a:rPr sz="1000"/>
              <a:t>각 ray 가 wave 표면 mesh 와 만나는 first-hit 점 검출</a:t>
            </a:r>
          </a:p>
          <a:p>
            <a:pPr lvl="2">
              <a:spcAft>
                <a:spcPts val="0"/>
              </a:spcAft>
            </a:pPr>
            <a:r>
              <a:rPr sz="1000"/>
              <a:t>Graphics 분야 표준 ray-triangle intersection 알고리즘</a:t>
            </a:r>
          </a:p>
          <a:p>
            <a:pPr lvl="1">
              <a:spcAft>
                <a:spcPts val="100"/>
              </a:spcAft>
            </a:pPr>
            <a:r>
              <a:rPr sz="1100"/>
              <a:t>Raydrop 모델 — Fresnel + geometry</a:t>
            </a:r>
          </a:p>
          <a:p>
            <a:pPr lvl="2">
              <a:spcAft>
                <a:spcPts val="0"/>
              </a:spcAft>
            </a:pPr>
            <a:r>
              <a:rPr sz="1000"/>
              <a:t>반사된 빛이 LiDAR receiver 방향으로 돌아와야 함</a:t>
            </a:r>
          </a:p>
          <a:p>
            <a:pPr lvl="2">
              <a:spcAft>
                <a:spcPts val="0"/>
              </a:spcAft>
            </a:pPr>
            <a:r>
              <a:rPr sz="1000"/>
              <a:t>Snell 굴절: sin θ_t = sin θ_i / n (n=1.321, water at 1550 nm)</a:t>
            </a:r>
          </a:p>
          <a:p>
            <a:pPr lvl="2">
              <a:spcAft>
                <a:spcPts val="0"/>
              </a:spcAft>
            </a:pPr>
            <a:r>
              <a:rPr sz="1000"/>
              <a:t>Fresnel s/p polarization 평균 → 반사율 R(θ_i)</a:t>
            </a:r>
          </a:p>
          <a:p>
            <a:pPr lvl="2">
              <a:spcAft>
                <a:spcPts val="0"/>
              </a:spcAft>
            </a:pPr>
            <a:r>
              <a:rPr sz="1000"/>
              <a:t>Lambert + Fresnel 결합: P = η · R · cos(θ_i) / (d/d_ref)²</a:t>
            </a:r>
          </a:p>
          <a:p>
            <a:pPr lvl="1">
              <a:spcAft>
                <a:spcPts val="100"/>
              </a:spcAft>
            </a:pPr>
            <a:r>
              <a:rPr sz="1100"/>
              <a:t>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모든 frame 동일 위치에서 측정 — 합성 dataset, 코드 모두 정지 가정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자체의 시간 진화에서 옴</a:t>
            </a:r>
          </a:p>
          <a:p>
            <a:pPr lvl="2">
              <a:spcAft>
                <a:spcPts val="0"/>
              </a:spcAft>
            </a:pPr>
            <a:r>
              <a:rPr sz="1000"/>
              <a:t>Vessel motion 기반 synthetic aperture (SAR-style) 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3_1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98047"/>
            <a:ext cx="4297680" cy="293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Dataset — 110 episode 합성</a:t>
            </a:r>
          </a:p>
          <a:p>
            <a:pPr lvl="1">
              <a:spcAft>
                <a:spcPts val="100"/>
              </a:spcAft>
            </a:pPr>
            <a:r>
              <a:rPr sz="1100"/>
              <a:t>구성</a:t>
            </a:r>
          </a:p>
          <a:p>
            <a:pPr lvl="2">
              <a:spcAft>
                <a:spcPts val="0"/>
              </a:spcAft>
            </a:pPr>
            <a:r>
              <a:rPr sz="1000"/>
              <a:t>Sea state: BF2 (Hs=0.3, Tp=4.0) ~ BF7 (Hs=5.0, Tp=12.0)</a:t>
            </a:r>
          </a:p>
          <a:p>
            <a:pPr lvl="2">
              <a:spcAft>
                <a:spcPts val="0"/>
              </a:spcAft>
            </a:pPr>
            <a:r>
              <a:rPr sz="1000"/>
              <a:t>N components: 1, 2, 5, 15, 30 (단순 ~ 복잡)</a:t>
            </a:r>
          </a:p>
          <a:p>
            <a:pPr lvl="2">
              <a:spcAft>
                <a:spcPts val="0"/>
              </a:spcAft>
            </a:pPr>
            <a:r>
              <a:rPr sz="1000"/>
              <a:t>Seeds: 0–4 (재현 가능)</a:t>
            </a:r>
          </a:p>
          <a:p>
            <a:pPr lvl="2">
              <a:spcAft>
                <a:spcPts val="0"/>
              </a:spcAft>
            </a:pPr>
            <a:r>
              <a:rPr sz="1000"/>
              <a:t>Raydrop: uniform / slope (각 episode)</a:t>
            </a:r>
          </a:p>
          <a:p>
            <a:pPr lvl="1">
              <a:spcAft>
                <a:spcPts val="100"/>
              </a:spcAft>
            </a:pPr>
            <a:r>
              <a:rPr sz="1100"/>
              <a:t>에피소드별 정량</a:t>
            </a:r>
          </a:p>
          <a:p>
            <a:pPr lvl="2">
              <a:spcAft>
                <a:spcPts val="0"/>
              </a:spcAft>
            </a:pPr>
            <a:r>
              <a:rPr sz="1000"/>
              <a:t>Duration 30 s, dt = 0.1 s (10 Hz) → frame 301개</a:t>
            </a:r>
          </a:p>
          <a:p>
            <a:pPr lvl="2">
              <a:spcAft>
                <a:spcPts val="0"/>
              </a:spcAft>
            </a:pPr>
            <a:r>
              <a:rPr sz="1000"/>
              <a:t>GT η field: 80×60 격자, 240 m × 200 m 영역</a:t>
            </a:r>
          </a:p>
          <a:p>
            <a:pPr lvl="2">
              <a:spcAft>
                <a:spcPts val="0"/>
              </a:spcAft>
            </a:pPr>
            <a:r>
              <a:rPr sz="1000"/>
              <a:t>LiDAR scan: 76,000 ray → raydrop 후 valid 점 약 50개/frame</a:t>
            </a:r>
          </a:p>
          <a:p>
            <a:pPr lvl="2">
              <a:spcAft>
                <a:spcPts val="0"/>
              </a:spcAft>
            </a:pPr>
            <a:r>
              <a:rPr sz="1000"/>
              <a:t>Patch coverage: 약 50–150 m (실측 확인)</a:t>
            </a:r>
          </a:p>
          <a:p>
            <a:pPr lvl="1">
              <a:spcAft>
                <a:spcPts val="100"/>
              </a:spcAft>
            </a:pPr>
            <a:r>
              <a:rPr sz="1100"/>
              <a:t>용량</a:t>
            </a:r>
          </a:p>
          <a:p>
            <a:pPr lvl="2">
              <a:spcAft>
                <a:spcPts val="0"/>
              </a:spcAft>
            </a:pPr>
            <a:r>
              <a:rPr sz="1000"/>
              <a:t>110 episodes × 약 12 MB = 1.2 GB 합성 dataset</a:t>
            </a:r>
          </a:p>
          <a:p>
            <a:pPr lvl="2">
              <a:spcAft>
                <a:spcPts val="0"/>
              </a:spcAft>
            </a:pPr>
            <a:r>
              <a:rPr sz="1000"/>
              <a:t>HDF5 format (timestamps, lidar_points, gt_wave_field, lidar_confidence …)</a:t>
            </a:r>
          </a:p>
          <a:p>
            <a:pPr lvl="1">
              <a:spcAft>
                <a:spcPts val="100"/>
              </a:spcAft>
            </a:pPr>
            <a:r>
              <a:rPr sz="1100"/>
              <a:t>BF3-BF6 wavenumber 범위 (실측)</a:t>
            </a:r>
          </a:p>
          <a:p>
            <a:pPr lvl="2">
              <a:spcAft>
                <a:spcPts val="0"/>
              </a:spcAft>
            </a:pPr>
            <a:r>
              <a:rPr sz="1000"/>
              <a:t>BF3 (Tp=5.5s): k = 0.04–1.16 rad/m, λ_peak ≈ 47 m</a:t>
            </a:r>
          </a:p>
          <a:p>
            <a:pPr lvl="2">
              <a:spcAft>
                <a:spcPts val="0"/>
              </a:spcAft>
            </a:pPr>
            <a:r>
              <a:rPr sz="1000"/>
              <a:t>BF4 (Tp=7.0s): k = 0.03–0.72 rad/m, λ_peak ≈ 77 m</a:t>
            </a:r>
          </a:p>
          <a:p>
            <a:pPr lvl="2">
              <a:spcAft>
                <a:spcPts val="0"/>
              </a:spcAft>
            </a:pPr>
            <a:r>
              <a:rPr sz="1000"/>
              <a:t>BF5 (Tp=9.0s): k = 0.02–0.43 rad/m, λ_peak ≈ 126 m</a:t>
            </a:r>
          </a:p>
          <a:p>
            <a:pPr lvl="2">
              <a:spcAft>
                <a:spcPts val="0"/>
              </a:spcAft>
            </a:pPr>
            <a:r>
              <a:rPr sz="1000"/>
              <a:t>BF6 (Tp=10s): k = 0.02–0.35 rad/m, λ_peak ≈ 156 m (전부 Nyquist 이내)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24978"/>
            <a:ext cx="4297680" cy="22823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WaveSplat — 알고리즘 개요</a:t>
            </a:r>
          </a:p>
          <a:p>
            <a:pPr lvl="1">
              <a:spcAft>
                <a:spcPts val="100"/>
              </a:spcAft>
            </a:pPr>
            <a:r>
              <a:rPr sz="1100"/>
              <a:t>발상 — 격자 대신 파라미터로 직접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 = 5–30개 sine wave 의 합 (JONSWAP 분해)</a:t>
            </a:r>
          </a:p>
          <a:p>
            <a:pPr lvl="2">
              <a:spcAft>
                <a:spcPts val="0"/>
              </a:spcAft>
            </a:pPr>
            <a:r>
              <a:rPr sz="1000"/>
              <a:t>각 성분: (A, k_x, k_y, ω, φ) 5개 파라미터로 완전 결정</a:t>
            </a:r>
          </a:p>
          <a:p>
            <a:pPr lvl="2">
              <a:spcAft>
                <a:spcPts val="0"/>
              </a:spcAft>
            </a:pPr>
            <a:r>
              <a:rPr sz="1000"/>
              <a:t>N=10 이면 변수 50개 — LiDAR 50점으로 1:1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Wave field 표현</a:t>
            </a:r>
          </a:p>
          <a:p>
            <a:pPr lvl="2">
              <a:spcAft>
                <a:spcPts val="0"/>
              </a:spcAft>
            </a:pPr>
            <a:r>
              <a:rPr sz="1000"/>
              <a:t>η(x, y, t; θ) = Σ_n A_n · cos(k_xn·x + k_yn·y − ω_n·t + φ_n)</a:t>
            </a:r>
          </a:p>
          <a:p>
            <a:pPr lvl="2">
              <a:spcAft>
                <a:spcPts val="0"/>
              </a:spcAft>
            </a:pPr>
            <a:r>
              <a:rPr sz="1000"/>
              <a:t>파라미터 θ = {A_n, k_xn, k_yn, φ_n} (ω_n 은 dispersion 으로 자동)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hard constraint</a:t>
            </a:r>
          </a:p>
          <a:p>
            <a:pPr lvl="2">
              <a:spcAft>
                <a:spcPts val="0"/>
              </a:spcAft>
            </a:pPr>
            <a:r>
              <a:rPr sz="1000"/>
              <a:t>ω(k) = √(g·|k|·tanh(|k|·d)) 강제 → 자유도 5N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물리적으로 불가능한 (k, ω) 조합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2단계 흐름</a:t>
            </a:r>
          </a:p>
          <a:p>
            <a:pPr lvl="2">
              <a:spcAft>
                <a:spcPts val="0"/>
              </a:spcAft>
            </a:pPr>
            <a:r>
              <a:rPr sz="1000"/>
              <a:t>Init (1회, 1초 이내): beamforming + coarse-to-fine + Adam refinement</a:t>
            </a:r>
          </a:p>
          <a:p>
            <a:pPr lvl="2">
              <a:spcAft>
                <a:spcPts val="0"/>
              </a:spcAft>
            </a:pPr>
            <a:r>
              <a:rPr sz="1000"/>
              <a:t>Track (매 frame, 13 ms): k 고정, (A, φ) 만 update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처음 한 번만, 가벼운 작업은 매 frame 실시간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성분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 + Growth + Safety rollback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1724"/>
            <a:ext cx="4297680" cy="17688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(1/3) — 왜 multi-frame 이 필요한가</a:t>
            </a:r>
          </a:p>
          <a:p>
            <a:pPr lvl="1">
              <a:spcAft>
                <a:spcPts val="100"/>
              </a:spcAft>
            </a:pPr>
            <a:r>
              <a:rPr sz="1100"/>
              <a:t>Spatial Nyquist 한계 (Shannon-Nyquist 1949)</a:t>
            </a:r>
          </a:p>
          <a:p>
            <a:pPr lvl="2">
              <a:spcAft>
                <a:spcPts val="0"/>
              </a:spcAft>
            </a:pPr>
            <a:r>
              <a:rPr sz="1000"/>
              <a:t>'신호 추정에는 wavelength 의 절반 간격 sampling 필요'</a:t>
            </a:r>
          </a:p>
          <a:p>
            <a:pPr lvl="2">
              <a:spcAft>
                <a:spcPts val="0"/>
              </a:spcAft>
            </a:pPr>
            <a:r>
              <a:rPr sz="1000"/>
              <a:t>점 간격 Δy ≈ 5–8 m → k_max = π/Δy ≈ 0.4–0.6 rad/m</a:t>
            </a:r>
          </a:p>
          <a:p>
            <a:pPr lvl="2">
              <a:spcAft>
                <a:spcPts val="0"/>
              </a:spcAft>
            </a:pPr>
            <a:r>
              <a:rPr sz="1000"/>
              <a:t>Single-frame LiDAR 로 추정 가능한 wavenumber 한계: 약 0.4 rad/m</a:t>
            </a:r>
          </a:p>
          <a:p>
            <a:pPr lvl="1">
              <a:spcAft>
                <a:spcPts val="100"/>
              </a:spcAft>
            </a:pPr>
            <a:r>
              <a:rPr sz="1100"/>
              <a:t>필요한 wavenumber 범위</a:t>
            </a:r>
          </a:p>
          <a:p>
            <a:pPr lvl="2">
              <a:spcAft>
                <a:spcPts val="0"/>
              </a:spcAft>
            </a:pPr>
            <a:r>
              <a:rPr sz="1000"/>
              <a:t>BF3 의 짧은 wave 성분은 Nyquist 한계의 약 3배까지 도달</a:t>
            </a:r>
          </a:p>
          <a:p>
            <a:pPr lvl="2">
              <a:spcAft>
                <a:spcPts val="0"/>
              </a:spcAft>
            </a:pPr>
            <a:r>
              <a:rPr sz="1000"/>
              <a:t>BF5-BF6 dominant wave 는 대부분 Nyquist 이내 (longer wave)</a:t>
            </a:r>
          </a:p>
          <a:p>
            <a:pPr lvl="2">
              <a:spcAft>
                <a:spcPts val="0"/>
              </a:spcAft>
            </a:pPr>
            <a:r>
              <a:rPr sz="1000"/>
              <a:t>결과: BF3 short component 만 single-frame Nyquist 초과 — Paradox</a:t>
            </a:r>
          </a:p>
          <a:p>
            <a:pPr lvl="1">
              <a:spcAft>
                <a:spcPts val="100"/>
              </a:spcAft>
            </a:pPr>
            <a:r>
              <a:rPr sz="1100"/>
              <a:t>해결 —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정지에도 wave 자체의 시간 진화 활용 가능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(x_i, y_i, t_i, η_i) 4D 데이터 → wavenumber 모호성 해소</a:t>
            </a:r>
          </a:p>
          <a:p>
            <a:pPr lvl="1">
              <a:spcAft>
                <a:spcPts val="100"/>
              </a:spcAft>
            </a:pPr>
            <a:r>
              <a:rPr sz="1100"/>
              <a:t>본 case 정량</a:t>
            </a:r>
          </a:p>
          <a:p>
            <a:pPr lvl="2">
              <a:spcAft>
                <a:spcPts val="0"/>
              </a:spcAft>
            </a:pPr>
            <a:r>
              <a:rPr sz="1000"/>
              <a:t>Init window 길이: 2·T_p (sea state 별 약 10–20 초)</a:t>
            </a:r>
          </a:p>
          <a:p>
            <a:pPr lvl="2">
              <a:spcAft>
                <a:spcPts val="0"/>
              </a:spcAft>
            </a:pPr>
            <a:r>
              <a:rPr sz="1000"/>
              <a:t>여러 frame × 점 수십개 → 수천 개 (x, y, t, η) 4D 점 누적</a:t>
            </a:r>
          </a:p>
          <a:p>
            <a:pPr lvl="2">
              <a:spcAft>
                <a:spcPts val="0"/>
              </a:spcAft>
            </a:pPr>
            <a:r>
              <a:rPr sz="1000"/>
              <a:t>시간 정보 + dispersion 의 ω↔k 매핑 → spatial Nyquist 우회</a:t>
            </a:r>
          </a:p>
          <a:p>
            <a:pPr lvl="1">
              <a:spcAft>
                <a:spcPts val="100"/>
              </a:spcAft>
            </a:pPr>
            <a:r>
              <a:rPr sz="1100"/>
              <a:t>Vessel motion 기반 SA (synthetic aperture) 는 현재 미적용 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(2/3) — Beamforming + Coarse-to-fine + Adam</a:t>
            </a:r>
          </a:p>
          <a:p>
            <a:pPr lvl="1">
              <a:spcAft>
                <a:spcPts val="100"/>
              </a:spcAft>
            </a:pPr>
            <a:r>
              <a:rPr sz="1100"/>
              <a:t>Beamforming score (matched filter)</a:t>
            </a:r>
          </a:p>
          <a:p>
            <a:pPr lvl="2">
              <a:spcAft>
                <a:spcPts val="0"/>
              </a:spcAft>
            </a:pPr>
            <a:r>
              <a:rPr sz="1000"/>
              <a:t>S(k) = | Σ_i η_obs(x_i, t_i) · exp(−j(k·x_i − ω(k)·t_i)) |²</a:t>
            </a:r>
          </a:p>
          <a:p>
            <a:pPr lvl="2">
              <a:spcAft>
                <a:spcPts val="0"/>
              </a:spcAft>
            </a:pPr>
            <a:r>
              <a:rPr sz="1000"/>
              <a:t>i: init window 의 모든 점 (frame × 점 수 = 수천 개)</a:t>
            </a:r>
          </a:p>
          <a:p>
            <a:pPr lvl="2">
              <a:spcAft>
                <a:spcPts val="0"/>
              </a:spcAft>
            </a:pPr>
            <a:r>
              <a:rPr sz="1000"/>
              <a:t>ω(k) 는 dispersion 으로 자동 — 2D search (k_x, k_y) 만</a:t>
            </a:r>
          </a:p>
          <a:p>
            <a:pPr lvl="2">
              <a:spcAft>
                <a:spcPts val="0"/>
              </a:spcAft>
            </a:pPr>
            <a:r>
              <a:rPr sz="1000"/>
              <a:t>Search range: k_x, k_y ∈ [-4, 4], 81×81 grid (수천 개 후보)</a:t>
            </a:r>
          </a:p>
          <a:p>
            <a:pPr lvl="1">
              <a:spcAft>
                <a:spcPts val="100"/>
              </a:spcAft>
            </a:pPr>
            <a:r>
              <a:rPr sz="1100"/>
              <a:t>Coarse-to-fine schedule</a:t>
            </a:r>
          </a:p>
          <a:p>
            <a:pPr lvl="2">
              <a:spcAft>
                <a:spcPts val="0"/>
              </a:spcAft>
            </a:pPr>
            <a:r>
              <a:rPr sz="1000"/>
              <a:t>3 stage: N = 3 → 8 → 15 (점진적 component 증가)</a:t>
            </a:r>
          </a:p>
          <a:p>
            <a:pPr lvl="2">
              <a:spcAft>
                <a:spcPts val="0"/>
              </a:spcAft>
            </a:pPr>
            <a:r>
              <a:rPr sz="1000"/>
              <a:t>Loss threshold 충족 시 다음 stage 로 advance</a:t>
            </a:r>
          </a:p>
          <a:p>
            <a:pPr lvl="2">
              <a:spcAft>
                <a:spcPts val="0"/>
              </a:spcAft>
            </a:pPr>
            <a:r>
              <a:rPr sz="1000"/>
              <a:t>빠른 수렴 → 다음 단계 즉시 진행 (전체 시간 단축)</a:t>
            </a:r>
          </a:p>
          <a:p>
            <a:pPr lvl="1">
              <a:spcAft>
                <a:spcPts val="100"/>
              </a:spcAft>
            </a:pPr>
            <a:r>
              <a:rPr sz="1100"/>
              <a:t>Adam refinement (multi-frame fitting)</a:t>
            </a:r>
          </a:p>
          <a:p>
            <a:pPr lvl="2">
              <a:spcAft>
                <a:spcPts val="0"/>
              </a:spcAft>
            </a:pPr>
            <a:r>
              <a:rPr sz="1000"/>
              <a:t>파라미터 (k_x, k_y, A, φ) 동시 update</a:t>
            </a:r>
          </a:p>
          <a:p>
            <a:pPr lvl="2">
              <a:spcAft>
                <a:spcPts val="0"/>
              </a:spcAft>
            </a:pPr>
            <a:r>
              <a:rPr sz="1000"/>
              <a:t>(k_x, k_y) 는 lr 의 절반으로 천천히 update (k 변화 신중)</a:t>
            </a:r>
          </a:p>
          <a:p>
            <a:pPr lvl="2">
              <a:spcAft>
                <a:spcPts val="0"/>
              </a:spcAft>
            </a:pPr>
            <a:r>
              <a:rPr sz="1000"/>
              <a:t>Loss = data fit (averaged + confidence-weighted) + L1 sparsity + spectral smoothness</a:t>
            </a:r>
          </a:p>
          <a:p>
            <a:pPr lvl="1">
              <a:spcAft>
                <a:spcPts val="100"/>
              </a:spcAft>
            </a:pPr>
            <a:r>
              <a:rPr sz="1100"/>
              <a:t>주요 hyperparameter</a:t>
            </a:r>
          </a:p>
          <a:p>
            <a:pPr lvl="2">
              <a:spcAft>
                <a:spcPts val="0"/>
              </a:spcAft>
            </a:pPr>
            <a:r>
              <a:rPr sz="1000"/>
              <a:t>L1 sparsity 가중치 λ_L1 = 0.001</a:t>
            </a:r>
          </a:p>
          <a:p>
            <a:pPr lvl="2">
              <a:spcAft>
                <a:spcPts val="0"/>
              </a:spcAft>
            </a:pPr>
            <a:r>
              <a:rPr sz="1000"/>
              <a:t>Spectral smoothness 가중치 λ_smooth = 0.0001</a:t>
            </a:r>
          </a:p>
          <a:p>
            <a:pPr lvl="2">
              <a:spcAft>
                <a:spcPts val="0"/>
              </a:spcAft>
            </a:pPr>
            <a:r>
              <a:rPr sz="1000"/>
              <a:t>Steepness clamp ε_max = 0.15 (Q 제약 보호)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(3/3) — Beamforming Score 식 유도</a:t>
            </a:r>
          </a:p>
          <a:p>
            <a:pPr lvl="1">
              <a:spcAft>
                <a:spcPts val="100"/>
              </a:spcAft>
            </a:pPr>
            <a:r>
              <a:rPr sz="1100"/>
              <a:t>핵심 직관 — matched filter 의 코러스 효과</a:t>
            </a:r>
          </a:p>
          <a:p>
            <a:pPr lvl="2">
              <a:spcAft>
                <a:spcPts val="0"/>
              </a:spcAft>
            </a:pPr>
            <a:r>
              <a:rPr sz="1000"/>
              <a:t>실제 wave (k, ω) 면 measurement η_obs · exp(−j(k·x − ω·t)) 가 phase 정렬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ω): 모든 점에서 phase 일치 → 합 절댓값 N 배 증가</a:t>
            </a:r>
          </a:p>
          <a:p>
            <a:pPr lvl="2">
              <a:spcAft>
                <a:spcPts val="0"/>
              </a:spcAft>
            </a:pPr>
            <a:r>
              <a:rPr sz="1000"/>
              <a:t>틀린 (k, ω): random phase → 합 √N 으로만 증가</a:t>
            </a:r>
          </a:p>
          <a:p>
            <a:pPr lvl="2">
              <a:spcAft>
                <a:spcPts val="0"/>
              </a:spcAft>
            </a:pPr>
            <a:r>
              <a:rPr sz="1000"/>
              <a:t>→ SNR gain = N²/N = N (점 수에 비례)</a:t>
            </a:r>
          </a:p>
          <a:p>
            <a:pPr lvl="1">
              <a:spcAft>
                <a:spcPts val="100"/>
              </a:spcAft>
            </a:pPr>
            <a:r>
              <a:rPr sz="1100"/>
              <a:t>Score 식의 기여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 일 때: S = (NA/2)² ∝ N² (coherent stack)</a:t>
            </a:r>
          </a:p>
          <a:p>
            <a:pPr lvl="2">
              <a:spcAft>
                <a:spcPts val="0"/>
              </a:spcAft>
            </a:pPr>
            <a:r>
              <a:rPr sz="1000"/>
              <a:t>틀린 (k, ω) 일 때: S ∝ N (random phase, incoherent)</a:t>
            </a:r>
          </a:p>
          <a:p>
            <a:pPr lvl="2">
              <a:spcAft>
                <a:spcPts val="0"/>
              </a:spcAft>
            </a:pPr>
            <a:r>
              <a:rPr sz="1000"/>
              <a:t>Init window 의 수천 4D 점으로 충분한 SNR gain 확보 (~10·log10(N) dB)</a:t>
            </a:r>
          </a:p>
          <a:p>
            <a:pPr lvl="1">
              <a:spcAft>
                <a:spcPts val="100"/>
              </a:spcAft>
            </a:pPr>
            <a:r>
              <a:rPr sz="1100"/>
              <a:t>왜 이 형태가 표준인가</a:t>
            </a:r>
          </a:p>
          <a:p>
            <a:pPr lvl="2">
              <a:spcAft>
                <a:spcPts val="0"/>
              </a:spcAft>
            </a:pPr>
            <a:r>
              <a:rPr sz="1000"/>
              <a:t>Delay-and-sum beamforming (Kraus 1988, Van Trees 2002)</a:t>
            </a:r>
          </a:p>
          <a:p>
            <a:pPr lvl="2">
              <a:spcAft>
                <a:spcPts val="0"/>
              </a:spcAft>
            </a:pPr>
            <a:r>
              <a:rPr sz="1000"/>
              <a:t>Matched filter 정리 (Turin 1960) — Gaussian noise 에서 SNR 최대화</a:t>
            </a:r>
          </a:p>
          <a:p>
            <a:pPr lvl="2">
              <a:spcAft>
                <a:spcPts val="0"/>
              </a:spcAft>
            </a:pPr>
            <a:r>
              <a:rPr sz="1000"/>
              <a:t>단순·robust — covariance matrix 추정 불필요 (sparse 적합)</a:t>
            </a:r>
          </a:p>
          <a:p>
            <a:pPr lvl="1">
              <a:spcAft>
                <a:spcPts val="100"/>
              </a:spcAft>
            </a:pPr>
            <a:r>
              <a:rPr sz="1100"/>
              <a:t>Dispersion 으로 차원 축소</a:t>
            </a:r>
          </a:p>
          <a:p>
            <a:pPr lvl="2">
              <a:spcAft>
                <a:spcPts val="0"/>
              </a:spcAft>
            </a:pPr>
            <a:r>
              <a:rPr sz="1000"/>
              <a:t>Dispersion 없이 3D search (k_x, k_y, ω) → 후보 수십만 개 (계산 비현실적)</a:t>
            </a:r>
          </a:p>
          <a:p>
            <a:pPr lvl="2">
              <a:spcAft>
                <a:spcPts val="0"/>
              </a:spcAft>
            </a:pPr>
            <a:r>
              <a:rPr sz="1000"/>
              <a:t>Dispersion 강제로 2D search (k_x, k_y) → 후보 수천 개로 축소</a:t>
            </a:r>
          </a:p>
          <a:p>
            <a:pPr lvl="1">
              <a:spcAft>
                <a:spcPts val="100"/>
              </a:spcAft>
            </a:pPr>
            <a:r>
              <a:rPr sz="1100"/>
              <a:t>다른 spectral 방법 비교</a:t>
            </a:r>
          </a:p>
          <a:p>
            <a:pPr lvl="2">
              <a:spcAft>
                <a:spcPts val="0"/>
              </a:spcAft>
            </a:pPr>
            <a:r>
              <a:rPr sz="1000"/>
              <a:t>MUSIC, ESPRIT (subspace): 더 정확하나 covariance 필요 → sparse 부적합</a:t>
            </a:r>
          </a:p>
          <a:p>
            <a:pPr lvl="2">
              <a:spcAft>
                <a:spcPts val="0"/>
              </a:spcAft>
            </a:pPr>
            <a:r>
              <a:rPr sz="1000"/>
              <a:t>Capon/MVDR (adaptive): 더 좋은 resolution 이나 ill-conditioning 위험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Track + Adaptive N — 매 frame 13 ms</a:t>
            </a:r>
          </a:p>
          <a:p>
            <a:pPr lvl="1">
              <a:spcAft>
                <a:spcPts val="100"/>
              </a:spcAft>
            </a:pPr>
            <a:r>
              <a:rPr sz="1100"/>
              <a:t>w_phi tracking mode (configs default)</a:t>
            </a:r>
          </a:p>
          <a:p>
            <a:pPr lvl="2">
              <a:spcAft>
                <a:spcPts val="0"/>
              </a:spcAft>
            </a:pPr>
            <a:r>
              <a:rPr sz="1000"/>
              <a:t>(k_x, k_y): Init 결과 고정 — 변경 안 함</a:t>
            </a:r>
          </a:p>
          <a:p>
            <a:pPr lvl="2">
              <a:spcAft>
                <a:spcPts val="0"/>
              </a:spcAft>
            </a:pPr>
            <a:r>
              <a:rPr sz="1000"/>
              <a:t>ω: dispersion 으로 자동 (k 에서 계산)</a:t>
            </a:r>
          </a:p>
          <a:p>
            <a:pPr lvl="2">
              <a:spcAft>
                <a:spcPts val="0"/>
              </a:spcAft>
            </a:pPr>
            <a:r>
              <a:rPr sz="1000"/>
              <a:t>(A, φ): Adam 으로 매 frame update — 자유도 2N</a:t>
            </a:r>
          </a:p>
          <a:p>
            <a:pPr lvl="1">
              <a:spcAft>
                <a:spcPts val="100"/>
              </a:spcAft>
            </a:pPr>
            <a:r>
              <a:rPr sz="1100"/>
              <a:t>Adam optimizer update rule (Kingma &amp; Ba 2015, arXiv:1412.6980)</a:t>
            </a:r>
          </a:p>
          <a:p>
            <a:pPr lvl="2">
              <a:spcAft>
                <a:spcPts val="0"/>
              </a:spcAft>
            </a:pPr>
            <a:r>
              <a:rPr sz="1000"/>
              <a:t>m_t = β₁·m_{t-1} + (1−β₁)·∇L (β₁=0.9)</a:t>
            </a:r>
          </a:p>
          <a:p>
            <a:pPr lvl="2">
              <a:spcAft>
                <a:spcPts val="0"/>
              </a:spcAft>
            </a:pPr>
            <a:r>
              <a:rPr sz="1000"/>
              <a:t>v_t = β₂·v_{t-1} + (1−β₂)·(∇L)² (β₂=0.999)</a:t>
            </a:r>
          </a:p>
          <a:p>
            <a:pPr lvl="2">
              <a:spcAft>
                <a:spcPts val="0"/>
              </a:spcAft>
            </a:pPr>
            <a:r>
              <a:rPr sz="1000"/>
              <a:t>θ ← θ − lr · m̂_t / (√v̂_t + ε)</a:t>
            </a:r>
          </a:p>
          <a:p>
            <a:pPr lvl="2">
              <a:spcAft>
                <a:spcPts val="0"/>
              </a:spcAft>
            </a:pPr>
            <a:r>
              <a:rPr sz="1000"/>
              <a:t>tracking_lr = 0.005, tracking_steps = 10/frame → 약 13 ms</a:t>
            </a:r>
          </a:p>
          <a:p>
            <a:pPr lvl="1">
              <a:spcAft>
                <a:spcPts val="100"/>
              </a:spcAft>
            </a:pPr>
            <a:r>
              <a:rPr sz="1100"/>
              <a:t>Phase prediction (kinematic preview)</a:t>
            </a:r>
          </a:p>
          <a:p>
            <a:pPr lvl="2">
              <a:spcAft>
                <a:spcPts val="0"/>
              </a:spcAft>
            </a:pPr>
            <a:r>
              <a:rPr sz="1000"/>
              <a:t>매 update 전: φ_i ← φ_i + ω_i · Δt</a:t>
            </a:r>
          </a:p>
          <a:p>
            <a:pPr lvl="2">
              <a:spcAft>
                <a:spcPts val="0"/>
              </a:spcAft>
            </a:pPr>
            <a:r>
              <a:rPr sz="1000"/>
              <a:t>Tracking window = 3 frames (recent buffer)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component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Pruning: cumulative energy 90% 유지 (prune_threshold=0.10)</a:t>
            </a:r>
          </a:p>
          <a:p>
            <a:pPr lvl="2">
              <a:spcAft>
                <a:spcPts val="0"/>
              </a:spcAft>
            </a:pPr>
            <a:r>
              <a:rPr sz="1000"/>
              <a:t>Growth: residual RMS &gt; 0.05 m 시 새 (k_x,k_y) 추가 (max_n=30)</a:t>
            </a:r>
          </a:p>
          <a:p>
            <a:pPr lvl="2">
              <a:spcAft>
                <a:spcPts val="0"/>
              </a:spcAft>
            </a:pPr>
            <a:r>
              <a:rPr sz="1000"/>
              <a:t>Safety rollback: 변경 전후 RMS_after &gt; 1.3 × RMS_before → 즉시 복구</a:t>
            </a:r>
          </a:p>
          <a:p>
            <a:pPr lvl="1">
              <a:spcAft>
                <a:spcPts val="100"/>
              </a:spcAft>
            </a:pPr>
            <a:r>
              <a:rPr sz="1100"/>
              <a:t>왜 k 고정?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82880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12-episode benchmark 결과</a:t>
            </a:r>
          </a:p>
          <a:p>
            <a:pPr lvl="1">
              <a:spcAft>
                <a:spcPts val="100"/>
              </a:spcAft>
            </a:pPr>
            <a:r>
              <a:rPr sz="1100"/>
              <a:t>WaveSplat 정확도 16% 우위 + 47배 빠름 (CPU only)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comp): 압도적 / 복잡 파도 (≥15): 일부 역전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926080"/>
          <a:ext cx="8503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5980"/>
                <a:gridCol w="2125980"/>
                <a:gridCol w="2125980"/>
                <a:gridCol w="212598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특징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13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연속 파라미터 추정, real-time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Wang2025 ETKF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논문 충실 재현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2023 FNO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1.9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3120개 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2025 PFT-PINN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~30 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0개, instance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Yan 2025 VOF-EnKF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오프라인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wave breaking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Episode-level 패턴 — 강점과 한계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components) — WaveSplat 압도</a:t>
            </a:r>
          </a:p>
          <a:p>
            <a:pPr lvl="2">
              <a:spcAft>
                <a:spcPts val="0"/>
              </a:spcAft>
            </a:pPr>
            <a:r>
              <a:rPr sz="1000"/>
              <a:t>BF3_2comp: 0.052 vs Wang2025 0.250 — 거의 완벽 추정</a:t>
            </a:r>
          </a:p>
          <a:p>
            <a:pPr lvl="2">
              <a:spcAft>
                <a:spcPts val="0"/>
              </a:spcAft>
            </a:pPr>
            <a:r>
              <a:rPr sz="1000"/>
              <a:t>소성분이면 파라미터 적어 50개 관측으로 직접 추정 가능</a:t>
            </a:r>
          </a:p>
          <a:p>
            <a:pPr lvl="2">
              <a:spcAft>
                <a:spcPts val="0"/>
              </a:spcAft>
            </a:pPr>
            <a:r>
              <a:rPr sz="1000"/>
              <a:t>격자 방법은 성분 수와 무관하게 격자 해상도 한계</a:t>
            </a:r>
          </a:p>
          <a:p>
            <a:pPr lvl="1">
              <a:spcAft>
                <a:spcPts val="100"/>
              </a:spcAft>
            </a:pPr>
            <a:r>
              <a:rPr sz="1100"/>
              <a:t>복잡 파도 (15–30 components) — Wang2025 일부 우세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격자는 모든 성분을 한꺼번에 담을 수 있음</a:t>
            </a:r>
          </a:p>
          <a:p>
            <a:pPr lvl="2">
              <a:spcAft>
                <a:spcPts val="0"/>
              </a:spcAft>
            </a:pPr>
            <a:r>
              <a:rPr sz="1000"/>
              <a:t>WaveSplat 은 성분을 하나씩 찾아야 — beamforming peak 분리 어려움</a:t>
            </a:r>
          </a:p>
          <a:p>
            <a:pPr lvl="1">
              <a:spcAft>
                <a:spcPts val="100"/>
              </a:spcAft>
            </a:pPr>
            <a:r>
              <a:rPr sz="1100"/>
              <a:t>Reversal point — 약 N=15 component</a:t>
            </a:r>
          </a:p>
          <a:p>
            <a:pPr lvl="2">
              <a:spcAft>
                <a:spcPts val="0"/>
              </a:spcAft>
            </a:pPr>
            <a:r>
              <a:rPr sz="1000"/>
              <a:t>단순 파도: 파라미터 표현이 효율</a:t>
            </a:r>
          </a:p>
          <a:p>
            <a:pPr lvl="2">
              <a:spcAft>
                <a:spcPts val="0"/>
              </a:spcAft>
            </a:pPr>
            <a:r>
              <a:rPr sz="1000"/>
              <a:t>복잡 파도: 격자 표현이 표현력 우위</a:t>
            </a:r>
          </a:p>
          <a:p>
            <a:pPr lvl="1">
              <a:spcAft>
                <a:spcPts val="100"/>
              </a:spcAft>
            </a:pPr>
            <a:r>
              <a:rPr sz="1100"/>
              <a:t>대응 — hybrid init (향후 연구)</a:t>
            </a:r>
          </a:p>
          <a:p>
            <a:pPr lvl="2">
              <a:spcAft>
                <a:spcPts val="0"/>
              </a:spcAft>
            </a:pPr>
            <a:r>
              <a:rPr sz="1000"/>
              <a:t>격자로 대략 분포 파악 → 파라미터로 정밀화</a:t>
            </a:r>
          </a:p>
          <a:p>
            <a:pPr lvl="2">
              <a:spcAft>
                <a:spcPts val="0"/>
              </a:spcAft>
            </a:pPr>
            <a:r>
              <a:rPr sz="1000"/>
              <a:t>두 표현의 장점 결합</a:t>
            </a:r>
          </a:p>
          <a:p>
            <a:pPr lvl="2">
              <a:spcAft>
                <a:spcPts val="0"/>
              </a:spcAft>
            </a:pPr>
            <a:r>
              <a:rPr sz="1000"/>
              <a:t>Learned init (NN 기반) 도 대안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10624"/>
            <a:ext cx="4297680" cy="21110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Ablation — 두 메커니즘의 시너지</a:t>
            </a:r>
          </a:p>
          <a:p>
            <a:pPr lvl="1">
              <a:spcAft>
                <a:spcPts val="100"/>
              </a:spcAft>
            </a:pPr>
            <a:r>
              <a:rPr sz="1100"/>
              <a:t>4 가지 변형 비교 (12 episodes)</a:t>
            </a:r>
          </a:p>
          <a:p>
            <a:pPr lvl="2">
              <a:spcAft>
                <a:spcPts val="0"/>
              </a:spcAft>
            </a:pPr>
            <a:r>
              <a:rPr sz="1000"/>
              <a:t>A (spatial-only): single-frame, no dispersion → nRMSE 0.213</a:t>
            </a:r>
          </a:p>
          <a:p>
            <a:pPr lvl="2">
              <a:spcAft>
                <a:spcPts val="0"/>
              </a:spcAft>
            </a:pPr>
            <a:r>
              <a:rPr sz="1000"/>
              <a:t>B (multi-frame, no dispersion): → 0.208 (A 보다 개선)</a:t>
            </a:r>
          </a:p>
          <a:p>
            <a:pPr lvl="2">
              <a:spcAft>
                <a:spcPts val="0"/>
              </a:spcAft>
            </a:pPr>
            <a:r>
              <a:rPr sz="1000"/>
              <a:t>C (disp-coupled, single-frame): → 0.226 (오히려 악화)</a:t>
            </a:r>
          </a:p>
          <a:p>
            <a:pPr lvl="2">
              <a:spcAft>
                <a:spcPts val="0"/>
              </a:spcAft>
            </a:pPr>
            <a:r>
              <a:rPr sz="1000"/>
              <a:t>D = WaveSplat (full):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C 가 왜 악화되는가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추정 부정확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잘못된 k → 잘못된 ω 전파</a:t>
            </a:r>
          </a:p>
          <a:p>
            <a:pPr lvl="2">
              <a:spcAft>
                <a:spcPts val="0"/>
              </a:spcAft>
            </a:pPr>
            <a:r>
              <a:rPr sz="1000"/>
              <a:t>오류가 amplify 됨 (cascading failure)</a:t>
            </a:r>
          </a:p>
          <a:p>
            <a:pPr lvl="1">
              <a:spcAft>
                <a:spcPts val="100"/>
              </a:spcAft>
            </a:pPr>
            <a:r>
              <a:rPr sz="1100"/>
              <a:t>D 가 어떻게 안정화 되는가</a:t>
            </a:r>
          </a:p>
          <a:p>
            <a:pPr lvl="2">
              <a:spcAft>
                <a:spcPts val="0"/>
              </a:spcAft>
            </a:pPr>
            <a:r>
              <a:rPr sz="1000"/>
              <a:t>Multi-frame 으로 k 정확 추정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ω 자동 결정 (자유도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+ dispersion 결합 시 시너지</a:t>
            </a:r>
          </a:p>
          <a:p>
            <a:pPr lvl="1">
              <a:spcAft>
                <a:spcPts val="100"/>
              </a:spcAft>
            </a:pPr>
            <a:r>
              <a:rPr sz="1100"/>
              <a:t>핵심 메시지</a:t>
            </a:r>
          </a:p>
          <a:p>
            <a:pPr lvl="2">
              <a:spcAft>
                <a:spcPts val="0"/>
              </a:spcAft>
            </a:pPr>
            <a:r>
              <a:rPr sz="1000"/>
              <a:t>물리 법칙 (dispersion) 은 마법 아닌 *정규화* 역할</a:t>
            </a:r>
          </a:p>
          <a:p>
            <a:pPr lvl="2">
              <a:spcAft>
                <a:spcPts val="0"/>
              </a:spcAft>
            </a:pPr>
            <a:r>
              <a:rPr sz="1000"/>
              <a:t>Multi-frame 과 함께 써야 효과 발휘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단독은 불완전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90402"/>
            <a:ext cx="4297680" cy="23515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핵심 메커니즘 — 분산 관계 = 물리적 정규화 장치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1 — 자유도 감소</a:t>
            </a:r>
          </a:p>
          <a:p>
            <a:pPr lvl="2">
              <a:spcAft>
                <a:spcPts val="0"/>
              </a:spcAft>
            </a:pPr>
            <a:r>
              <a:rPr sz="1000"/>
              <a:t>분산 관계: ω = √(g·|k|·tanh(|k|·d))</a:t>
            </a:r>
          </a:p>
          <a:p>
            <a:pPr lvl="2">
              <a:spcAft>
                <a:spcPts val="0"/>
              </a:spcAft>
            </a:pPr>
            <a:r>
              <a:rPr sz="1000"/>
              <a:t>주파수 ω 가 파수 k 로부터 자동 결정</a:t>
            </a:r>
          </a:p>
          <a:p>
            <a:pPr lvl="2">
              <a:spcAft>
                <a:spcPts val="0"/>
              </a:spcAft>
            </a:pPr>
            <a:r>
              <a:rPr sz="1000"/>
              <a:t>적용 전: 5N 변수 (A, k_x, k_y, ω, φ)</a:t>
            </a:r>
          </a:p>
          <a:p>
            <a:pPr lvl="2">
              <a:spcAft>
                <a:spcPts val="0"/>
              </a:spcAft>
            </a:pPr>
            <a:r>
              <a:rPr sz="1000"/>
              <a:t>적용 후: 4N 변수 (A, k_x, k_y, φ) — 20% 감소</a:t>
            </a:r>
          </a:p>
          <a:p>
            <a:pPr lvl="2">
              <a:spcAft>
                <a:spcPts val="0"/>
              </a:spcAft>
            </a:pPr>
            <a:r>
              <a:rPr sz="1000"/>
              <a:t>추가 효과: 물리적으로 불가능한 (k, ω)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2 — Multi-frame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정지여도 wave 자체의 시간 진화 → multi-frame 효과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(x, y, t, η) 4D 정보 → k 모호성 해소</a:t>
            </a:r>
          </a:p>
          <a:p>
            <a:pPr lvl="2">
              <a:spcAft>
                <a:spcPts val="0"/>
              </a:spcAft>
            </a:pPr>
            <a:r>
              <a:rPr sz="1000"/>
              <a:t>Note: vessel motion 기반 SA 는 현재 미적용 → 향후 연구</a:t>
            </a:r>
          </a:p>
          <a:p>
            <a:pPr lvl="1">
              <a:spcAft>
                <a:spcPts val="100"/>
              </a:spcAft>
            </a:pPr>
            <a:r>
              <a:rPr sz="1100"/>
              <a:t>두 메커니즘의 시너지 (Ablation 결과)</a:t>
            </a:r>
          </a:p>
          <a:p>
            <a:pPr lvl="2">
              <a:spcAft>
                <a:spcPts val="0"/>
              </a:spcAft>
            </a:pPr>
            <a:r>
              <a:rPr sz="1000"/>
              <a:t>단독으로는 불완전: dispersion 단독 → 0.226 (악화)</a:t>
            </a:r>
          </a:p>
          <a:p>
            <a:pPr lvl="2">
              <a:spcAft>
                <a:spcPts val="0"/>
              </a:spcAft>
            </a:pPr>
            <a:r>
              <a:rPr sz="1000"/>
              <a:t>Multi-frame 단독 → 0.208 (개선되나 불안정)</a:t>
            </a:r>
          </a:p>
          <a:p>
            <a:pPr lvl="2">
              <a:spcAft>
                <a:spcPts val="0"/>
              </a:spcAft>
            </a:pPr>
            <a:r>
              <a:rPr sz="1000"/>
              <a:t>결합 (D=WaveSplat)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직관 비유</a:t>
            </a:r>
          </a:p>
          <a:p>
            <a:pPr lvl="2">
              <a:spcAft>
                <a:spcPts val="0"/>
              </a:spcAft>
            </a:pPr>
            <a:r>
              <a:rPr sz="1000"/>
              <a:t>Dispersion = '눈가리개' (물리 법칙으로 답 좁히기)</a:t>
            </a:r>
          </a:p>
          <a:p>
            <a:pPr lvl="2">
              <a:spcAft>
                <a:spcPts val="0"/>
              </a:spcAft>
            </a:pPr>
            <a:r>
              <a:rPr sz="1000"/>
              <a:t>Multi-frame = '여러 사진 으로 모호성 해소'</a:t>
            </a:r>
          </a:p>
          <a:p>
            <a:pPr lvl="2">
              <a:spcAft>
                <a:spcPts val="0"/>
              </a:spcAft>
            </a:pPr>
            <a:r>
              <a:rPr sz="1000"/>
              <a:t>둘 다 있어야 sparse LiDAR 로 phase-resolved 추정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5241"/>
            <a:ext cx="4297680" cy="17618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왜 2단계 설계가 자연스러운가</a:t>
            </a:r>
          </a:p>
          <a:p>
            <a:pPr lvl="1">
              <a:spcAft>
                <a:spcPts val="100"/>
              </a:spcAft>
            </a:pPr>
            <a:r>
              <a:rPr sz="1100"/>
              <a:t>핵심 관찰 — 변수마다 필요한 정보가 다름</a:t>
            </a:r>
          </a:p>
          <a:p>
            <a:pPr lvl="2">
              <a:spcAft>
                <a:spcPts val="0"/>
              </a:spcAft>
            </a:pPr>
            <a:r>
              <a:rPr sz="1000"/>
              <a:t>파수 k = (k_x, k_y): 여러 frame 시간 정보 필요 (공간 패턴)</a:t>
            </a:r>
          </a:p>
          <a:p>
            <a:pPr lvl="2">
              <a:spcAft>
                <a:spcPts val="0"/>
              </a:spcAft>
            </a:pPr>
            <a:r>
              <a:rPr sz="1000"/>
              <a:t>주파수 ω, 진폭 A, 위상 φ: 한 frame 만으로도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2단계로 자연 분리</a:t>
            </a:r>
          </a:p>
          <a:p>
            <a:pPr lvl="2">
              <a:spcAft>
                <a:spcPts val="0"/>
              </a:spcAft>
            </a:pPr>
            <a:r>
              <a:rPr sz="1000"/>
              <a:t>Init: 여러 frame 모아 k 정확히 결정 — 한 번만 (&lt; 1 s)</a:t>
            </a:r>
          </a:p>
          <a:p>
            <a:pPr lvl="2">
              <a:spcAft>
                <a:spcPts val="0"/>
              </a:spcAft>
            </a:pPr>
            <a:r>
              <a:rPr sz="1000"/>
              <a:t>Track: k 고정, ω·A·φ 만 매 frame update — 실시간 (&lt; 13 ms)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한 번, 가벼운 작업은 매 frame</a:t>
            </a:r>
          </a:p>
          <a:p>
            <a:pPr lvl="1">
              <a:spcAft>
                <a:spcPts val="100"/>
              </a:spcAft>
            </a:pPr>
            <a:r>
              <a:rPr sz="1100"/>
              <a:t>Identifiability 증거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  <a:p>
            <a:pPr lvl="2">
              <a:spcAft>
                <a:spcPts val="0"/>
              </a:spcAft>
            </a:pPr>
            <a:r>
              <a:rPr sz="1000"/>
              <a:t>k 고정 → 자유도 5N → 2N → 안정적 추정</a:t>
            </a:r>
          </a:p>
          <a:p>
            <a:pPr lvl="1">
              <a:spcAft>
                <a:spcPts val="100"/>
              </a:spcAft>
            </a:pPr>
            <a:r>
              <a:rPr sz="1100"/>
              <a:t>전체 흐름 정리</a:t>
            </a:r>
          </a:p>
          <a:p>
            <a:pPr lvl="2">
              <a:spcAft>
                <a:spcPts val="0"/>
              </a:spcAft>
            </a:pPr>
            <a:r>
              <a:rPr sz="1000"/>
              <a:t>1. Multi-frame temporal coherence → 파수 추정 (Init)</a:t>
            </a:r>
          </a:p>
          <a:p>
            <a:pPr lvl="2">
              <a:spcAft>
                <a:spcPts val="0"/>
              </a:spcAft>
            </a:pPr>
            <a:r>
              <a:rPr sz="1000"/>
              <a:t>2. 분산 관계로 ω↔k 결합 → 자유도 감소 + 물리적 제약</a:t>
            </a:r>
          </a:p>
          <a:p>
            <a:pPr lvl="2">
              <a:spcAft>
                <a:spcPts val="0"/>
              </a:spcAft>
            </a:pPr>
            <a:r>
              <a:rPr sz="1000"/>
              <a:t>3. 매 frame Adam → 실시간 (A, φ) 추적</a:t>
            </a:r>
          </a:p>
          <a:p>
            <a:pPr lvl="2">
              <a:spcAft>
                <a:spcPts val="0"/>
              </a:spcAft>
            </a:pPr>
            <a:r>
              <a:rPr sz="1000"/>
              <a:t>4. Adaptive N → 성분 수 자동 조정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한계 — 4 가지 정직한 제약</a:t>
            </a:r>
          </a:p>
          <a:p>
            <a:pPr lvl="1">
              <a:spcAft>
                <a:spcPts val="100"/>
              </a:spcAft>
            </a:pPr>
            <a:r>
              <a:rPr sz="1100"/>
              <a:t>한계 1 — 선형 근사 (Linear Wave Theory)</a:t>
            </a:r>
          </a:p>
          <a:p>
            <a:pPr lvl="2">
              <a:spcAft>
                <a:spcPts val="0"/>
              </a:spcAft>
            </a:pPr>
            <a:r>
              <a:rPr sz="1000"/>
              <a:t>파도를 사인파의 합으로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파도는 꼭대기 뾰족·골 넓음 (비선형)</a:t>
            </a:r>
          </a:p>
          <a:p>
            <a:pPr lvl="2">
              <a:spcAft>
                <a:spcPts val="0"/>
              </a:spcAft>
            </a:pPr>
            <a:r>
              <a:rPr sz="1000"/>
              <a:t>Klein 2020 비교: HOSM &gt; NLSE2 &gt; NLSE &gt; LWT 순서</a:t>
            </a:r>
          </a:p>
          <a:p>
            <a:pPr lvl="2">
              <a:spcAft>
                <a:spcPts val="0"/>
              </a:spcAft>
            </a:pPr>
            <a:r>
              <a:rPr sz="1000"/>
              <a:t>ε &lt; 0.07 신뢰 → BF6 까지 적용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Stokes 2차 보정 → 적용 범위 확장</a:t>
            </a:r>
          </a:p>
          <a:p>
            <a:pPr lvl="1">
              <a:spcAft>
                <a:spcPts val="100"/>
              </a:spcAft>
            </a:pPr>
            <a:r>
              <a:rPr sz="1100"/>
              <a:t>한계 2 — 복잡 파도 (≥15 components) 정확도 저하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원인: beamforming 이 다수 peak 분리 어려움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hybrid init (격자 + 파라미터 정밀화)</a:t>
            </a:r>
          </a:p>
          <a:p>
            <a:pPr lvl="1">
              <a:spcAft>
                <a:spcPts val="100"/>
              </a:spcAft>
            </a:pPr>
            <a:r>
              <a:rPr sz="1100"/>
              <a:t>한계 3 — 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본 dataset 은 vessel 정지 상태로 합성 — synthetic aperture (SA) 미적용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 시간 진화에 의존 (vessel 운동 효과 X)</a:t>
            </a:r>
          </a:p>
          <a:p>
            <a:pPr lvl="2">
              <a:spcAft>
                <a:spcPts val="0"/>
              </a:spcAft>
            </a:pPr>
            <a:r>
              <a:rPr sz="1000"/>
              <a:t>영향: 매우 긴 swell (λ &gt; 250 m) 의 direction 해상도 저하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vessel motion 도입 → V·T 만큼 synthetic aperture 효과</a:t>
            </a:r>
          </a:p>
          <a:p>
            <a:pPr lvl="1">
              <a:spcAft>
                <a:spcPts val="100"/>
              </a:spcAft>
            </a:pPr>
            <a:r>
              <a:rPr sz="1100"/>
              <a:t>한계 4 — Wave breaking + 유속장 미지원</a:t>
            </a:r>
          </a:p>
          <a:p>
            <a:pPr lvl="2">
              <a:spcAft>
                <a:spcPts val="0"/>
              </a:spcAft>
            </a:pPr>
            <a:r>
              <a:rPr sz="1000"/>
              <a:t>VOF-EnKF, PFT-PINN 영역 (offline only)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real-time 제어 영역 — 응용 자체가 다름</a:t>
            </a:r>
          </a:p>
          <a:p>
            <a:pPr lvl="2">
              <a:spcAft>
                <a:spcPts val="0"/>
              </a:spcAft>
            </a:pPr>
            <a:r>
              <a:rPr sz="1000"/>
              <a:t>필요 시 응용 분야 분리하여 향후 협업 연구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사례 — Hydrofoil ride control</a:t>
            </a:r>
          </a:p>
          <a:p>
            <a:pPr lvl="1">
              <a:spcAft>
                <a:spcPts val="100"/>
              </a:spcAft>
            </a:pPr>
            <a:r>
              <a:rPr sz="1100"/>
              <a:t>왜 hydrofoil 인가</a:t>
            </a:r>
          </a:p>
          <a:p>
            <a:pPr lvl="2">
              <a:spcAft>
                <a:spcPts val="0"/>
              </a:spcAft>
            </a:pPr>
            <a:r>
              <a:rPr sz="1000"/>
              <a:t>Hydrofoil 은 파도 만나면 lift 변동 → heave/pitch 흔들림 → 승차감 저하</a:t>
            </a:r>
          </a:p>
          <a:p>
            <a:pPr lvl="2">
              <a:spcAft>
                <a:spcPts val="0"/>
              </a:spcAft>
            </a:pPr>
            <a:r>
              <a:rPr sz="1000"/>
              <a:t>앞쪽 파도 preview 있으면 fin angle 미리 조절 가능</a:t>
            </a:r>
          </a:p>
          <a:p>
            <a:pPr lvl="1">
              <a:spcAft>
                <a:spcPts val="100"/>
              </a:spcAft>
            </a:pPr>
            <a:r>
              <a:rPr sz="1100"/>
              <a:t>제어 구조 — PD vs PD + FF (Feed-Forward)</a:t>
            </a:r>
          </a:p>
          <a:p>
            <a:pPr lvl="2">
              <a:spcAft>
                <a:spcPts val="0"/>
              </a:spcAft>
            </a:pPr>
            <a:r>
              <a:rPr sz="1000"/>
              <a:t>기존 PD: heave error 만 보고 fin 조절 (feedback only)</a:t>
            </a:r>
          </a:p>
          <a:p>
            <a:pPr lvl="2">
              <a:spcAft>
                <a:spcPts val="0"/>
              </a:spcAft>
            </a:pPr>
            <a:r>
              <a:rPr sz="1000"/>
              <a:t>제안 PD + FF: WaveSplat 추정 → 미래 wave disturbance 예측 → fin 보상</a:t>
            </a:r>
          </a:p>
          <a:p>
            <a:pPr lvl="2">
              <a:spcAft>
                <a:spcPts val="0"/>
              </a:spcAft>
            </a:pPr>
            <a:r>
              <a:rPr sz="1000"/>
              <a:t>최종 fin angle = PD(heave error) + FF(predicted wave disturbance)</a:t>
            </a:r>
          </a:p>
          <a:p>
            <a:pPr lvl="1">
              <a:spcAft>
                <a:spcPts val="100"/>
              </a:spcAft>
            </a:pPr>
            <a:r>
              <a:rPr sz="1100"/>
              <a:t>Test setup</a:t>
            </a:r>
          </a:p>
          <a:p>
            <a:pPr lvl="2">
              <a:spcAft>
                <a:spcPts val="0"/>
              </a:spcAft>
            </a:pPr>
            <a:r>
              <a:rPr sz="1000"/>
              <a:t>WaveSim 파도 + hydrofoil dynamics simulator</a:t>
            </a:r>
          </a:p>
          <a:p>
            <a:pPr lvl="2">
              <a:spcAft>
                <a:spcPts val="0"/>
              </a:spcAft>
            </a:pPr>
            <a:r>
              <a:rPr sz="1000"/>
              <a:t>Preview window: 0.3 s lookahead (V=11.3 m/s 에서 약 3 m 앞)</a:t>
            </a:r>
          </a:p>
          <a:p>
            <a:pPr lvl="1">
              <a:spcAft>
                <a:spcPts val="100"/>
              </a:spcAft>
            </a:pPr>
            <a:r>
              <a:rPr sz="1100"/>
              <a:t>현재 단계 — preliminary test (응용 가능성 확인)</a:t>
            </a:r>
          </a:p>
          <a:p>
            <a:pPr lvl="2">
              <a:spcAft>
                <a:spcPts val="0"/>
              </a:spcAft>
            </a:pPr>
            <a:r>
              <a:rPr sz="1000"/>
              <a:t>체계적 controller tuning + robustness 평가는 후속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08655"/>
            <a:ext cx="4297680" cy="151500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5212080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PD vs PD + FF — heave acceleration 감소 확인</a:t>
            </a:r>
          </a:p>
          <a:p>
            <a:pPr lvl="1">
              <a:spcAft>
                <a:spcPts val="100"/>
              </a:spcAft>
            </a:pPr>
            <a:r>
              <a:rPr sz="1100"/>
              <a:t>aRMS: PD 0.090 m/s² → PD+FF 0.047 m/s² (약 48% 감소)</a:t>
            </a:r>
          </a:p>
          <a:p>
            <a:pPr lvl="1">
              <a:spcAft>
                <a:spcPts val="100"/>
              </a:spcAft>
            </a:pPr>
            <a:r>
              <a:rPr sz="1100"/>
              <a:t>ISO 2631 ride comfort 기준에서 의미 있는 수준의 감소</a:t>
            </a:r>
          </a:p>
          <a:p>
            <a:pPr lvl="1">
              <a:spcAft>
                <a:spcPts val="100"/>
              </a:spcAft>
            </a:pPr>
            <a:r>
              <a:rPr sz="1100"/>
              <a:t>같은 파도 시퀀스, 두 controller 직접 비교 (위 영상)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144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향후 연구 — 4가지 방향</a:t>
            </a:r>
          </a:p>
          <a:p>
            <a:pPr lvl="1">
              <a:spcAft>
                <a:spcPts val="100"/>
              </a:spcAft>
            </a:pPr>
            <a:r>
              <a:rPr sz="1100"/>
              <a:t>방향 1 — 고복잡도 파도 대응 (초기화 개선)</a:t>
            </a:r>
          </a:p>
          <a:p>
            <a:pPr lvl="2">
              <a:spcAft>
                <a:spcPts val="0"/>
              </a:spcAft>
            </a:pPr>
            <a:r>
              <a:rPr sz="1000"/>
              <a:t>현재: ≥15 component 에서 정확도 저하 (Wang2025 가 일부 우세)</a:t>
            </a:r>
          </a:p>
          <a:p>
            <a:pPr lvl="2">
              <a:spcAft>
                <a:spcPts val="0"/>
              </a:spcAft>
            </a:pPr>
            <a:r>
              <a:rPr sz="1000"/>
              <a:t>계획: hybrid init (격자 + 파라미터 정밀화)</a:t>
            </a:r>
          </a:p>
          <a:p>
            <a:pPr lvl="2">
              <a:spcAft>
                <a:spcPts val="0"/>
              </a:spcAft>
            </a:pPr>
            <a:r>
              <a:rPr sz="1000"/>
              <a:t>대안: learned init (NN 으로 초기 component 추정)</a:t>
            </a:r>
          </a:p>
          <a:p>
            <a:pPr lvl="2">
              <a:spcAft>
                <a:spcPts val="0"/>
              </a:spcAft>
            </a:pPr>
            <a:r>
              <a:rPr sz="1000"/>
              <a:t>기대: 고복잡도에서도 격자 방법 이상 정확도</a:t>
            </a:r>
          </a:p>
          <a:p>
            <a:pPr lvl="1">
              <a:spcAft>
                <a:spcPts val="100"/>
              </a:spcAft>
            </a:pPr>
            <a:r>
              <a:rPr sz="1100"/>
              <a:t>방향 2 — 비선형 파도 확장</a:t>
            </a:r>
          </a:p>
          <a:p>
            <a:pPr lvl="2">
              <a:spcAft>
                <a:spcPts val="0"/>
              </a:spcAft>
            </a:pPr>
            <a:r>
              <a:rPr sz="1000"/>
              <a:t>현재: LWT (선형) → BF6 까지 신뢰 (ε &lt; 0.07)</a:t>
            </a:r>
          </a:p>
          <a:p>
            <a:pPr lvl="2">
              <a:spcAft>
                <a:spcPts val="0"/>
              </a:spcAft>
            </a:pPr>
            <a:r>
              <a:rPr sz="1000"/>
              <a:t>계획: Stokes 2차 보정 추가</a:t>
            </a:r>
          </a:p>
          <a:p>
            <a:pPr lvl="2">
              <a:spcAft>
                <a:spcPts val="0"/>
              </a:spcAft>
            </a:pPr>
            <a:r>
              <a:rPr sz="1000"/>
              <a:t>장기: Klein 2020 의 NLSE 수준 도달</a:t>
            </a:r>
          </a:p>
          <a:p>
            <a:pPr lvl="1">
              <a:spcAft>
                <a:spcPts val="100"/>
              </a:spcAft>
            </a:pPr>
            <a:r>
              <a:rPr sz="1100"/>
              <a:t>방향 3 — Vessel motion 기반 synthetic aperture (SAR-style)</a:t>
            </a:r>
          </a:p>
          <a:p>
            <a:pPr lvl="2">
              <a:spcAft>
                <a:spcPts val="0"/>
              </a:spcAft>
            </a:pPr>
            <a:r>
              <a:rPr sz="1000"/>
              <a:t>현재: 코드/dataset 모두 vessel 정지 (V=0 kts) — SA 미적용</a:t>
            </a:r>
          </a:p>
          <a:p>
            <a:pPr lvl="2">
              <a:spcAft>
                <a:spcPts val="0"/>
              </a:spcAft>
            </a:pPr>
            <a:r>
              <a:rPr sz="1000"/>
              <a:t>계획: V &gt; 0 시 V·T 만큼 추가 spatial coverage 효과 검증</a:t>
            </a:r>
          </a:p>
          <a:p>
            <a:pPr lvl="2">
              <a:spcAft>
                <a:spcPts val="0"/>
              </a:spcAft>
            </a:pPr>
            <a:r>
              <a:rPr sz="1000"/>
              <a:t>Reference: Wiley 1954 SAR 원리</a:t>
            </a:r>
          </a:p>
          <a:p>
            <a:pPr lvl="2">
              <a:spcAft>
                <a:spcPts val="0"/>
              </a:spcAft>
            </a:pPr>
            <a:r>
              <a:rPr sz="1000"/>
              <a:t>Ship-mounted LiDAR 에서 SA 적용 — 첫 시도가 될 가능성</a:t>
            </a:r>
          </a:p>
          <a:p>
            <a:pPr lvl="1">
              <a:spcAft>
                <a:spcPts val="100"/>
              </a:spcAft>
            </a:pPr>
            <a:r>
              <a:rPr sz="1100"/>
              <a:t>방향 4 — 실측 데이터 검증</a:t>
            </a:r>
          </a:p>
          <a:p>
            <a:pPr lvl="2">
              <a:spcAft>
                <a:spcPts val="0"/>
              </a:spcAft>
            </a:pPr>
            <a:r>
              <a:rPr sz="1000"/>
              <a:t>현재: 합성 dataset (110 episode) 만 검증</a:t>
            </a:r>
          </a:p>
          <a:p>
            <a:pPr lvl="2">
              <a:spcAft>
                <a:spcPts val="0"/>
              </a:spcAft>
            </a:pPr>
            <a:r>
              <a:rPr sz="1000"/>
              <a:t>계획: 실제 선박 LiDAR 데이터</a:t>
            </a:r>
          </a:p>
          <a:p>
            <a:pPr lvl="2">
              <a:spcAft>
                <a:spcPts val="0"/>
              </a:spcAft>
            </a:pPr>
            <a:r>
              <a:rPr sz="1000"/>
              <a:t>Ground-truth: wave buoy 또는 X-band radar 병행 측정</a:t>
            </a:r>
          </a:p>
          <a:p>
            <a:pPr lvl="1">
              <a:spcAft>
                <a:spcPts val="100"/>
              </a:spcAft>
            </a:pPr>
            <a:r>
              <a:rPr sz="1100"/>
              <a:t>최종 목표 — 선박 실시간 제어용 phase-resolved wave 추정 시스템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A. Related work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61" y="960120"/>
          <a:ext cx="626151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302"/>
                <a:gridCol w="1252302"/>
                <a:gridCol w="1252302"/>
                <a:gridCol w="1252302"/>
                <a:gridCol w="1252302"/>
              </a:tblGrid>
              <a:tr h="382088">
                <a:tc>
                  <a:txBody>
                    <a:bodyPr/>
                    <a:lstStyle/>
                    <a:p>
                      <a:r>
                        <a:rPr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Paper (Year)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Sensor /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핵심 방법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한계 / 우리 차별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2018 (OMAE)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(proposed)</a:t>
                      </a:r>
                    </a:p>
                    <a:p>
                      <a:r>
                        <a:t>Sim only (HOS synth)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+ ICWM, on-grid variational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concept,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2020 (Ocean Eng 212)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array</a:t>
                      </a:r>
                    </a:p>
                    <a:p>
                      <a:r>
                        <a:t>실측 (wave tank)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+ dispersion correction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≠ LiDAR,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2023 (JFM 975)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 (modeled)</a:t>
                      </a:r>
                    </a:p>
                    <a:p>
                      <a:r>
                        <a:t>Sim only + wave tank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HOS-OCM, vessel optical, 3-stage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on-grid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2021 (JFM 918)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+ 실측 radar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 + HOS 첫 결합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Dense obs,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2022 (JFM 949)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Shipborne radar</a:t>
                      </a:r>
                    </a:p>
                    <a:p>
                      <a:r>
                        <a:t>실측 + sim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EnKF-HOS-C (current 동시)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dense obs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Feng Wang 2025</a:t>
                      </a:r>
                    </a:p>
                    <a:p>
                      <a:r>
                        <a:t>(Coastal Eng 197)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Stereo camera (WASS)</a:t>
                      </a:r>
                    </a:p>
                    <a:p>
                      <a:r>
                        <a:t>실측 (Acqua Alta)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ETKF + Ne=300 + fuzzy 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격자 한계, 632 ms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Hunt 2007 (Physica D 230)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기상학</a:t>
                      </a:r>
                    </a:p>
                    <a:p>
                      <a:r>
                        <a:t>Sim (atmospheric)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LETKF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Wave-specific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Klein 2020 (Fluids 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Model 비교</a:t>
                      </a:r>
                    </a:p>
                    <a:p>
                      <a:r>
                        <a:t>Sim + semi-exp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LWT/NLSE/HOSM 정량 비교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새 알고리즘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2023 (OE 288)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only (HOS+geom radar)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FNO supervised, 1.9 ms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3120 sample 학습 필요,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2025 (arXiv:2501.08430)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</a:t>
                      </a:r>
                    </a:p>
                    <a:p>
                      <a:r>
                        <a:t>실측 (wave flume)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PFT-PINN unsupervised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30 분/instance, 1D + t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Yan 2025 (arXiv:2510.14356)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Synthetic</a:t>
                      </a:r>
                    </a:p>
                    <a:p>
                      <a:r>
                        <a:t>Sim only (VOF NWT)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NS + EnKF + POD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Offline only, 1D xz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Tang 2013 (IEEE TIT 59)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이론</a:t>
                      </a:r>
                    </a:p>
                    <a:p>
                      <a:r>
                        <a:t>— (theoretical)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Atomic norm off-grid 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SDP 비용</a:t>
                      </a:r>
                    </a:p>
                  </a:txBody>
                  <a:tcPr/>
                </a:tc>
              </a:tr>
              <a:tr h="382096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Möller-Trumbore 1997 (JGT)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Graphics</a:t>
                      </a:r>
                    </a:p>
                    <a:p>
                      <a:r>
                        <a:t>— (algorithm only)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Ray-triangle intersection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비물리적 (geometry only)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B. Dataset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6319" y="2121408"/>
          <a:ext cx="61723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70"/>
                <a:gridCol w="1234470"/>
                <a:gridCol w="1234470"/>
                <a:gridCol w="1234470"/>
                <a:gridCol w="1234474"/>
              </a:tblGrid>
              <a:tr h="342900">
                <a:tc>
                  <a:txBody>
                    <a:bodyPr/>
                    <a:lstStyle/>
                    <a:p>
                      <a:r>
                        <a:rPr b="1"/>
                        <a:t>Sea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ε (steepness)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N_components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Episode 수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BF2 (Hs=0.3, Tp=4.0)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BF3 (Hs=0.6, Tp=5.5)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1, 2, 5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BF4 (Hs=1.2, Tp=7.0)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BF5 (Hs=2.0, Tp=9.0)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BF6 (Hs=3.0, Tp=10.0)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BF7 (Hs=5.0, Tp=12.0)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합계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 episodes (1.2 GB)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C-1. BF3 / N=2</a:t>
            </a:r>
          </a:p>
        </p:txBody>
      </p:sp>
      <p:pic>
        <p:nvPicPr>
          <p:cNvPr id="4" name="Picture 3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C-2. BF3 / N=5</a:t>
            </a:r>
          </a:p>
        </p:txBody>
      </p:sp>
      <p:pic>
        <p:nvPicPr>
          <p:cNvPr id="4" name="Picture 3" descr="fig_wang_compare_bf3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C-3. BF4 / N=5</a:t>
            </a:r>
          </a:p>
        </p:txBody>
      </p:sp>
      <p:pic>
        <p:nvPicPr>
          <p:cNvPr id="4" name="Picture 3" descr="fig_wang_compare_bf4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74713</TotalTime>
  <Words>1029</Words>
  <Application>Microsoft Office PowerPoint</Application>
  <PresentationFormat>화면 슬라이드 쇼(4:3)</PresentationFormat>
  <Paragraphs>185</Paragraphs>
  <Slides>19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굴림</vt:lpstr>
      <vt:lpstr>Arial</vt:lpstr>
      <vt:lpstr>Arial Black</vt:lpstr>
      <vt:lpstr>Times New Roman</vt:lpstr>
      <vt:lpstr>Wingdings</vt:lpstr>
      <vt:lpstr>디자인 사용자 지정</vt:lpstr>
      <vt:lpstr>Ocean Wave Estimation from sparse LiDAR point</vt:lpstr>
      <vt:lpstr>Contents</vt:lpstr>
      <vt:lpstr>Contents</vt:lpstr>
      <vt:lpstr>1. Introduction &amp; Motivation</vt:lpstr>
      <vt:lpstr>1. Introduction &amp; Motivation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감사합니다.</vt:lpstr>
      <vt:lpstr>Appendix A. Related work table</vt:lpstr>
      <vt:lpstr>Appendix B. Dataset table</vt:lpstr>
      <vt:lpstr>Appendix C. Comparison result</vt:lpstr>
      <vt:lpstr>Appendix C. Comparison result</vt:lpstr>
      <vt:lpstr>Appendix C. Comparison result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4617</cp:revision>
  <cp:lastPrinted>2021-11-03T00:28:46Z</cp:lastPrinted>
  <dcterms:created xsi:type="dcterms:W3CDTF">2007-03-29T05:53:49Z</dcterms:created>
  <dcterms:modified xsi:type="dcterms:W3CDTF">2026-05-10T09:34:19Z</dcterms:modified>
</cp:coreProperties>
</file>