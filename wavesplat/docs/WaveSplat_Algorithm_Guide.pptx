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WaveSplat 알고리즘 완전 해설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B0"/>
                </a:solidFill>
                <a:latin typeface="맑은 고딕"/>
              </a:defRPr>
            </a:pPr>
            <a:r>
              <a:t>격자 없는 스펙트럼 파도장 추정 — 왜, 어떻게, 무엇이 다른가</a:t>
            </a:r>
            <a:br/>
            <a:r>
              <a:t>박세용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2-6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왜 파도를 추정하는가?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선박/해양 구조물은 파도에 의해 지배적 외력을 받음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파도를 알면 할 수 있는 것들: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선박 운동 예측 → 화물 고박, 헬기 착륙 타이밍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능동 제어 → 하이드로포일 안정화 (이 논문의 응용)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구조물 하중 예측 → 피로 수명 계산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4. 항로 최적화 → 연료 절감, 승객 안전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현재: 부이(점 측정)나 레이더(저해상도)에 의존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목표: LiDAR로 실시간 2D 파도장 복원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파도 관측 방법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3680" y="10972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측정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0080" y="10972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해상도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시간 해상도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880" y="10972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실시간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9279" y="10972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설치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554480"/>
            <a:ext cx="10058400" cy="1828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69164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파고 부이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3680" y="169164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점 (0D)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169164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9164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2880" y="169164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7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9279" y="169164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해상 투하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9456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X-band 레이더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3680" y="219456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수 km (2D)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0080" y="219456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~10m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19456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~1Hz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2880" y="219456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7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9279" y="219456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선박 고정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6974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위성 SAR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3680" y="26974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수백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80" y="26974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~100m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6974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수 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2880" y="26974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5350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9279" y="269748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20040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LiDAR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3680" y="320040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10-250m (2D)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0080" y="320040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~0.1m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20040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10Hz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02880" y="320040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7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9279" y="3200400"/>
            <a:ext cx="167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선박 고정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맑은 고딕"/>
              </a:defRPr>
            </a:pPr>
            <a:r>
              <a:t>LiDAR: 높은 시공간 해상도, 하지만 관측 점이 희소 (50~200점/프레임)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LiDAR 관측의 특성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선박 전방에 설치된 LiDAR가 수면을 스캔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매 프레임(0.1초) 50~200개의 3D 점 (x, y, z) 취득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관측의 어려움: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희소성: 250m x 250m 영역에 점이 ~100개뿐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불균일: 가까이 = 밀집, 멀리 = 희박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노이즈: 물방울, 진동, 반사 각도에 따른 신호 손실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4. 비정렬: 매 프레임 점의 위치가 달라짐 (격자 아님!)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기존 격자 기반 방법의 근본적 문제: 점이 격자 위에 없다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핵심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입력: 시공간적으로 희소한 LiDAR 점 {(xj, yj, zj, tj)}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출력: 임의의 (x, y, t)에서의 수면 높이 eta(x, y, t)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조건: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실시간: 100ms 이내 (10Hz LiDAR에 맞춰)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물리적으로 유효: 분산관계를 만족하는 파도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시간 연속: 매 프레임 추적 (갑자기 바뀌면 안 됨)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4. 격자 불필요: 관측 위치가 불규칙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이 4가지를 동시에 만족하는 방법이 WaveSplat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이상적 해법의 조건 vs 기존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조건 체크리스트: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실시간(100ms)     ETKF: 132ms (X)  GPR: &gt;200ms (X)  WS: 13ms (O)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물리법칙 활용      ETKF: 간접       GPR: 없음         WS: 직접 (O)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시간 연속성        ETKF: O (KF)     GPR: X (프레임별)  WS: O (추적)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격자 불필요        ETKF: X (격자)   GPR: O            WS: O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어떤 기존 방법도 4가지를 동시에 만족하지 못함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→ 새로운 접근이 필요한 이유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파도의 물리학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7-13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단일 평면파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eta(x,y,t) = w * cos(kx*x + ky*y - omega*t + phi)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w  = 진폭 (파도 높이의 절반)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파고 H = 2w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kx, ky = 파수 벡터 (파도의 방향과 파장을 결정)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파장 lambda = 2*pi / |k|,  방향 = atan2(ky, kx)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omega = 각주파수 (파도가 얼마나 빨리 지나가는지)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주기 T = 2*pi / omega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phi = 위상 (파도의 시작점)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각 파도 성분은 이 4개의 숫자로 완전히 기술됨: (w, kx, ky, phi)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파수 벡터 (kx, ky) — 파도의 '지문'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파수 벡터 k = (kx, ky)는 파도의 공간적 특성을 완전히 결정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|k| = sqrt(kx^2 + ky^2)  →  파장 lambda = 2*pi / |k|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|k| 크면 → 짧은 파도 (잔물결)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|k| 작으면 → 긴 파도 (너울)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방향 theta = atan2(ky, kx)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파도가 어디서 오는지를 결정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head sea: 정면, beam sea: 옆면, following: 뒤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비유: 라디오에서 주파수를 맞추듯, 바다에서 (kx,ky)로 '채널'을 맞춤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분산관계 (Dispersion Relation) — 파도의 물리 법칙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omega^2 = g * |k| * tanh(|k| * d)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심해 (d &gt;&gt; lambda):  omega = sqrt(g * |k|)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천해 (d &lt;&lt; lambda):  omega = |k| * sqrt(g * 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핵심: 파장이 결정되면 속도(주파수)는 자동으로 결정됨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직관적 의미: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- 긴 파도(큰 lambda, 작은 |k|)는 빠르게 이동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- 짧은 파도(작은 lambda, 큰 |k|)는 느리게 이동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- 수심 d가 얕으면 모든 파도가 느려짐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WaveSplat의 핵심 무기: omega를 자유변수로 두지 않고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분산관계로 강제 → 추정할 파라미터가 줄어듦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핵심 통찰: omega는 자유변수가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일반적 접근: 각 성분 (w, kx, ky, omega, phi) → 5N개 파라미터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WaveSplat 접근: omega = f(kx, ky, d) → 4N개 파라미터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이것이 왜 중요한가?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파라미터 20% 감소 → 최적화 더 쉬움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물리적으로 불가능한 해(omega-k 불일치)를 원천 차단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시간 예측이 정확해짐: 분산관계가 맞아야 파도가 제대로 전파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ETKF/GPR은 이 법칙을 모름 → '격자 높이'만 맞추려 함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WaveSplat은 법칙을 내장 → 적은 데이터로도 정확한 추정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다성분 중첩 — 실제 바다의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eta(x,y,t) = SUM_{i=1}^{N} w_i * cos(kx_i*x + ky_i*y - omega_i*t + phi_i)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omega_i = sqrt(g * |k_i| * tanh(|k_i| * d))   (분산관계로 결정)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실제 바다 = 여러 방향, 여러 파장의 파도가 겹쳐진 것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N = 파도 성분의 수: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너울(swell): N = 1~3 (단순, 먼 바다에서 온 긴 파도)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BF3 혼합해: N = 5~10 (바람 + 너울)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BF4-5 복잡해: N = 15~30 (다방향, 다주파수)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총 자유 파라미터: 4N개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N=15일 때 60개, N=30일 때 120개 (ETKF의 1200+개와 비교!)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JONSWAP 스펙트럼 — 바다의 에너지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JONSWAP = 바람에 의해 생성된 파도의 전형적 에너지 분포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핵심 파라미터: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Hs = 유의파고 (상위 1/3 파고의 평균, 해상 상태 지표)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Tp = 피크 주기 (가장 에너지가 큰 파도의 주기)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gamma = 피크 형상 계수 (좁으면 너울, 넓으면 풍파)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Beaufort 등급과의 관계: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BF2: Hs ~ 0.3m, Tp ~ 3s  (잔잔)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BF3: Hs ~ 0.88m, Tp ~ 5s (보통)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BF4: Hs ~ 1.88m, Tp ~ 7s (거친 해상)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BF5: Hs ~ 3.25m, Tp ~ 9s (험한 해상)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선형 파도 모델의 충분성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왜 cos 합으로 충분한가?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선형 파도 이론 (Airy wave):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파고/파장 비가 작을 때 (H/lambda &lt;&lt; 1) 성립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BF2-4에서 대부분 성립 (steepness &lt; 0.05)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중첩 원리: 각 성분이 독립적으로 전파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비선형 효과 (Stokes, 쇄파):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BF5+ 또는 천해에서 중요해짐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현재는 향후 연구로 남겨둠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요약: BF2-4 범위에서 선형 모델은 '충분히 좋은' 근사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관측 노이즈 &gt;&gt; 비선형 오차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공간 영역 방법 ① — ETKF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14-21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격자 기반 접근의 기본 아이디어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수면을 NxM 격자로 나누고, 각 격자점의 높이를 추정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상태 벡터 x = [h_11, h_12, ..., h_NM]^T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G = 40 x 30 격자 → 1,200차원 벡터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관측 모델: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z_j = H(x) + noise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LiDAR 점 (x_j, y_j)에서의 높이 = 가장 가까운 격자점(들)의 보간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문제: 관측이 50~200개인데 상태가 1,200개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심하게 underdetermined (해가 무한히 많음)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사전 정보(prior)가 필요 → 칼만 필터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칼만 필터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Predict-Update 2단계 반복: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1. Predict (예측):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x_pred = F * x_prev    (물리 모델로 다음 상태 예측)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P_pred = F*P*F^T + Q   (불확실성 증가)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2. Update (보정):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K = P_pred * H^T * (H*P_pred*H^T + R)^(-1)  (칼만 이득)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x_new = x_pred + K * (z - H*x_pred)          (관측으로 보정)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K가 크면 → 관측을 더 신뢰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K가 작으면 → 예측(모델)을 더 신뢰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문제: P가 1200 x 1200 행렬 → 직접 계산 불가능!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왜 앙상블 칼만 필터(EnKF)인가?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1200차원의 공분산 행렬 P를 직접 유지할 수 없음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→ Ne개의 '샘플'(앙상블 멤버)로 P를 근사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아이디어: P ≈ (1/(Ne-1)) * X_ens * X_ens^T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X_ens = 앙상블 편차 행렬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Ne = 50~100개면 대략적인 공분산 구조를 포착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ETKF (Ensemble Transform KF):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앙상블 멤버를 관측에 맞춰 '변환'하여 update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전체 P를 계산하지 않고 Ne x Ne 소행렬만 처리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핵심 비용: Ne개 멤버 각각에 대해 격자 연산 수행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Ne=100, G=1200 → 매 프레임 120,000번 연산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ETKF 동작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x_mean = (1/Ne) * SUM x_i          (앙상블 평균 = 추정값)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X_ens = [x_1 - x_mean, ..., x_Ne - x_mean]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K = X_ens * (X_ens^T * H^T) * (H*X_ens*X_ens^T*H^T + R)^(-1)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동작 순서: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1. Ne개의 격자 파도장을 초기화 (랜덤 위상의 스펙트럼에서 생성)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2. Predict: 각 멤버를 물리 모델로 전파 (FFT 기반)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3. 관측이 오면: 각 멤버에서 관측 위치의 높이 추출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4. Update: 관측과 가까운 멤버에 더 큰 가중치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5. 앙상블 평균이 최종 추정값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반복할수록 앙상블이 '진짜 파도'에 수렴... 해야 하지만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ETKF의 장점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1. 직관적: 격자 높이를 직접 추정 → 결과 해석이 쉬움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2. 불확실성 추정: 앙상블 분산 → 어디가 불확실한지 알 수 있음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3. 비선형 관측 모델 허용: H(x)가 비선형이어도 동작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4. 시간 연속성: predict-update 루프로 자연스럽게 추적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5. 성숙한 방법론: 기상/해양 분야에서 수십 년 검증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그런데... 왜 ETKF로 부족한가?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ETKF의 근본적 한계 ①: 격자 해상도 vs 계산량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트레이드오프: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격자 촘촘 → 정밀하지만 느림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격자 성김 → 빠르지만 aliasing (짧은 파도를 놓침)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실제 설정: G = 40 x 30 = 1,200 격자점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격자 간격 ~6m → 파장 12m 이하 파도 해석 불가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Ne = 100 → 매 프레임 132.6ms (실시간 예산 초과!)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더 정밀하려면?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G = 100 x 75 → Ne = 200 필요 → ~1초/프레임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격자 기반의 본질적 문제: 차원의 저주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해상도를 2배로 → 상태 4배, 계산 ~16배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ETKF의 근본적 한계 ②: 분산관계 미활용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ETKF 상태 = 격자점 높이 h_ij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높이 자체는 분산관계를 '모른다'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앙상블이 시간 전파를 통해 '간접적으로' 물리를 학습해야 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문제: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초기 앙상블의 스펙트럼이 실제와 다르면 수렴이 느림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Ne가 작으면 공분산이 부정확 → 물리가 깨짐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스펙트럼 정보(어떤 주파수 성분이 있는지)를 직접 출력 못 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비유: ETKF는 '사진'을 맞추려는 것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WaveSplat은 '악보'를 찾는 것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악보를 알면 언제든 사진을 생성할 수 있지만, 반대는 어렵다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ETKF 실패 모드 — '진폭은 맞지만 위치가 틀림'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100 에피소드 평가 결과: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VR (Variance Ratio) = 0.90  → 에너지(진폭 제곱합)는 거의 맞음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rho (Pearson 상관) = 0.11    → 형상(파도 위치)은 거의 랜덤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이게 무슨 뜻인가?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ETKF: '파고 1m짜리 파도가 있다'는 맞추지만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    '어디에 있는지'는 거의 맞추지 못함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nRMSE = 0.319 → 숫자만 보면 '나쁘지 않아 보이지만'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VR/rho 조합으로 보면 → 사실상 진단적 가치가 낮음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이것이 nRMSE 하나로 평가하면 안 되는 이유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→ 6-지표 패널의 필요성 (Part 9에서 상세히)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공간 영역 방법 ② — GPR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22-28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가우시안 프로세스(GP)란?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함수의 확률 분포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'이 함수가 이런 모양일 확률이 높다' 를 수학적으로 표현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비유: 점을 찍고 매끄러운 곡선으로 잇기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관측점 근처: 확실 (분산 작음)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관측점에서 멀리: 불확실 (분산 큼)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매끄러움의 정도: 커널 함수가 결정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GP의 매력: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비모수적: 함수 형태를 가정하지 않음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불확실성 정량화: 예측값 + 신뢰구간 동시 제공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격자 불필요: 임의 위치에서 예측 가능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GPR 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mu(x*) = k(x*, X) * [K(X,X) + sigma^2 * I]^(-1) * z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sigma^2(x*) = k(x*,x*) - k(x*,X) * [K+sigma^2*I]^(-1) * k(X,x*)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x* = 예측하고 싶은 위치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X  = 관측 위치들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z  = 관측값 (수면 높이)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k(.,.) = 커널 함수 (두 점 사이의 '유사도')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K(X,X) = 관측점끼리의 유사도 행렬 (M x M)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핵심 연산: M x M 행렬의 역행렬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→ O(M^3) 계산량, M=200이면 8백만 연산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Matern 커널 — 거리에 따른 상관도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k(r) ~ (1 + sqrt(5)*r/l + 5*r^2/(3*l^2)) * exp(-sqrt(5)*r/l)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(Matern nu=5/2)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핵심 파라미터: length scale l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l = 20m → '20m 이내의 점들은 강하게 연관'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l 크면 → 매끄러운 보간 (장파에 적합)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l 작으면 → 국소적 보간 (단파에 적합)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문제: 파도에는 여러 스케일이 동시에 존재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하나의 l로는 모든 스케일을 포착 불가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l을 최적화해도 타협점밖에 못 찾음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GPR의 근본적 한계 ①: 시간을 무시함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GPR 커널 k(x1, x2)는 공간 거리만 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파도가 '이동'한다는 사실을 모름!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예시: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t=0: 점 A에서 파고 1m 관측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t=0.1: A에서 0.5m → 파도가 이동했기 때문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GPR: A 근처를 (1+0.5)/2 ≈ 0.75m로 평균해버림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결과: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시간적으로 일관된 파도 추적 불가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프레임별 독립 추정 → 시계열이 '진동'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시공간 커널을 쓸 수 있지만 → 어떤 속도로 이동하나?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→ 분산관계를 커널에 넣어야 함 → 결국 물리 모델 필요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GPR의 근본적 한계 ②: O(M^3)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커널 행렬 K의 역행렬 = O(M^3)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M = 50:   ~125,000 연산 → 빠름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M = 200:  ~8,000,000 연산 → 느림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M = 500:  ~125,000,000 연산 → 실시간 불가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추가로: 커널 하이퍼파라미터(l, sigma) 최적화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매 프레임마다 최적 l을 찾아야 → 추가 시간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결과: M=100~200에서 이미 &gt;200ms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실시간 예산(100ms)을 2배 이상 초과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근사 GP (sparse GP, inducing points)도 있지만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시간 무시 문제는 근본적으로 해결 안 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GPR 실패 모드 — 'near-zero predictor'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100 에피소드 평가 결과: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VR (Variance Ratio) = 0.065   → 에너지의 6.5%만 재현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rho (Pearson 상관) = 0.193     → 약한 상관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SS (Skill Score) = -0.140      → zero predictor보다 나쁨!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이게 무슨 뜻인가?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GPR: 관측점 사이를 '평균'으로 채움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진폭이 크게 줄어듦 (과도한 평활화)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거의 평평한 수면을 예측 = near-zero predictor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nRMSE = 0.261 → ETKF(0.319)보다 나아 '보이지만'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실제로는 '아무것도 예측하지 않는 것'에 가까움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ETKF vs GPR — 공간 영역 방법의 한계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611880" y="1097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ETKF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97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GPR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097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필요한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554480"/>
            <a:ext cx="10058400" cy="1828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물리법칙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간접 (앙상블 학습)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직접 내장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시간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76"/>
                </a:solidFill>
                <a:latin typeface="맑은 고딕"/>
              </a:defRPr>
            </a:pPr>
            <a:r>
              <a:t>O (KF predict)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5350"/>
                </a:solidFill>
                <a:latin typeface="맑은 고딕"/>
              </a:defRPr>
            </a:pPr>
            <a:r>
              <a:t>X (프레임별)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시간 연속 추적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계산량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132ms (초과)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&gt;200ms (초과)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&lt;100ms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파라미터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120,000 (Ne*G)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M (관측수)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~60 (4N)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결과 형태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격자 높이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공간 보간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스펙트럼 (재생 가능)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206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실패 모드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206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형상 불일치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206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평탄화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206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맑은 고딕"/>
              </a:defRPr>
            </a:pPr>
            <a:r>
              <a:t>두 방법 모두 '공간 영역'에서 높이를 직접 맞추려 함 → 주파수 영역으로의 전환이 필요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왜 주파수 영역 Splatting이 필요한가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29-34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공간 vs 주파수 — 근본적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공간 영역: '여기 높이가 얼마인가?'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격자점마다 하나의 숫자 → 데이터 양에 비례하는 파라미터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주파수 영역: '어떤 파도들이 섞여 있는가?'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각 파도 성분의 (진폭, 방향, 파장, 위상) → 고정 수의 파라미터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차이의 핵심: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공간: 해상도를 높이면 파라미터가 폭발적으로 증가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주파수: 해상도와 무관하게 N개 성분만 기술하면 끝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비유: 사진(공간) vs 악보(주파수)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사진은 해상도에 따라 크기가 달라지지만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악보는 곡의 복잡도에만 의존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음악 비유로 이해하기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시간 영역 (파형): 마이크로 녹음한 소리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매 시점의 진폭 값 → 데이터가 방대함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이 파형만으로는 '어떤 악기가 연주하는지' 알기 어려움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주파수 영역 (악보): 어떤 음(주파수)이 어떤 크기(진폭)로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성분 수만큼의 파라미터 → 간결함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악보를 알면 언제든 파형을 재생 가능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파도에 적용: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LiDAR 관측 = 마이크 녹음 (희소한 시공간 샘플)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WaveSplat = 이 녹음에서 악보를 추출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ETKF = 녹음을 직접 복원하려는 시도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GPR = 녹음 사이를 보간하려는 시도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주파수 파라미터를 알면 어디서든 복원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핵심: eta(x,y,t) = SUM w_i * cos(kx_i*x + ky_i*y - omega_i*t + phi_i)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한번 (w, kx, ky, phi)를 추정하면: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관측 영역 밖에서도 예측 가능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 → 선박 전방 500m 지점의 파도도 계산 가능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미래 시점도 예측 가능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 → t를 바꾸면 됨 (분산관계가 전파 속도를 알려줌)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격자 해상도 제한 없음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 → 연속 함수이므로 임의의 (x,y)에서 평가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ETKF/GPR은 관측 영역 내에서만, 현재 시점에서만 유효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WaveSplat은 시공간적으로 외삽(extrapolation) 가능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왜 격자가 필요 없는가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ETKF: eta = 격자점 높이의 보간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격자 간격보다 짧은 파도는 표현 불가 (Nyquist)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격자 간격 6m → 파장 12m 이하 불가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WaveSplat: eta = cos 함수의 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파수 kx, ky가 연속값 → 어떤 파장도 표현 가능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격자 개념 자체가 없음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이것이 'Grid-free'의 의미: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관측이 격자 위에 없어도 전혀 문제없음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LiDAR 점이 불규칙하게 분포해도 그대로 사용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격자 기반 방법은 불규칙 관측 → 격자 보간이 필수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이 보간에서 이미 정보가 손실됨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시간이 자연스럽게 포함되는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cos(kx*x + ky*y - omega*t + phi) 에서 t는 변수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분산관계 omega = f(k, d)가 '시계' 역할: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각 성분이 고유의 속도로 전파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장파(작은 k)는 빠르게, 단파(큰 k)는 느리게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- 이 '분산'이 파도의 시간 진화를 완전히 기술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ETKF가 'predict step'에서 물리 모델로 전파하는 것을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WaveSplat은 수식 하나로 해결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GPR는 시간을 아예 모름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매 프레임 독립 추정 → 시계열 불연속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WaveSplat의 추적(tracking)에서 phi += omega*dt로 예측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분산관계가 맞으면 예측이 정확 → 소량의 보정만으로 충분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파라미터 수의 극적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097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표현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097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파라미터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097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예시 (BF3)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97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비고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554480"/>
            <a:ext cx="10058400" cy="1828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ETKF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격자 높이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Ne x 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100 x 1200 = 120,000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차원의 저주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GPR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커널 보간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M + hp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200 + 3 = 203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76"/>
                </a:solidFill>
                <a:latin typeface="맑은 고딕"/>
              </a:defRPr>
            </a:pPr>
            <a:r>
              <a:t>O(M^3)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WaveSplat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스펙트럼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4N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4 x 15 = 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물리 내장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맑은 고딕"/>
              </a:defRPr>
            </a:pPr>
            <a:r>
              <a:t>같은 바다를 기술하는데 WaveSplat은 2000배 적은 파라미터 → Occam's razor: 단순한 모델이 더 잘 일반화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주파수 영역의 기존 방법들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35-40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고전적 스펙트럼 분석 — FFT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FFT (Fast Fourier Transform):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시간/공간 신호를 주파수 성분으로 분해하는 표준 방법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요구 조건: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균일 격자 위의 샘플 (등간격)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충분한 샘플 수 (Nyquist: 파장의 2배 이상)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연속적인 데이터 (빈 곳이 없어야)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LiDAR 데이터의 현실: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불규칙 배치 (등간격 아님) → FFT 직접 적용 불가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희소 (50~200점) → 해상도 부족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매 프레임 위치 변경 → 일관된 격자 구성 불가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FFT → NUFFT(비균일 FFT)도 있지만, 3D(x,y,t)에서는 여전히 어려움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MUSIC 알고리즘 — 초고해상도 스펙트럼 추정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MUSIC (Multiple Signal Classification):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신호 부분공간과 잡음 부분공간을 분리하여 피크 검출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원리: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데이터의 공분산 행렬 R = E[x*x^H] 계산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R의 고유분해: 큰 고유값 = 신호, 작은 고유값 = 잡음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잡음 부분공간에 '수직'인 방향 탐색 → 아주 날카로운 피크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장점: 빔포밍보다 훨씬 좁은 피크 → 가까운 주파수 분리 가능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레이더/소나 분야에서 널리 사용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파도 분석에서도 레이더 배열에서 성공 사례 있음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MUSIC의 한계 — 왜 LiDAR에 부적합한가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핵심 문제: 공분산 행렬 추정이 불가능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MUSIC에 필요한 것: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고정된 센서 배열 (안테나처럼) → 같은 위치에서 반복 관측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시간에 따른 공분산 R = (1/T) * SUM x(t)*x(t)^H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LiDAR의 현실: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매 프레임 관측 위치가 다름 (선박 움직임 + 스캔 패턴)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'같은 위치'에서의 반복 관측이 존재하지 않음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공분산 행렬을 추정할 수 없음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가정: 고정 센서 배열 → 현실: 이동하는 희소 점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MUSIC/Capon/ESPRIT 등 부분공간 방법 모두 같은 이유로 부적합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Capon (MVDR) 빔포밍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Capon = '적응적' 빔포밍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데이터에 맞춰 가중치를 조절하여 간섭을 억제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수식: P(k) = 1 / (a^H * R^(-1) * a)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a = steering vector, R = 공분산 행렬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장점: 빔포밍보다 좋은 해상도, MUSIC보다 강건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하지만 같은 문제: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R의 추정이 필요 → 고정 배열 가정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LiDAR 희소 데이터에서 R 추정 불안정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결론: 부분공간/적응적 방법은 LiDAR에 부적합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→ 가장 단순한 '전통 빔포밍'이 오히려 강건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전통 빔포밍 (Conventional Beamforming)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원리: 모든 후보 방향에 대해 단순 상관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P(k) = |SUM z_j * exp(-i * k . r_j)|^2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장점: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공분산 행렬 불필요 → 단일 스냅샷도 OK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불규칙 센서 배치에 강건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구현이 간단하고 빠름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단점: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해상도가 낮음 (피크가 넓음)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가까운 주파수 성분 분리 어려움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WaveSplat의 선택: 빔포밍의 강건성을 택하고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해상도 문제는 비선형 최적화로 해결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WaveSplat의 선택: 분산관계 인식 빔포밍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핵심 아이디어: 빔포밍에 분산관계를 주입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일반 빔포밍: (kx, ky, omega) 3D 격자를 전부 탐색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81 x 81 x 81 = ~531,441 후보 → 느림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WaveSplat: omega = f(kx, ky, d)로 고정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81 x 81 = 6,561 후보 → ~81배 빠름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물리적으로 유효한 (k, omega) 쌍만 탐색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결과: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물리적으로 불가능한 피크가 원천 제거됨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잡음에 의한 허위 피크가 크게 감소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빔포밍의 '넓은 피크' 문제 → 이후 최적화로 미세 조정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빔포밍 = 좋은 초기 추정 → 최적화 = 정밀 보정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WaveSplat — 빔포밍 초기화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41-45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빔포밍 수식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P(kx, ky) = | SUM_{j=1}^{M} z_j * exp(-i*(kx*xj + ky*yj - omega(k)*tj)) |^2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omega(k) = sqrt(g * |k| * tanh(|k| * d))    &lt;-- 분산관계로 결정!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직관적 의미: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'만약 (kx, ky) 방향의 파도가 있다면'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'관측값 z_j에 위상 보정을 하면 모두 같은 방향을 가리킬 것'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'그 합의 크기가 클수록 그 방향의 파도가 실제로 존재'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exp(-i*...) = 위상 보정 (steering)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각 관측점의 '예상 위상'을 제거하여 정렬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정렬이 잘 되면(파도가 실재하면) → 보강 간섭 → P 큼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정렬이 안 되면(파도 없음) → 상쇄 간섭 → P 작음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직교좌표 격자 — 왜 Cartesian인가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탐색 격자: kx, ky ∈ [-4.0, 4.0] rad/m, 81×81 = 6,561 후보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격자 해상도: Δk ≈ 0.10 rad/m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파장 ~1.6m ~ 130m (BF2~5 커버)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/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/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/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왜 직교좌표(Cartesian)?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구현이 단순하고 NumPy 배열 인덱싱에 자연스럽게 대응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kx/ky 범위를 분산관계 기반으로 직관적으로 설정 가능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Cartesian 반경 억제로 sidelobe 제거 (0.15 rad/m)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Greedy 피크 추출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빔포밍 결과 P(kx, ky)에서 파도 성분 추출: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1. 최대 피크 위치 (kx*, ky*) 찾기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2. 이 피크를 성분 목록에 추가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3. 피크 주변 15도 범위 억제 (sidelobe 제거)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4. 다음 최대 피크 찾기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5. 반복 (N_max개까지 또는 임계값 이하까지)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왜 15도 각도 억제?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빔포밍의 메인 로브(main lobe)가 ~15도 폭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같은 파도의 sidelobe를 별도 성분으로 오인하는 것을 방지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결과: N개 성분의 (kx_i, ky_i) 초기 추정값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아직 진폭(w)과 위상(phi)은 모름 → 다음 단계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선형 최소제곱 — 진폭과 위상 초기화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z_j = SUM [a_i*cos(.) + b_i*sin(.)]   (삼각함수 전개)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행렬 형태: z = A * [a1, b1, a2, b2, ...]^T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해: x = (A^T * A)^(-1) * A^T * z      (정규 방정식)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kx, ky가 고정되면 cos(kx*x+ky*y-omega*t)는 '알려진 기저'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→ z를 이 기저의 선형 결합으로 표현 = 선형 문제!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a_i, b_i에서 w_i, phi_i 복원: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w_i = sqrt(a_i^2 + b_i^2)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phi_i = atan2(-b_i, a_i)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장점: closed-form 해, 반복 불필요, 빠름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단점: kx, ky의 정확도에 의존 → 이후 비선형 최적화 필요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초기화 요약 — 여기까지의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빔포밍 + 피크 추출 + 선형 최소제곱 결과: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N개 성분의 초기 파라미터: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(w_1, kx_1, ky_1, phi_1)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(w_2, kx_2, ky_2, phi_2)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...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(w_N, kx_N, ky_N, phi_N)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이 초기값의 품질: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kx, ky: 빔포밍 해상도 범위 내에서 대략적 (±0.01 rad/m 오차)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w, phi: kx,ky 오차에 영향받음 → 대략적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충분히 좋은 출발점이지만 정밀하지 않음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→ 비선형 최적화로 미세 조정 필요 (Part 7)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WaveSplat — 비선형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46-53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왜 초기화만으로 부족한가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빔포밍 해상도의 한계: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81×81 격자 → kx/ky 해상도 Δk ≈ 0.10 rad/m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실제 파도의 kx가 격자 사이에 있으면 오차 발생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예시: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실제 |k| = 0.125 rad/m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빔포밍 격자: 0.120, 0.128 → 0.128 선택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오차 2.4% → 주기 오차 ~1.2% → 30초 후 위상 10도 오차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이 '작은' 초기 오차가 시간이 지나면 누적: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추적(tracking) 시 위상 drift → 성능 저하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해결: kx, ky를 연속값으로 미세 조정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→ gradient-based 비선형 최적화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Loss 함수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L = (1/M) * SUM_j cj*(zj - z_hat_j)^2   (데이터 항)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  + lambda_1 * SUM_i |w_i|                (L1 희소성)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  + lambda_s * SUM_i (w_i - w_{i+1})^2    (평활화)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z_hat_j = SUM_i w_i * cos(kx_i*xj + ky_i*yj - omega_i*tj + phi_i)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세 가지 항의 역할: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데이터 항: 관측과 예측의 차이를 최소화 (핵심 목표)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L1 항: 불필요한 성분의 진폭을 0으로 밀어냄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평활화 항: 인접 주파수 성분의 진폭 급변 방지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lambda_1 = 10^(-3), lambda_s = 10^(-4)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데이터 항 대비 ~1%, ~0.1% 수준으로 약하게 설정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Fresnel Confidence cj — 관측 신뢰도 가중치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cj = cos(theta_j) / (dj / d_ref)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theta_j = LiDAR 빔과 수면의 입사각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수직에 가까울수록(cos~1) → 반사 신호 강함 → 신뢰도 높음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수평에 가까울수록(cos~0) → 반사 신호 약함 → 신뢰도 낮음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dj = 관측 거리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가까울수록 → 점 밀도 높고, 노이즈 적음 → 신뢰도 높음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멀수록 → 점 밀도 낮고, 노이즈 큼 → 신뢰도 낮음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d_ref = 125m (기준 거리, 최대 사거리의 절반)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물리적 근거: Fresnel 반사 법칙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수면은 거의 정반사(specular) → 입사각이 중요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원거리 저각도 관측은 자동으로 가중치 감소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L1 정규화 — 자동 모델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lambda_1 * SUM |w_i|의 역할: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L2 정규화 (w_i^2)와의 차이: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L2: 모든 w를 '조금씩' 줄임 → 0이 되는 성분 없음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L1: 일부 w를 정확히 0으로 만듦 → 자동 가지치기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왜 L1인가?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BF2 너울: 실제 1~3 성분만 유의미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N=15로 시작해도 L1이 나머지 12개를 0으로 밀어냄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인간이 'N을 몇으로 할까' 고민할 필요 없음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적응형 N(Part 8)과 시너지: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L1이 진폭을 줄임 → 에너지 가지치기에서 제거됨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Gradient 계산 — 해석적 미분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dL/dw_i = -(2/M) * SUM_j cj*(zj-z_hat_j)*cos(...) + lambda_1*sign(w_i)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dL/dkx_i = (2/M) * SUM_j cj*(zj-z_hat_j)*w_i*xj*sin(...)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         + (2/M) * SUM_j cj*(zj-z_hat_j)*w_i*(domega/dkx_i)*tj*sin(...)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모든 gradient가 해석적 (analytic)으로 계산됨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cos/sin의 미분은 sin/cos → 정확한 gradient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수치 미분(finite difference) 불필요 → 빠르고 정확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kx_i의 gradient에 분산관계 미분 포함: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domega/dkx_i = (kx_i / |k_i|) * domega/d|k|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→ omega가 k의 함수이므로 chain rule 적용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PyTorch autograd로 자동 계산 (수동 구현 불필요)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경사하강법(SGD)이란?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기본 아이디어: 경사(gradient)의 반대 방향으로 조금씩 이동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theta_new = theta - eta * (dL/dtheta)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eta = 학습률 (learning rate)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너무 크면 → 진동, 발산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너무 작으면 → 수렴이 매우 느림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SGD의 문제점: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모든 파라미터에 같은 학습률 → kx(민감)와 w(둔감)가 같은 속도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좁은 골짜기에서 진동 (zig-zag)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local minima에 빠지기 쉬움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해결: Momentum → Adam (적응적 학습률)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Momentum — 관성의 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SGD + Momentum: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v_new = beta * v_old + (dL/dtheta)     (속도 업데이트)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theta_new = theta - eta * v_new          (위치 업데이트)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beta = 0.9 → 이전 방향의 90%를 유지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효과: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일관된 방향의 gradient → 가속 (공이 내리막을 구르듯)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진동하는 방향 → 상쇄되어 감소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local minima를 관성으로 탈출할 수 있음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하지만 여전히: 모든 파라미터에 같은 학습률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w_i는 변화폭이 크고, kx_i는 변화폭이 작음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각 파라미터별 적응이 필요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Adam Optimizer — 적응적 학습률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m = beta1*m + (1-beta1)*g           (1차 모멘트: 방향)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v = beta2*v + (1-beta2)*g^2          (2차 모멘트: 크기)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theta -= eta * m_hat / (sqrt(v_hat) + eps)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핵심: 각 파라미터마다 다른 실효 학습률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m (1차 모멘트) = gradient의 이동 평균 → '방향' 안정화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beta1 = 0.9 → 최근 10 step의 방향 평균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v (2차 모멘트) = gradient 제곱의 이동 평균 → '크기' 추정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beta2 = 0.999 → 최근 1000 step의 변동폭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eta / sqrt(v) = 실효 학습률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gradient 변동이 큰 파라미터 → v 큼 → 학습률 작아짐 (조심)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gradient 변동이 작은 파라미터 → v 작음 → 학습률 커짐 (과감)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@@WaveSplat에서: kx(민감)는 자동으로 작은 step, w(둔감)는 큰 step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Coarse-to-Fine + Adaptive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54-58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Coarse-to-Fine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3단계 점진적 최적화: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Stage 1: N = 3   (가장 큰 3개 성분만)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200 iterations, lr = 5e-3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대략적 에너지 분포 파악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Stage 2: N = 8   (중간 크기 성분 추가)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200 iterations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Stage 1의 수렴된 3개 + 새로운 5개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Stage 3: N = 15  (세부 성분까지)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200 iterations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Stage 2의 수렴된 8개 + 새로운 7개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총 600 iterations, 각 단계의 결과가 다음 단계의 초기값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왜 단계적으로 해야 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N이 클수록 loss landscape가 복잡해짐: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N=3: 12개 파라미터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비교적 매끄러운 landscape, global minimum에 수렴 쉬움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N=15: 60개 파라미터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local minima가 매우 많음 (성분 간 간섭)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초기값이 나쁘면 틀린 해에 갇힘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Coarse-to-fine의 효과: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큰 성분을 먼저 확정 → landscape의 주요 구조를 잡음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작은 성분은 '잔차'에서 찾음 → 간섭 감소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비유: 그림 그리기 — 밑그림 → 중간 톤 → 세부 묘사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한 번에 세부부터 그리면 전체 구도가 어긋남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적응형 N: 에너지 기반 가지치기 (Pruning)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문제: 고정 N=15로 두면?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너울(실제 1~3성분): 나머지 12개가 노이즈를 fitting → 과적합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BF5(실제 20+성분): 15개로 부족 → 과소적합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가지치기 알고리즘: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에너지 계산: E_i = w_i^2  (각 성분의 에너지)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에너지 내림차순 정렬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상위 90% 에너지를 커버하는 최소 N개 선택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4. 나머지 제거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예시: 5성분의 에너지 [0.50, 0.30, 0.10, 0.05, 0.05]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누적: [0.50, 0.80, 0.90, 0.95, 1.00]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tau_E = 0.90 → N=3으로 가지치기 (90% 도달)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적응형 N: 안전 롤백 + 잔차 성장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안전 롤백 (Safety Rollback):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가지치기 후 RMSE 측정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RMSE_after / RMSE_before &gt; 1.30 이면 → 원복!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중요 성분을 실수로 잘라내는 것 방지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잔차 기반 성장 (Residual Growth):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가지치기 후 잔차 r_j = z_j - z_hat_j 계산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RMS(r) &gt; tau_R = 0.05m 이면: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잔차에 빔포밍 다시 적용 → 놓친 성분 발견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새 성분 추가 + 선형 최소제곱으로 초기화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전체 흐름: 가지치기 → 안전 검사 → 성장 → 반복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자동으로 N=1 (너울) ~ N=21 (복잡해) 적응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고정 N=15 대비 6.4% 추가 nRMSE 개선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적응형 N 실제 동작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BF2 너울 (실제 1성분):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초기화: N=15 → C2F 최적화 → L1이 14개를 ~0으로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가지치기: 에너지 90% → N=1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잔차: RMS 0.02m &lt; tau_R → 성장 없음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최종: N_a = 1 ✓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BF4 15성분: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초기화: N=15 → C2F 최적화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가지치기: 에너지 90% → N=12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안전 검사: RMSE 비율 1.08 &lt; 1.30 → OK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잔차: RMS 0.08m &gt; tau_R → 빔포밍 → 3성분 추가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최종: N_a = 15 → 재최적화 후 N_a = 14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너울/복잡해 모두 자동 적응 → 수동 튜닝 불필요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WaveSplat — 실시간 추적 (Tracking)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59-63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Phase 1 (초기화) vs Phase 2 (추적)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Phase 1 — 초기화 (처음 1초):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다중 프레임(10프레임) 축적하여 빔포밍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Coarse-to-fine 600 iterations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적응형 N 결정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~500ms 소요 (무거움, 1회만 실행)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Phase 2 — 추적 (이후 매 프레임):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새 프레임이 올 때마다 파라미터 업데이트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10 Adam steps만 실행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~13ms 소요 (가벼움, 10Hz로 반복)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초기화가 좋으면 → 추적은 소량 보정만 → 빠르고 안정
⚠ 초기화에서 놓친 고주파 성분(|k|≥0.4 rad/m)은 추적으로 복원 불가
  → 추적의 이점은 정확도가 아닌 계산 효율성(10 steps vs 600 steps)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위상 전파 (Predict 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54F"/>
                </a:solidFill>
                <a:latin typeface="Consolas"/>
              </a:defRPr>
            </a:pPr>
            <a:r>
              <a:t>phi_i(t+dt) = phi_i(t) + omega_i * dt</a:t>
            </a: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</a:p>
          <a:p>
            <a:pPr algn="ctr">
              <a:spcBef>
                <a:spcPts val="1200"/>
              </a:spcBef>
              <a:defRPr sz="2400" b="0">
                <a:solidFill>
                  <a:srgbClr val="FFD54F"/>
                </a:solidFill>
                <a:latin typeface="Consolas"/>
              </a:defRPr>
            </a:pPr>
            <a:r>
              <a:t>omega_i = sqrt(g * |k_i| * tanh(|k_i| * d))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분산관계가 '예측기' 역할: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각 성분이 자기 주파수에 맞춰 위상이 전진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dt = 0.1s (10Hz), omega = 3 rad/s → phi += 0.3 rad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이 예측이 정확한 이유: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분산관계가 정확히 성립하면 → 위상 예측이 완벽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실제 편차: 비선형 효과, 모델 오차 → 매우 작음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결과: Update step에서 보정할 양이 매우 작음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  → 10 Adam steps면 충분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@@ETKF의 predict: Ne개 앙상블 각각 FFT로 전파 → 느림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@@WaveSplat의 predict: N개 위상에 덧셈 → O(N) = 즉시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w_phi 모드 — 왜 kx, ky를 고정하는가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추적 시 업데이트 대상: w (진폭)와 phi (위상)만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kx, ky는 초기화에서 확정 후 고정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왜?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실험: kx, ky도 업데이트하면 (full mode):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단기: 약간 더 좋은 fitting (loss 더 낮음)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장기: kx, ky가 drift → 분산관계에서 벗어남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   → 위상 전파 예측이 점점 틀려짐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   → 10프레임 이후 급격한 성능 저하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w_phi 모드: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kx, ky 고정 → 분산관계 항상 정확 → 위상 전파 안정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w, phi만 매 프레임 미세 조정 → 진폭/위상 변화에 적응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실험 결과: full mode 대비 18% 추적 성능 개선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슬라이딩 윈도우 — 노이즈와 적응의 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현재 프레임 + 이전 2프레임 = 3프레임 윈도우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왜 여러 프레임을 쓰나?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단일 프레임: 50~200점 → 노이즈에 취약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3프레임: 150~600점 → 노이즈 평균화 효과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왜 3프레임인가? (왜 더 많이 안 쓰나?)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윈도우가 길면: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+ 노이즈 감소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- 해상 변화에 느리게 반응 (과거 정보에 묶임)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- 계산량 증가 (3프레임 = 13ms, 5프레임 = 22ms)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3프레임 = 0.3초 → 파도 주기(~5초)의 6%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파도 변화를 놓치지 않으면서 충분한 평균화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실시간 성능 — 13.4ms/frame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추적 1 cycle의 시간 분배: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위상 전파 (predict):  &lt; 0.01ms  (덧셈 N번)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윈도우 구성:          &lt; 0.1ms   (데이터 복사)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10 Adam steps:        ~13ms     (gradient 계산 + 업데이트)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적응형 N 검사:        &lt; 0.3ms   (에너지 정렬 + 비교)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합계: ~13.4ms (100ms 예산의 13.4%)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비교: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ETKF:  132.6ms → 예산 초과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GPR:   &gt;200ms → 예산 2배 초과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WaveSplat: 13.4ms → 여유 86.4%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남은 86%는 다른 선박 시스템 (제어, 항법, 안전 모니터링)에 할당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전체 비교 — 왜 Splatting인가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64-68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3가지 패러다임 종합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611880" y="1097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ETKF (공간-격자)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97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GPR (공간-비모수)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097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D0E1"/>
                </a:solidFill>
                <a:latin typeface="맑은 고딕"/>
              </a:defRPr>
            </a:pPr>
            <a:r>
              <a:t>WaveSplat (주파수)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554480"/>
            <a:ext cx="10058400" cy="18288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표현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격자점 높이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커널 보간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691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스펙트럼 성분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물리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간접 (앙상블)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1945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직접 (분산관계)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파라미터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120,000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~200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697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~60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속도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132.6ms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&gt;200ms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2004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13.4ms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nRMSE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0.319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0.261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70332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0.223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206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시간 연속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206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76"/>
                </a:solidFill>
                <a:latin typeface="맑은 고딕"/>
              </a:defRPr>
            </a:pPr>
            <a:r>
              <a:t>O (KF)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206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5350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206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76"/>
                </a:solidFill>
                <a:latin typeface="맑은 고딕"/>
              </a:defRPr>
            </a:pPr>
            <a:r>
              <a:t>O (추적)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709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외삽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709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5350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709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F5350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709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7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212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54F"/>
                </a:solidFill>
                <a:latin typeface="맑은 고딕"/>
              </a:defRPr>
            </a:pPr>
            <a:r>
              <a:t>격자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212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필요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212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불필요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5212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불필요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물리 활용도의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ETKF — 간접적 물리 활용: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앙상블 predict에서 FFT 기반 파도 전파 사용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하지만 상태(격자 높이)에는 분산관계가 직접 반영되지 않음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앙상블이 충분히 크지 않으면 물리가 '깨짐'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GPR — 물리 없음: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순수 통계적 보간, 파도가 이동한다는 것조차 모름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시공간 커널을 쓸 수 있지만, 분산관계를 커널에 넣기 어려움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WaveSplat — 직접적 물리 내장: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omega = f(k, d)가 모델에 하드코딩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물리적으로 불가능한 해가 원천 불가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적은 데이터로도 물리적으로 일관된 추정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파라미터 효율 — Occam's Razor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같은 바다를 기술하는 데 필요한 파라미터: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ETKF:    Ne x G  = 100 x 1200 = 120,000개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GPR:     M + hp  = 200 + 3     = 203개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WaveSplat: 4N    = 4 x 15      = 60개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Occam's Razor: 동일한 설명력이면 단순한 모델이 우월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왜 적은 파라미터가 유리한가?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과적합 위험 감소 (데이터 대비 파라미터 비율)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최적화가 쉬움 (탐색 공간이 작음)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일반화 능력 (새로운 데이터에도 잘 작동)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4. 해석 가능 (각 파라미터의 물리적 의미가 명확)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60개 파라미터로 250m x 250m 파도장을 완전히 기술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'Splatting'의 의미 — 3DGS에서 영감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3D Gaussian Splatting (3DGS, Kerbl et al. 2023):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3D 장면을 수백만 개의 Gaussian '점'으로 표현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격자(voxel)나 메쉬 없이 연속적인 장면 렌더링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각 Gaussian: 위치, 크기, 색상, 투명도 → 파라미터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WaveSplat의 아날로지: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파도장을 N개의 스펙트럼 성분(plane wave)으로 표현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격자 없이 연속적인 파도장 복원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각 성분: w, kx, ky, phi → 파라미터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공통점: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격자 비의존 (grid-free)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파라메트릭 기저의 중첩 (Gaussian / cos)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미분 가능 → gradient 기반 최적화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4. 적응적 성분 수 (densify/prune)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결론: 왜 주파수 영역 Splatting이 필요한가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희소 LiDAR 관측에서 파도장을 복원하는 문제의 본질: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관측이 극도로 희소 → 강력한 사전 지식(물리) 필요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 → 주파수 영역: 분산관계를 직접 내장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관측이 불규칙 → 격자 불필요한 표현 필요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 → Splatting: 격자 없는 파라메트릭 표현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실시간 필요 → 적은 파라미터, 빠른 추적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 → 4N개 파라미터, 위상 전파로 즉시 예측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4. 시간 예측 필요 → 시간이 모델에 내장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   → cos(...-omega*t+phi)에서 t는 변수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이 4가지를 동시에 만족하는 방법: WaveSplat이 유일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DD0E1"/>
                </a:solidFill>
                <a:latin typeface="맑은 고딕"/>
              </a:defRPr>
            </a:pPr>
            <a:r>
              <a:t>Part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평가 지표와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맑은 고딕"/>
              </a:defRPr>
            </a:pPr>
            <a:r>
              <a:t>Slides 69-73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6-지표 패널 — 왜 nRMSE 하나로는 부족한가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nRMSE만 보면: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ETKF 0.319, GPR 0.261, WaveSplat 0.223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GPR이 ETKF보다 좋아 보임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6-지표로 보면: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nRMSE:  WS 0.223 / ETKF 0.319 / GPR 0.261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VR:     WS 0.73  / ETKF 0.90  / GPR 0.065  ← GPR 에너지 6%!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rho:    WS 0.76  / ETKF 0.11  / GPR 0.193  ← ETKF 상관 11%!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SS:     WS 0.46  / ETKF -0.02 / GPR -0.14  ← 둘 다 음수!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Dir R2: WS -0.25 / ETKF -1.25 / GPR ---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Hs err: WS 3.7%  / ETKF 28.6% / GPR ---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SS &gt; 0인 방법은 WaveSplat뿐 = zero predictor를 이기는 유일한 방법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각 지표의 진단적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nRMSE = RMSE / Hs: 전체적 오차, 가장 보편적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VR (Variance Ratio): 에너지 재현도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VR=1: 에너지 정확, VR&lt;1: 과소, VR&gt;1: 과대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ETKF VR=0.90 → 에너지는 맞추지만...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rho (Pearson 상관): 형상 일치도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rho=1: 완벽 매칭, rho=0: 무관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ETKF rho=0.11 → 에너지 맞지만 위치가 틀림!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SS (Skill Score) = 1 - MSE(pred)/MSE(0): zero predictor 대비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SS&gt;0: 예측이 가치있음, SS&lt;0: '아무것도 안 하는 게 나음'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Dir R2: 방향 추정 정확도 (-0.25 = WaveSplat의 최대 약점)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Hs err: 유의파고 오차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핵심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100 에피소드 (10 해상조건 x 5 시드 x 2 raydrop) 평균: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WaveSplat nRMSE: 0.223 (최저 = 최고)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ETKF nRMSE:      0.319 (WS 대비 +43%)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GPR nRMSE:       0.261 (WS 대비 +17%)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개선율: WS가 ETKF 대비 30.1% 낮은 nRMSE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속도: WS 13.4ms vs ETKF 132.6ms (10배 빠름)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통계적 검증: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Wilcoxon signed-rank test: p = 1.1 x 10^(-15)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Cohen's d = 1.16 (large effect size)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'우연이 아니다'가 극도로 강하게 확인됨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맑은 고딕"/>
              </a:defRPr>
            </a:pPr>
            <a:r>
              <a:t>한계와 향후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!! 최대 약점: Dir R^2 = -0.25 (방향 추정)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BF4에서 일부 성분의 방향(kx 부호)이 반전됨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→ feedforward 제어 시 오히려 악화 (BF4 WS/GT = 37%)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원인: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선박 전방 LiDAR → 1D 관측 geometry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kx&gt;0 (다가오는 파도)와 kx&lt;0 (멀어지는 파도) 구분 어려움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다성분이 겹치면 모호성 증가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FD54F"/>
                </a:solidFill>
                <a:latin typeface="맑은 고딕"/>
              </a:defRPr>
            </a:pPr>
            <a:r>
              <a:t>향후 해결 방향: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1. 다중 프레임 방향 추적 (시간에 따른 위상 변화로 방향 추론)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2. 3D FFT (kx, ky, omega) 초기화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3. 방향 신뢰도 기반 feedforward 게이팅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4DD0E1"/>
                </a:solidFill>
                <a:latin typeface="맑은 고딕"/>
              </a:defRPr>
            </a:pPr>
            <a:r>
              <a:t>수조 실험(Ch5)으로 sim-to-real gap 검증 예정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맑은 고딕"/>
              </a:defRPr>
            </a:pPr>
            <a:r>
              <a:t>WaveSplat = 주파수 영역의 Grid-free Splatting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희소 관측 + 물리 제약 + 실시간 + 시간 예측</a:t>
            </a:r>
            <a:br/>
            <a:r>
              <a:t>= 이 조합을 만족하는 유일한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54F"/>
                </a:solidFill>
                <a:latin typeface="맑은 고딕"/>
              </a:defRPr>
            </a:pPr>
            <a:r>
              <a:t>0.223 nRMSE | 13.4ms/frame | 30.1% better than ETKF | 100 episodes validated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