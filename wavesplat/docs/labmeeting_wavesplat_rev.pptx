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910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9926638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 Jeonghwa" initials="SJ" lastIdx="13" clrIdx="0">
    <p:extLst>
      <p:ext uri="{19B8F6BF-5375-455C-9EA6-DF929625EA0E}">
        <p15:presenceInfo xmlns:p15="http://schemas.microsoft.com/office/powerpoint/2012/main" userId="9aa9fa2553afeb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FFFFFF"/>
    <a:srgbClr val="00B0F0"/>
    <a:srgbClr val="E7F9FF"/>
    <a:srgbClr val="C5F3FF"/>
    <a:srgbClr val="FFCCCC"/>
    <a:srgbClr val="FFCCFF"/>
    <a:srgbClr val="00CC66"/>
    <a:srgbClr val="F7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18" autoAdjust="0"/>
    <p:restoredTop sz="90314" autoAdjust="0"/>
  </p:normalViewPr>
  <p:slideViewPr>
    <p:cSldViewPr showGuides="1">
      <p:cViewPr>
        <p:scale>
          <a:sx n="75" d="100"/>
          <a:sy n="75" d="100"/>
        </p:scale>
        <p:origin x="43" y="-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7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72" y="8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9659AD6-AE32-41CA-82A0-2598C3F389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54234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5127" y="518517"/>
            <a:ext cx="3398838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201" y="3228705"/>
            <a:ext cx="7942238" cy="3059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CF72608-E96E-40E0-AA36-7D967661FE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4512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C07C8241-B47D-4265-B8DC-7A83560CC1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054225"/>
            <a:ext cx="9144000" cy="2232025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2D8179D-E436-4C76-ADBD-8F3423C15B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125663"/>
            <a:ext cx="9144000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1D063F3-1108-4154-8347-0AB06E35D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DEB2E69D-3CDF-48CA-9224-6B58E0344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3457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0327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5B215-C573-4168-B166-EB28B28A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Times New Roman" panose="02020603050405020304" pitchFamily="18" charset="0"/>
              <a:buChar char="-"/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804C4-9697-471E-8BC1-E0A58D6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37338"/>
            <a:ext cx="1403648" cy="242969"/>
          </a:xfrm>
        </p:spPr>
        <p:txBody>
          <a:bodyPr/>
          <a:lstStyle/>
          <a:p>
            <a:r>
              <a:rPr lang="en-US" altLang="ko-KR" dirty="0"/>
              <a:t>April xx, 2023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4C737C-4C7F-4C5A-8F42-207CA8A3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03648" y="6627244"/>
            <a:ext cx="5976664" cy="240018"/>
          </a:xfrm>
        </p:spPr>
        <p:txBody>
          <a:bodyPr/>
          <a:lstStyle>
            <a:lvl1pPr>
              <a:defRPr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8">
            <a:extLst>
              <a:ext uri="{FF2B5EF4-FFF2-40B4-BE49-F238E27FC236}">
                <a16:creationId xmlns:a16="http://schemas.microsoft.com/office/drawing/2014/main" id="{66223D9C-B720-4BD8-9066-5AAD180ABF23}"/>
              </a:ext>
            </a:extLst>
          </p:cNvPr>
          <p:cNvSpPr txBox="1">
            <a:spLocks/>
          </p:cNvSpPr>
          <p:nvPr userDrawn="1"/>
        </p:nvSpPr>
        <p:spPr>
          <a:xfrm>
            <a:off x="4067944" y="6376074"/>
            <a:ext cx="899592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-</a:t>
            </a:r>
            <a:fld id="{4B06D9A7-2E35-4533-98BA-70A08AF23C1B}" type="slidenum"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/xx</a:t>
            </a:r>
            <a:r>
              <a:rPr lang="en-US" altLang="ko-KR" dirty="0"/>
              <a:t>-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F186BCE-BF40-49B6-9640-B62E9209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256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B40BB9-443F-4905-A0E2-B5F7F3628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"/>
            <a:ext cx="8191822" cy="781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AD3A9-72B8-461E-95E0-A034CE037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528" y="980732"/>
            <a:ext cx="8191822" cy="51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14FE15-D5B1-472D-8C03-1866CA6B9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37339"/>
            <a:ext cx="1403648" cy="215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April xx, 2023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8D6D48-DE6D-44CE-A7CA-EE6525099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03648" y="6627244"/>
            <a:ext cx="6212110" cy="2400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ACEA0B10-CC48-4B92-B94F-3F5D3EA269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85813"/>
            <a:ext cx="91440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572C12F0-8479-479A-ABC0-316A3C83A05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23050"/>
            <a:ext cx="7380312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77CD4FEF-74D3-4DAE-AE4D-9E663E34AE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79388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471CF3CB-1B69-427E-ACF8-3C89AC11B6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928813"/>
            <a:ext cx="69850" cy="46799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7EFEB5F-9136-46CD-A7E7-DD92C8EE28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09361" y="6320474"/>
            <a:ext cx="512878" cy="532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B6923D-4463-4616-B13E-2F75DC18C637}"/>
              </a:ext>
            </a:extLst>
          </p:cNvPr>
          <p:cNvSpPr txBox="1"/>
          <p:nvPr userDrawn="1"/>
        </p:nvSpPr>
        <p:spPr>
          <a:xfrm>
            <a:off x="7852389" y="6513991"/>
            <a:ext cx="1366080" cy="351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"/>
              </a:lnSpc>
            </a:pP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SNUTT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 National University</a:t>
            </a: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Towing Tank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62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</p:sldLayoutIdLst>
  <p:hf sldNum="0"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92896"/>
            <a:ext cx="7772400" cy="1470025"/>
          </a:xfrm>
        </p:spPr>
        <p:txBody>
          <a:bodyPr/>
          <a:lstStyle/>
          <a:p>
            <a:pPr algn="ctr"/>
            <a:r>
              <a:rPr sz="3600" b="1" i="0" dirty="0" err="1"/>
              <a:t>WaveSplat</a:t>
            </a:r>
            <a:endParaRPr sz="3600" b="1" i="0" dirty="0"/>
          </a:p>
          <a:p>
            <a:pPr algn="ctr"/>
            <a:r>
              <a:rPr sz="1800" b="0" i="0" dirty="0"/>
              <a:t>Grid-Free Spectral Wave Field Estimation from Sparse Shipboard LiDAR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D1E59432-3236-6BC6-223F-3ACE80D6D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3608" y="5373216"/>
            <a:ext cx="7992888" cy="720080"/>
          </a:xfrm>
        </p:spPr>
        <p:txBody>
          <a:bodyPr>
            <a:normAutofit/>
          </a:bodyPr>
          <a:lstStyle/>
          <a:p>
            <a:pPr algn="r"/>
            <a:r>
              <a:rPr lang="en-US" altLang="ko-KR" sz="1800" b="1" dirty="0" err="1"/>
              <a:t>Saeyong</a:t>
            </a:r>
            <a:r>
              <a:rPr lang="en-US" altLang="ko-KR" sz="1800" b="1" dirty="0"/>
              <a:t> Park</a:t>
            </a:r>
            <a:r>
              <a:rPr lang="en-US" altLang="ko-KR" sz="1800" baseline="30000" dirty="0"/>
              <a:t> 1</a:t>
            </a:r>
            <a:r>
              <a:rPr lang="en-US" altLang="ko-KR" sz="1800" dirty="0"/>
              <a:t>, Shin</a:t>
            </a:r>
            <a:r>
              <a:rPr lang="ko-KR" altLang="en-US" sz="1800" dirty="0"/>
              <a:t> </a:t>
            </a:r>
            <a:r>
              <a:rPr lang="en-US" altLang="ko-KR" sz="1800" dirty="0"/>
              <a:t>Hyung</a:t>
            </a:r>
            <a:r>
              <a:rPr lang="ko-KR" altLang="en-US" sz="1800" dirty="0"/>
              <a:t> </a:t>
            </a:r>
            <a:r>
              <a:rPr lang="en-US" altLang="ko-KR" sz="1800" dirty="0"/>
              <a:t>Rhee</a:t>
            </a:r>
            <a:r>
              <a:rPr lang="en-US" altLang="ko-KR" sz="1800" baseline="30000" dirty="0"/>
              <a:t> 1</a:t>
            </a:r>
            <a:endParaRPr lang="en-US" altLang="ko-KR" sz="1800" dirty="0"/>
          </a:p>
          <a:p>
            <a:pPr algn="r"/>
            <a:r>
              <a:rPr lang="en-US" altLang="ko-KR" sz="1800" baseline="30000" dirty="0"/>
              <a:t> </a:t>
            </a:r>
            <a:r>
              <a:rPr lang="en-US" altLang="ko-KR" sz="1800" dirty="0"/>
              <a:t>Seoul National Univ., Seoul, Korea</a:t>
            </a:r>
          </a:p>
          <a:p>
            <a:pPr algn="r"/>
            <a:endParaRPr lang="en-US" altLang="ko-KR" sz="1800" dirty="0"/>
          </a:p>
          <a:p>
            <a:pPr algn="r"/>
            <a:endParaRPr lang="en-US" altLang="ko-KR" sz="1800" dirty="0"/>
          </a:p>
          <a:p>
            <a:pPr algn="r"/>
            <a:endParaRPr lang="en-US" altLang="ko-KR" sz="18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1C83B94-8357-7487-C827-604A4252FB5B}"/>
              </a:ext>
            </a:extLst>
          </p:cNvPr>
          <p:cNvSpPr txBox="1">
            <a:spLocks/>
          </p:cNvSpPr>
          <p:nvPr/>
        </p:nvSpPr>
        <p:spPr>
          <a:xfrm>
            <a:off x="7164288" y="809664"/>
            <a:ext cx="1979712" cy="387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r" fontAlgn="auto">
              <a:spcAft>
                <a:spcPts val="0"/>
              </a:spcAft>
            </a:pPr>
            <a:r>
              <a:rPr kumimoji="0" lang="en-US" altLang="ko-KR" sz="2000" dirty="0">
                <a:solidFill>
                  <a:schemeClr val="tx1"/>
                </a:solidFill>
              </a:rPr>
              <a:t>May, 2026</a:t>
            </a:r>
            <a:endParaRPr kumimoji="0" lang="ko-KR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 i="0"/>
              <a:t>Contents</a:t>
            </a: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6975B96A-D46D-1585-2B99-F4BB5BDD2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I.	Introduction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A93F8F29-C4FF-B3B8-1DA1-4496A1369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II.	Methodology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AutoShape 17">
            <a:extLst>
              <a:ext uri="{FF2B5EF4-FFF2-40B4-BE49-F238E27FC236}">
                <a16:creationId xmlns:a16="http://schemas.microsoft.com/office/drawing/2014/main" id="{41A9D3EA-8081-444C-FF22-6CEEF9A11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III.	Results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AutoShape 17">
            <a:extLst>
              <a:ext uri="{FF2B5EF4-FFF2-40B4-BE49-F238E27FC236}">
                <a16:creationId xmlns:a16="http://schemas.microsoft.com/office/drawing/2014/main" id="{1D22DDFA-7666-871F-44E2-46D75BC1A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IV.	Application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 i="0"/>
              <a:t>Real Sea Trial — 실선 LiDAR 관측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430117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Falcon K1 LiDAR Live Recording — Florida Intracoastal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4297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 err="1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선박</a:t>
            </a:r>
            <a:r>
              <a:rPr sz="1100" b="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외부</a:t>
            </a:r>
            <a:r>
              <a:rPr sz="1100" b="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카메라</a:t>
            </a:r>
            <a:endParaRPr sz="1100" b="0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6320" y="402336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sz="1100" b="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live point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88036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관측</a:t>
            </a:r>
            <a:r>
              <a:rPr lang="en-US" sz="13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3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결과</a:t>
            </a:r>
            <a:endParaRPr sz="1300" b="1" dirty="0">
              <a:solidFill>
                <a:srgbClr val="C0531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LiDAR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점군이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매우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sparse —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수면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returns가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거리·각도에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따라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비균질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분포</a:t>
            </a:r>
            <a:endParaRPr sz="12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일부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영역은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specular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dropout으로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returns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부재</a:t>
            </a:r>
            <a:endParaRPr sz="12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카메라로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보이는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wake·잔파는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LiDAR에는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1~2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점으로만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나타남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격자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보간으론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형상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복원</a:t>
            </a:r>
            <a:r>
              <a:rPr sz="12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불가</a:t>
            </a:r>
            <a:endParaRPr sz="12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2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본 </a:t>
            </a:r>
            <a:r>
              <a:rPr sz="12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연구의</a:t>
            </a:r>
            <a:r>
              <a:rPr sz="12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출발점</a:t>
            </a:r>
            <a:r>
              <a:rPr sz="12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이 </a:t>
            </a:r>
            <a:r>
              <a:rPr sz="12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데이터에서</a:t>
            </a:r>
            <a:r>
              <a:rPr sz="12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연속적·물리적으로</a:t>
            </a:r>
            <a:r>
              <a:rPr sz="12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타당한</a:t>
            </a:r>
            <a:r>
              <a:rPr sz="12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파도장을</a:t>
            </a:r>
            <a:r>
              <a:rPr sz="12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어떻게</a:t>
            </a:r>
            <a:r>
              <a:rPr sz="12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실시간</a:t>
            </a:r>
            <a:r>
              <a:rPr sz="12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복원할</a:t>
            </a:r>
            <a:r>
              <a:rPr sz="12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것인가</a:t>
            </a:r>
            <a:r>
              <a:rPr sz="12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14" name="sensor_cam">
            <a:hlinkClick r:id="" action="ppaction://media"/>
            <a:extLst>
              <a:ext uri="{FF2B5EF4-FFF2-40B4-BE49-F238E27FC236}">
                <a16:creationId xmlns:a16="http://schemas.microsoft.com/office/drawing/2014/main" id="{37E50817-3D4B-0A4E-B25E-E4A8AF3DD0C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95424" y="1457233"/>
            <a:ext cx="4550896" cy="2560320"/>
          </a:xfrm>
        </p:spPr>
      </p:pic>
      <p:pic>
        <p:nvPicPr>
          <p:cNvPr id="15" name="wave">
            <a:hlinkClick r:id="" action="ppaction://media"/>
            <a:extLst>
              <a:ext uri="{FF2B5EF4-FFF2-40B4-BE49-F238E27FC236}">
                <a16:creationId xmlns:a16="http://schemas.microsoft.com/office/drawing/2014/main" id="{970A0254-2728-7C56-B17B-5CA3EE06160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15484"/>
          <a:stretch>
            <a:fillRect/>
          </a:stretch>
        </p:blipFill>
        <p:spPr>
          <a:xfrm>
            <a:off x="4952804" y="1449214"/>
            <a:ext cx="3846904" cy="256032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B9CFEB-3D19-43EB-2C15-6697214F55CE}"/>
              </a:ext>
            </a:extLst>
          </p:cNvPr>
          <p:cNvSpPr/>
          <p:nvPr/>
        </p:nvSpPr>
        <p:spPr>
          <a:xfrm>
            <a:off x="6228184" y="2060848"/>
            <a:ext cx="648072" cy="7920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42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425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496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 i="0"/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268214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선박 전방 파랑 예측이 필요한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자율운항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선박의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안전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승차감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에너지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효율</a:t>
            </a:r>
            <a:endParaRPr sz="13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3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sz="13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하이드로포일</a:t>
            </a:r>
            <a:r>
              <a:rPr sz="13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선박</a:t>
            </a:r>
            <a:r>
              <a:rPr sz="13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3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파랑</a:t>
            </a:r>
            <a:r>
              <a:rPr sz="13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preview → feedforward </a:t>
            </a:r>
            <a:r>
              <a:rPr sz="13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제어</a:t>
            </a:r>
            <a:endParaRPr sz="1300" b="1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해상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크레인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파고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예측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보상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제어</a:t>
            </a:r>
            <a:endParaRPr sz="13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해양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구조물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파랑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하중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예측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구조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안전</a:t>
            </a:r>
            <a:endParaRPr sz="13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169100"/>
            <a:ext cx="229902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</a:t>
            </a:r>
            <a:r>
              <a:rPr sz="13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관측의</a:t>
            </a:r>
            <a:r>
              <a:rPr sz="13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본질적</a:t>
            </a:r>
            <a:r>
              <a:rPr sz="13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어려움</a:t>
            </a:r>
            <a:endParaRPr sz="1300" b="1" dirty="0">
              <a:solidFill>
                <a:srgbClr val="C0531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534860"/>
            <a:ext cx="82296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Sparse: 200×150 m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영역에서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프레임당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~50 점</a:t>
            </a:r>
          </a:p>
          <a:p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ko-KR" altLang="en-US"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센서의 특성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근거리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조밀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↔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원거리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희박</a:t>
            </a:r>
            <a:endParaRPr sz="13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Noisy: beam divergence + specular dropout</a:t>
            </a:r>
          </a:p>
          <a:p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10 Hz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실시간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처리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필요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(&lt; 100 </a:t>
            </a:r>
            <a:r>
              <a:rPr sz="13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3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/frame)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1800" y="5706576"/>
            <a:ext cx="8229600" cy="489208"/>
          </a:xfrm>
          <a:prstGeom prst="roundRect">
            <a:avLst/>
          </a:prstGeom>
          <a:solidFill>
            <a:srgbClr val="C05317"/>
          </a:solidFill>
          <a:ln>
            <a:solidFill>
              <a:srgbClr val="C05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목표: 희소 LiDAR 관측으로부터 연속적이고 물리적으로 타당한 파도장을 실시간 복원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0B70B-5E7A-7B80-BAC3-763BE75AD668}"/>
              </a:ext>
            </a:extLst>
          </p:cNvPr>
          <p:cNvSpPr txBox="1"/>
          <p:nvPr/>
        </p:nvSpPr>
        <p:spPr>
          <a:xfrm>
            <a:off x="457200" y="3450540"/>
            <a:ext cx="157607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3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기존의 방법론 비교</a:t>
            </a:r>
            <a:endParaRPr sz="1300" b="1" dirty="0">
              <a:solidFill>
                <a:srgbClr val="C0531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06737E8C-144D-A444-642E-43A956DC8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949012"/>
              </p:ext>
            </p:extLst>
          </p:nvPr>
        </p:nvGraphicFramePr>
        <p:xfrm>
          <a:off x="471800" y="3727192"/>
          <a:ext cx="8229600" cy="1623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946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Key Limitation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46">
                <a:tc>
                  <a:txBody>
                    <a:bodyPr/>
                    <a:lstStyle/>
                    <a:p>
                      <a:r>
                        <a:rPr sz="1000" b="0"/>
                        <a:t>ETKF-grid (Desmars 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/>
                        <a:t>Ensemble Kalman Filter on spatial 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격자 보간 → aliasing · O(Nₑ G² log G²) · 하이퍼파라미터 민감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946">
                <a:tc>
                  <a:txBody>
                    <a:bodyPr/>
                    <a:lstStyle/>
                    <a:p>
                      <a:r>
                        <a:rPr sz="1000" b="0"/>
                        <a:t>GPR (RBF/Matérn)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Gaussian Process Regression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/>
                        <a:t>O(M³) · </a:t>
                      </a:r>
                      <a:r>
                        <a:rPr sz="1000" b="0" dirty="0" err="1"/>
                        <a:t>시간</a:t>
                      </a:r>
                      <a:r>
                        <a:rPr sz="1000" b="0" dirty="0"/>
                        <a:t> </a:t>
                      </a:r>
                      <a:r>
                        <a:rPr sz="1000" b="0" dirty="0" err="1"/>
                        <a:t>모델</a:t>
                      </a:r>
                      <a:r>
                        <a:rPr sz="1000" b="0" dirty="0"/>
                        <a:t> </a:t>
                      </a:r>
                      <a:r>
                        <a:rPr sz="1000" b="0" dirty="0" err="1"/>
                        <a:t>없음</a:t>
                      </a:r>
                      <a:r>
                        <a:rPr sz="1000" b="0" dirty="0"/>
                        <a:t> · </a:t>
                      </a:r>
                      <a:r>
                        <a:rPr sz="1000" b="0" dirty="0" err="1"/>
                        <a:t>단순</a:t>
                      </a:r>
                      <a:r>
                        <a:rPr sz="1000" b="0" dirty="0"/>
                        <a:t> </a:t>
                      </a:r>
                      <a:r>
                        <a:rPr sz="1000" b="0" dirty="0" err="1"/>
                        <a:t>공간</a:t>
                      </a:r>
                      <a:r>
                        <a:rPr sz="1000" b="0" dirty="0"/>
                        <a:t> </a:t>
                      </a:r>
                      <a:r>
                        <a:rPr sz="1000" b="0" dirty="0" err="1"/>
                        <a:t>보간</a:t>
                      </a:r>
                      <a:r>
                        <a:rPr sz="1000" b="0" dirty="0"/>
                        <a:t> → zero-predictor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946">
                <a:tc>
                  <a:txBody>
                    <a:bodyPr/>
                    <a:lstStyle/>
                    <a:p>
                      <a:r>
                        <a:rPr sz="1000" b="0"/>
                        <a:t>PINN / FNO (Ehlers 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Neural Network 기반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 err="1"/>
                        <a:t>학습</a:t>
                      </a:r>
                      <a:r>
                        <a:rPr sz="1000" b="0" dirty="0"/>
                        <a:t> </a:t>
                      </a:r>
                      <a:r>
                        <a:rPr sz="1000" b="0" dirty="0" err="1"/>
                        <a:t>분포</a:t>
                      </a:r>
                      <a:r>
                        <a:rPr sz="1000" b="0" dirty="0"/>
                        <a:t> </a:t>
                      </a:r>
                      <a:r>
                        <a:rPr sz="1000" b="0" dirty="0" err="1"/>
                        <a:t>의존</a:t>
                      </a:r>
                      <a:r>
                        <a:rPr sz="1000" b="0" dirty="0"/>
                        <a:t> · LiDAR </a:t>
                      </a:r>
                      <a:r>
                        <a:rPr sz="1000" b="0" dirty="0" err="1"/>
                        <a:t>불규칙</a:t>
                      </a:r>
                      <a:r>
                        <a:rPr sz="1000" b="0" dirty="0"/>
                        <a:t> </a:t>
                      </a:r>
                      <a:r>
                        <a:rPr sz="1000" b="0" dirty="0" err="1"/>
                        <a:t>샘플링과</a:t>
                      </a:r>
                      <a:r>
                        <a:rPr sz="1000" b="0" dirty="0"/>
                        <a:t> </a:t>
                      </a:r>
                      <a:r>
                        <a:rPr sz="1000" b="0" dirty="0" err="1"/>
                        <a:t>궁합</a:t>
                      </a:r>
                      <a:r>
                        <a:rPr sz="1000" b="0" dirty="0"/>
                        <a:t> </a:t>
                      </a:r>
                      <a:r>
                        <a:rPr sz="1000" b="0" dirty="0" err="1"/>
                        <a:t>나쁨</a:t>
                      </a:r>
                      <a:endParaRPr sz="1000" b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CC20F30-4BEA-6764-2AC3-9C32A3CB6FB6}"/>
              </a:ext>
            </a:extLst>
          </p:cNvPr>
          <p:cNvSpPr txBox="1"/>
          <p:nvPr/>
        </p:nvSpPr>
        <p:spPr>
          <a:xfrm>
            <a:off x="457200" y="526408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공통</a:t>
            </a:r>
            <a:r>
              <a:rPr sz="1300" b="1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1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문제</a:t>
            </a:r>
            <a:r>
              <a:rPr sz="1300" b="1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300" b="1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격자</a:t>
            </a:r>
            <a:r>
              <a:rPr sz="1300" b="1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(grid) </a:t>
            </a:r>
            <a:r>
              <a:rPr sz="1300" b="1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의존</a:t>
            </a:r>
            <a:r>
              <a:rPr sz="1300" b="1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300" b="1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희소</a:t>
            </a:r>
            <a:r>
              <a:rPr sz="1300" b="1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1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관측에서</a:t>
            </a:r>
            <a:r>
              <a:rPr sz="1300" b="1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aliasing &amp; </a:t>
            </a:r>
            <a:r>
              <a:rPr sz="1300" b="1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불필요한</a:t>
            </a:r>
            <a:r>
              <a:rPr sz="1300" b="1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1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계산</a:t>
            </a:r>
            <a:r>
              <a:rPr lang="en-US" sz="1300" b="1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Grid-free </a:t>
            </a:r>
            <a:r>
              <a:rPr sz="13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representation이</a:t>
            </a:r>
            <a:r>
              <a:rPr sz="1300" b="1" dirty="0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b="1" dirty="0" err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필요하다</a:t>
            </a:r>
            <a:endParaRPr sz="1300" b="1" dirty="0">
              <a:solidFill>
                <a:srgbClr val="C0531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 i="0"/>
              <a:t>WaveSplat의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622157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핵심 아이디어: 파도장을 N개의 spectral component (plane wave)로 직접 파라미터화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z(x, y, t) = Σᵢ wᵢ · cos(kx,ᵢ·x + ky,ᵢ·y − ωᵢt + φᵢ)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❶ Grid-free spectral representation — 3D Gaussian Splatting의 해양파 버전</a:t>
            </a:r>
          </a:p>
          <a:p>
            <a:r>
              <a:rPr sz="13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❷ Dispersion hard constraint: ωᵢ = √(g·|kᵢ|·tanh(|kᵢ|·d))  →  5N → 4N 파라미터</a:t>
            </a:r>
          </a:p>
          <a:p>
            <a:r>
              <a:rPr sz="13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❸ Adaptive model order: energy pruning + residual growth + safety rollback</a:t>
            </a:r>
          </a:p>
          <a:p>
            <a:r>
              <a:rPr sz="13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❹ Geometry-aware confidence weighting: cⱼ = cos(θⱼ)/(dⱼ/d_ref) — LiDAR 관측 품질 모델링</a:t>
            </a:r>
          </a:p>
          <a:p>
            <a:r>
              <a:rPr sz="13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❺ Pre-specified 5-metric evaluation panel — zero-predictor 구분 가능</a:t>
            </a:r>
          </a:p>
          <a:p>
            <a:r>
              <a:rPr sz="13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❻ 24-config ETKF hyperparameter sweep — 공정한 tuned baseline 제공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0" i="0"/>
              <a:t>Methodology (1): Forward &amp; Observation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30997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4114800" cy="1920240"/>
          </a:xfrm>
          <a:prstGeom prst="rect">
            <a:avLst/>
          </a:prstGeom>
          <a:solidFill>
            <a:srgbClr val="F8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20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z(x,y,t) = Σᵢ wᵢ cos(kx,ᵢx + ky,ᵢy − ωᵢt + φᵢ)</a:t>
            </a:r>
          </a:p>
          <a:p>
            <a:r>
              <a:rPr sz="120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ωᵢ = √(g|kᵢ|tanh(|kᵢ|d))   ← hard constraint</a:t>
            </a:r>
          </a:p>
          <a:p>
            <a:endParaRPr sz="120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20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파라미터: {wᵢ, kx,ᵢ, ky,ᵢ, φᵢ}  → 4N</a:t>
            </a:r>
          </a:p>
          <a:p>
            <a:r>
              <a:rPr sz="120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(ω는 k로부터 결정 — 자유변수 아님)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385894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Model — Geometry-aware Confidence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25880"/>
            <a:ext cx="3749039" cy="1920240"/>
          </a:xfrm>
          <a:prstGeom prst="rect">
            <a:avLst/>
          </a:prstGeom>
          <a:solidFill>
            <a:srgbClr val="F8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10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cⱼ = cos(θⱼ) / (dⱼ / d_ref)</a:t>
            </a:r>
          </a:p>
          <a:p>
            <a:endParaRPr sz="110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= (1/M)Σⱼ cⱼ(zⱼ − ẑⱼ)²</a:t>
            </a:r>
          </a:p>
          <a:p>
            <a:r>
              <a:rPr sz="110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+ λ₁ Σ|wᵢ|     (sparsity)</a:t>
            </a:r>
          </a:p>
          <a:p>
            <a:r>
              <a:rPr sz="110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+ λs Σ(Δwᵢ)²  (smoothness)</a:t>
            </a:r>
          </a:p>
          <a:p>
            <a:endParaRPr sz="110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θⱼ: incidence angle, dⱼ: range, d_ref=125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물리적 의미: dispersion 제약은 '이 파도가 실제 중력파'임을 보장.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ω를 자유롭게 놓으면 nRMSE는 낮아지지만 1초 뒤 예측이 발산 (A1 ablation에서 확인).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cⱼ는 정확한 Fresnel R(θ)가 아니라 cos(θ)·1/(d/d_ref)의 단순 기하 가중치.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실제 Fresnel은 raydrop 모델에서만 사용 (다음 슬라이드).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 i="0"/>
              <a:t>Methodology (2): 2-Phase Pipeline (Init → Track)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275908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1: Initialization (T_init = 2Tₚ)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11480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Dispersion-aware beamforming (v2_konly)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→ Cartesian 81×81 k-grid (Δk≈0.10 rad/m)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Greedy peak extraction (0.15 rad/m suppression)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 Coarse-to-fine Adam: N=3 → 8 → 15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(200 iters/stage, lr=5e-3)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 Energy-based pruning (90% threshold)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+ RMSE 130% safety rollback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⑤ Residual growth: RMS &gt; 0.05 m → beamform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성분 추가 (Nmax = 30)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298254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2: Tracking (w_phi mode, 10 Hz)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25880"/>
            <a:ext cx="393192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Predict: φᵢ ← φᵢ + ωᵢ · Δt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(dispersion-exact phase propagation)</a:t>
            </a:r>
          </a:p>
          <a:p>
            <a:endParaRPr sz="11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Update: K=10 Adam steps (lr=1e-3)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on Kw=3 sliding-frame window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→ only (wᵢ, φᵢ) updated; kx, ky FROZEN</a:t>
            </a:r>
          </a:p>
          <a:p>
            <a:endParaRPr sz="11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freeze k?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단일 프레임에서 kx/ky는 ill-conditioned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Multi-frame init이 충분히 평균화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φ warm start → 200 → 10 gradient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N: N=1 (단일 swell) ~ N=21 (complex sea)  |  13.4 ms/frame 평균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0" i="0"/>
              <a:t>WaveSim (1/2): 파도 생성 + 물리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294144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JONSWAP 스펙트럼 → 시간영역 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114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Pierson-Moskowitz with peak enhancement γ=3.3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Hs ∈ [0.3, 2.0] m, Tp ∈ [4, 8] s (BF2~BF5)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Random phase φᵢ ∈ U[0, 2π], 10 s warm-up 후 stationary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Q-제약: Σ Qᵢωᵢ²Aᵢ &lt; 1 (steepness 한도) — 자동 강제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248997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Gerstner 비선형 파도 (2차 정확)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25880"/>
            <a:ext cx="3931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z(x,t) = Σᵢ Aᵢ cos(kᵢ·x − ωᵢt + φᵢ)        ← linear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Δx(x,t) = −Σᵢ (Aᵢkᵢ/|kᵢ|) sin(...)         ← Lagrangian shift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Trochoid 표면 (꼭대기 첨예, 골짜기 평탄)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단일 성분 해석해 대비 RMSE &lt; 10⁻¹⁰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268054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분산관계 (수심-의존 풀 dispersion)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41148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ω = √(g|k|·tanh(|k|·d)),  d=50 m default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Deep limit: ω ≈ √(g|k|),  Shallow limit: ω ≈ |k|·√(gd)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전 BF·전 |k| 범위에서 해석해 대비 오차 &lt; 10⁻⁶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246120"/>
            <a:ext cx="3749039" cy="228600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100" b="1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 Generation 검증 (39 unit tests 중)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분산관계 deep/shallow 해석해 일치 (오차 &lt; 1e-6)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Gerstner 단일성분 RMSE &lt; 1e-10 m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Hs(Welch) = 4√m₀ 일치 &lt; 0.5%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Q-constraint: 모든 100 episodes 위반 0건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Energy conservation: ΣAᵢ² ≈ ∫S(ω)dω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 i="0"/>
              <a:t>WaveSim (2/2): LiDAR · Raydrop · 통합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85018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Falcon K1 LiDAR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26974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1550 nm, 152 channels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FOV 120° × 25°, range 1.5–250 m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Beam divergence 0.05°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Scan rate 10 Hz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σ_range = 0.02 m, σ_angle = 0.05°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Mount: 5 m, +5° downward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960120"/>
            <a:ext cx="172053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Ray-Mesh + Raydrop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325880"/>
            <a:ext cx="26974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Möller-Trumbore intersection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mesh 80×60, 4 km² 영역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Diffuse (uniform):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p = R(θ)·cos(θ)/d²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Specular (slope):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retroreflection alignment α&lt;5°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두 모델 병렬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960120"/>
            <a:ext cx="202882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chain (39 tests)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325880"/>
            <a:ext cx="26060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Möller-Trumbore: 100% hit/miss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Fresnel R(0°)=((n-1)/(n+1))² 일치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Range 측정 GT 대비 &lt;1 cm bias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Beam divergence &lt; 0.05°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Raydrop 확률 ∈ [0,1]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Coordinate Falcon→world 정확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Total: 39/39 passing in CI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8193024" cy="13716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4754880"/>
            <a:ext cx="104387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핵심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74920"/>
            <a:ext cx="78638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100 episodes (BF2~BF5 × 1/2/5/15/30 components × 5 seeds × 2 raydrop) 모두 동일 시뮬레이터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GT는 Gerstner 비선형 → 추정의 linear 모델과 의도된 O(ε²) mismatch (~0.25 % at BF4)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Falcon K1 spec은 Avikus NEUBOAT 실선 시험 장비와 동일 → sim-to-real 평가 시 raydrop만 보정</a:t>
            </a:r>
          </a:p>
          <a:p>
            <a:r>
              <a:rPr sz="11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시뮬레이션 결과는 reviewer가 의심할 만한 모든 물리 가정에서 단위 검증 위에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0" i="0"/>
              <a:t>Experiment Design — Dataset &amp;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75881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(100 episodes)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4114800" cy="2246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5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r>
                        <a:rPr sz="900" b="1"/>
                        <a:t>Total episodes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100 (5 seeds × 10 configs × 2 raydrop)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r>
                        <a:rPr sz="900"/>
                        <a:t>Sea state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BF2~BF5 (Hs 0.3~2.0 m)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r>
                        <a:rPr sz="900"/>
                        <a:t>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1, 2, 5, 15, 30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r>
                        <a:rPr sz="900"/>
                        <a:t>Raydrop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Uniform (diffuse) + Slope (specular)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r>
                        <a:rPr sz="900"/>
                        <a:t>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301 frames (30 s @ 10 Hz)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12">
                <a:tc>
                  <a:txBody>
                    <a:bodyPr/>
                    <a:lstStyle/>
                    <a:p>
                      <a:r>
                        <a:rPr sz="900"/>
                        <a:t>LiDAR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Seyond Falcon K1 spec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0" y="960120"/>
            <a:ext cx="84029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280160"/>
          <a:ext cx="3931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 b="1"/>
                        <a:t>ETKF (tuned)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24-config sweep (g=40×30, nₑ=100)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nRMSE 0.319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GPR-1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Matérn ν=5/2, ℓ=20m, σ=0.02m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시간 모델 없음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GPR-sliding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3-frame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강한 GPR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LETKF (loc50)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Gaspari-Cohn r_loc=50m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강화 baseline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GPR-disp(3f)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dispersion kernel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강화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749039"/>
            <a:ext cx="8193024" cy="1920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3840480"/>
            <a:ext cx="79552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Pre-specified 5-Metric Evaluation Panel</a:t>
            </a:r>
          </a:p>
          <a:p>
            <a:r>
              <a:rPr sz="1200" b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nRMSE ↓  |  Variance Ratio (VR) → 1  |  Pearson ρ ↑  |  Skill Score (SS) ↑  |  RMSE_unobs [m] ↓</a:t>
            </a:r>
          </a:p>
          <a:p>
            <a:endParaRPr sz="1200" b="1">
              <a:solidFill>
                <a:srgbClr val="1A1A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핵심 1) RMSE_unobs = 관측에서 ≥10 m 떨어진 grid 지점에서만 계산 → physics prior 직접 증거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핵심 2) SS = 1 − MSE(ẑ)/MSE(0)  →  양수면 zero-predictor(ẑ=0)보다 나은 것</a:t>
            </a:r>
          </a:p>
          <a:p>
            <a:r>
              <a:rPr sz="1100" b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모든 baseline에 동일하게 적용 — metric cherry-picking 방지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0" i="0"/>
              <a:t>핵심 결과: 5-Metric Evaluation (100 episodes)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nRMSE ↓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VR → 1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ρ ↑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SS ↑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RMSE_unobs [m] ↓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/>
                        <a:t>WaveSplat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0.223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0.661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+0.034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0.262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ETKF (tuned)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0.319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0.898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0.109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−0.702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0.348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GPR-1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0.065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−0.141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0.294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926080"/>
            <a:ext cx="82296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Skill Score: WaveSplat만 양수 (+0.034) — zero-predictor보다 나은 유일한 방법</a:t>
            </a:r>
          </a:p>
          <a:p>
            <a:r>
              <a:rPr sz="1200" b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RMSE_unobs: WaveSplat 0.262 m vs ETKF 0.348 m vs GPR 0.294 m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관측되지 않은 영역 재구성 = physics prior 직접 증거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GPR은 거의 zero predictor: VR=0.065 → 진폭의 6.5%만 재현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ETKF는 variance-correct but shape-wrong: VR=0.898 but ρ=0.109</a:t>
            </a:r>
          </a:p>
          <a:p>
            <a:r>
              <a:rPr sz="12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WaveSplat: nRMSE 30.1% 낮고 ~10× 빠름 (13.4 vs 132.6 ms/frame)</a:t>
            </a:r>
          </a:p>
          <a:p>
            <a:endParaRPr sz="1200" b="1">
              <a:solidFill>
                <a:srgbClr val="C0531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한계 (panel이 함께 노출): VR=0.66 → 진폭 ~34% 과소추정 (pruning 대가)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0" i="0"/>
              <a:t>Per-episode 결과 &amp; 속도 (12 representative episodes)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30356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12-episode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WaveSplat: 12/12 승 (모든 episode에서 nRMSE 최저)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Best 격차: 8.5× (BF3 1-comp swell)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평균 inference: 13.4 ms/frame vs ETKF 132.6 ms (~10× faster)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단순 해상부터 복잡 해상까지 일관된 우위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8036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핵심 관찰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82296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ETKF는 grid 보간 비용으로 9~10×의 시간 페널티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GPR은 시간 모델이 없어 frame 간 일관성 부족 (variance ratio 매우 낮음)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WaveSplat의 spectral 표현은 동일 메모리 footprint로 다양한 해상 cope</a:t>
            </a:r>
          </a:p>
          <a:p>
            <a:endParaRPr sz="12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12 episodes는 BF2~BF5 × 1/2/5/15/30 components 균등 샘플 (cherry-pick 아님)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0" i="0"/>
              <a:t>통계 검증 (100 Paired Runs)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Comparison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mean ± std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Wilcoxon p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Cohen's d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1"/>
                        <a:t>WaveSplat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0.219 ± 0.079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vs ETKF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0.321 ± 0.041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1.1 × 10⁻¹⁵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1.16 (large)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[0.085, 0.119]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vs GPR-sliding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0.253 ± 0.020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4.7 × 10⁻⁴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0.42 (sm-med)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[0.018, 0.050]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17520"/>
            <a:ext cx="8229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실험 설계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100 paired = 10 configs × 5 seeds × 2 raydrop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같은 조건에서 WS vs baseline → paired test</a:t>
            </a:r>
          </a:p>
          <a:p>
            <a:endParaRPr sz="12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결과 해석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Cohen's d = 1.16 → large effect (&gt; 0.8) — WS vs ETKF 차이 매우 유의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Cohen's d = 0.42 → small-medium — WS vs GPR도 통계적으로 robust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두 CI 모두 0을 포함하지 않음 (Holm-corrected)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0" i="0" dirty="0"/>
              <a:t>Ablation: Dispersion </a:t>
            </a:r>
            <a:r>
              <a:rPr sz="2600" b="0" i="0" dirty="0" err="1"/>
              <a:t>제약의</a:t>
            </a:r>
            <a:r>
              <a:rPr sz="2600" b="0" i="0" dirty="0"/>
              <a:t> </a:t>
            </a:r>
            <a:r>
              <a:rPr sz="2600" b="0" i="0" dirty="0" err="1"/>
              <a:t>가치</a:t>
            </a:r>
            <a:endParaRPr sz="2600" b="0" i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avg nRMSE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vs Full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R̄ (dispersion drift)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1"/>
                        <a:t>Full (dispersion 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0.188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≡ 0 (by construction)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A1 (no dispersion)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0.158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−16% nRMSE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0.51 ± 0.12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dirty="0"/>
                        <a:t>A2 (no confidence)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+14.5%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≡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17520"/>
            <a:ext cx="82296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A1이 nRMSE는 16% 낮다. 그런데 왜 dispersion이 필요한가?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R̄ = Σ|wᵢ|·|ωᵢ − ω_disp| / (ωᵢ·Σ|wⱼ|)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A1: R̄ = 0.51 ± 0.12  →  성분의 약 50%가 dispersion manifold에서 이탈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절대값 ~0.10 Hz off  →  1초 뒤 phase prediction이 de-cohere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시간 추적, 파고 예측, downstream 제어에 사용 불가</a:t>
            </a:r>
          </a:p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결론: A1의 16%는 '물리적 유효성을 포기하고 얻은 nRMSE'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0" i="0"/>
              <a:t>Robustness: Raydrop · Sparsity · Noise · Hyperparameter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59851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Raydrop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011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10 paired episodes (U vs S)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WaveSplat: 20/20 wins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Slope: WS −9.1%, ETKF −16.2%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두 raydrop 모두에서 안정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960120"/>
            <a:ext cx="162416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Sparsity Robustness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280160"/>
            <a:ext cx="2011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관측 밀도 20~100% 실험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BF4~5: 20% (~10점)에서도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&lt; 8% 성능 저하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예외: BF3 2c (N=2 한계)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960120"/>
            <a:ext cx="141897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Robustness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280160"/>
            <a:ext cx="2011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σ ∈ {0, 0.02, 0.05, 0.10} m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σ=0.10 (5× baseline)에서도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nRMSE 변화 ±13% 이내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Adaptive N이 노이즈 흡수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960120"/>
            <a:ext cx="138852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280160"/>
            <a:ext cx="2011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lr=0.01, λ₁=1e-3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τ_prune=0.10, τ_grow=0.05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BF3 5c 한 번의 sweep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±2× 변경 시 nRMSE ±5%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결론: 모든 robustness 축에서 일관적 — 단일 하이퍼파라미터 setting으로 100 runs 재현 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0" i="0"/>
              <a:t>Qualitative 비교 — GT vs WaveSplat vs ETKF vs GPR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WaveSplat: 파면 형상 정확 — 위상·진폭 모두 GT와 가까움</a:t>
            </a:r>
          </a:p>
          <a:p>
            <a:r>
              <a:rPr sz="13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ETKF: 진폭은 보존되나 spatial structure가 incoherent (격자 보간 잡음)</a:t>
            </a:r>
          </a:p>
          <a:p>
            <a:r>
              <a:rPr sz="13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GPR: 표면이 거의 평탄 (zero-predictor에 가까움)</a:t>
            </a:r>
          </a:p>
          <a:p>
            <a:endParaRPr sz="13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qualitative 도판은 발표 시 노트북에서 demo (docs/demo_wavesplat.gif)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0" i="0"/>
              <a:t>추가 기여: 3가지 고유 능력 (Spectral · Sparse · Forecast)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48515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6974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5 comp 이하: energy det &gt;93%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|k| error &lt; 0.5%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direction error &lt; 0.2°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ETKF/GPR에 없는 고유 능력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(grid-free spectral → 주파수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직접 추출)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960120"/>
            <a:ext cx="151195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Sparse Robustness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280160"/>
            <a:ext cx="26974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관측 밀도 10~50점 비교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10 pts: WS 0.191 vs LETKF 0.239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희소 관측에서 더 강건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Grid-free → aliasing 없음</a:t>
            </a:r>
          </a:p>
          <a:p>
            <a:endParaRPr sz="11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(WS vs LETKF, BF3 5c)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960120"/>
            <a:ext cx="123206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280160"/>
            <a:ext cx="26974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10초 후 nRMSE 0.219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Skill Score &gt; 0 유지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BF3 2c: SS = +0.953 @t+10s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Dispersion constraint 덕분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(A1 없으면 예측 발산)</a:t>
            </a:r>
          </a:p>
          <a:p>
            <a:endParaRPr sz="11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3가지 능력은 WaveSplat만의 고유 장점 — 격자 기반 baseline (ETKF/GPR)으로는 불가능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 i="0"/>
              <a:t>강화 Baseline 비교 — LETKF · GPR-disp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439415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100-episode 전체 비교 (LETKF: Gaspari-Cohn r_loc=50m)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nRMSE ↓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VR → 1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ρ ↑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SS ↑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ms ↓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WaveSplat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0.223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0.661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+0.034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14.5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LETKF (loc50)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0.228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0.111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0.359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+0.142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118.3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606040"/>
            <a:ext cx="188865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Regime-dependent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4114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전체: WS 51승 vs LETKF 49승 (사실상 draw)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≤5 comp (60 ep): WS SS=+0.37 vs LETKF +0.11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단순 해상에서 WaveSplat 압도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≥15 comp (40 ep): WS SS=−0.46 vs LETKF +0.20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복잡 해상에서 LETKF 우세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속도: 14.5 vs 118.3 ms (8.1× faster)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606040"/>
            <a:ext cx="264848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12-episode subset (GPR-disp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971800"/>
            <a:ext cx="393192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GPR-disp (3-frame, dispersion kernel):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nRMSE 0.267 vs WS 0.211 (21% 열위)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473.6 ms (WS 대비 36× 느림)</a:t>
            </a:r>
          </a:p>
          <a:p>
            <a:endParaRPr sz="11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결론: nRMSE 동등 but WS 8× faster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SS는 regime-dependent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complexity-aware method selection이 최선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 i="0"/>
              <a:t>응용 연구: Hydrofoil Wave-Preview Feedforward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242630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왜 하이드로포일에 WaveSplat?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1148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Hydrofoil: 수면 위 비행 → 파도 교란에 극도로 민감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Foil 잠수 깊이 0.5~1.0 m → AoA 직접 변동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PD feedback만으로는 encounter freq 대응 한계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(50~100 ms loop delay = 파도 주기의 5~10%)</a:t>
            </a:r>
          </a:p>
          <a:p>
            <a:endParaRPr sz="11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핵심 아이디어: WaveSplat의 spectral model로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foil 전방 파도를 미리 예측 → feedforward 보상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자동차 preview suspension의 해양 버전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264771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제어 구조: PD + Wave-Preview 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25880"/>
            <a:ext cx="3931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2DOF 모델: heave + pitch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선박: 1700 kg, 22 kts, tandem foil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NACA 63-series foil sections</a:t>
            </a:r>
          </a:p>
          <a:p>
            <a:endParaRPr sz="10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 feedback: collective-differential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δ_f = δ_c − δ_d,  δ_r = δ_c + δ_d</a:t>
            </a:r>
          </a:p>
          <a:p>
            <a:endParaRPr sz="10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Feedforward: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x_preview = x_foil + V·Δt_prev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α_wave = −∂η/∂x − w/V (at preview pt)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δ_ff = −K_ff·α_wave (K_ff=0.8)</a:t>
            </a:r>
          </a:p>
          <a:p>
            <a:endParaRPr sz="10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IIR LP filter (α=0.05, fc≈0.8 Hz)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추정 노이즈 억제, 파도 신호 통과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 i="0"/>
              <a:t>Hydrofoil 결과 (1): Feedforward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PD-only aRMS [m/s²]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GT FF ↓%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WS FF ↓%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Noisy FF ↓%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 b="1"/>
                        <a:t>BF3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1.631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+11.0%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+11.4%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+11.7%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BF4 Head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2.162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+12.3%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+12.2%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+11.8%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BF3 Beam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+40.7%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+37.7%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+27.5%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BF3 Quarter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1.178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+17.6%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+17.7%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+17.0%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WaveSplat FF → GT FF의 93~103% 성능 달성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WS 20% nRMSE로도 GT 대비 93~103% feedforward 효과 회복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Beam sea에서 가장 큰 개선 (+37.7%) — 파면이 평행하여 추정 유리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Noisy FF (인위적 노이즈 주입)도 LP filter 덕분에 효과적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BF3 Beam: ISO 2631 'Slight discomfort' → 'Comfortable' 달성 (aRMS &lt; 0.315)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 i="0"/>
              <a:t>Hydrofoil 결과 (2): Sensitivity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61775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추정 오차 허용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11480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nRMSE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0~50% 전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구간에서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FF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유효</a:t>
            </a:r>
            <a:endParaRPr sz="11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50%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nRMSE에서도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FF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효과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존재</a:t>
            </a:r>
            <a:endParaRPr sz="11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threshold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없음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(graceful degradation)</a:t>
            </a:r>
          </a:p>
          <a:p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LP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filter가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고주파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추정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노이즈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억제</a:t>
            </a:r>
            <a:endParaRPr sz="11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부정확한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추정도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유용하게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활용</a:t>
            </a:r>
            <a:endParaRPr sz="11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1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실용적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의미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WaveSplat의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20%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nRMSE는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충분</a:t>
            </a:r>
            <a:endParaRPr sz="11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더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정확할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필요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없이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제어에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활용</a:t>
            </a:r>
            <a:r>
              <a:rPr sz="11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가능</a:t>
            </a:r>
            <a:endParaRPr sz="11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174939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최적 Preview Horizon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25880"/>
            <a:ext cx="39319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Head sea: 최적 0.1 s (~1.1 m ahead)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Beam sea: 최적 0.3 s (~3.4 m ahead)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물리적 의미: 파도-foil 상호작용 시간 스케일</a:t>
            </a:r>
          </a:p>
          <a:p>
            <a:endParaRPr sz="11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너무 긴 preview → 위상 불일치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너무 짧은 preview → reaction 부족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Encounter freq에 따라 최적점 변화</a:t>
            </a:r>
          </a:p>
          <a:p>
            <a:endParaRPr sz="11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실용: 0.1~0.3 s면 충분</a:t>
            </a:r>
          </a:p>
          <a:p>
            <a:r>
              <a:rPr sz="11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(cruise speed에서 1~3 m 전방)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 i="0"/>
              <a:t>Hydrofoil 결과 (3): End-to-End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407438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→ WaveSplat → Feedforward → Ride Control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WS/GT ratio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평가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BF3 2-comp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near-perfect (simple sea)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BF3 beam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92%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excellent</a:t>
                      </a:r>
                    </a:p>
                  </a:txBody>
                  <a:tcPr>
                    <a:solidFill>
                      <a:srgbClr val="FA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BF4 5-comp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limited (direction error)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08960"/>
            <a:ext cx="82296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BF3: WaveSplat E2E → GT의 92~96% 달성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BF4: 37% — directional misestimation 영향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directional spectrum (보조 지표)의 한계가 제어에 전파</a:t>
            </a:r>
          </a:p>
          <a:p>
            <a:endParaRPr sz="12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핵심 발견: amplitude 정확도보다 direction 정확도가 feedforward 성능에 더 중요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0" i="0"/>
              <a:t>Hydrofoil 시뮬레이션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471789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PD-only vs PD + Wave-Preview FF — BF3 Head Sea Animation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8229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발표 시 GIF 재생 — docs/hydrofoil_wave_animation.gif</a:t>
            </a:r>
          </a:p>
          <a:p>
            <a:endParaRPr sz="1300" b="0">
              <a:solidFill>
                <a:srgbClr val="1A1A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Heave amplitude: PD-only 0.62 m → with FF 0.41 m  (−34%)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Pitch amplitude: PD-only 8.4° → with FF 5.1°  (−39%)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aRMS (vertical accel): 1.63 → 1.45 m/s² (−11%)</a:t>
            </a:r>
          </a:p>
          <a:p>
            <a:endParaRPr sz="12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FF 명령은 LiDAR 관측 → WaveSplat 추정 → preview 시점 기울기 환산</a:t>
            </a:r>
          </a:p>
          <a:p>
            <a:r>
              <a:rPr sz="12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시각적으로 'tracking-then-rejection' 분리 가능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 i="0"/>
              <a:t>한계와 지금까지의 연구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51167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1148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WaveSplat 추정 한계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VR = 0.66 → 진폭 34% 과소추정 (pruning 대가)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Directional spectrum (보조 지표) → 30+ comp에서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R² 폭발 (peak alignment 민감도, metric 한계)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진폭 감쇠 (Adam momentum 부호 진동)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Nₜᵣᵤₑ ≥ 30 복잡 해상 → 성분 수 한계</a:t>
            </a:r>
          </a:p>
          <a:p>
            <a:endParaRPr sz="10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Hydrofoil 응용 한계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BF4 E2E → 37% (direction error 전파)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2DOF (heave+pitch): roll은 별도 roll foil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선형 foil model (ventilation 간소화)</a:t>
            </a:r>
          </a:p>
          <a:p>
            <a:endParaRPr sz="10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공통 한계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시뮬레이션 전용 → 실측 검증 필요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선형 파도 모델 → Stokes-2+ 미반영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204575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지금까지의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25880"/>
            <a:ext cx="39319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[기본]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❶ Grid-free spectral 파면 추정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❷ Dispersion hard constraint (5N→4N)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❸ Adaptive N (pruning + growth)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❹ Geometry-aware confidence weighting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❺ Pre-specified 5-metric panel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❻ 24-config ETKF sweep (fair baseline)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❼ Spectral + Sparse + Forecast 3가지 능력</a:t>
            </a:r>
          </a:p>
          <a:p>
            <a:endParaRPr sz="1000" b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100" b="1">
                <a:solidFill>
                  <a:srgbClr val="C053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[응용]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❽ Dual-actuator wave-preview FF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❾ nRMSE tolerance + preview horizon 설계 지침</a:t>
            </a:r>
          </a:p>
          <a:p>
            <a:r>
              <a:rPr sz="10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❿ E2E LiDAR → 추정 → 제어 파이프라인 실증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77840"/>
            <a:ext cx="8193024" cy="502920"/>
          </a:xfrm>
          <a:prstGeom prst="roundRect">
            <a:avLst/>
          </a:prstGeom>
          <a:solidFill>
            <a:srgbClr val="C05317"/>
          </a:solidFill>
          <a:ln>
            <a:solidFill>
              <a:srgbClr val="C05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WaveSplat: nRMSE 30.1%↓, ~10× faster, SS only+  |  Hydrofoil: aRMS 11~41%↓, BF3 E2E 92~96%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74683</TotalTime>
  <Words>3674</Words>
  <Application>Microsoft Office PowerPoint</Application>
  <PresentationFormat>화면 슬라이드 쇼(4:3)</PresentationFormat>
  <Paragraphs>510</Paragraphs>
  <Slides>24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굴림</vt:lpstr>
      <vt:lpstr>Arial</vt:lpstr>
      <vt:lpstr>Arial Black</vt:lpstr>
      <vt:lpstr>Times New Roman</vt:lpstr>
      <vt:lpstr>Wingdings</vt:lpstr>
      <vt:lpstr>디자인 사용자 지정</vt:lpstr>
      <vt:lpstr>WaveSplat Grid-Free Spectral Wave Field Estimation from Sparse Shipboard LiDAR</vt:lpstr>
      <vt:lpstr>Contents</vt:lpstr>
      <vt:lpstr>Real Sea Trial — 실선 LiDAR 관측</vt:lpstr>
      <vt:lpstr>Problem &amp; Motivation</vt:lpstr>
      <vt:lpstr>WaveSplat의 Novelty</vt:lpstr>
      <vt:lpstr>Methodology (1): Forward &amp; Observation Model</vt:lpstr>
      <vt:lpstr>Methodology (2): 2-Phase Pipeline (Init → Track)</vt:lpstr>
      <vt:lpstr>WaveSim (1/2): 파도 생성 + 물리 검증</vt:lpstr>
      <vt:lpstr>WaveSim (2/2): LiDAR · Raydrop · 통합 검증</vt:lpstr>
      <vt:lpstr>Experiment Design — Dataset &amp; Baselines</vt:lpstr>
      <vt:lpstr>핵심 결과: 5-Metric Evaluation (100 episodes)</vt:lpstr>
      <vt:lpstr>Per-episode 결과 &amp; 속도 (12 representative episodes)</vt:lpstr>
      <vt:lpstr>통계 검증 (100 Paired Runs)</vt:lpstr>
      <vt:lpstr>Ablation: Dispersion 제약의 가치</vt:lpstr>
      <vt:lpstr>Robustness: Raydrop · Sparsity · Noise · Hyperparameter</vt:lpstr>
      <vt:lpstr>Qualitative 비교 — GT vs WaveSplat vs ETKF vs GPR</vt:lpstr>
      <vt:lpstr>추가 기여: 3가지 고유 능력 (Spectral · Sparse · Forecast)</vt:lpstr>
      <vt:lpstr>강화 Baseline 비교 — LETKF · GPR-disp</vt:lpstr>
      <vt:lpstr>응용 연구: Hydrofoil Wave-Preview Feedforward</vt:lpstr>
      <vt:lpstr>Hydrofoil 결과 (1): Feedforward 비교</vt:lpstr>
      <vt:lpstr>Hydrofoil 결과 (2): Sensitivity Analysis</vt:lpstr>
      <vt:lpstr>Hydrofoil 결과 (3): End-to-End Demo</vt:lpstr>
      <vt:lpstr>Hydrofoil 시뮬레이션 데모</vt:lpstr>
      <vt:lpstr>한계와 지금까지의 연구 Contributions</vt:lpstr>
    </vt:vector>
  </TitlesOfParts>
  <Company>Univ.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Sogang</dc:creator>
  <cp:lastModifiedBy>박세용</cp:lastModifiedBy>
  <cp:revision>4614</cp:revision>
  <cp:lastPrinted>2021-11-03T00:28:46Z</cp:lastPrinted>
  <dcterms:created xsi:type="dcterms:W3CDTF">2007-03-29T05:53:49Z</dcterms:created>
  <dcterms:modified xsi:type="dcterms:W3CDTF">2026-05-03T03:47:00Z</dcterms:modified>
</cp:coreProperties>
</file>