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CCEE"/>
                </a:solidFill>
                <a:latin typeface="Calibri"/>
              </a:defRPr>
            </a:pPr>
            <a:r>
              <a:t>Grid-Free Spectral Gaussian Wave Field Estimation</a:t>
            </a:r>
            <a:br/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389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박세용 (Saeyong Park)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Avikus · HD현대  |  Lab Meeting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7ACC"/>
                </a:solidFill>
                <a:latin typeface="Calibri"/>
              </a:defRPr>
            </a:pPr>
            <a:r>
              <a:t>Target: Ocean Engineering (Elsevier)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왜 이 연구가 필요한가?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Problem &amp;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선박 전방 파랑 예측이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자율운항 선박의 안전 · 승차감 · 에너지 효율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하이드로포일 선박: 파랑 preview → feedforward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해상 크레인: 파고 예측 → 보상 제어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해양 구조물: 파랑 하중 예측 → 구조 안전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LiDAR 관측의 본질적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Sparse: 200×150 m 영역에서 프레임당 ~50점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Heterogeneous: 근거리 조밀 ↔ 원거리 희박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Noisy: beam divergence + specular dropout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10 Hz 실시간 처리 필요 (&lt; 100 ms/frame)</a:t>
            </a:r>
          </a:p>
        </p:txBody>
      </p:sp>
      <p:pic>
        <p:nvPicPr>
          <p:cNvPr id="10" name="Picture 9" descr="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43891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목표: 희소 LiDAR 관측으로부터</a:t>
            </a:r>
            <a:br/>
            <a:r>
              <a:t>연속적이고 물리적으로 타당한</a:t>
            </a:r>
            <a:br/>
            <a:r>
              <a:t>파도장을 실시간 복원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기존 방법의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Prior Art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Limitation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ETKF-grid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(Desmars 2020)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Ensemble Kalman Filter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on spatial grid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격자 보간 → aliasing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O(Nₑ·G²logG²), 하이퍼파라미터 민감</a:t>
                      </a:r>
                    </a:p>
                  </a:txBody>
                  <a:tcPr anchor="ctr"/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(RBF/Matérn)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Gaussian Process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O(M³), 시간 모델 없음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단순 공간 보간 → zero-predictor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PINN / FNO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(Ehlers 2024)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Neural Network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기반 추정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학습 분포 의존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 불규칙 샘플링과 궁합 나쁨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553A"/>
                </a:solidFill>
                <a:latin typeface="Calibri"/>
              </a:defRPr>
            </a:pPr>
            <a:r>
              <a:t>공통 문제: 격자(grid)에 의존 → 희소 관측에서 aliasing &amp; 불필요한 계산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 Grid-free representation이 필요하다!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WaveSplat의 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Why this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핵심 아이디어: 파도장을 N개의 spectral Gaussian (plane wave)으로 직접 파라미터화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onsolas"/>
              </a:defRPr>
            </a:pPr>
            <a:r>
              <a:t>z(x, y, t)  =  Σᵢ  wᵢ · cos(kx,ᵢ · x  +  ky,ᵢ · y  −  ωᵢ · t  +  φᵢ)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❶ Grid-free spectral representation — 3D Gaussian Splatting의 해양파 버전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❷ Dispersion hard constraint: ωᵢ = √(g·|kᵢ|·tanh(|kᵢ|·d))  →  5N → 4N 파라미터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❸ Adaptive model order: energy pruning + residual growth + safety rollback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❹ Fresnel confidence weighting: cⱼ = cos(θⱼ)/(dⱼ/d_ref)  — LiDAR 관측 품질 모델링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❺ Pre-registered 6-metric evaluation panel — zero-predictor 구분 가능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• ❻ 24-config ETKF hyperparameter sweep — 공정한 tuned baseline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(1): Forward &amp; Observation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Forward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z(x, y, t) = Σᵢ wᵢ cos(kx,ᵢ x + ky,ᵢ y − ωᵢ t + φᵢ)</a:t>
            </a:r>
            <a:br/>
            <a:br/>
            <a:r>
              <a:t>ωᵢ = √(g |kᵢ| tanh(|kᵢ| d))     ← hard constraint</a:t>
            </a:r>
            <a:br/>
            <a:br/>
            <a:r>
              <a:t>파라미터: {wᵢ, kx,ᵢ, ky,ᵢ, φᵢ}  → 4N개</a:t>
            </a:r>
            <a:br/>
            <a:r>
              <a:t>(ω는 k로부터 결정되므로 자유변수 아님)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Observation Model (Fresnel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onsolas"/>
              </a:defRPr>
            </a:pPr>
            <a:r>
              <a:t>cⱼ = cos(θⱼ) / (dⱼ / d_ref)</a:t>
            </a:r>
            <a:br/>
            <a:br/>
            <a:r>
              <a:t>L = (1/M) Σⱼ cⱼ (zⱼ − ẑⱼ)²</a:t>
            </a:r>
            <a:br/>
            <a:r>
              <a:t>    + λ₁ Σ|wᵢ|             (sparsity)</a:t>
            </a:r>
            <a:br/>
            <a:r>
              <a:t>    + λs Σ(Δwᵢ)²          (smoothness)</a:t>
            </a:r>
            <a:br/>
            <a:br/>
            <a:r>
              <a:t>θⱼ: beam incidence angle</a:t>
            </a:r>
            <a:br/>
            <a:r>
              <a:t>dⱼ: range,  d_ref = 125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572000"/>
            <a:ext cx="9418320" cy="137160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1A1A2E"/>
                </a:solidFill>
                <a:latin typeface="Calibri"/>
              </a:defRPr>
            </a:pPr>
            <a:r>
              <a:t>물리적 의미: dispersion 제약은 '이 파도가 실제 중력파'임을 보장.</a:t>
            </a:r>
            <a:br/>
            <a:r>
              <a:t>ω를 자유롭게 놓으면 nRMSE는 낮아지지만, 1초 뒤 예측이 발산 (A1 ablation에서 확인)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방법론 (2): 2-Phase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Init →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Phase 1: Initialization  (T_init = 2Tₚ)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① Dispersion-aware beamforming (v2_konly)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→ polar k-grid (64 radial × 128 azimuthal)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② Greedy peak extraction (15° suppression)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③ Coarse-to-fine Adam: N=3 → 8 → 15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(200 iters/stage, lr=5e-3)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④ Energy-based pruning (90% threshold)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+ RMSE 130% safety rollback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⑤ Residual growth: RMS &gt; 0.05m → beamform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성분 추가 (Nmax = 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553A"/>
                </a:solidFill>
                <a:latin typeface="Calibri"/>
              </a:defRPr>
            </a:pPr>
            <a:r>
              <a:t>Phase 2: Tracking  (w_phi mode, 10 Hz)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Predict:  φᵢ ← φᵢ + ωᵢ · Δt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(dispersion-exact phase propagation)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Update:  K=10 Adam steps (lr=1e-3)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on Kw=3 sliding-frame window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only (wᵢ, φᵢ) updated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kx, ky are FROZEN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Why freeze k?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단일 프레임에서 kx/ky는 ill-conditioned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Multi-frame init이 충분히 평균화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φ warm start → 200 → 10 gradient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418320" cy="914400"/>
          </a:xfrm>
          <a:prstGeom prst="roundRect">
            <a:avLst/>
          </a:prstGeom>
          <a:solidFill>
            <a:srgbClr val="F0F4F8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Adaptive N:  N=1 (단일 swell) ~ N=21 (complex sea)  |  13.4 ms/frame 평균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시뮬레이션 데이터의 물리적 신뢰성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WaveSim: Why We Can Trust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파도 생성: JONSWAP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JONSWAP 스펙트럼 (Hasselmann et al. 1973)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Hs, Tₚ로 파라미터화, 해양공학 표준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Gerstner wave (1802): 2차 비선형 정확해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수평 orbital 운동 포함 (trochoid)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Q-constraint: ΣQᵢωᵢAᵢ ≤ 1 (입자 교차 방지)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분산관계: ω = √(g|k|tanh(|k|d))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Newton-Raphson 역변환, 오차 &lt; 10⁻⁶ rad/s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단일 성분 해석해 대비 RMSE &lt; 10⁻¹⁰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LiDAR 모델: Seyond Falcon K1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실제 스펙: 1550 nm, 152 ch, 120°×25° FOV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Ray-surface 교차: Möller-Trumbore 알고리즘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→ 삼각형 메시 위 정확한 교차점 계산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프레임당 ~76,000 ray → raydrop → ~50점 반환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Fresnel 반사 (unpolarized, n=1.321 @1550nm):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  R(0°) ≈ 2%, R(89°) &gt; 80%  — 수면 광학 정확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거리 noise: σ = 0.02 m (2 cm, 1550nm 표준)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• 각도 noise: σ = 0.05° (beam divergence)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53A"/>
                </a:solidFill>
                <a:latin typeface="Calibri"/>
              </a:defRPr>
            </a:pPr>
            <a:r>
              <a:t>두 가지 Raydrop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onsolas"/>
              </a:defRPr>
            </a:pPr>
            <a:r>
              <a:t>Uniform (diffuse):  P = η · R_Fresnel(θ) · cos(θ) / (d/d_ref)²</a:t>
            </a:r>
            <a:br/>
            <a:r>
              <a:t>  → 확산 반사 + 역제곱 감쇠 + Lambertian 투영</a:t>
            </a:r>
            <a:br/>
            <a:br/>
            <a:r>
              <a:t>Slope (specular):  반사각 r = d − 2(d·n)n 에서</a:t>
            </a:r>
            <a:br/>
            <a:r>
              <a:t>  retroreflection 조건 r·(−d) ≥ cos(5°) 일 때만 반환</a:t>
            </a:r>
            <a:br/>
            <a:r>
              <a:t>  → 파면 기울기에 따라 반환점 분포가 달라짐 (물리적)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754880"/>
            <a:ext cx="5303520" cy="1645920"/>
          </a:xfrm>
          <a:prstGeom prst="roundRect">
            <a:avLst/>
          </a:prstGeom>
          <a:solidFill>
            <a:srgbClr val="E8F5E9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CA02C"/>
                </a:solidFill>
              </a:defRPr>
            </a:pPr>
            <a:r>
              <a:t>검증 체인 (39 unit tests)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분산관계 deep/shallow 극한 해석해 일치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Gerstner 단일파 RMSE &lt; 10⁻¹⁰ m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Fresnel R(0°) = ((n−1)/(n+1))² 정확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Q-constraint 위반 없음 (JONSWAP 전체)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파면 법선 항상 상향 (nz &gt; 0)</a:t>
            </a:r>
          </a:p>
          <a:p>
            <a:pPr>
              <a:spcAft>
                <a:spcPts val="100"/>
              </a:spcAft>
              <a:defRPr sz="1100">
                <a:solidFill>
                  <a:srgbClr val="1A1A2E"/>
                </a:solidFill>
              </a:defRPr>
            </a:pPr>
            <a:r>
              <a:t>✓ Raydrop 확률 ∈ [0,1], 단조 증가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실험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Dataset &amp; Baselines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Total episodes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  (5 seeds × 10 configs × 2 raydrop)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Sea state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BF2~BF5  (Hs 0.3~2.0 m)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1, 2, 5, 15, 30</a:t>
                      </a:r>
                    </a:p>
                  </a:txBody>
                  <a:tcPr anchor="ctr"/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Raydrop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Uniform (diffuse)  +  Slope (specular)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301 frames (30 s @ 10 Hz)</a:t>
                      </a:r>
                    </a:p>
                  </a:txBody>
                  <a:tcPr anchor="ctr"/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LiDAR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Seyond Falcon K1 spec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24-config sweep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best: g=40×30, nₑ=100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nRMSE 0.319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(sweep range: 3.3×)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Matérn ν=5/2</a:t>
                      </a:r>
                    </a:p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ℓ=20m, σ=0.02m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시간 모델 없음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3-frame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강한 GPR 버전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Pre-registered 6-metric evaluation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nRMSE ↓  |  Variance Ratio (VR) → 1  |  Pearson ρ ↑  |  Skill Score (SS) ↑  |  Directional R² ↑  |  Hs error ↓</a:t>
            </a:r>
            <a:br/>
            <a:br/>
            <a:r>
              <a:t>핵심: SS = 1 − MSE(ẑ)/MSE(0)  →  양수면 zero-predictor(ẑ=0)보다 나은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핵심 결과: 6-Metric Evaluation (100 episodes)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★ Primary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102"/>
                <a:gridCol w="1476102"/>
                <a:gridCol w="1476102"/>
                <a:gridCol w="1476102"/>
                <a:gridCol w="1476102"/>
                <a:gridCol w="1476102"/>
                <a:gridCol w="1476108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nRMSE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Hs err ↓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VR → 1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 R² ↑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−0.253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ETKF (tuned)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0.319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0.898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0.109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−0.702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+0.065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GPR-1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0.780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−0.140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+0.028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8404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✅ Skill Score: WaveSplat만 양수 (+0.034) — zero-predictor보다 나은 유일한 방법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GPR은 거의 zero predictor: VR=0.065 → 진폭의 6.5%만 재현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⚠️ ETKF는 variance-correct but shape-wrong: VR=0.898 but ρ=0.109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⚡ WaveSplat nRMSE 30.1% lower  &amp;  ~10× faster (13.4 vs 132.6 ms)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❗ WaveSplat 한계도 노출: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VR=0.66 → 진폭 ~34% 과소추정 (pruning의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 Dir R²=−0.25 → 방향 성분은 chance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Per-episode 결과 &amp; 속도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12 Representative Episodes</a:t>
            </a:r>
          </a:p>
        </p:txBody>
      </p:sp>
      <p:pic>
        <p:nvPicPr>
          <p:cNvPr id="6" name="Picture 5" descr="fig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4114800"/>
          </a:xfrm>
          <a:prstGeom prst="rect">
            <a:avLst/>
          </a:prstGeom>
        </p:spPr>
      </p:pic>
      <p:pic>
        <p:nvPicPr>
          <p:cNvPr id="7" name="Picture 6" descr="fig3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WaveSplat: 12/12 승  |  Best 8.5×  |  13.4 ms vs 132.6 ms (~10× faster)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통계 검증 (100 Paired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Statistical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37160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664"/>
                <a:gridCol w="1883664"/>
                <a:gridCol w="1883664"/>
                <a:gridCol w="1883664"/>
                <a:gridCol w="1883664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Wilcoxon 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Cohen's 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WaveSplat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0.219 ± 0.079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ETKF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0.321 ± 0.041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 × 10⁻¹⁵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1.16 (large)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[0.085, 0.119]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vs GPR-sliding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0.253 ± 0.020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4.7 × 10⁻⁴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0.42 (sm-med)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[0.018, 0.050]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fig6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40480"/>
            <a:ext cx="502920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40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100 paired = 10 configs × 5 seeds × 2 raydrop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같은 조건에서 WS vs baseline → paired test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1.16 → large effect (&gt; 0.8)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ETKF 차이가 매우 유의미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Cohen's d = 0.42 → small-medium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= WS vs GPR도 통계적으로 robust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CI 모두 0을 포함하지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Ablation: Dispersion 제약의 가치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A1 vs Full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71600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nRMSE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vs Full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R̄ (dispersion drift)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Full (dispersion 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 (by construction)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A1 (no dispersion)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0.158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−16% nRMSE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0.51 ± 0.12</a:t>
                      </a:r>
                    </a:p>
                  </a:txBody>
                  <a:tcPr anchor="ctr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A2 (no confidence)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0.215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≡ 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3657600"/>
            <a:ext cx="10332720" cy="2286000"/>
          </a:xfrm>
          <a:prstGeom prst="roundRect">
            <a:avLst/>
          </a:prstGeom>
          <a:solidFill>
            <a:srgbClr val="FFF3E0"/>
          </a:solidFill>
          <a:ln>
            <a:solidFill>
              <a:srgbClr val="E85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8553A"/>
                </a:solidFill>
              </a:defRPr>
            </a:pPr>
            <a:r>
              <a:t>A1이 nRMSE는 16% 낮다. 그런데 왜 dispersion이 필요한가?</a:t>
            </a:r>
          </a:p>
          <a:p>
            <a:pPr>
              <a:spcBef>
                <a:spcPts val="1000"/>
              </a:spcBef>
              <a:defRPr sz="1400">
                <a:solidFill>
                  <a:srgbClr val="1A1A2E"/>
                </a:solidFill>
              </a:defRPr>
            </a:pPr>
            <a:r>
              <a:t>R̄ = Σ|wᵢ|·|ωᵢ − ω_disp|/(ωᵢ·Σ|wⱼ|)</a:t>
            </a:r>
            <a:br/>
            <a:br/>
            <a:r>
              <a:t>A1: R̄ = 0.51 ± 0.12  →  성분의 약 50%가 dispersion manifold에서 이탈</a:t>
            </a:r>
            <a:br/>
            <a:r>
              <a:t>→ 절대값 ~0.10 Hz off  →  1초 뒤 phase prediction이 de-cohere</a:t>
            </a:r>
            <a:br/>
            <a:r>
              <a:t>→ 시간 추적, 파고 예측, downstream 제어에 사용 불가</a:t>
            </a:r>
            <a:br/>
            <a:br/>
            <a:r>
              <a:t>결론: A1의 16%는 '물리적 유효성을 포기하고 얻은 nRMSE'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Robustness: Raydrop · Sparsity ·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Raydrop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10 paired episodes (U vs 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WaveSplat: 20/20 wins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Slope: WS −9.1%, ETKF −16.2%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두 raydrop 모두에서 안정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Sparsity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관측 밀도 20~100% 실험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BF4~5: 20% (~10점)에서도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&lt; 8% 성능 저하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예외: BF3 2c (N=2 해상 한계)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Noise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 ∈ {0, 0.02, 0.05, 0.10} 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σ=0.10 (5× baseline)에서도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nRMSE 변화 ±13% 이내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Adaptive N이 노이즈 흡수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  → pruning이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Hyperparameter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Calibri"/>
              </a:defRPr>
            </a:pPr>
            <a:r>
              <a:t>lr=0.01, λ₁=1e-3, τ_prune=0.10, τ_grow=0.05  — BF3 5c 한 번의 sweep으로 결정</a:t>
            </a:r>
            <a:br/>
            <a:r>
              <a:t>각 파라미터 ±2× 변경해도 nRMSE ±5% 이내  |  100 runs 전체가 동일 설정으로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Qualitative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GT vs WaveSplat vs ETKF vs GPR</a:t>
            </a:r>
          </a:p>
        </p:txBody>
      </p:sp>
      <p:pic>
        <p:nvPicPr>
          <p:cNvPr id="6" name="Picture 5" descr="fig8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한계와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VR = 0.66 → 진폭 34% 과소추정 (energy pruning의 대가)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SS = +0.034 → 양수이지만 marginal (robust하다고 보기엔 작음)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Dir R² = −0.25 → 방향 성분이 chance 미만 (가장 큰 한계)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  → hydrofoil BF4-head 시나리오에서 feedforward gain 반전 관찰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시뮬레이션 전용 — real LiDAR 검증 필요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선형 모델 → Stokes-2+ nonlinearity 미반영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Nₜᵣᵤₑ ≥ 30 이상 복잡 해상에서 성분 수 한계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• 해류(current) 미추정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Contributions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❶ Grid-free spectral Gaussian 파면 추정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❷ Dispersion hard constraint (5N→4N)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❸ Adaptive N (pruning + growth)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❹ Fresnel confidence weighting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❺ Pre-registered 6-metric panel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❻ 24-config ETKF sweep (fair baseline)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❼ Dispersion drift 정량화 (R̄ metric)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698480" cy="1097280"/>
          </a:xfrm>
          <a:prstGeom prst="roundRect">
            <a:avLst/>
          </a:prstGeom>
          <a:solidFill>
            <a:srgbClr val="F0F4F8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1A2E"/>
                </a:solidFill>
              </a:defRPr>
            </a:pPr>
            <a:r>
              <a:t>Summary:  nRMSE 30.1% lower  |  ~10× faster  |  SS only positive  |  Cohen's d=1.16 (large)  |  100 paired runs, p=1.1×10⁻¹⁵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ACC"/>
                </a:solidFill>
                <a:latin typeface="Calibri"/>
              </a:defRPr>
            </a:pPr>
            <a:r>
              <a:t>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계획: 논문 투고 &amp; 박사 학위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BBCC"/>
                </a:solidFill>
                <a:latin typeface="Calibri"/>
              </a:defRPr>
            </a:pPr>
            <a:r>
              <a:t>  Plans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CC"/>
                </a:solidFill>
                <a:latin typeface="Calibri"/>
              </a:defRPr>
            </a:pPr>
            <a:r>
              <a:t>논문 투고 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1 (WaveSplat)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Target: Ocean Engineering (Elsevier)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Status: 40p 원고 + cover letter + graphical abstract 완료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Next: 공동저자 sign-off → 투고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2 (Hydrofoil Feedforward)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파면 예측 → 하이드로포일 2DOF feedforward 제어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WaveSplat의 downstream application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Status: 실험 완료, 초안 작성 완료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Target 저널: 미정 (Ocean Engineering / JSR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553A"/>
                </a:solidFill>
                <a:latin typeface="Calibri"/>
              </a:defRPr>
            </a:pPr>
            <a:r>
              <a:t>박사 학위 로드맵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Core thesis: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'선박 탑재 LiDAR 기반 실시간 파랑장 추정과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 그 제어 응용'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1: Wave estimation (WaveSplat)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2: Wave-preview control (Hydrofoil)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Paper 3+: 확장 연구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MPC 기반 6-DOF 제어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Real LiDAR 검증 (SNU 조파수조 → 실선)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Stokes-2 nonlinear model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•   → 해류(current) 추정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2E"/>
                </a:solidFill>
                <a:latin typeface="Calibri"/>
              </a:defRPr>
            </a:pPr>
            <a:r>
              <a:t>감사합니다. 질문 부탁드립니다.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