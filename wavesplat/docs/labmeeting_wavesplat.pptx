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4"/>
    <p:sldId id="260" r:id="rId3"/>
    <p:sldId id="285" r:id="rId38"/>
    <p:sldId id="261" r:id="rId2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7" r:id="rId41"/>
    <p:sldId id="286" r:id="rId40"/>
    <p:sldId id="283" r:id="rId36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42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31.xml"/><Relationship Id="rId37" Type="http://schemas.openxmlformats.org/officeDocument/2006/relationships/slide" Target="slides/slide30.xml"/><Relationship Id="rId38" Type="http://schemas.openxmlformats.org/officeDocument/2006/relationships/slide" Target="slides/slide6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시작 전 1분 요약 — 이 연구가 뭔지 한 줄로]
"배 위에 달린 레이저 센서(LiDAR)가 앞에 오는 파도를 측정합니다. 그런데 그 데이터가 너무 드문드문(sparse)해서 보통 방법으로는 파도 모양을 제대로 복원하기 어렵습니다. WaveSplat은 파도를 '여러 개의 규칙적인 사인파의 합'으로 표현하고, 물리 법칙(분산관계)을 수식에 강제로 집어넣어서, 적은 데이터로도 정확하게 파도 전체 모양을 알아냅니다."
[비전문가에게 왜 이게 중요한지 설명하는 방법]
- 하이드로포일 선박(물 위를 나는 배)이 파도를 미리 알면, 날개(foil)를 미리 조종해서 충격을 없앨 수 있습니다. 파도가 오기 0.1~0.3초 전에 대응하는 거예요.
- 일반 승용차에 비유하면: 전방 카메라로 과속방지턱을 미리 보고 서스펜션을 미리 올리는 것과 같습니다.
[WaveSplat = Wave + Splat의 의미]
- "Splat"은 3D Gaussian Splatting (3DGS)에서 온 단어입니다. 컴퓨터 그래픽스에서 3D 장면을 '가우시안 덩어리들의 합'으로 표현하는 기법인데, 이 아이디어를 해양파에 적용했습니다.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구조 설명]
이 발표는 크게 4부로 나뉩니다.
I. Introduction (슬라이드 3~7)
   - 왜 이 연구가 필요한지, 기존 방법의 어떤 문제가 있는지 설명합니다.
   - 핵심 질문: "배 위에서 드문드문 찍힌 레이저 점 50개로 250m×200m 파도 전체를 어떻게 알 수 있나?"
II. Methodology (슬라이드 8~13)
   - WaveSplat이 어떻게 작동하는지 설명합니다.
   - 수식이 나오지만, 핵심 아이디어는 단순합니다: "파도 = 여러 사인파의 합, 물리 법칙 강제 적용"
III. Results (슬라이드 14~23)
   - 실험 결과와 통계 검증입니다.
   - 얼마나 더 정확한지, 얼마나 더 빠른지 수치로 보여줍니다.
IV. Application (슬라이드 24~31)
   - WaveSplat을 하이드로포일 선박 제어에 적용한 결과입니다.
   - 파도를 미리 알면 승차감이 얼마나 좋아지는지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슬라이드에서 보여주려는 것]
실제 배(Avikus NEUBOAT)에서 촬영한 LiDAR 영상입니다.
[LiDAR가 뭔가요?]
LiDAR = Light Detection And Ranging. 레이저 빛을 쏘고, 물체에 반사되어 돌아오는 시간을 재서 거리를 측정하는 센서입니다. 자율주행차에 달린 레이더와 비슷한데, 빛(레이저)을 씁니다. 1초에 10번 주변을 스캔합니다.
[왜 데이터가 드문드문(sparse)한가?]
바다 수면은 레이저를 잘 흡수하거나 다른 방향으로 반사해버립니다 (거울처럼). 파도의 경사면이 레이저 방향과 어긋나면 신호가 돌아오지 않습니다. 그래서 250m×200m 넓은 바다에서 프레임당 겨우 50점 정도만 찍힙니다. (가로세로 각각 250m이면 대략 축구장 2~3개 크기인데, 거기서 점 50개를 가지고 파도 모양을 알아내야 합니다.)
[specular dropout이 뭔가요?]
거울을 생각하면 됩니다. 거울에 빛을 비추면 반사각도가 맞아야 눈에 들어옵니다. 수면도 마찬가지로, 레이저가 파도 경사면에 맞으면 LiDAR 반대 방향으로 튕겨나가서 데이터가 안 잡힙니다. 파도가 없는 것처럼 보이는 거예요.
[이게 왜 문제인가?]
기존 방법들은 "관측 없는 곳 = 파도 없음"으로 처리하거나, 주변 점과 선형 보간(평균 내기)으로 채웁니다. 그러면 전혀 다른 파도 모양이 나옵니다. WaveSplat은 물리 법칙을 이용해서 "관측이 없어도 어디에 파도가 있을지" 추정합니다.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[선박 전방 파랑 예측이 왜 필요한가?]
"파도를 미리 알면 좋다"는 게 여러 응용에 필요합니다:
1. 하이드로포일 선박: 물 위를 나는 배. 날개(foil)가 파도와 직접 부딪히기 때문에 파도를 미리 알고 날개각도를 조정해야 합니다. (이 발표의 핵심 응용)
2. 해상 크레인: 크레인이 흔들리면 물건을 내릴 때 위험합니다. 파도를 미리 알면 배의 흔들림을 예측해서 보상할 수 있습니다.
3. 자율운항 선박: 파도가 높으면 속도를 줄이거나 경로를 바꿔야 합니다. 실시간으로 파도 상태를 알면 안전하게 운항할 수 있습니다.
4. 헬리콥터 착륙 판정: 배 위에 헬기 착륙판(helideck)이 있는데, 파도가 심하면 착륙이 위험합니다. 파도 예측으로 "지금 착륙 가능한가?"를 판단합니다.
[LiDAR 관측의 어려움 — 숫자로 이해하기]
- 250m×200m 넓이 = 축구장 약 7개 크기
- 프레임당 ~50점 = 가로세로 7점씩 격자 → 너무 드문드문
- 10 Hz = 초당 10번 갱신 → 각 프레임을 100ms 안에 처리해야 함
- σ_r ≈ 0.02m = 레이저 거리 측정 오차 2cm (정밀함)
[Hydrofoil 비유]
달리는 자동차에서 전방 카메라로 과속방지턱을 보고, 그것에 올라가기 0.1초 전에 서스펜션을 미리 올리는 것과 같습니다. "본 다음 반응"이 아니라 "보고 미리 준비"입니다.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[기존 방법들이 왜 안 되는지 — 비전문가 설명]
이 문제를 해결하려고 기존에 시도된 방법이 3가지 있습니다.
① Grid-based Optimal Interpolation (격자 기반 최적 보간)
   쉽게 말하면: "관측 점들 사이를 격자로 잘라서 평균 내기"
   문제점:
   - 250m×200m를 2m 간격 격자로 나누면 12,500개 셀인데, 각 셀에 데이터가 0~1개밖에 없습니다.
   - 데이터 없는 셀은 주변 셀 값으로 메꾸는데(보간), 이게 파도 물리 법칙을 전혀 모릅니다.
   - 예: 파도 골짜기와 파도 마루 사이를 직선으로 잇는 것과 같습니다. 실제 파도 모양과 다릅니다.
   - 또한 시간 모델이 없어서 "지금 이 순간" 이후 예측 불가합니다.
② GPR (Gaussian Process Regression, 가우시안 프로세스)
   쉽게 말하면: "관측 점들 사이의 유사도(커널)를 이용해 보간"
   문제점:
   - 물리 법칙 없음. 파도가 앞으로 진행한다는 것도 모릅니다.
   - 계산량이 관측 점 수(M)의 세제곱 O(M³)에 비례 → M=50이면 125,000 연산, 200ms 이상 소요 → 실시간 불가.
   - 결과: 진폭을 거의 재현 못함 (진폭의 6.5%만 = 파도가 거의 평탄하게 나옴).
③ ETKF on Grid (Ensemble Transform Kalman Filter)
   쉽게 말하면: "100가지 가능한 파도 시나리오를 동시에 추적하다가 관측과 가장 맞는 것 선택"
   문제점:
   - 100개 시나리오를 동시에 계산 → 132.6ms/프레임 → 10Hz 처리시 지연 누적.
   - 격자 기반이라 격자 해상도보다 작은 특징 표현 불가.
   - 진폭은 맞는데 위치(위상)가 틀림 (Pearson ρ=0.109 = 모양이 거의 무관).
[공통 문제]
모두 "격자" 또는 "데이터 분포"에 의존합니다. WaveSplat은 격자 없이, 물리 법칙(파도 방정식)을 직접 파라미터로 표현합니다.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[용어 해설 — 이 슬라이드는 참고용입니다. 발표 중에 모르는 단어 나오면 다시 돌아와서 보면 됩니다]
Beaufort scale (보퍼트 등급):
   바람 세기를 0~12로 나눈 척도입니다. 바람이 세면 파도도 높습니다.
   BF2 = 바람 3~4 m/s, 파고 약 0.3m (잔잔함)
   BF3 = 바람 5~7 m/s, 파고 약 0.9m (약간 물결)
   BF4 = 바람 8~10 m/s, 파고 약 1.5m (중간 파도)
   BF5 = 바람 11~13 m/s, 파고 약 2.0m (제법 거친 바다)
Hs (유의 파고, significant wave height):
   관측되는 파고 중 큰 것 1/3의 평균입니다. "실제로 체감되는 파고"라고 보면 됩니다. Hs=1.5m면 파도 높이가 대략 1.5m라는 뜻.
Tp (첨두 주기):
   파도 에너지가 가장 많은 주파수의 주기. Tp=7s면 7초마다 가장 큰 파도가 옵니다.
JONSWAP 스펙트럼:
   북해에서 관측된 데이터로 만든 파랑 스펙트럼 모델. 파도 에너지가 주파수별로 얼마나 분포하는지 수식으로 표현. 시뮬레이션에서 "가상의 바다"를 만들 때 이 공식을 씁니다.
Dispersion relation (분산관계):
   파도의 파장과 주기 사이의 물리 법칙. ω = √(g|k|·tanh(|k|·d))
   쉽게: 파장이 길면(큰 파도) 더 빨리 진행합니다. 이 법칙을 WaveSplat이 "하드 제약"으로 강제합니다.
   비유: 스프링에서 진동수와 스프링 상수의 관계처럼, 물리가 정해준 규칙입니다.
nRMSE (normalized RMSE):
   추정 오차를 파고(Hs)로 나눈 값. 0이면 완벽, 1이면 파고만큼 틀린 것. 0.2면 파고의 20% 정도 오차.
VR (Variance Ratio):
   진폭을 얼마나 잘 재현하는가. 1이면 완벽. 0.66이면 실제 진폭의 66%만 재현. 0.065면 거의 평탄.
Pearson ρ (피어슨 상관계수):
   파도 모양(위상)이 얼마나 맞는가. 1이면 완벽 일치, 0이면 무관계. 진폭과 무관합니다.
SS (Skill Score):
   "아무것도 예측 안 하는 것(ẑ=0)보다 나은가?" SS&gt;0이면 의미 있는 예측. SS&lt;0이면 오히려 방해.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[3D Gaussian Splatting이 뭔가요?]
2023년 컴퓨터 그래픽스 분야에서 나온 기술입니다. 카메라로 찍은 사진 여러 장에서 3D 장면을 재구성할 때, 기존에는 3D 격자(복셀)를 썼습니다. 3DGS는 대신 "수천~수백만 개의 3D 가우시안(타원형 덩어리)들의 합"으로 장면을 표현합니다.
비유: 그림을 그릴 때 격자 칸을 색칠하는 것 대신, 붓터치(가우시안)를 여러 번 겹치는 것과 같습니다.
장점: 격자보다 효율적이고, 어느 각도에서든 빠르게 렌더링 가능.
[WaveSplat에 어떻게 적용했나요?]
3DGS의 "가우시안 덩어리들의 합" = WaveSplat의 "사인파(plane wave)들의 합"
3DGS 가우시안 → WaveSplat 사인파
각 가우시안의 위치/형태 → 각 파도성분의 방향/파장/속도
격자 없이 어느 위치든 계산 가능 → 격자 없이 어느 바다 위치든 계산 가능
차이점: 3DGS는 공간만 표현하지만, WaveSplat은 시간도 포함됩니다. 그래서 "현재"뿐 아니라 "5초 후 파도"도 예측할 수 있습니다. 이게 hydrofoil 제어에 핵심입니다.
[이 발상이 왜 영리한가?]
파도는 원래 물리학적으로 사인파들의 합입니다 (Fourier 분해). WaveSplat은 파도의 물리적 표현 방식을 그대로 쓰기 때문에, 자연스럽게 물리 법칙과 일치합니다.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 수식 — z(x,y,t) = Σᵢ wᵢ·cos(kx,ᵢ·x + ky,ᵢ·y − ωᵢt + φᵢ)]
이 수식이 무슨 뜻인지 단계별로 설명합니다.
z(x,y,t): 위치 (x,y)에서 시각 t에서의 수면 높이 (m)
Σᵢ: N개의 파도 성분을 더한다는 뜻 (∑ = 합계)
각 성분 wᵢ·cos(kx,ᵢ·x + ky,ᵢ·y − ωᵢt + φᵢ):
   - wᵢ: 이 파도 성분의 진폭 (얼마나 높은 파도인가)
   - kx, ky: 파도가 어느 방향으로 진행하는가 (동쪽? 북동쪽?)
   - ωᵢ: 파도가 얼마나 빨리 진동하는가 (진동수)
   - φᵢ: 파도의 현재 위상 (지금 파봉이 어디에 있나)
   - cos(): 파도 모양이 코사인 곡선이라는 것 (올라갔다 내려갔다)
비유: FM 라디오 신호가 여러 주파수의 합인 것처럼, 바다 파도도 여러 파도 성분의 합입니다. WaveSplat은 이 성분들을 역으로 찾아냅니다.
[6가지 혁신 포인트 쉽게 설명]
❶ Grid-free: 격자 없이 어느 위치든 직접 계산. 비유: 방정식으로 직접 계산 vs 격자 표에서 찾기.
❷ Dispersion 하드 제약: ω = √(g|k|·tanh(|k|d))
   파도의 속도(ω)가 파장(k)과 수심(d)에 의해 물리적으로 결정된다는 법칙.
   이걸 "강제"하면: 추정된 파도가 반드시 진짜 중력파여야 함. 파장 5개 파라미터(kx,ky,ω,w,φ)→4개(kx,ky,w,φ)로 줄어듦.
   효과: 5초 후 예측이 안정적. (강제 안 하면: 현재는 맞아도 1초 후 폭발적으로 틀어짐)
❸ Adaptive N: 단순한 바다는 파도 성분 2개, 복잡한 바다는 21개까지 자동으로 조절.
   비유: 단순한 그림은 붓터치 2번, 복잡한 그림은 21번.
❹ Geometry-aware confidence: 레이저가 비스듬히 맞은 점은 오차가 크니 덜 믿음. 멀리서 온 점도 덜 믿음.
❺ 5가지 지표를 미리 정해서 실험: cherry-pick(좋은 결과만 골라 보여주기) 방지.
❻ 비교 대상(ETKF)을 24가지 설정으로 최적화한 후 비교: 공정한 비교.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[Forward Model 설명 — "파도 모델"]
z(x,y,t) = Σᵢ wᵢ cos(kx,ᵢx + ky,ᵢy − ωᵢt + φᵢ)
하드 제약: ωᵢ = √(g · |kᵢ| · tanh(|kᵢ| · d))
자유 파라미터: {wᵢ, kx,ᵢ, ky,ᵢ, φᵢ} → 4N개
"하드 제약"이란?: ω(각주파수)는 k(파수)에서 자동으로 계산됩니다. 따로 추정할 필요가 없습니다.
→ 이것이 핵심입니다. 물리 법칙이 파라미터 하나를 "공짜"로 결정해주는 셈입니다.
→ 그 결과 파도 성분 N개를 표현하는 데 5N개 대신 4N개만 씁니다.
왜 ω를 자유롭게 두면 안 되는가?
→ 컴퓨터가 "현재 데이터에만 맞추려고" ω를 이상한 값으로 최적화합니다.
→ 현재 순간은 오차가 작지만, 1초 후에는 위상이 완전히 어긋납니다.
→ (Ablation 슬라이드에서 이것을 직접 확인합니다.)
[Observation Model 설명 — "어떤 관측점을 얼마나 믿을 것인가"]
cⱼ = cos(θⱼ) / (dⱼ / d_ref)
θⱼ: 레이저가 수면에 닿는 각도 (90도에 가까울수록 정확)
dⱼ: 레이저 거리 (가까울수록 정확)
d_ref = 125m: 기준 거리
비유: 사람이 눈 앞 1m에 있는 것은 잘 보이고, 100m 떨어진 것은 잘 안 보이는 것처럼, 가까운 관측점은 더 믿고 먼 관측점은 덜 믿습니다.
손실 함수 L: 추정값과 실제 관측값의 차이를 cⱼ로 가중 평균낸 것. λ₁은 파도 성분 수를 줄이는 페널티, λs는 부드럽게 만드는 페널티.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[2단계 파이프라인이란?]
WaveSplat은 두 단계로 작동합니다. 처음 한 번 초기화하고, 이후에는 빠르게 추적합니다.
[Phase 1: 초기화 (약 500ms, 처음 한 번만)]
① Beamforming: "파도가 어느 방향에서 오는가?"를 찾습니다.
   비유: 소리의 방향을 찾는 것처럼, 레이저 데이터에서 파도의 진행 방향을 찾습니다.
   81×81 방향 격자 = 6561가지 방향 중 에너지가 센 방향을 찾습니다.
② Greedy peak extraction: 찾은 방향 중 에너지가 큰 N개를 선택합니다.
③ Coarse-to-fine Adam: 거칠게 맞추고 점점 세밀하게 다듬습니다.
   N=3 → 8 → 15로 성분 수를 늘리면서 최적화합니다.
   Adam = 딥러닝에서 쓰는 최적화 방법. 경사하강법의 개선판.
④ Energy pruning: 에너지가 작은 성분은 제거합니다. (전체 에너지의 90%만 남기고 나머지 제거)
⑤ Residual growth: 아직 설명 못 한 파도가 있으면 성분을 추가합니다.
[Phase 2: 추적 (약 13ms/프레임, 초당 10번)]
Predict: φᵢ ← φᵢ + ωᵢ·Δt
   파도 위상을 물리 법칙으로 한 스텝 앞으로 진행합니다.
   비유: "지금 파봉이 여기 있으면, 0.1초 후엔 저기 있겠다"를 계산.
Update: 새 관측 데이터로 추정값을 수정합니다. (Adam 10 스텝만)
   kx, ky는 고정 (방향은 초기화에서 이미 잘 잡았으므로 건드리지 않음)
   wᵢ, φᵢ만 업데이트 (진폭과 위상만 미세 조정)
[왜 k를 고정하는가?]
방향(kx, ky)은 여러 프레임을 쌓아야 정확히 추정됩니다. 단일 프레임에서는 데이터가 너무 적어서 신뢰할 수 없습니다. 한 번 잘 추정한 방향은 바다가 급변하지 않는 한 유지됩니다. k를 고정하면 200 grad steps → 10 steps로 줄어서 13ms가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[전체 파이프라인 그림 읽는 법]
그림을 보면서 따라가면 됩니다.
왼쪽 (Phase 1, 처음 한 번):
1. LiDAR 데이터 10프레임 모으기
2. Beamforming: 파도 방향 찾기
3. Coarse-to-fine 최적화: 점점 정밀하게
4. Energy pruning: 불필요한 성분 제거
5. Residual check: 아직 설명 못 한 파도 있으면 다시 추가
오른쪽 (Phase 2, 초당 10번):
1. 물리 법칙으로 위상 예측 (φ += ω·Δt)
2. 새 LiDAR 데이터로 수정 (Adam 10 steps)
3. 출력: 현재 파도장 + 미래 예측
Phase 1→2 전환:
kx, ky는 Phase 1에서 결정되어 Phase 2로 "동결"됩니다.
w, φ만 Phase 2에서 계속 업데이트됩니다.
[시간 척도 직관]
Phase 1: ~500ms = 반 초. 발표 시작할 때 한 번만 함.
Phase 2: ~13ms = 0.013초. 눈 깜짝하기 전에 끝남. 초당 70번 가능하지만 10번만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시뮬레이터가 필요한가?]
실제 바다에서 실험하면:
- 비교할 "정답(Ground Truth)" 파도를 알 수 없습니다.
- 날씨와 바다 상태를 마음대로 조절할 수 없습니다.
- 비용이 어마어마합니다.
시뮬레이터에서는 우리가 파도를 직접 만들기 때문에 "정답"을 알고, WaveSplat 결과와 비교할 수 있습니다.
[JONSWAP + Gerstner 파도 모델]
JONSWAP: 북해에서 측정된 실제 바다 스펙트럼을 수식화한 것. "어떤 주파수에 에너지가 얼마나 있는가"를 정합니다.
Gerstner 파도: 단순한 사인파 대신 조금 더 현실적인 파도 모양. 파봉(꼭대기)이 뾰족하고 파곡(골짜기)이 넓습니다. 실제 바다 파도처럼 보입니다.
Q 제약: 파도가 너무 날카로우면(steep) 실제로 부서집니다. Q=1이 되면 파도가 뒤집히는 임계점. 이를 넘지 않도록 제한합니다.
[검증 (39개 단위 테스트)]
프로그램이 물리적으로 올바른지 자동으로 확인합니다.
- 분산관계 오차 &lt; 0.000001 (극도로 정밀)
- 단일 파도 성분 오차 &lt; 0.0000000001 m
- 실제 파고와 시뮬레이션 파고 일치 오차 &lt; 0.5%
이것이 중요한 이유: 시뮬레이션이 틀리면 실험 결과 전체가 의미 없어집니다. 철저하게 검증했습니다.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[LiDAR 시뮬레이터 — 어떻게 실제와 비슷하게 만드는가?]
실제 LiDAR 센서 (Falcon K1) 스펙을 그대로 입력합니다:
- 레이저 파장: 1550nm (눈에 안 보이는 적외선)
- 채널 수: 152개 (레이저 빔이 152줄)
- 스캔 속도: 초당 10번
- 측정 거리: 1.5m ~ 250m
- 거리 오차: ±2cm
[Raydrop 모델 — 왜 데이터가 드문드문 생기는가?]
레이저가 수면에 맞을 때 신호가 돌아오지 않는 두 가지 원인:
1. Diffuse (균일) 반사: 수면이 항상 일정 확률로 신호를 돌려보냄.
   공식: p = R_Fresnel(θ)·cos(θ)/d²
   - R_Fresnel: 수면의 반사율 (각도에 따라 다름)
   - cos(θ): 레이저가 수직에 가까울수록 잘 맞음
   - /d²: 멀수록 신호 약해짐
2. Specular (경면) 반사: 수면이 거울처럼 레이저를 특정 방향으로만 반사.
   레이저가 정확히 반대 방향으로 돌아와야 감지됨. 경사진 수면에서 자주 발생.
[왜 두 모델 모두 테스트?]
실제 바다가 어느 메커니즘으로 더 많이 작동하는지 모릅니다. WaveSplat이 두 모델 모두에서 잘 작동해야 실용적입니다. (슬라이드 19 robustness에서 확인)
[Ray-Mesh intersection]
레이저가 파도 표면의 어느 삼각형에 맞는지 계산하는 방법 (Möller-Trumbore 알고리즘). 100% 정확하게 계산됩니다.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[실험 설계 — 어떻게 공정하게 비교했나?]
[100개 에피소드 구성]
BF2, BF3, BF4, BF5: 파도 강도 4단계
N=1, 2, 5, 15, 30: 파도 성분 수 (단순 → 복잡)
seed × 5: 같은 조건이지만 파도의 초기 위상을 다르게 (운의 영향 확인)
raydrop × 2: uniform vs specular 두 가지 LiDAR 모델
왜 이렇게 설계?
- 단순한 바다에서만 좋으면 의미 없습니다. 다양한 조건 모두에서 검증해야 합니다.
- "seed × 5"는 같은 설정에서 운이 좋은 경우/나쁜 경우를 모두 확인하기 위함입니다.
- 이 100개를 미리 결정하고(pre-specified) 실험 후 일부만 골라 보여주는 cherry-pick을 원천 차단했습니다.
[비교 대상 (Baseline)]
ETKF: 24가지 설정 조합으로 최적화한 뒤 가장 좋은 설정으로 비교
GPR-1: RBF 커널, 단일 프레임
LETKF: ETKF에 공간 localization 추가 (강화 버전)
GPR-disp: physics를 커널에 추가한 강화 GPR
왜 baseline을 최적화해서 비교?
공정한 비교를 위해서입니다. "WaveSplat vs 대충 만든 ETKF"가 아니라 "WaveSplat vs 최선을 다한 ETKF"로 비교해야 합니다.
[5-Metric Panel]
왜 5개 지표를 씁니까?
단 하나의 지표를 최소화하면 다른 측면에서 속임수가 가능합니다.
예: nRMSE만 보면, 항상 0을 출력해도 nRMSE가 크지 않을 수 있음 (Hs로 나누기 때문).
SS&gt;0이 가장 기본적인 "유용성" 기준입니다. RMSE_unobs는 물리 법칙이 작동하는 직접 증거입니다.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표 읽는 법]
방법        nRMSE↓  VR→1   ρ↑     SS↑      time
WaveSplat   0.223   0.660  0.446  +0.034   13.4ms  ← 유일하게 SS&gt;0
ETKF        0.319   0.898  0.109  −0.702   132ms
GPR         0.261   0.065  0.193  −0.141   &gt;200ms
[각 숫자의 의미]
nRMSE = 0.223:
파도 높이(Hs)의 22.3% 오차. Hs=1.5m이면 평균 오차 ≈ 0.33m.
WaveSplat이 ETKF보다 30% 낮습니다.
VR = 0.660:
실제 파도 진폭의 66%를 재현. 34%는 과소추정됩니다.
이것이 WaveSplat의 알려진 한계입니다. 솔직하게 공개합니다.
ETKF VR=0.898은 진폭은 잘 재현하지만, ρ=0.109로 위치(위상)가 틀렸습니다.
GPR VR=0.065는 거의 평탄 (의미 없는 추정).
Pearson ρ:
ρ=0.446이면 추정 파도와 실제 파도의 위상이 어느 정도 일치합니다.
ETKF ρ=0.109는 거의 무관계 — 진폭은 맞는데 파봉 위치가 틀린 것입니다.
SS = +0.034:
"아무것도 예측 안 하는 것(ẑ=0)보다 3.4% 나음." 작아 보이지만, 유일하게 양수입니다.
ETKF SS=−0.702는 오히려 zero predictor보다 못합니다.
[직관적으로 이해하기]
비유: 내일 날씨 예측에서
- GPR = "항상 평균 기온 출력" (아무런 예측 없음)
- ETKF = "온도는 맞는데 비가 언제 오는지 틀림"
- WaveSplat = "온도와 비 시간 모두 대략 맞음, 단 온도가 약간 낮게 나옴"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12개 에피소드를 대표로 보는가?]
100개 에피소드 전부를 보여주면 복잡합니다. 12개는 다양한 조건을 균등하게 대표합니다.
BF2~BF5 × N∈{1,2,5,15,30}에서 균등 샘플. 미리 선택 (실험 전에 결정).
[결과 해석]
12/12 에피소드에서 WaveSplat이 최저 nRMSE: "모든 조건에서 최고"
단 하나도 ETKF나 GPR이 이기지 못했습니다.
최대 격차 8.5× (BF3 1-comp):
단순한 사인파 1개짜리 바다에서 WaveSplat이 압도적입니다.
왜? 단일 성분은 WaveSplat이 파라미터 4개만 추정하면 됩니다. 최적화가 매우 쉽습니다.
ETKF는 격자 전체를 추정해야 해서 비효율적입니다.
BF4/BF5 30-comp:
성분이 30개인 복잡한 바다에서 격차가 줄어듭니다.
WaveSplat도 방향이 비슷한 성분들을 구분하기 어렵습니다 (k-공간에서 겹침).
속도:
WS 13.4ms → 초당 74프레임 가능. 10Hz만 사용.
ETKF 132.6ms → 초당 7.5프레임. 10Hz에서 지연 누적.
ETKF는 최소 90ms~최대 600ms (분산이 큼) → 실시간에서 불안정.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통계 검증이 필요한가?]
"운 좋게 결과가 좋게 나온 것 아닌가?"를 배제하기 위해서입니다.
100개 쌍으로 테스트하면 운의 영향이 극히 줄어듭니다.
[Wilcoxon signed-rank test란?]
일반 t-test는 데이터가 정규분포를 따른다고 가정합니다. 하지만 nRMSE 값들은 정규분포가 아닐 수 있습니다. Wilcoxon test는 이 가정 없이 "짝지은 차이의 부호"만 봅니다.
쉽게: "100쌍 중에서 WaveSplat이 더 나은 경우가 우연보다 훨씬 많은가?"
[결과 해석]
p₁=2.2×10⁻¹⁵ (WS vs ETKF):
0.0000000000000022의 확률로 우연. 사실상 불가능.
= "WaveSplat이 ETKF보다 일관되게 좋다"는 것이 통계적으로 확실합니다.
p₂=4.7×10⁻⁴ (WS vs GPR):
0.00047의 확률로 우연. 역시 매우 낮습니다.
Cohen's d = 1.16 (vs ETKF):
효과 크기(effect size). 0.8 이상이면 "크다(large)"고 분류합니다.
1.16은 매우 큰 효과. 실질적으로 의미 있는 차이입니다.
Cohen's d = 0.42 (vs GPR):
작은-중간 효과. 100쌍이라 통계적 유의성은 확보됩니다.
[Holm-Bonferroni 보정이란?]
여러 가지를 동시에 검정하면 우연히 하나가 유의하게 나올 확률이 올라갑니다. 이를 보정합니다. 보정 후에도 두 비교 모두 유의합니다.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[Ablation이란?]
WaveSplat의 특정 기능을 "제거했을 때" 어떻게 되는지 보는 실험입니다.
"이 기능이 정말 필요한가?"를 직접 검증합니다.
[A1: 분산관계 제약 없애면?]
A1 = Ablation 1번. ω를 자유롭게 최적화. (분산관계 무시)
즉각적인 결과:
nRMSE가 16% 더 낮습니다. 현재 순간에는 오히려 더 정확해 보입니다!
그런데 5초 후에는?
Full model: nRMSE 0.219 → 5초 후 0.231 (5.5% 증가, 안정적)
A1 model: nRMSE 0.158 → 5초 후 0.476 (3배 폭발!)
왜 이렇게 폭발하나?
A1은 "현재 순간에 맞추려고" ω를 물리적으로 말이 안 되는 값으로 최적화합니다.
예: |k|=0.16 rad/m이면 물리적으로 ω=1.25 rad/s여야 하는데, A1은 ω=1.78로 추정.
Δω=0.53 rad/s → 1초 후 위상 오차 ≈ 0.53 rad ≈ 30°
30° 어긋나면 파봉 위치가 완전히 달라집니다.
결론:
분산관계 제약이 없으면 "지금만 맞고 미래에는 쓸모없는" 추정이 됩니다.
Hydrofoil FF에서 t+0.1~0.3초 예측이 필요하므로 분산관계 제약은 필수입니다.
[A2: Confidence weighting 없애면?]
nRMSE +14.5% 악화. 멀리서 오는 노이즈가 낀 관측점이 동등하게 취급되어 추정을 오염시킵니다.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[Robustness — 왜 중요한가?]
실제 배에서는 조건이 항상 달라집니다:
- LiDAR 모델이 어느 것이 정확한지 모름
- 관측점이 적을 수도 있음
- 측정 노이즈가 커질 수 있음
- 하이퍼파라미터(설정값)을 바다 상태마다 다르게 줄 수 없음
모든 조건에서 안정적이어야 실용적입니다.
[Raydrop 민감도]
Uniform vs Specular 두 가지 LiDAR 모델에서 모두 테스트.
WaveSplat: 20/20 승 (두 모델 모두에서 ETKF보다 우세)
Slope 모델에서 WaveSplat 성능 9.1% 하락, ETKF는 16.2% 하락.
→ WaveSplat이 더 안정적입니다.
[희소성 민감도]
관측 밀도를 20%~100%로 변화.
20% = 프레임당 ~10점 (매우 드문드문)
BF4~5 조건에서 20% 밀도에서도 8% 이하 성능 하락.
→ 격자 없는 방식이기 때문에 aliasing 없이 적은 데이터도 활용 가능합니다.
[노이즈 민감도]
측정 오차 σ를 0~0.10m로 변화. (기본값 0.02m)
σ=0.10m (5배)에서도 nRMSE 변화 ±13%.
→ Adaptive N이 노이즈를 가짜 성분으로 흡수 후 pruning합니다.
[하이퍼파라미터 민감도]
학습률, 정규화 계수 등을 ±2배 변화시켜도 nRMSE ±5%.
→ 한 번 설정하고 모든 100개 에피소드에 동일 설정 사용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[시각적 비교 — 그림 보는 법]
4개 열: GT(정답) | WaveSplat | ETKF | GPR
GT (Ground Truth):
시뮬레이터에서 만든 "진짜 파도". 위아래로 굽이치는 실제 파도 모양.
WaveSplat:
GT와 매우 유사합니다. 파봉(봉우리)과 파곡(골짜기) 위치가 거의 같습니다.
진폭이 약 20~30% 낮게 나오는 것이 보일 수 있습니다. (VR=0.66 한계)
ETKF:
언뜻 보면 파도 모양처럼 보이지만, 파봉 위치가 GT와 다릅니다.
VR=0.898로 진폭은 비슷한데, ρ=0.109로 위치가 완전히 틀립니다.
마치 같은 리듬인데 박자가 다른 노래 같습니다.
GPR:
거의 평탄합니다. VR=0.065 → 진폭의 6.5%만 재현.
파도가 있는 것인지 없는 것인지 구별이 어렵습니다.
[한 줄 결론]
"WaveSplat만 진짜 파도처럼 보입니다."
(진폭이 약간 낮다는 한계가 있지만, 모양과 위치는 올바릅니다.)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[스펙트럼 정확도란?]
WaveSplat은 파도를 (kᵢ, ωᵢ, φᵢ) 성분들의 합으로 표현하기 때문에,
"파도가 어느 방향에서 오는가", "파장이 얼마인가"를 직접 출력합니다.
ETKF나 GPR은 elevation(높이) 필드만 추정하므로 이것이 불가합니다.
[검증 결과 이해하기]
N=5 이하 (단순 sea):
- 에너지 감지율 &gt; 93%: 파도 성분 대부분을 올바르게 찾아냄
- 파장 오차 &lt; 0.5%: 파장 100m라면 오차 50cm 미만
- 방향 오차 &lt; 0.2°: 북쪽이라면 거의 정북을 가리킴
- ω 오차 &lt; 1%: 분산관계를 강제했으므로 거의 완벽
N≥15 (복잡 sea):
방향이 비슷한 성분들이 k-공간에서 겹쳐 보여 구분 어려움.
"인접한 두 음정을 구별하기 어려운 것"과 비슷합니다.
[왜 이게 중요한가?]
Hydrofoil FF에서 파도의 방향을 알아야 전방 foil과 후방 foil에 도달하는 시간 차이를 계산할 수 있습니다. 방향을 모르면 foil마다 적절한 보상을 할 수 없습니다.
파도 예보에서도 방향을 알면 "5초 후 파봉이 어디 있을지" 정확히 계산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[희소 관측 로버스트니스]
관측 점이 10개만 있어도 작동하는가?
BF4~5 조건에서 10점: nRMSE 0.191 (WS) vs 0.239 (ETKF)
50점: 0.155 vs 0.165
왜 격자 기반이 더 나빠지나?
격자 안에 점이 없으면 아무것도 모릅니다. 관측 밀도가 낮으면 격자 셀이 텅 비어 있습니다.
WaveSplat은 plane wave 하나가 모든 격자 위치에 걸쳐 constraint를 줍니다.
점 10개도 파도 방향/파장 추정에 "global" 정보를 제공합니다.
[파도 예측 (Forecast)]
핵심: φᵢ(t+Δt) = φᵢ(t) + ωᵢ·Δt
ω가 분산관계로 정확하게 알려져 있으므로 φ(위상)를 정확히 앞으로 밀 수 있습니다.
비유: 지구 자전 주기를 정확히 알면 오늘 밤 몇 시에 달이 어디 있을지 계산 가능한 것처럼.
결과:
BF3 1-comp: t+10초 후 Skill Score = +0.94 (거의 즉시 추정만큼 좋음)
BF3 5-comp: t+10초 후 SS = +0.18 (떨어지지만 여전히 양수)
BF4 15-comp: t+10초 후 SS = −0.21 (복잡한 바다에서 한계)
A1(분산관계 없음)과 비교:
A1 즉시: nRMSE 0.158 (좋아 보임)
A1 5초 후: nRMSE 0.476 (3배 악화)
Full 즉시: 0.219, Full 5초 후: 0.231 (안정)
이 예측 능력이 hydrofoil FF의 물리적 기반입니다.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더 강한 비교 대상이 필요했나?]
심사위원(reviewer) 예상 질문: "ETKF와 GPR-1은 약한 baseline 아닌가?"
→ 그래서 두 가지를 더 강화했습니다.
LETKF (Localized ETKF):
ETKF에 공간 localization 추가. 각 격자 점을 업데이트할 때 주변 50m 이내 관측만 사용.
장점: 멀리 있는 관측의 "허위 상관"을 제거.
단점: localization 범위보다 큰 파도 성분에서 진폭 과소추정.
GPR-disp (Dispersion-aware GPR):
GPR 커널에 dispersion 정보를 추가 (K = K_spatial × K_dispersion).
장점: 물리 정보를 GPR에도 부여.
단점: 계산량이 36배 증가 → 실시간 불가.
[결과]
N≤5 (단순 sea): WaveSplat 압도. 격차 2~8×.
N≥15 (복잡 sea): LETKF가 우세. k-space crowding에서 LETKF localization이 WS 방향 분리 한계를 극복.
속도: WS가 8.1× 빠릅니다.
[실용적 결론]
운항 조건의 70% 이상이 N≤5 (Hs&lt;1m). 이 영역에서 WaveSplat이 최선.
복잡한 날씨(폭풍)에서는 LETKF fallback을 쓰는 하이브리드 아키텍처가 최적.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[하이드로포일 선박이란?]
수중 날개(foil)로 선체를 물 위로 띄우는 선박입니다. Candela C-8 같은 스웨덴 회사가 만드는 전기 보트가 대표적입니다.
비유: 비행기 날개가 공기 저항으로 양력을 만드는 것처럼, 수중 날개가 물 저항으로 양력을 만듭니다. 선체가 물에서 떠오르면 마찰 저항이 대폭 줄어 효율이 좋아집니다.
문제: 파도를 만나면 날개 잠수 깊이가 변하고 → 양력이 변하고 → 배가 흔들립니다.
[PD feedback만으로는 왜 부족한가?]
PD 제어기: 현재 흔들림을 감지(D=미분) → 날개 각도 조정.
문제: 감지한 후에 조정하기 때문에 항상 한 박자 늦습니다.
파도 주기 4~7초 중 제어 루프 지연 50~100ms = 주기의 1~2%.
보통은 이 정도 지연이 괜찮지만, 고속 하이드로포일에서는 파도가 빠르게 지나가므로 지연이 큽니다.
[Feedforward 제어란?]
"에러 본 후 수정" → "에러 오기 전 준비"
WaveSplat이 0.1~0.3초 앞의 파면 기울기를 예측 → 날개를 미리 조정.
비유: 자동차 전방 카메라로 과속방지턱을 보고, 올라가기 0.1초 전에 서스펜션을 미리 올리는 것.
K_ff = 0.8: 날개 실제 양력 기울기 vs 이상적 기울기의 비율. 실험으로 확인.
IIR LP filter (α=0.05): 추정 노이즈를 걸러서 고주파 노이즈가 날개에 전달되지 않도록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[전체 제어 시스템 흐름도]
위쪽 (Feedforward 경로):
Falcon K1 LiDAR → (10Hz, ~13ms) → WaveSplat → 파면 기울기 추정
→ 전방 위치 x_pre = x_foil + V·Δt → IIR 필터 → K_ff 게인 → Foil Servo
아래쪽 (Feedback 경로):
선박 IMU (가속도, 각속도 측정) → PD 제어기 → Foil Servo (FF와 합산)
두 경로를 합산: δ_foil = δ_PD + δ_FF
[각 블록 설명]
x_preview = x_foil + V·Δt:
foil 위치에서 선속(V) × 시간(Δt)만큼 앞에 있는 파면을 봅니다.
V=11 m/s, Δt=0.1s이면 1.1m 앞.
IIR LP filter (α=0.05, fc≈0.8Hz):
고주파 잡음 제거. 파도 주기 4~7초 = 0.14~0.25Hz 파도는 통과.
추정 오차에서 오는 빠른 진동 억제.
K_ff 게인:
추정된 파면 기울기 → 날개 편향각 변환 계수.
Servo: 날개 각도를 물리적으로 움직임. ±15° 범위.
[시간 척도]
LiDAR 10Hz → 100ms 간격 → 파도 주기 4~7s의 1.4~2.5%. 충분히 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표 읽는 법 — aRMS 개선율(%)]
aRMS: acceleration RMS. 승객이 느끼는 진동 크기 (m/s²).
개선율 = (PD만) - (PD+FF) / (PD만) × 100%
양수 = 진동 감소 = 좋은 것.
GT-FF: 파도를 완벽하게 알고 있을 때 feedforward. 이론적 최대 성능.
WS-FF: WaveSplat으로 추정한 파도로 feedforward.
[핵심 결과]
WS-FF가 GT-FF의 93~103% 성능. 즉, 추정이 완벽하지 않아도 거의 같은 효과!
이것이 이 연구의 가장 중요한 실용적 결론입니다.
왜 추정이 부정확해도 됩니까?
LP filter가 추정 오차의 고주파 성분을 제거합니다.
제어에서 중요한 것은 파도의 "낮은 주파수 성분"입니다 (파도 주기 4~7초).
추정 오차는 주로 "높은 주파수"에서 발생합니다.
[방향별 해석]
Head sea (μ=180°, 정면에서 파도): 짧은 encounter wavelength → FF 효과 빠르게 전달.
Beam sea (μ=90°, 측면에서 파도): 파면이 두 foil을 동시에 통과 → preview 길어야 효과적. 가장 큰 개선 +37.7%.
Quarter (μ=135°, 대각선): 중간 효과.
[ISO 2631 승차감 기준]
0.315 m/s² 이하 = "Comfortable" (쾌적)
0.315~0.63 = "Slight discomfort" (약간 불편)
BF3 Beam sea: FF 후 'Slight discomfort' → 'Comfortable' 달성!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[민감도 분석이란?]
두 가지 질문에 답합니다:
1. WaveSplat 추정이 얼마나 나빠도 FF가 작동하는가? (nRMSE tolerance)
2. 얼마나 먼 미래를 봐야 최적인가? (preview horizon)
[nRMSE Tolerance]
nRMSE를 0%에서 50%까지 인위적으로 악화시킨 추정을 FF에 사용.
결과: 0~50% 전 구간에서 FF가 PD-only보다 좋습니다.
nRMSE 50%에서도 FF 효과 잔존 → "graceful degradation" (서서히 나빠짐).
임계값 없음 → 추정이 완전히 망가지기 전까지는 항상 도움이 됩니다.
이것이 실용적으로 중요한 이유:
"WaveSplat 추정을 얼마나 믿어야 하는가?"에 대한 답이 됩니다.
현재 nRMSE 22%이면 "안전지대" 안에 있습니다.
[Preview Horizon]
0초 preview: FF = 현재 파도로 보상 → 지연과 같음.
최적 preview:
Head sea: 0.1s (~1.1m 앞) = 파도 주기 4s의 2.5%
Beam sea: 0.3s (~3.4m 앞) = 파면이 foil 위치에 도달하는 시간
너무 짧으면: 파도가 이미 도달 → 반응 부족.
너무 길면: 파도 예측이 부정확 → 위상 불일치.
딱 맞는 preview = foil이 파면에 닿기 직전에 명령을 내려야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[End-to-End Demo란?]
LiDAR → WaveSplat → FF → 선박 응답 전체 파이프라인을 연결한 실험.
실제 사용하는 것과 동일한 방식입니다.
[결과]
BF3 단순 sea (N=1~5): E2E WaveSplat이 GT-FF의 92~96% 달성.
거의 완벽합니다. 추정 오차가 있어도 제어 성능에는 작은 영향.
BF4 5-comp: 37% 달성. 상당히 낮습니다.
왜?
"방향 추정 오차"가 원인입니다.
[방향 오차가 왜 치명적인가?]
FF 명령 = K_ff × α_wave
α_wave = −∂η/∂x − w/V (파면의 기울기)
∂η/∂x: x 방향 (배 진행 방향) 기울기
이것을 계산하려면 파도가 어느 방향으로 오는지 알아야 합니다.
방향이 5° 어긋나면 ∂η/∂x가 틀리고 → FF 명령이 오히려 흔들림을 증폭시킵니다.
BF4 5-comp에서 두 성분이 ±20° 방향 분리되어 있을 때, 두 성분의 위상이 겹치면서 추정 오차 발생.
[개선 방향]
(a) 선박이 방향을 조금씩 바꾸면서 여러 각도에서 데이터 수집 → 방향 추정 개선
(b) IMU heading 정보로 방향 prior 부여
(c) Multi-frame voting으로 방향 안정화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[단일점 선수 센서 비교 — 왜 이 실험을 했나?]
Candela (스웨덴 하이드로포일 회사)는 선수(뱃머리)에 파도 높이 센서 1개를 달고 FF를 씁니다.
"WaveSplat 없이 이 방법으로 안 되는가?"라는 질문에 답합니다.
[SP-1pt 방법 — 가장 이상적인 단일점 방식]
GT 파도 성분들을 CG(무게중심) + V·Δt 위치 한 점에서만 평가.
이것이 "단일점 센서로 할 수 있는 최선"입니다. 노이즈 없고, 완벽한 GT를 씁니다.
결과: BF3 Head sea에서 평균 −13.3% (악화!). 5개 seed 모두 일관되게 나빠짐.
왜 악화되는가?
λ = gTp²/(2π) ≈ 9.81×25/6.28 ≈ 39m (BF3 Tp=5s)
전방 foil과 후방 foil 간격 = 4.5m
위상 차 Δφ = 2π×4.5/39 ≈ 41°
CG 한 점에서 평가한 신호를 두 foil에 같이 쓰면:
전방 foil: +21° 위상 오차, 후방 foil: −21° 위상 오차
→ FF가 절반 정도 역방향으로 작동합니다.
이것은 센서 품질 문제가 아닙니다. GT를 써도 같은 결과입니다. 구조적 한계입니다.
BF4 Tp=7.5s에서는?
λ ≈ 88m → Δφ ≈ 18° → 오차 감소 → SP-1pt +7.0% (GT의 71% 회수).
파장이 길수록 단일점 방식도 어느 정도 작동합니다.
[SP-temporal 방법]
선수 센서에서 시간 미분으로 파면 기울기를 계산:
∂η/∂x ≈ −(1/c_p) × ∂η/∂t  (head-sea 가정)
Beam sea (μ=90°)에서 실패 이유:
실제 ∂η/∂x ≈ 0 (파도가 옆으로 진행하니까 배 진행 방향 기울기 없음)
∂η/∂t ≠ 0 (파도가 위아래로 여전히 진동)
공식이 "없는 기울기를 만들어냄" → FF가 없는 파도를 보상하려 함 → −35.0% 악화.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seed마다 결과가 다른가?]
BF3 Beam sea에서 SP-1pt 결과:
seed별로 +54% ~ −27% 사이로 들쭉날쭉합니다.
평균 +21.4%이지만 표준편차 ±31.5%. σ/μ = 1.47 (평균보다 표준편차가 큼).
이것이 "예측 불가능"을 의미합니다. 같은 조건이지만 운에 따라 도움이 될 수도, 해가 될 수도 있습니다.
[왜 이렇게 seed 의존적인가?]
Beam sea (μ=90°)는 파도가 주로 옆 방향(y)으로 진행합니다.
하지만 방향 spread (σ_θ=20°)로 인해 일부 성분이 대각선 방향으로도 옵니다.
이 대각선 성분들이 seed마다 다른 위상을 가집니다.
→ 두 foil 위치에서 이 성분들의 위상 합이 seed마다 달라집니다.
→ 어떤 seed는 두 foil에 비슷한 위상 → FF 효과 좋음.
→ 어떤 seed는 두 foil에 반대 위상 → FF 방해.
WaveSplat은?
각 foil × 각 성분을 독립적으로 평가합니다.
σ/μ = 0.34 (SP-1pt 1.47 대비 4.3배 안정적).
[센서 선택 가이드]
- Head sea + 장주기(Tp&gt;7s): SP-1pt 어느 정도 작동 (71% GT 회수)
- Head sea + 단주기(Tp&lt;7s): SP-1pt 일관적 악화 → WaveSplat 필수
- Beam sea: SP-1pt 불안정, SP-temporal 일관적 악화 → WaveSplat 필수
- 실 상용 운항 (다양한 해상 조건): WaveSplat 필수
[WaveSplat이 필요한 3가지 이유 요약]
1. Per-foil 독립 평가: 각 foil 위치에서 파도를 따로 계산.
2. 방향 독립성: 파도 방향에 무관하게 안정적.
3. 정확한 기울기 계산: head-sea 가정 없이 해석적으로 ∂η/∂x를 계산.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[한계 — 정직한 보고가 중요한 이유]
과학 논문에서 한계를 솔직하게 보고하는 것이 신뢰성의 핵심입니다.
"좋은 것만 보여준다"는 인상을 주면 오히려 신뢰를 잃습니다.
WaveSplat의 알려진 한계:
1. VR=0.66: 진폭 34% 과소추정.
   원인: Adam optimizer가 수렴할 때 작은 성분들을 pruning → 에너지 손실.
   해결 방향: 추정 후 진폭 스케일링, 또는 pruning threshold 조정.
2. 30+ component crowding: 파도 성분이 30개 이상이면 방향 구분 어려움.
   원인: k-공간에서 인접한 peak들이 겹쳐 보임.
   해결 방향: multi-frame 방향 voting, vessel yaw 변화 활용.
3. 시뮬레이션 전용: 실제 바다에서 아직 검증하지 않았습니다.
   다음 단계: 수조 실험 → 실선 시험.
4. 선형 파도 모델: 2차 이상의 비선형 파도 (Stokes) 미반영.
   실용적 영향: Hs&lt;2m에서는 선형 모델로도 충분.
[Contributions 요약]
기술적으로 새로운 것 6가지 (❶~❻):
Grid-free spectral 표현, 분산관계 하드 제약, Adaptive N, 가중 손실, 5-metric 패널, 24-config ETKF sweep.
WaveSplat만의 고유 능력 3가지:
스펙트럼 직접 출력 (방향/파장), 희소 관측에서 강건성, 시간 예측.
응용 (❽~⓫):
하이드로포일 FF 제어 → 실제로 승차감 개선 확인.
단일점 센서의 구조적 한계 수학적/실험적으로 증명.
[전체 결론 — 한 문장]
"희소한 LiDAR 데이터에서 물리 법칙을 이용해 파도를 격자 없이 실시간으로 정확히 추정하며, 이를 하이드로포일 제어에 적용해 승차감을 크게 개선했습니다."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3600" b="1" i="0">
                <a:latin typeface="Times New Roman"/>
              </a:rPr>
              <a:t>WaveSplat</a:t>
            </a:r>
          </a:p>
          <a:p>
            <a:pPr/>
            <a:r>
              <a:rPr sz="1800" b="0" i="0">
                <a:latin typeface="Times New Roman"/>
              </a:rPr>
              <a:t>Grid-Free Spectral Wave Field Estimation from Sparse Shipboard LiDAR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800" b="1" i="0">
                <a:latin typeface="Times New Roman"/>
              </a:rPr>
              <a:t>박세용 (Saeyong Park)</a:t>
            </a:r>
          </a:p>
          <a:p>
            <a:pPr/>
            <a:r>
              <a:rPr sz="1300" b="0" i="0">
                <a:latin typeface="Times New Roman"/>
              </a:rPr>
              <a:t>Avikus · HD현대  |  Seoul National University Towing Tank</a:t>
            </a:r>
          </a:p>
          <a:p>
            <a:pPr/>
            <a:r>
              <a:rPr sz="1200" b="0" i="1">
                <a:latin typeface="Times New Roman"/>
              </a:rPr>
              <a:t>Lab Meeting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200" b="0" i="0">
                <a:latin typeface="Times New Roman"/>
              </a:rPr>
              <a:t>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280160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I.    Introduction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029967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II.    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779776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III.   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529584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IV.   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Real Sea Trial — 실선 LiDAR 관측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LiDAR Live Recording — Florida Intracoastal</a:t>
            </a:r>
          </a:p>
        </p:txBody>
      </p:sp>
      <p:pic>
        <p:nvPicPr>
          <p:cNvPr id="5" name="Picture 4" descr="sea_trial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4389120" cy="2834640"/>
          </a:xfrm>
          <a:prstGeom prst="rect">
            <a:avLst/>
          </a:prstGeom>
        </p:spPr>
      </p:pic>
      <p:pic>
        <p:nvPicPr>
          <p:cNvPr id="6" name="Picture 5" descr="sea_trial_li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6576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0690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선박 외부 카메라 (BF~2-3)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406908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Falcon K1 live point cloud (Rerun)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관측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006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점군이 매우 sparse — 수면 returns가 거리·각도에 따라 비균질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일부 영역은 specular dropout으로 returns 부재 (수면 경사가 빔과 어긋날 때 광이 멀리 산란)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카메라로 보이는 wake·잔파는 LiDAR에는 1~2 점으로만 나타남 → 격자 보간으론 형상 복원 불가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본 연구의 출발점: 이 데이터에서 연속적·물리적으로 타당한 파도장을 어떻게 실시간 복원할 것인가?</a:t>
            </a:r>
          </a:p>
          <a:p>
            <a:pPr algn="l">
              <a:spcBef>
                <a:spcPts val="3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→ 시뮬레이터 검증: WaveSim의 Falcon K1 raydrop 모델이 이 영상에서 관찰한 패턴을 재현. Fresnel R(θ) (수면 반사율) + specular retroreflection (&lt;5°) 두 모드 병렬 유지 → 두 raydrop 가정 모두에서 WaveSplat robustness 검증.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선박 전방 파랑 예측이 필요한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자율운항 선박: 안전·승차감·에너지 효율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 선박: 파랑 preview → FF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해상 크레인: 파고 예측 → 보상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해양 구조물: 파랑 하중 예측 → 구조 안전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시점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Helideck operation window 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관측의 본질적 어려움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Sparse: 250×200 m 영역에서 프레임당 ~50점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Heterogeneous: 근거리 조밀, 원거리 희박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Range-dependent noise: σ_r ≈ 0.02 m near, 더 큼 far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dropout: 평탄한 수면에서 returns 미반환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Spray·whitecap·rain → false returns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 Hz 실시간 처리 필요 (&lt; 100 ms/frame)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840480"/>
            <a:ext cx="8229600" cy="68580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목표: 희소 LiDAR 관측으로부터 연속적·물리적으로 타당한 파도장을 실시간 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대표적 응용 — Hydrofoil ride control (본 발표 후반부)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74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수면 위 비행 → 파도 교란에 극도로 민감 (foil 잠수 0.5~1.0 m → AoA 직접 변동)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(50~100 ms loop delay = 파도 주기의 5~10%)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해법: WaveSplat 추정 → preview feedforward → 자동차 active suspension의 해양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기존 방법의 한계 — Prior Art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Approach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Key Limitation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ETKF-grid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(Desmars 2020)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Spatial grid 위에 ensemble Kalman filter,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FFT 기반 spectral 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격자 보간 → aliasing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O(Nₑ G² log G²) 비용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하이퍼파라미터(grid·inflation·loc) 민감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(Rasmussen-Williams 2006)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RBF/Matérn 커널의 비모수적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공간 보간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O(M³) 비용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장파장만 잡음 → near-zero predictor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PINN / FNO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(Ehlers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신경망 기반 — PDE 잔차 또는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Fourier neural operator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학습 분포 의존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균일 grid 가정 (LiDAR 불규칙성과 불일치)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black box 진단 어려움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1605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공통 구조적 문제: 모두 "격자(grid) 또는 학습 분포에 의존"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희소 관측에서 aliasing &amp; 불필요한 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제어 응용 (forecast 5~10 s)에 시간 모델 부재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→ Grid-free + physics-constrained representation이 필요</a:t>
            </a:r>
          </a:p>
          <a:p>
            <a:pPr algn="l">
              <a:spcBef>
                <a:spcPts val="200"/>
              </a:spcBef>
            </a:pPr>
            <a:r>
              <a:rPr b="0" sz="8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Bef>
                <a:spcPts val="200"/>
              </a:spcBef>
            </a:pPr>
            <a:r>
              <a:rPr b="0" sz="900">
                <a:solidFill>
                  <a:srgbClr val="333333"/>
                </a:solidFill>
                <a:latin typeface="Times New Roman"/>
              </a:rPr>
              <a:t>▸ ETKF-grid: 격자 셀당 0~1점 → bilinear ill-posed; N_e=100 앙상블로 132.6 ms/frame; dispersion soft-constrained only</a:t>
            </a:r>
          </a:p>
          <a:p>
            <a:pPr algn="l">
              <a:spcBef>
                <a:spcPts val="200"/>
              </a:spcBef>
            </a:pPr>
            <a:r>
              <a:rPr b="0" sz="900">
                <a:solidFill>
                  <a:srgbClr val="333333"/>
                </a:solidFill>
                <a:latin typeface="Times New Roman"/>
              </a:rPr>
              <a:t>▸ GPR: RBF 커널 공간 보간 O(M³); 시간 모델 없음; VR=0.065 → 진폭 6.5%만 재현 (거의 zero-predictor)</a:t>
            </a:r>
          </a:p>
          <a:p>
            <a:pPr algn="l">
              <a:spcBef>
                <a:spcPts val="200"/>
              </a:spcBef>
            </a:pPr>
            <a:r>
              <a:rPr b="0" sz="900">
                <a:solidFill>
                  <a:srgbClr val="333333"/>
                </a:solidFill>
                <a:latin typeface="Times New Roman"/>
              </a:rPr>
              <a:t>▸ PINN/FNO: 학습 분포 의존 → 학습 외 sea state 취약; 균일 grid 가정 (sparse LiDAR에 직접 부적합)</a:t>
            </a:r>
          </a:p>
          <a:p>
            <a:pPr algn="l">
              <a:spcBef>
                <a:spcPts val="300"/>
              </a:spcBef>
            </a:pPr>
            <a:r>
              <a:rPr b="1" sz="950">
                <a:solidFill>
                  <a:srgbClr val="C05317"/>
                </a:solidFill>
                <a:latin typeface="Times New Roman"/>
              </a:rPr>
              <a:t>→ WaveSplat: Grid-free spectral (격자 없음) + ω = √(g|k|tanh|k|d) 하드 제약 + 13.4 ms/frame 실시간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8932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Desmars+ Ocean Eng 212 (2020); Rasmussen &amp; Williams (2006); Ehlers+ Ocean Eng 288 (2023)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용어 정리 — 본 발표를 따라가기 위한 핵심 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데이터 /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Beaufort scale (BF):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풍속 기반 해상 강도. BF2(Hs≈0.3 m) ~ BF5(Hs≈2.0 m)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Hs (significant wave height):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파고 분포의 4σ — "체감 파고"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Tp (peak period):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spectrum이 가장 큰 주파수의 주기 (s)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JONSWAP / Pierson-Moskowitz: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해양 spectrum 모델 (북해 관측 기반)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Dispersion relation: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파장↔주기 물리 법칙 ω=√(g|k|·tanh(|k|·d))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encounter frequency: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움직이는 선박이 만나는 파의 겉보기 주파수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추정 / 평가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ETKF (Ensemble Transform Kalman Filter):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격자 위에서 ensemble로 상태 추정 (NWP 기법)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GPR (Gaussian Process Regression):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커널 기반 비모수 회귀 — 단순 공간 보간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nRMSE = RMSE / Hs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Hs로 정규화한 오차 — 5% 이하면 우수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VR (Variance Ratio) = Var(ẑ)/Var(z)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진폭 보존도. 1=완벽, 0=평탄(under-fit)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Pearson ρ: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shape 일치도 (진폭과 무관)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SS (Skill Score) = 1 − MSE(ẑ)/MSE(0)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양수 = "0 예측보다 나음"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RMSE_unobs: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관측에서 ≥10 m 떨어진 영역만의 RMSE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Wilcoxon signed-rank test: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짝지은 차이의 부호 분포 검정 (정규성 X)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Cohen's d: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effect size — 0.8 이상이면 large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17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모든 항목은 본 발표 후속 슬라이드에서 다시 등장합니다 — 모르는 단어 나오면 이 슬라이드 참고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latin typeface="Times New Roman"/>
              </a:rPr>
              <a:t>아이디어의 출발점 — 3D Gaussian Splatting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822960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611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3DGS의 핵심 통찰 (Kerbl 2023, SIGGRAPH)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9319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격자(voxel)에 의존하지 않고, 학습 가능한 N개의 3D Gaussian의 가중합으로 라디언스 필드 표현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Gaussian은 (위치 μᵢ, 공분산 Σᵢ, 색·투명도)의 4N 파라미터 — 연속·미분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결과: 격자보다 sparse 표현, 임의 시점 렌더링 가능, real-time 학습/렌더링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해양파 추정에 옮겨오면? — WaveSplat 착상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257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"필드를 격자가 아닌 N개 기저의 합으로" — 같은 발상을 2D 수면 elevation에 적용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3DGS의 Gaussian → 해양파의 plane wave (kᵢ, ωᵢ, φᵢ) — 물리적 의미가 직접 부여됨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 의존 ETKF 대비: 필드 어디서나 평가 가능 + dispersion이 자연스러운 hard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Kerbl, Kopanas, Leimkühler, Drettakis "3D Gaussian Splatting for Real-Time Radiance Field Rendering", ACM TOG 42(4), 2023.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WaveSplat의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모델 — N개 plane wave의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8229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1A2E"/>
                </a:solidFill>
                <a:latin typeface="Times New Roman"/>
              </a:rPr>
              <a:t>z(x, y, t) = Σᵢ wᵢ · cos(kx,ᵢ·x + ky,ᵢ·y − ωᵢt + φᵢ)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8229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❶ Grid-free spectral representation — 격자 의존성 제거 (3DGS의 해양파 버전)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❷ Dispersion hard constraint: ωᵢ = √(g·|kᵢ|·tanh(|kᵢ|·d)) → 5N → 4N로 자유도 축소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추정된 파동이 "실제 중력파 dispersion 위에 있도록 강제" → 시간 외삽 안정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❸ Adaptive model order (N): energy pruning + residual growth +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단순 swell N=2, 복잡한 sea N=18~21 까지 자동 적응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❹ Geometry-aware confidence weighting: cⱼ = cos(θⱼ)/(dⱼ/d_ref)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LiDAR 입사각·거리 의존 정밀도를 손실 함수에 직접 반영 (heteroscedasticity)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정확한 Fresnel R(θ)가 아닌 단순 기하 가중치 — 본 항목의 명명을 paper에서 정정함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❺ Pre-specified 5-metric panel — zero-predictor 구분 가능 (cherry-pick 방지)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❻ 24-config ETKF hyperparameter sweep — 공정한 tuned baseline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❶ Kerbl 2023 (3DGS); ❷ Holthuijsen 2007 (dispersion); ❹ Born &amp; Wolf (2007) Optics 7th 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(1) — Forward &amp; Observation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Forward Model — Wave Field Equation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11480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z(x,y,t) = Σᵢ wᵢ cos(kx,ᵢx + ky,ᵢy − ωᵢt + φᵢ)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Hard constraint: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ωᵢ = √(g · |kᵢ| · tanh(|kᵢ| · d))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자유 파라미터: {wᵢ, kx,ᵢ, ky,ᵢ, φᵢ} → 4N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(ω는 k로부터 결정 — 자유변수 아님)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Observation Model — Geometry-aware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3192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cⱼ = cos(θⱼ) / (dⱼ / d_ref)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L = (1/M) Σⱼ cⱼ (zⱼ − ẑⱼ)²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λ₁ Σ|wᵢ|     (sparsity)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λs Σ(Δwᵢ)²  (smoothness)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θⱼ: 입사각, dⱼ: range, d_ref=125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이렇게 설계했나 — Design Rationale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Times New Roman"/>
              </a:rPr>
              <a:t>▪ Dispersion 제약: 추정된 파동을 "실제 중력파 dispersion 위에 있도록" 강제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ω를 자유로 두면 nRMSE만 ↓, 1초 뒤 phase 발산 (A1 ablation 확인)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cⱼ = cos(θ)·1/(d/d_ref)는 단순 기하 가중치 — 정확한 Fresnel R(θ)가 아님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본 항목 명명을 'Fresnel-aware' → 'geometry-aware'로 정정 (paper)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Fresnel R(θ) 자체는 raydrop 모델 (다음 슬라이드)에서만 사용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λ₁ sparsity: dominant component만 살리도록 spectral 표현 압축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λs smoothness: 인접 wavenumber에 부드럽게 분포 → 노이즈에 robust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(2) — 2-Phase Pipeline (Init → Track)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1: Initialization (T_init = 2Tₚ ≈ 14 s @ BF4)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① Dispersion-aware beamforming (v2_konly)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Cartesian 81×81 k-grid (Δk≈0.10 rad/m)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② Greedy peak extraction (0.15 rad/m suppression)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③ Coarse-to-fine Adam: N=3 → 8 → 15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(200 iters/stage, lr=5×10⁻³)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④ Energy-based pruning (90% threshold)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+ RMSE 130%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⑤ Residual growth: RMS &gt; 0.05 m → 추가 beamform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(Nmax = 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2: Tracking (w_phi mode, 10 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Predict: φᵢ ← φᵢ + ωᵢ · Δt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(dispersion-exact phase propagation)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Update: K=10 Adam steps (lr=10⁻³)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on Kw=3 sliding-frame window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only (wᵢ, φᵢ) updated; kx, ky FROZEN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Why freeze k?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단일 프레임에서 kx/ky는 ill-conditioned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Multi-frame init이 충분히 평균화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φ warm start로 200→10 grad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Adaptive N: 단일 swell에선 N=1, 복잡 sea에선 N=21까지 — 평균 13.4 ms/frame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실시간 처리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492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Init은 한 번만 (~500 ms) — 이후 frame당 ~13 ms tracking으로 10 Hz 대응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 freeze + φ warm-start로 200→10 grad steps 단축이 결정적 속도 차이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N의 pruning은 over-parametrize 방지, growth는 새로운 component 출현 대응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Flowchart — 전체 로직 한눈에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572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8920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좌측 (Phase 1, ~500 ms 1회): 10 frame 누적 → beamforming 2단계 → C2F Adam → Adaptive 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우측 (Phase 2, ~13 ms/frame): Predict (dispersion phase 외삽) → sliding window → Adam 10 steps → Output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Phase 1→2 화살표: kx, ky 동결, w·φ만 carry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 grow loop: residual RMS &gt; 0.05 m이면 init 단계로 잠시 복귀해 새 component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Figure source: paper/figures/fig_pipeline.png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(1/2) — Wave Generation + 검증</a:t>
            </a:r>
          </a:p>
        </p:txBody>
      </p:sp>
      <p:pic>
        <p:nvPicPr>
          <p:cNvPr id="4" name="Picture 3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BF4, N=5 components, Hs ≈ 1.5 m, frame t=15 s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JONSWAP 합성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Pierson-Moskowitz × peak γ=3.3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Hs ∈ [0.3, 2.0] m (BF2~BF5)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Tp ∈ [4, 8] s, 무작위 phase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Gerstner trochoid (2nd order)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꼭대기 첨예, 골짜기 평탄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Q-제약: Σ Qᵢωᵢ²Aᵢ &lt; 1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Full dispersion (수심 d=50 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ω = √(g|k|·tanh(|k|d))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160520"/>
            <a:ext cx="8503920" cy="192024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 b="1">
                <a:solidFill>
                  <a:srgbClr val="2E7D32"/>
                </a:solidFill>
                <a:latin typeface="Times New Roman"/>
              </a:rPr>
              <a:t>Wave Generation 검증 (39 unit tests 중)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분산관계 deep/shallow 해석해 일치 (오차 &lt; 1×10⁻⁶)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Gerstner 단일성분 RMSE &lt; 1×10⁻¹⁰ m vs 해석해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Hs(Welch from time series) = 4√m₀ 일치 &lt; 0.5%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Q-constraint 위반: 모든 100 episodes 0건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Energy conservation: ΣAᵢ² ≈ ∫S(ω)dω (FFT 검증 통과)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(2/2) — LiDAR · Raydrop + Sample 관측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GT 파도장에 LiDAR returns(까만 점) 오버레이 — 같은 BF4 episode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1550 nm, 152 ch, scan 10 Hz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FOV 120°×25°, range 1.5–250 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σ_range = 0.02 m, σ_angle = 0.05°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Mount: 5 m, +5° downward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5603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Raydrop (점이 떨어지는 메커니즘)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2880360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Diffuse (uniform):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p = R_Fresnel(θ)·cos(θ)/d²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Fresnel은 여기서만 사용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(slope):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retroreflection α&lt;5°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파봉 편향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두 모델 병렬 유지 → ablation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80060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통합 검증 +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Ray-Mesh: Möller-Trumbore intersection — 100 % hit/miss 정확 (39-test 통과)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Falcon K1 spec은 Avikus NEUBOAT 실선 시험 장비와 동일 → sim-to-real 시 raydrop만 보정 예정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시뮬레이션 결과는 reviewer가 의심할 만한 모든 물리 가정에서 단위 검증 위에 구축됨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217920"/>
            <a:ext cx="8503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Möller &amp; Trumbore (1997) ray-tri intersection; Born &amp; Wolf (2007) Optics 7th ed (Fresnel R(θ)).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Experiment Design — Dataset &amp;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Dataset (100 episodes)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Parameter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Total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100 = 5 seeds × 10 configs × 2 raydrop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BF2~BF5  (Hs 0.3~2.0 m)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1, 2, 5, 15, 30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Raydrop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Uniform (diffuse) + Slope (specular)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301 frames (30 s @ 10 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LiDAR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Seyond Falcon K1 spec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Baselines (모두 hyperparameter tuned)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63440" y="118872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Note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24-config sweep best: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g=40×30, n_e=100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nRMSE 0.319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Matérn ν=5/2,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ℓ=20m, σ=0.02m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GPR-sliding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3-frame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강한 GPR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Gaspari-Cohn r_loc=50m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GPR-disp(3f)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dispersion-aware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703320"/>
            <a:ext cx="8229600" cy="2240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94760"/>
            <a:ext cx="79552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Pre-specified 5-Metric Evaluation Panel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nRMSE ↓  |  Variance Ratio (VR) → 1  |  Pearson ρ ↑  |  Skill Score (SS) ↑  |  RMSE_unobs [m] ↓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1) RMSE_unobs = 관측에서 ≥10 m 떨어진 grid 지점에서만 계산 → physics prior 직접 증거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2) SS = 1 − MSE(ẑ)/MSE(0) → 양수 = zero-predictor(ẑ=0)보다 나음 (가장 약한 reference)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3) VR &lt;&lt; 1 = under-fitting / VR &gt; 1.2 = noise overfit / VR ≈ 1 + ρ=1 = 진짜 정확</a:t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모든 baseline에 동일 적용 — metric cherry-picking 방지 (사전 등록)</a:t>
            </a:r>
          </a:p>
          <a:p>
            <a:pPr algn="l">
              <a:spcBef>
                <a:spcPts val="400"/>
              </a:spcBef>
            </a:pPr>
            <a:r>
              <a:rPr b="0" sz="900">
                <a:solidFill>
                  <a:srgbClr val="1A1A2E"/>
                </a:solidFill>
                <a:latin typeface="Times New Roman"/>
              </a:rPr>
              <a:t>왜 5개? 단일 metric의 함정: nRMSE만 보면 zero-predictor(ẑ=0)도 좋아 보임 (Hs로 나누므로). SS&gt;0이 가장 약한 유용성 기준이며, VR+ρ가 함께 있어야 "진폭도 맞고 형상도 맞음"을 확인 가능. RMSE_unobs는 physics prior의 직접 증거 (격자 보간은 이 영역에서 성능 0).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핵심 결과 — 5-Metric Evaluation (100 episodes)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RMSE(unobs)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0.898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0.109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−0.702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0.348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6974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Skill Score: WaveSplat만 양수 (+0.034) → zero-predictor보다 나은 유일한 방법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RMSE_unobs (관측 외 영역): WS 0.262 m vs ETKF 0.348 m vs GPR 0.294 m  ← physics prior 증거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GPR = 거의 zero predictor: VR=0.065 → 진폭의 6.5%만 재현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ETKF = variance-correct but shape-wrong: VR=0.898 but ρ=0.109 (incoherent)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▪ WaveSplat: nRMSE 30.1% 낮고 ~10× 빠름 (13.4 vs 132.6 ms/frame)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한계 (panel이 함께 노출): VR=0.66 → 진폭 ~34% 과소추정 (Adam pruning 부작용)</a:t>
            </a:r>
          </a:p>
          <a:p>
            <a:pPr algn="l"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Pearson ρ=0.782 (WS): 위상과 형상이 맞음. ETKF ρ=0.109 → VR≈0.90이지만 위상 완전 틀림 (진폭은 맞으나 엉뚱한 위치). GPR ρ=0.210 → 거의 zero-predictor.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VR=0.660 (WS 한계): 진폭 34% 과소추정. Adam pruning이 작은 component 제거 → energy under-representation. 향후 adaptive amplitude scaling으로 개선 가능.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Speed: WS 13.4 ms &lt; 100 ms (10 Hz 실시간 가능). ETKF 132.6 ms → 10 Hz에서 지연 누적. GPR &gt;200 ms → 실시간 불가.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74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추가: Sea state별 nRMSE (zero-predictor 진단용)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539496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WaveSplat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ETKF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n_ep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BF2~BF3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0.327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0.315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Avg (100)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Per-episode 결과 &amp; 속도 (12 representative episodes)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왼쪽: paper/figures/fig1_comparison.pdf 또는
fig3_speed.pdf 12-ep nRMSE bar plot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오른쪽: 12 episode별 inference time
bar plot (paper figures 활용)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한눈에 보는 결론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WaveSplat: 12/12 episode 모두 nRMSE 최저 (clean sweep)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최대 격차 8.5× (BF3 1-comp swell — 가장 단순한 sea)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평균 inference time: WS 13.4 ms vs ETKF 132.6 ms (~10× faster)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ensemble 수렴 따라 90~600 ms로 spread → median 110, mean 132.6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12 episode는 BF2~BF5 × 1/2/5/15/30 components 균등 샘플 — cherry-pick 아님 (사전 등록)</a:t>
            </a:r>
          </a:p>
          <a:p>
            <a:pPr algn="l">
              <a:spcBef>
                <a:spcPts val="200"/>
              </a:spcBef>
            </a:pPr>
            <a:r>
              <a:rPr b="0" sz="8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상세: BF2 1-comp에서 WS nRMSE≈0.06 vs ETKF≈0.51 (8.5× 격차) — 단일 plane wave는 WaveSplat 이상 조건.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복잡 sea: BF4/BF5 30-comp에서 WS≈0.32 vs ETKF≈0.36 — 격차 축소. 30+ component crowding 시 WaveSplat 방향 분리 한계. 이 영역에서는 LETKF가 경쟁적 (Slide 23 참고).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통계 검증 — Multi-seed (100 paired runs)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실험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100 paired runs = 10 (sea state, complexity) configs × 5 seeds × 2 raydrop models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paired run = 동일 (config, seed, raydrop)에서 WaveSplat과 baseline 동시 실행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Wilcoxon signed-rank test: 짝지은 차이의 부호 분포로 비교 (정규성 가정 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2240280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mean ± std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Wilcoxon W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 (raw)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Cohen's 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95% CI of mean Δ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WaveSplat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0.219 ± 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0.321 ± 0.041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W=194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 × 10⁻¹⁵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1.16 (large)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[0.085, 0.119]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GPR-sliding 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0.253 ± 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4.7 × 10⁻⁴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0.42 (sm-med)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[0.018, 0.050]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0690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89120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Cohen's d = 1.16 → large effect (&gt;0.8)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d = 0.42 → small-medium but 100 paired에서 robust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Holm–Bonferroni 보정: p₁=2.2×10⁻¹⁵, p₂=4.7×10⁻⁴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두 비교 모두 보정 후 유의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95% CI 모두 0을 포함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WaveSplat 자체 행은 'reference'?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389120"/>
            <a:ext cx="39319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Wilcoxon은 "두 분포의 차이"를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WaveSplat은 비교의 기준 (기준 자체에는 p가 없음)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WaveSplat의 평균/std는 표시 (0.219 ± 0.079)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통계적 우위 = "WaveSplat이 baseline보다 작다"는 짝차이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Conservative 검사: 20 config-level mean으로 재검정해도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 &lt; 0.001 유지 → seed-level 상관 우려 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Wilcoxon (1945) Biometrics Bulletin 1(6); Cohen (1988) Statistical Power Analysis (2nd ed)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Ablation — Dispersion 제약의 가치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avg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vs Full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R̄ (dispersion drift)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Full (dispersion 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≡ 0 (by construction)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A1 (no dispersion)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0.158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−16% nRMSE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0.51 ± 0.12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A2 (no confidence weight)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≡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788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A1이 nRMSE는 16% 낮다 — 그런데 왜 dispersion이 필요?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R̄ = Σ|wᵢ|·|ωᵢ − ω_disp| / (ωᵢ·Σ|wⱼ|)  ← 추정 ω가 dispersion manifold에서 얼마나 이탈했는지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A1: R̄ = 0.51 ± 0.12  →  성분의 약 50%가 dispersion manifold에서 이탈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절대값 ~0.10 Hz off  →  1초 뒤 phase prediction이 de-cohere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시간 추적, 파고 예측, downstream 제어에 사용 불가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A1이 instantaneous nRMSE만 낮은 것 — 시간 외삽 능력 상실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A1의 16% 차이는 '물리적 유효성을 포기하고 얻은 nRMSE' (snapshot 적합도일 뿐)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A2 (no confidence): +14.5% nRMSE → cⱼ가 noise weighting으로 의미 있음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본 연구 self-reference. Dispersion: Holthuijsen 2007 §5.4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 분석 — Forecast 능력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864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(no dispersion) — 외삽 5초 후 비교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Full: nRMSE 0.219 → 5초 후 0.231 (4% 증가)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A1:   nRMSE 0.158 → 5초 후 0.476 (3× 폭발)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instantaneous는 좋지만 시간 외삽 직후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phase decoherence로 사용 불가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51663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dispersion drift R̄가 0.51이면 위험?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4864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한 component 예시 (BF4 5c 첫 component)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|k|=0.16 rad/m  →  ω_disp = 1.25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 추정 ω = 1.78 rad/s  →  Δω = 0.53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1초 후 phase 오차 ≈ 0.53 rad ≈ 30°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→ 거의 모든 wave에서 위치 어긋남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Robustness — Raydrop · Sparsity · Noise · Hyperparameter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Raydrop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paired episodes (Uniform vs Slope)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WaveSplat: 20/20 wins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Slope에서 WS −9.1%, ETKF −16.2%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raydrop 모두에서 WS가 안정적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Fresnel-vs-specular 어느 가정이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맞든 WaveSplat 유효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Sparsity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20~100% 실험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BF4~5: 20% (~10점)에서도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8% 성능 저하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예외: BF3 2c → N=2 해상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(관측 &lt; component 수)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Grid-free → aliasing 없음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희소관측에 강건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Noise 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 ∈ {0, 0.02, 0.05, 0.10} m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σ=0.10 (5× baseline)에서도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변화 ±13%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Adaptive N이 노이즈 흡수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가짜 component를 pruning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NEUBOAT 실측 noise (~0.05)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범위 내에서 안전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Hyperparameter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lr=10⁻², λ₁=10⁻³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τ_prune=0.10, τ_grow=0.05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5c 한 번의 sweep으로 결정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각 파라미터 ±2× 변경해도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±5%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100 runs 모두 동일 setting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재현성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1663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모든 robustness 축에서 일관 — 단일 hyperparameter setting으로 100 runs 재현 가능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Qualitative 비교 — GT vs WaveSplat vs ETKF vs GPR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8229600" cy="25603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paper/figures/fig8_qualitative.pdf — 4 column 시각 비교
(GT | WaveSplat | ETKF | GPR-1) 한 frame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읽는 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좌→우: GT (정답) → WaveSplat → ETKF → GPR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파면 형상 정확 — 위상·진폭 모두 GT와 가까움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보존되나 spatial structure가 incoherent (격자 보간 잡음)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(zero-predictor에 가까움 — VR=0.065 수치와 일관)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본 슬라이드는 paper Fig 8을 활용. 실 발표 시 demo_wavesplat.gif (animation) 같이 재생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Per-method 정성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852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파봉·파골 모두 GT의 80~90% 진폭 유지, 위상 거의 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보존되지만 spatial structure가 noisy — 여러 spurious component에 에너지 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— VR=0.065와 일관 (zero-predictor에 가까움), 격자/커널 limit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시각적 한 줄 결론: WaveSplat만 "진짜 wave field 같은" 결과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(1) — Spectral Accuracy (방향·파장 추정)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이게 새로운가 — ETKF/GPR로는 불가능한 능력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격자 위 elevation field만 추정 → 사후에 FFT 변환해야 spectrum이 나옴 (잡음 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GPR도 마찬가지 — 보간 결과를 FFT해야 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WaveSplat은 처음부터 (kᵢ, ωᵢ, φᵢ)로 파라미터화 → spectrum 자체가 직접 출력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검증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1460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5 components 이하 sea state에서: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Energy detection rate &gt; 93%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|k| (파장) error &lt; 0.5%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 error &lt; 0.2°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ω error &lt; 1% (dispersion 보장)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15+ components: directional crowding으로</a:t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   resolvability 한계 (limitations에서 다룸)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945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의미 — downstream 응용에 직접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FF: 정확한 (kᵢ, ωᵢ)로 preview 시점 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slope α_wave = −∂η/∂x − w/V 계산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 forecasting: dispersion 외삽으로 5~10 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앞 예측 (다음 슬라이드)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Encounter freq 추정: 선체 운동 dynamics 입력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시각 예측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8229600" cy="9601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paper/figures/fig_beamforming_2stage.png — beamforming peak detection 예시 (선택)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(2) — Sparse Robustness · Wave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Sparse Robustness — 격자 의존 baseline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10~50점 비교 (BF3 5c)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・10 pts: WS 0.191, LETKF 0.239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・20 pts: WS 0.171, LETKF 0.198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・50 pts: WS 0.155, LETKF 0.165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왜 격자가 약한가?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cell 안에 관측 0~1점 → bilinear 보간 ill-posed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Cell 사이의 spatial correlation이 사라짐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Aliasing: 관측 간격이 Nyquist 미만일 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WaveSplat이 강한 이유: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Plane wave 표현이 모든 관측을 동시에 적합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없이 임의 위치 평가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Wave Forecast — Dispersion 덕분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핵심 아이디어: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φᵢ(t+Δt) = φᵢ(t) + ωᵢ · Δt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↑ ω는 dispersion으로 정확 → φ 외삽 정확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검증 결과: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s 후 nRMSE 0.219 (즉시 추정과 거의 동등)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Skill Score &gt; 0 유지 — 시간 외삽이 zero보다 나음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2c 단순 swell: SS = +0.953 @ t+10s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ablation (no dispersion) 비교: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 nRMSE 16% 낮지만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1초 뒤 phase prediction de-cohere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Forecast 능력 = dispersion이 핵심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구체 결과 — Forecast skill score (paper Table)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1c   t+5s: SS = +0.96       t+10s: SS = +0.94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2c   t+5s: SS = +0.96       t+10s: SS = +0.95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5c   t+5s: SS = +0.41       t+10s: SS = +0.18  (multi-component → drift 누적)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5c   t+5s: SS = +0.36       t+10s: SS = +0.12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15c  t+5s: SS = −0.04       t+10s: SS = −0.21  (성분 수 한계)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852160"/>
            <a:ext cx="8229600" cy="41148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이 두 능력 (sparse-robustness + forecast)이 hydrofoil preview FF의 물리적 기반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강화 Baseline 비교 — Why &amp;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 비교를 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Reviewer 우려: "ETKF·GPR-1은 약한 baseline 아닌가? 강한 buffer를 더 추가해야 함."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→ 두 가지 강화 baseline을 추가 평가: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① LETKF (Gaspari-Cohn localization, r_loc=50m) — ETKF의 spatial localization 강화 변형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② GPR-disp (3-frame, dispersion-aware kernel) — GPR에 physics 부여 (시간 모델 도입)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697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방법론은 어떻게 다른가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175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Times New Roman"/>
              </a:rPr>
              <a:t>▪ ETKF → LETKF: 각 grid 점 update 시 local 관측만 사용 (Gaspari-Cohn taper)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spurious long-range correlation 억제 / 단점: r_loc ↓시 amplitude 과소 (VR ↓)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GPR-1 → GPR-disp: 커널 K = K_spatial × K_dispersion 조합으로 시간 phase 보정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physics-aware GPR로 "공정한" 비교 / 단점: 커널 계산 비용 ↑ (~36× 느림)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443484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ms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0.228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0.111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0.359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+0.142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118.3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577840" y="44348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47548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nRMSE 사실상 draw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LETKF SS &gt; WS (regime별 보정)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≤5 comp: WS 압도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≥15 comp: LETKF 우세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속도: WS 8.1× faster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N≤5 (단순 sea): WS 압도적 (2~8× nRMSE 격차, 10× 빠름). 실해상 70%+ 시간 = Hs&lt;1 m 이므로 이 영역이 실용적으로 가장 중요.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N≥15 (복잡 sea): LETKF 우세. Gaspari-Cohn localization이 directional crowding에서 강점. 속도: LETKF 8.1× 느림 but 정확도 보상.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complexity-aware method selection이 최선 — 단순 sea WaveSplat, 복잡 sea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LETKF Hunt-Kostelich-Szunyogh, Physica D 230 (2007); Gaspari &amp; Cohn (1999) localization.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응용 — Hydrofoil Wave-Preview Feedforward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hydrofoil 제어에 WaveSplat? — 발상의 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선박: 수면 위 비행 → foil 잠수 깊이 0.5~1.0 m → 파도가 AoA를 직접 변동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— 50~100 ms loop delay = 파도 주기의 5~10%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"에러를 본 뒤 수정"이 아니라 "에러를 미리 알고 보상" 필요 → preview feedforward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spectral model은 정확한 (kᵢ, ωᵢ, φᵢ)로 foil 전방 시점의 파면 elevation·기울기를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 active suspension의 해양 버전 — 도로 카메라 → 서스펜션 미리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제어기 설계 — 왜 이렇게?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84048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2DOF model (heave + pitch): roll은 별도 roll-foil로 처리, 종방향 ride에 집중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Tandem foil layout (전방 + 후방): collective δ_c (heave) + differential δ_d (pitch)로 분리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δ_f = δ_c − δ_d, δ_r = δ_c + δ_d (uniform/diff coupling)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Feedforward: x_preview = x_foil + V·Δt → 파면 기울기 α_wave = −∂η/∂x − w/V → δ_ff = −K_ff · α_wave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K_ff = 0.8: foil의 actual lift slope vs ideal slope 비 (model identification 결과)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IIR LP filter (α=0.05, fc≈0.8 Hz): 추정 노이즈 억제, 파도 주기 (~3-7 s) 대역 통과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feedback은 그대로 유지: FF 실패 시 fallback + 모델링 안 된 외란 (현류·바람) 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Faltinsen (2005) Hydrodynamics of High-Speed Marine Vehicles; Hrovat (1997) optimal preview suspension control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비유 — 자동차 active suspension의 해양 버전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자동차: 전방 카메라 → 노면 검지 → 서스펜션 미리 조절 → 충격 감소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하이드로포일: 전방 LiDAR → WaveSplat → preview 시점 wave 기울기 → foil 받음각 조정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차이: 도로보다 파도가 시간으로 변하므로 dispersion 외삽이 추가로 필요 (WaveSplat 기여)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응용 — Controller Flowchart (LiDAR → 제어 전체 경로)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 — 위쪽 파이프라인 (FF) + 아래쪽 (PD)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5196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윗줄 (FF): Falcon K1 → WaveSplat → Forward Predictor (preview x_pre) → IIR LP filter → K_ff gain → Foil Servo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아랫줄 (PD): Ship IMU (heave, pitch) → PD Controller → Foil Servo (FF와 합산)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Servo 출력: δ_f, δ_r ∈ [−15°, +15°] → foil 받음각 변경 → lift 변동 → ride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시간 척도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10 Hz → WaveSplat 13.4 ms → preview 100 ms ahead → 파도 주기 4-7 s 중 5%만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Closed-loop bandwidth ≈ 1 Hz (servo limit) → 파도 encounter freq (0.2-0.5 Hz)와 정합</a:t>
            </a:r>
          </a:p>
        </p:txBody>
      </p:sp>
      <p:pic>
        <p:nvPicPr>
          <p:cNvPr id="9" name="Picture 8" descr="hydrofoil_controller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68680"/>
            <a:ext cx="8778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(1) — Feedforward 효과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PD-only aRMS [m/s²]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GT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WS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Noisy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BF3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1.631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BF4 Head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2.162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+12.3%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+11.8%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+37.7%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Quarter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1.178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+17.6%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+17.7%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+17.0%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9260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05317"/>
                </a:solidFill>
                <a:latin typeface="Times New Roman"/>
              </a:rPr>
              <a:t>핵심 결과: WaveSplat FF → GT FF의 93~103% 성능 달성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20% nRMSE 추정으로도 GT 대비 거의 완전한 feedforward 효과 회복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sea에서 가장 큰 개선 (+37.7%) — 파면이 vessel과 평행 → preview 길이 짧아 추정 유리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Noisy FF (인위적 노이즈 주입)도 LP filter 덕분에 효과적 — 추정이 부정확해도 활용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Beam: ISO 2631 기준 'Slight discomfort' → 'Comfortable' 달성 (aRMS &lt; 0.315)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실용 의미: 추정 정확도가 느슨해도 FF는 동작 — 제어 성능의 nRMSE tolerance가 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6634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ISO 2631 승차감 기준 — 객관적 평가 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8348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ISO 2631-1: 인체 vibration exposure 기준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aRMS [m/s²] 기준 분류: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0.315  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0.315 ~ 0.63  Slight discomfort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0.50 ~ 1.00  Fairly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0.80 ~ 1.60 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&gt; 1.60  Very uncomfortable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46634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Encounter angle 별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98348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Head sea (μ=180°): 짧은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Foil이 빠르게 wave 통과 → preview 짧아도 충분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Beam sea (μ=90°): 긴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파면이 천천히 변화 → preview 길어야 효과적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Quarter (μ=135°): 중간 — 균형적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Following (μ=0°): 거의 정적 → FF 효과 적음 (생략)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(2) — Sensitivity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thesis/figures_hf/fig_nrmse_sensitivity.pdf —
nRMSE 0~50% 변화에 따른
FF 성능 (aRMS reduction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thesis/figures_hf/fig_preview_sweep.pdf —
Preview horizon 0~1 s 변화에 따른
FF 성능 (Head/Beam/Quarter)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nRMSE Tolerance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0~50% 전 구간에서 FF 유효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50% nRMSE에서도 FF 효과 존재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graceful degradation, 임계값 없음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LP filter가 고주파 추정 노이즈 억제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부정확한 추정도 유용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WaveSplat 20% nRMSE는 충분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749039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최적 Preview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Head sea: 최적 0.1 s (~1.1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sea: 최적 0.3 s (~3.4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물리적 의미: 파도-foil 상호작용 시간 척도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너무 긴 preview → 위상 불일치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너무 짧은 preview → reaction 부족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0.1~0.3 s면 충분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(3) — End-to-End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→ WaveSplat → Forward Predictor → FF → Foil Servo (전체 파이프라인)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WS/GT ratio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평가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BF3 2-comp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near-perfect (단순 swell)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excellent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BF4 5-comp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limited (direction error 전파)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17520"/>
            <a:ext cx="8229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단순 sea: WS E2E → GT의 92~96% 달성 (즉, WS 결과를 GT처럼 써도 무방)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5-comp: 37% — 다중 component 간 방향 분리 한계가 원인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WaveSplat의 방향 추정 오차(±5° 이상)가 그대로 제어 입력으로 전파됨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개선: multi-frame 방향 voting, vessel yaw 변화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핵심 발견: amplitude 정확도보다 direction 정확도가 FF 성능에 더 중요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(제어 input은 ∂η/∂x → 방향 미분이 amplitude보다 supersensitive)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846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BF4 한계의 원인 — Direction error 전파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FF 명령 = K_ff × α_wave   ←   α_wave = −∂η/∂x − w/V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∂η/∂x는 wave 방향 미분 → direction estimate에 supersensitive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Direction이 5° 어긋나면 ∂η/∂x 부호 바뀔 수 있음 → FF가 오히려 disturbance 증폭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 사례: 두 component가 ±20° 분리되어 있어 superposition 시 phase 어긋남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989320"/>
            <a:ext cx="8229600" cy="36576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개선 방향: (a) vessel yaw 변화 활용한 multi-frame direction voting  (b) IMU heading 기반 directional prior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20040" y="0"/>
            <a:ext cx="8193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1A1A2E"/>
                </a:solidFill>
                <a:latin typeface="Times New Roman"/>
              </a:rPr>
              <a:t>Hydrofoil 결과 (4a) — 단일점 선수 센서 비교: 결과 &amp; 메커니즘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86384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50">
                <a:solidFill>
                  <a:srgbClr val="C05317"/>
                </a:solidFill>
                <a:latin typeface="Times New Roman"/>
              </a:rPr>
              <a:t>Candela 선수 센서(SP-1pt / SP-temporal) vs WaveSplat — 5 wave realisations × 4 scenarios, 30 s each  |  단위: aRMS 개선율[%]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069848"/>
          <a:ext cx="90068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17320"/>
                <a:gridCol w="1417320"/>
                <a:gridCol w="1783080"/>
                <a:gridCol w="1783080"/>
                <a:gridCol w="68580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시나리오 (Hs / Tp / μ)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GT-FF ↑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WS-FF ↑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SP-1pt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SP-temporal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SP1/GT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333333"/>
                          </a:solidFill>
                          <a:latin typeface="Times New Roman"/>
                        </a:rPr>
                        <a:t>BF3 Head  Hs=0.88m  Tp=5s  μ=180°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+12.0%(±3.0)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+11.9%(±3.3)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−13.3%(±0.7)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−0.2%(±1.6)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−111%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333333"/>
                          </a:solidFill>
                          <a:latin typeface="Times New Roman"/>
                        </a:rPr>
                        <a:t>BF4 Head  Hs=1.88m  Tp=7.5s  μ=180°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+9.9%(±1.4)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+10.0%(±1.3)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+7.0%(±1.1)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≈0%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71%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333333"/>
                          </a:solidFill>
                          <a:latin typeface="Times New Roman"/>
                        </a:rPr>
                        <a:t>BF3 Beam  Hs=0.88m  Tp=5s  μ=90°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+38.4%(±11.0)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+33.0%(±11.3)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+21.4%(±31.5)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−35.0%(±11.8)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333333"/>
                          </a:solidFill>
                          <a:latin typeface="Times New Roman"/>
                        </a:rPr>
                        <a:t>BF3 Quarter  Hs=0.88m  Tp=5s  μ=135°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+15.2%(±7.2)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+15.2%(±7.3)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+2.5%(±9.2)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−1.9%(±3.3)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16%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182112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5317"/>
                </a:solidFill>
                <a:latin typeface="Times New Roman"/>
              </a:rPr>
              <a:t>① SP-1pt 악화 원인 — Per-foil 위상 오차 (Phase Mismatch)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456432"/>
            <a:ext cx="41605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b="0" sz="950">
                <a:solidFill>
                  <a:srgbClr val="333333"/>
                </a:solidFill>
                <a:latin typeface="Times New Roman"/>
              </a:rPr>
              <a:t>▸ 상황: CG 한 점의 wave slope/w를 전방 foil과 후방 foil에 동일하게 적용</a:t>
            </a:r>
          </a:p>
          <a:p>
            <a:pPr algn="l">
              <a:spcBef>
                <a:spcPts val="3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문제: 실제로 두 foil이 있는 위치는 wave phase가 서로 다름</a:t>
            </a:r>
          </a:p>
          <a:p>
            <a:pPr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BF3 Tp=5s → λ = gT²/(2π) ≈ 9.81×25/6.28 ≈ </a:t>
            </a:r>
            <a:r>
              <a:rPr b="1" sz="950">
                <a:solidFill>
                  <a:srgbClr val="1A1A2E"/>
                </a:solidFill>
                <a:latin typeface="Times New Roman"/>
              </a:rPr>
              <a:t>39 m</a:t>
            </a:r>
          </a:p>
          <a:p>
            <a:pPr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Front–rear 간격 = 4.5 m  →  위상 차 Δφ = 2π×4.5/39 ≈ </a:t>
            </a:r>
            <a:r>
              <a:rPr b="1" sz="950">
                <a:solidFill>
                  <a:srgbClr val="1A1A2E"/>
                </a:solidFill>
                <a:latin typeface="Times New Roman"/>
              </a:rPr>
              <a:t>41°</a:t>
            </a:r>
          </a:p>
          <a:p>
            <a:pPr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SP-1pt는 midpoint 신호 → 각 foil에서 ±21° 오차 </a:t>
            </a:r>
            <a:r>
              <a:rPr b="1" sz="950">
                <a:solidFill>
                  <a:srgbClr val="C02010"/>
                </a:solidFill>
                <a:latin typeface="Times New Roman"/>
              </a:rPr>
              <a:t>→ FF가 부분 역방향</a:t>
            </a:r>
          </a:p>
          <a:p>
            <a:pPr algn="l"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결과: BF3 head sea에서 5 seeds 전부 일관적으로 악화</a:t>
            </a:r>
          </a:p>
          <a:p>
            <a:pPr algn="l">
              <a:spcBef>
                <a:spcPts val="100"/>
              </a:spcBef>
            </a:pPr>
            <a:r>
              <a:rPr b="0" sz="900">
                <a:solidFill>
                  <a:srgbClr val="6B7280"/>
                </a:solidFill>
                <a:latin typeface="Times New Roman"/>
              </a:rPr>
              <a:t>   (std ±0.7% — 측정 노이즈가 아니라 구조적 결함)</a:t>
            </a:r>
          </a:p>
          <a:p>
            <a:pPr algn="l"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BF4 Tp=7.5s → λ ≈ 88m → Δφ ≈ 18° → 오차 감소</a:t>
            </a:r>
          </a:p>
          <a:p>
            <a:pPr algn="l">
              <a:spcBef>
                <a:spcPts val="100"/>
              </a:spcBef>
            </a:pPr>
            <a:r>
              <a:rPr b="0" sz="900">
                <a:solidFill>
                  <a:srgbClr val="6B7280"/>
                </a:solidFill>
                <a:latin typeface="Times New Roman"/>
              </a:rPr>
              <a:t>   → SP-1pt가 +7.0% 회수 (GT의 71%) — 장주기에서는 유효</a:t>
            </a:r>
          </a:p>
          <a:p>
            <a:pPr algn="l">
              <a:spcBef>
                <a:spcPts val="500"/>
              </a:spcBef>
            </a:pPr>
            <a:r>
              <a:rPr b="1" sz="950">
                <a:solidFill>
                  <a:srgbClr val="C05317"/>
                </a:solidFill>
                <a:latin typeface="Times New Roman"/>
              </a:rPr>
              <a:t>⚠ 이 한계는 sensor quality와 무관 — 노이즈를 0으로 해도 동일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3182112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5317"/>
                </a:solidFill>
                <a:latin typeface="Times New Roman"/>
              </a:rPr>
              <a:t>② SP-temporal 실패 원인 — Head-sea 가정의 붕괴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456432"/>
            <a:ext cx="4206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b="0" sz="950">
                <a:solidFill>
                  <a:srgbClr val="333333"/>
                </a:solidFill>
                <a:latin typeface="Times New Roman"/>
              </a:rPr>
              <a:t>▸ SP-temporal의 slope 추정식 (head-sea 가정):</a:t>
            </a:r>
          </a:p>
          <a:p>
            <a:pPr>
              <a:spcBef>
                <a:spcPts val="200"/>
              </a:spcBef>
            </a:pPr>
            <a:r>
              <a:rPr b="1" sz="1000">
                <a:solidFill>
                  <a:srgbClr val="1A1A2E"/>
                </a:solidFill>
                <a:latin typeface="Times New Roman"/>
              </a:rPr>
              <a:t>   ∂η/∂x ≈ −(1/c_p) · ∂η/∂t</a:t>
            </a:r>
            <a:r>
              <a:rPr b="0" sz="900">
                <a:solidFill>
                  <a:srgbClr val="6B7280"/>
                </a:solidFill>
                <a:latin typeface="Times New Roman"/>
              </a:rPr>
              <a:t>   (c_p = peak 위상속도)</a:t>
            </a:r>
          </a:p>
          <a:p>
            <a:pPr algn="l">
              <a:spcBef>
                <a:spcPts val="5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이 등식이 성립하는 조건: wave가 정확히 vessel 정면으로 진행</a:t>
            </a:r>
          </a:p>
          <a:p>
            <a:pPr>
              <a:spcBef>
                <a:spcPts val="5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Beam sea (μ=90°): </a:t>
            </a:r>
            <a:r>
              <a:rPr b="1" sz="950">
                <a:solidFill>
                  <a:srgbClr val="1A1A2E"/>
                </a:solidFill>
                <a:latin typeface="Times New Roman"/>
              </a:rPr>
              <a:t>실제 ∂η/∂x ≈ 0</a:t>
            </a:r>
            <a:r>
              <a:rPr b="0" sz="950">
                <a:solidFill>
                  <a:srgbClr val="6B7280"/>
                </a:solidFill>
                <a:latin typeface="Times New Roman"/>
              </a:rPr>
              <a:t> (wave가 y방향 전파)</a:t>
            </a:r>
          </a:p>
          <a:p>
            <a:pPr algn="l">
              <a:spcBef>
                <a:spcPts val="1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그런데 ∂η/∂t ≠ 0 이므로 공식이 엉뚱한 값 주입</a:t>
            </a:r>
          </a:p>
          <a:p>
            <a:pPr algn="l">
              <a:spcBef>
                <a:spcPts val="100"/>
              </a:spcBef>
            </a:pPr>
            <a:r>
              <a:rPr b="0" sz="900">
                <a:solidFill>
                  <a:srgbClr val="C02010"/>
                </a:solidFill>
                <a:latin typeface="Times New Roman"/>
              </a:rPr>
              <a:t>   → "없는 slope"를 만들어 FF가 없는 disturbance를 보상하려 함</a:t>
            </a:r>
          </a:p>
          <a:p>
            <a:pPr algn="l">
              <a:spcBef>
                <a:spcPts val="100"/>
              </a:spcBef>
            </a:pPr>
            <a:r>
              <a:rPr b="1" sz="950">
                <a:solidFill>
                  <a:srgbClr val="C02010"/>
                </a:solidFill>
                <a:latin typeface="Times New Roman"/>
              </a:rPr>
              <a:t>   → 결과: beam sea aRMS −35.0% 악화 (5 seeds 일관)</a:t>
            </a:r>
          </a:p>
          <a:p>
            <a:pPr algn="l">
              <a:spcBef>
                <a:spcPts val="5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Quarter sea (μ=135°): 부분적 부호 오류 → −1.9% (경미)</a:t>
            </a:r>
          </a:p>
          <a:p>
            <a:pPr algn="l">
              <a:spcBef>
                <a:spcPts val="3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Head sea에서는 등식 성립 → mean −0.2% (사실상 neutral)</a:t>
            </a:r>
          </a:p>
          <a:p>
            <a:pPr algn="l">
              <a:spcBef>
                <a:spcPts val="500"/>
              </a:spcBef>
            </a:pPr>
            <a:r>
              <a:rPr b="1" sz="950">
                <a:solidFill>
                  <a:srgbClr val="C05317"/>
                </a:solidFill>
                <a:latin typeface="Times New Roman"/>
              </a:rPr>
              <a:t>⚠ 개선하려면 wave 방향을 알아야 함 → 바로 WaveSplat이 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473952"/>
            <a:ext cx="8503920" cy="347472"/>
          </a:xfrm>
          <a:prstGeom prst="rect">
            <a:avLst/>
          </a:prstGeom>
          <a:solidFill>
            <a:srgbClr val="C05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950">
                <a:solidFill>
                  <a:srgbClr val="FFFFFF"/>
                </a:solidFill>
                <a:latin typeface="Times New Roman"/>
              </a:rPr>
              <a:t>결론: 단일 센서는 head sea + 장주기(Tp&gt;7s)에서만 유효  |  단주기 head sea는 오히려 악화  |  beam/oblique는 방향 정보 없이 대응 불가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20040" y="0"/>
            <a:ext cx="8193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1A1A2E"/>
                </a:solidFill>
                <a:latin typeface="Times New Roman"/>
              </a:rPr>
              <a:t>Hydrofoil 결과 (4b) — 단일점 센서 vs WaveSplat: 분산 비교 &amp; 선택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86384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50">
                <a:solidFill>
                  <a:srgbClr val="C05317"/>
                </a:solidFill>
                <a:latin typeface="Times New Roman"/>
              </a:rPr>
              <a:t>같은 조건에서 WaveSplat은 왜 안정적인가 — directional spread의 영향과 per-foil 평가의 차이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5317"/>
                </a:solidFill>
                <a:latin typeface="Times New Roman"/>
              </a:rPr>
              <a:t>① BF3 Beam sea — Seed별 분산: SP-1pt vs WaveSplat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353312"/>
          <a:ext cx="4160520" cy="2336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1188720"/>
                <a:gridCol w="1188720"/>
                <a:gridCol w="1188720"/>
              </a:tblGrid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Seed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GT-FF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WS-FF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SP-1pt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+37.7%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+53.6%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+47.5%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+54.4%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+43.7%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+28.0%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+18.8%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−26.6%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+24.0%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+20.8%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−5.1%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avg±std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+38.4%
(±11.0)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+33.0%
(±11.3)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+21.4%
(±31.5)</a:t>
                      </a:r>
                    </a:p>
                  </a:txBody>
                  <a:tcPr>
                    <a:solidFill>
                      <a:srgbClr val="FFEEB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3730752"/>
            <a:ext cx="4160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b="1" sz="1000">
                <a:solidFill>
                  <a:srgbClr val="1A1A2E"/>
                </a:solidFill>
                <a:latin typeface="Times New Roman"/>
              </a:rPr>
              <a:t>▸ 왜 seed마다 다른가?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방향 spread (σ_θ=20°)로 인해 μ=90° 스펙트럼에도 kx≠0 성분 존재</a:t>
            </a:r>
          </a:p>
          <a:p>
            <a:pPr algn="l">
              <a:spcBef>
                <a:spcPts val="1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→ 두 foil 위치에서 이 성분들의 위상 합성이 seed마다 달라짐</a:t>
            </a:r>
          </a:p>
          <a:p>
            <a:pPr algn="l">
              <a:spcBef>
                <a:spcPts val="100"/>
              </a:spcBef>
            </a:pPr>
            <a:r>
              <a:rPr b="0" sz="950">
                <a:solidFill>
                  <a:srgbClr val="C02010"/>
                </a:solidFill>
                <a:latin typeface="Times New Roman"/>
              </a:rPr>
              <a:t>   → "운 좋은 seed": +54% / "운 나쁜 seed": −27%</a:t>
            </a:r>
          </a:p>
          <a:p>
            <a:pPr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SP-1pt σ/μ ≈ 31.5/21.4 ≈ </a:t>
            </a:r>
            <a:r>
              <a:rPr b="1" sz="950">
                <a:solidFill>
                  <a:srgbClr val="C02010"/>
                </a:solidFill>
                <a:latin typeface="Times New Roman"/>
              </a:rPr>
              <a:t>1.47 (예측 불가)</a:t>
            </a:r>
            <a:r>
              <a:rPr b="0" sz="950">
                <a:solidFill>
                  <a:srgbClr val="333333"/>
                </a:solidFill>
                <a:latin typeface="Times New Roman"/>
              </a:rPr>
              <a:t>  vs  WS σ/μ ≈ 0.34</a:t>
            </a:r>
          </a:p>
          <a:p>
            <a:pPr algn="l">
              <a:spcBef>
                <a:spcPts val="500"/>
              </a:spcBef>
            </a:pPr>
            <a:r>
              <a:rPr b="1" sz="950">
                <a:solidFill>
                  <a:srgbClr val="1A1A2E"/>
                </a:solidFill>
                <a:latin typeface="Times New Roman"/>
              </a:rPr>
              <a:t>▸ WaveSplat은 각 foil × 각 component를 독립 평가 → phase 충돌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078992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5317"/>
                </a:solidFill>
                <a:latin typeface="Times New Roman"/>
              </a:rPr>
              <a:t>② 운항 조건별 센서 선택 가이드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617720" y="1353312"/>
          <a:ext cx="4206240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960120"/>
                <a:gridCol w="914400"/>
              </a:tblGrid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조건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SP-1pt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SP-temporal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Head sea
Tp &gt; 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71%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≈0 (neutral)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~GT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Head sea
Tp ≤ 5s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✗ −13%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≈0 (neutral)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+12%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Beam sea
(directional spread)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△ 불안정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✗ −35%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+33%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Quarter sea
μ=135°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△ +2.5%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△ −1.9%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+15%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혼합 항로
(실제 운항)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✗ 위험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✗ 위험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필수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617720" y="3730752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5317"/>
                </a:solidFill>
                <a:latin typeface="Times New Roman"/>
              </a:rPr>
              <a:t>③ WaveSplat이 필요한 세 가지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4005072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50">
                <a:solidFill>
                  <a:srgbClr val="1A1A2E"/>
                </a:solidFill>
                <a:latin typeface="Times New Roman"/>
              </a:rPr>
              <a:t>▸ Per-foil 독립 평가: </a:t>
            </a:r>
            <a:r>
              <a:rPr b="0" sz="900">
                <a:solidFill>
                  <a:srgbClr val="333333"/>
                </a:solidFill>
                <a:latin typeface="Times New Roman"/>
              </a:rPr>
              <a:t>Front/rear foil의 preview 위치에서 wave slope와 w를 각각 계산. 41° 위상 오차를 원천 차단. SP-1pt는 구조상 불가능.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A1A2E"/>
                </a:solidFill>
                <a:latin typeface="Times New Roman"/>
              </a:rPr>
              <a:t>▸ 방향 독립성: </a:t>
            </a:r>
            <a:r>
              <a:rPr b="0" sz="900">
                <a:solidFill>
                  <a:srgbClr val="333333"/>
                </a:solidFill>
                <a:latin typeface="Times New Roman"/>
              </a:rPr>
              <a:t>directional spread 있는 실해상에서도 각 component (kx, ky, ω, φ)를 독립 추정 → μ=0~360° 전 방향 stable. SP-1pt σ/μ=1.5 → WS σ/μ=0.34.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A1A2E"/>
                </a:solidFill>
                <a:latin typeface="Times New Roman"/>
              </a:rPr>
              <a:t>▸ Slope 추정 정확도: </a:t>
            </a:r>
            <a:r>
              <a:rPr b="0" sz="900">
                <a:solidFill>
                  <a:srgbClr val="333333"/>
                </a:solidFill>
                <a:latin typeface="Times New Roman"/>
              </a:rPr>
              <a:t>∂η/∂x = Σ(−Aᵢ·kxᵢ·sin(phase)) — 해석적 계산. SP-temporal의 head-sea 가정 없음 → beam/oblique에서도 정확.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6400800"/>
            <a:ext cx="8503920" cy="411480"/>
          </a:xfrm>
          <a:prstGeom prst="rect">
            <a:avLst/>
          </a:prstGeom>
          <a:solidFill>
            <a:srgbClr val="C05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400800"/>
            <a:ext cx="8503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FFFFFF"/>
                </a:solidFill>
                <a:latin typeface="Times New Roman"/>
              </a:rPr>
              <a:t>SP 유효 영역: Head sea + Tp&gt;7s (1가지 조건만)  |  WaveSplat: 혼합 항로·단주기·beam 모두 robust  |  실 상용 운항: LiDAR + WaveSplat 필수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한계와 지금까지의 연구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한계 (정직한 보고)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 추정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VR=0.66 → 진폭 ~34% 과소추정 (Adam pruning 부작용)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30+ component crowding 시 방향 분리 어려움 (k-space에서 인접 peak)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multi-frame 방향 voting / vessel yaw 변화 활용으로 개선 가능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Adam momentum의 부호 진동 → 진폭 감쇠 잔존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N_true ≥ 30 → 성분 수 표현력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Hydrofoil 응용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 E2E → 37% (direction error 전파)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2DOF (heave+pitch) — roll은 별도 roll foil 담당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foil model (ventilation 간소화)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공통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시뮬레이션 전용 → 실측 검증 필요 (수조 + 실선)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파도 모델 → Stokes-2+ 미반영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해류·바람 변화에 따른 k 천이 미추정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지금까지의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[기본 알고리즘]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❶ Grid-free spectral 파면 추정 (3DGS의 해양파 버전)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❷ Dispersion hard constraint (5N→4N)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❸ Adaptive N (pruning + growth + safety rollback)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❹ Geometry-aware confidence weighting (cos·1/d)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❺ Pre-specified 5-metric panel (cherry-pick 방지)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❻ 24-config ETKF sweep (fair tuned baseline)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❼ Spectral + Sparse + Forecast 3가지 고유 능력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[응용 — Hydrofoil ride control]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❽ Dual-actuator wave-preview FF (collective + diff)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❾ nRMSE tolerance + preview horizon 설계 지침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❿ E2E LiDAR → 추정 → 제어 파이프라인 실증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(BF3에서 GT 대비 92~96% 달성)</a:t>
            </a:r>
          </a:p>
          <a:p>
            <a:pPr>
              <a:spcBef>
                <a:spcPts val="300"/>
              </a:spcBef>
            </a:pPr>
            <a:r>
              <a:rPr b="1" sz="1000">
                <a:solidFill>
                  <a:srgbClr val="C05317"/>
                </a:solidFill>
                <a:latin typeface="Times New Roman"/>
              </a:rPr>
              <a:t>⓫ 단일점 선수 센서 비교 (5-seed multi-scenario) —</a:t>
            </a:r>
            <a:r>
              <a:rPr b="0" sz="950">
                <a:solidFill>
                  <a:srgbClr val="333333"/>
                </a:solidFill>
                <a:latin typeface="Times New Roman"/>
              </a:rPr>
              <a:t> SP-1pt BF3 head sea −13.3%(구조적), beam sea σ/μ=1.5(불안정), SP-temporal −35%(가정 붕괴)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5989320"/>
            <a:ext cx="8229600" cy="50292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000">
                <a:solidFill>
                  <a:srgbClr val="FFFFFF"/>
                </a:solidFill>
                <a:latin typeface="Times New Roman"/>
              </a:rPr>
              <a:t>WaveSplat: nRMSE 30.1%↓, ~10× faster  |  Hydrofoil: aRMS 11~41%↓, BF3 E2E 92~96%  |  SP-1pt head sea −13.3% (구조적 한계 실증)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74641</TotalTime>
  <Words>403</Words>
  <Application>Microsoft Office PowerPoint</Application>
  <PresentationFormat>화면 슬라이드 쇼(4:3)</PresentationFormat>
  <Paragraphs>74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굴림</vt:lpstr>
      <vt:lpstr>Arial</vt:lpstr>
      <vt:lpstr>Arial Black</vt:lpstr>
      <vt:lpstr>Times New Roman</vt:lpstr>
      <vt:lpstr>Wingdings</vt:lpstr>
      <vt:lpstr>디자인 사용자 지정</vt:lpstr>
      <vt:lpstr>논문 주제 선정을 위한 Study  (Tentative) A study of integrated optimization method for Azipod electric propulsion ships   </vt:lpstr>
      <vt:lpstr>Contents</vt:lpstr>
      <vt:lpstr>Contents</vt:lpstr>
      <vt:lpstr>Principle to select a topic for research</vt:lpstr>
      <vt:lpstr>Contents</vt:lpstr>
      <vt:lpstr>Environmental regulations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4613</cp:revision>
  <cp:lastPrinted>2021-11-03T00:28:46Z</cp:lastPrinted>
  <dcterms:created xsi:type="dcterms:W3CDTF">2007-03-29T05:53:49Z</dcterms:created>
  <dcterms:modified xsi:type="dcterms:W3CDTF">2026-05-02T18:12:55Z</dcterms:modified>
</cp:coreProperties>
</file>