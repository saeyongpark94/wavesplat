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서울대학교 조선해양공학과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component (plane wave)로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Pre-specified 6-metric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Cartesian 81×81 k-grid (Δk≈0.10 rad/m)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(0.15 rad/m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시뮬레이션 데이터의 물리적 신뢰성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WaveSim: Why We Can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파도 생성: JONSWAP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JONSWAP 스펙트럼 → BF2~BF5 (Hs 0.3~2.0m)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Gerstner wave: 2차 비선형 정확해 (trochoid)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분산관계: ω = √(g|k|tanh(|k|d)),  오차 &lt; 10⁻⁶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단일 성분 해석해 대비 RMSE &lt; 10⁻¹⁰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LiDAR 모델: Seyond Falcon K1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1550 nm, 152 ch, 120°×25° FOV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Ray-surface: Möller-Trumbore → ~50점/frame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Fresnel 반사 (n=1.321): R(0°)≈2%, R(89°)&gt;80%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Noise: σ_range=0.02m, σ_angle=0.05°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2가지 Raydrop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Uniform (diffuse): Fresnel × cos(θ) / d²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 (specular): retroreflection 조건 기반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303520" cy="182880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t>검증 체인 (39 unit tests)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분산관계 deep/shallow 해석해 일치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Gerstner RMSE &lt; 10⁻¹⁰ m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Fresnel R(0°) = ((n-1)/(n+1))² 정확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Q-constraint 위반 없음 (BF2~BF5 전체)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Raydrop 확률 ∈ [0,1], 물리적 일관성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Pre-specified 6-metric evaluation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nRMSE ↓  |  Variance Ratio (VR) → 1  |  Pearson ρ ↑  |  Skill Score (SS) ↑  |  Directional R² ↑  |  Hs error ↓</a:t>
            </a:r>
            <a:br/>
            <a:br/>
            <a:r>
              <a:t>핵심: SS = 1 − MSE(ẑ)/MSE(0)  →  양수면 zero-predictor(ẑ=0)보다 나은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핵심 결과: 6-Metric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  <a:gridCol w="1476108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Hs err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 R²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−0.253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+0.065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0.780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+0.028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✅ Skill Score: WaveSplat만 양수 (+0.034) — zero-predictor보다 나은 유일한 방법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GPR은 거의 zero predictor: VR=0.065 → 진폭의 6.5%만 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ETKF는 variance-correct but shape-wrong: VR=0.898 but ρ=0.109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⚡ WaveSplat nRMSE 30.1% lower  &amp;  ~10× faster (13.4 vs 132.6 ms)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WaveSplat 한계도 노출: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VR=0.66 → 진폭 ~34% 과소추정 (pruning의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Dir R²=−0.25 → 방향 성분은 chance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추가 기여: 3가지 고유 능력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Spectral Accuracy · Sparse Robustness ·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Spectral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5comp 이하: energy det &gt;93%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|k| error &lt; 0.5%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direction error &lt; 0.2 deg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ETKF/GPR에 없는 고유 능력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(grid-free spectral → 주파수 직접 추출)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Sparse Robustness (WS vs LETKF)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10~50점 비교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10pts: WS 0.191 vs LETKF 0.239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희소 관측에서 더 강건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Grid-free → aliasing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Wave Forecast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10초 후 nRMSE 0.219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Skill Score &gt; 0 유지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2c: SS = +0.953 @t+10s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Dispersion constraint 덕분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(A1 없으면 예측 발산)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572000"/>
            <a:ext cx="103327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CA02C"/>
                </a:solidFill>
              </a:defRPr>
            </a:pPr>
            <a:r>
              <a:t>이 3가지 능력은 WaveSplat만의 고유한 장점 (ETKF/GPR 불가능)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Spectral accuracy: 파면 스펙트럼을 직접 파라미터화하므로 가능</a:t>
            </a:r>
            <a:br/>
            <a:r>
              <a:t>Sparse robustness: grid-free → 관측 밀도 무관</a:t>
            </a:r>
            <a:br/>
            <a:r>
              <a:t>Forecast: dispersion constraint가 시간적 일관성 보장 → feedforward 제어의 물리적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논문 2: Hydrofoil Feedforward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Wave-Preview Control for Hydrofoil Vessels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왜 하이드로포일 제어에 WaveSplat?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Hydrofoil: 수면 위 비행 → 파도 교란에 극도로 민감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Foil 잠수 깊이 0.5~1.0m → AoA 직접 변동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PD feedback만으로는 encounter freq 대응 한계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(50~100ms loop delay = 파도 주기의 5~10%)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아이디어: WaveSplat의 spectral model로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foil 전방 파도를 미리 예측 → feedforward 보상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자동차 preview suspension의 해양 버전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제어 구조: PD + Wave-Preview 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2DOF 모델: heave + pitch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선박: 1700kg, 22kts, tandem foil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NACA 63-series foil sections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PD feedback: collective-differential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 = δ_c - δ_d,  δ_r = δ_c + δ_d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Feedforward: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x_preview = x_foil + V · Δt_prev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α_wave = -∂η/∂x - w/V  (at preview pt)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δ_ff = -K_ff · α_wave  (K_ff=0.8)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IIR LP filter (α=0.05, fc≈0.8Hz)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→ 추정 노이즈 억제, 파도 신호 통과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(1): Feedforward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PD+GT_FF vs PD+WS_FF vs PD+Noisy_FF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PD-only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aRMS [m/s²]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GT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Noisy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1.631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+11.7%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Head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2.162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+12.3%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+11.8%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+40.7%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+37.7%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+27.5%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Quarter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1.178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+17.6%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+17.7%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A02C"/>
                </a:solidFill>
                <a:latin typeface="Calibri"/>
              </a:defRPr>
            </a:pPr>
            <a:r>
              <a:t>WaveSplat FF → GT FF의 93~103% 성능 달성!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WS 20% nRMSE로도 GT 대비 93~103% feedforward 효과 회복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sea에서 가장 큰 개선 (+37.7%) — 파면이 평행하여 추정 유리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Noisy FF (인위적 노이즈 주입)도 LP filter 덕분에 효과적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Beam: ISO 2631 'Slight discomfort' → 'Comfortable' 달성 (aRMS &lt; 0.315)</a:t>
            </a:r>
          </a:p>
        </p:txBody>
      </p:sp>
      <p:pic>
        <p:nvPicPr>
          <p:cNvPr id="9" name="Picture 8" descr="fig_phase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4389120"/>
            <a:ext cx="301752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17/23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(2):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nRMSE Tolerance &amp; Preview 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추정 오차 허용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nRMSE 0~50% 전 구간에서 FF 유효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50% nRMSE에서도 FF 효과 존재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threshold 없음 (graceful degradation)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LP filter가 고주파 추정 노이즈 억제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부정확한 추정도 유용하게 활용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실용적 의미: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WaveSplat의 20% nRMSE는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더 정확할 필요 없이 제어에 활용 가능</a:t>
            </a:r>
          </a:p>
        </p:txBody>
      </p:sp>
      <p:pic>
        <p:nvPicPr>
          <p:cNvPr id="8" name="Picture 7" descr="fig_nrms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502920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최적 Preview Horizon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Head sea: 최적 0.1s (~1.1m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sea: 최적 0.3s (~3.4m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물리적 의미: 파도-foil 상호작용 시간 스케일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너무 긴 preview → 위상 불일치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너무 짧은 preview → reaction 부족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Encounter freq에 따라 최적점 변화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실용: 0.1~0.3s면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(cruise speed에서 1~3m 전방)</a:t>
            </a:r>
          </a:p>
        </p:txBody>
      </p:sp>
      <p:pic>
        <p:nvPicPr>
          <p:cNvPr id="11" name="Picture 10" descr="fig_preview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572000"/>
            <a:ext cx="5029200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18/23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(3): End-to-End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LiDAR → WaveSplat → Feedforward → Ride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End-to-End Pipeline 결과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WS/GT ratio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평가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2-comp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near-perfect (simple sea)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excellent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5-comp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limited (direction error)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BF3: WaveSplat E2E → GT의 92~96% 달성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BF4: 37% — directional misestimation 영향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Dir R² = -0.25 문제가 제어에 전파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발견: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amplitude 정확도보다 direction 정확도가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feedforward 성능에 더 중요</a:t>
            </a:r>
          </a:p>
        </p:txBody>
      </p:sp>
      <p:pic>
        <p:nvPicPr>
          <p:cNvPr id="9" name="Picture 8" descr="fig_e2e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19/23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시뮬레이션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PD+Feedforward — BF3 Head Sea Animation</a:t>
            </a:r>
          </a:p>
        </p:txBody>
      </p:sp>
      <p:pic>
        <p:nvPicPr>
          <p:cNvPr id="6" name="Picture 5" descr="_anim_firs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※ 실제 발표 시 GIF 파일(docs/hydrofoil_wave_animation.gif)을 삽입하여 재생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20/23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WaveSplat 추정 한계: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VR = 0.66 → 진폭 34% 과소추정 (pruning 대가)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Dir R² = −0.25 → 방향 추정이 가장 큰 약점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  → 개선: multi-frame 방향 voting / 2D k-space 정규화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진폭 감쇠 (Adam momentum 부호 진동)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Nₜᵣᵤₑ ≥ 30 이상 복잡 해상 → 성분 수 한계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Hydrofoil 제어 한계: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BF4 E2E → 37% (direction error 전파)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2DOF (heave+pitch): roll은 별도 roll foil 담당 구조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선형 foil model (ventilation 간소화)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공통 한계: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시뮬레이션 전용 → 실측 검증 필요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선형 파도 모델 → Stokes-2+ 미반영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해류/바람 변화에 따른 k 천이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전체 Contributions (논문 1+2)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❶ Grid-free spectral 파면 추정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❷ Dispersion hard constraint (5N→4N)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❸ Adaptive N (pruning + growth)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❹ Fresnel confidence weighting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❺ Pre-specified 6-metric panel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❻ 24-config ETKF sweep (fair baseline)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❼ Spectral accuracy + Sparse robustness + Forecast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[논문2] ❽ Dual-actuator wave-preview FF architecture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[논문2] ❾ nRMSE tolerance + preview horizon 설계 지침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[논문2] ❿ E2E LiDAR→추정→제어 파이프라인 실증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WaveSplat: nRMSE 30.1%↓, ~10× faster, SS only+  |  Hydrofoil: aRMS 11~41%↓, BF3 E2E 92~96%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21/23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학위논문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선박 탑재 LiDAR 기반 실시간 파랑장 추정과 그 제어 응용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학위논문 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Ch.1 서론: 연구 배경, 목적, 범위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Ch.2 문헌 조사: 파랑 추정 + 제어 선행연구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Ch.3 WaveSplat (논문 1)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시뮬레이션, 알고리즘, 실험, 분석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+ 3 추가 기여 (spectral/sparse/forecast)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Ch.4 Hydrofoil FF Control (논문 2)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동역학 모델, 제어 설계, sensitivity, E2E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Ch.5 결론 및 향후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부록: 파라미터 표, 추가 그래프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현재 진행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논문 1 (WaveSplat)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코드/실험 완료 (57 tests pass)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논문 작성 완료 (Ocean Eng. format)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적대적 페르소나 10라운드 검토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공동저자 sign-off → 투고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논문 2 (Hydrofoil)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시뮬레이션 완료 (Phase 1~3)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작성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공동저자 검토 → 투고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학위논문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완성 (203K lines, PDF 생성)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지도교수 검토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22/23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향후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단기 계획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논문 1 투고 (Ocean Engineering)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논문 2 투고 (Ocean Engineering / JSR)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수조 실험 검증 (SNU 조파수조, 2026 하반기)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규칙파/불규칙파 3~5 조건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용량식 wave gauge GT + Seyond Falcon K1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Sim-to-Real gap 정량화 (raydrop, noise)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확장 연구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MPC 기반 6-DOF 통합 제어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preview information의 최적 활용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Stokes-2 nonlinear wave model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급경사파, 쇄파 환경 대응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동시 추정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실선 탑재 → 자율운항 통합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754880"/>
            <a:ext cx="9418320" cy="13716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007ACC"/>
                </a:solidFill>
              </a:defRPr>
            </a:pPr>
            <a:r>
              <a:t>박사학위 논문 주제</a:t>
            </a:r>
          </a:p>
          <a:p>
            <a:pPr algn="ctr">
              <a:defRPr sz="2200" b="1">
                <a:solidFill>
                  <a:srgbClr val="FFFFFF"/>
                </a:solidFill>
              </a:defRPr>
            </a:pPr>
            <a:r>
              <a:t>선박 탑재 LiDAR 기반 실시간 파랑장 추정과 그 제어 응용</a:t>
            </a:r>
          </a:p>
          <a:p>
            <a:br/>
            <a:pPr algn="ctr">
              <a:defRPr sz="1800">
                <a:solidFill>
                  <a:srgbClr val="AACCEE"/>
                </a:solidFill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23/23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