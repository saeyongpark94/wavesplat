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85" r:id="rId38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6" r:id="rId39"/>
    <p:sldId id="283" r:id="rId36"/>
    <p:sldId id="284" r:id="rId37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6.xml"/><Relationship Id="rId39" Type="http://schemas.openxmlformats.org/officeDocument/2006/relationships/slide" Target="slides/slide3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용어 정리 — 본 발표를 따라가기 위한 핵심 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데이터 /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Beaufort scale (BF):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풍속 기반 해상 강도. BF2(Hs≈0.3 m) ~ BF5(Hs≈2.0 m)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Hs (significant wave height):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파고 분포의 4σ — "체감 파고"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Tp (peak period):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spectrum이 가장 큰 주파수의 주기 (s)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JONSWAP / Pierson-Moskowitz: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해양 spectrum 모델 (북해 관측 기반)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Dispersion relation: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파장↔주기 물리 법칙 ω=√(g|k|·tanh(|k|·d))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encounter frequency: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움직이는 선박이 만나는 파의 겉보기 주파수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추정 / 평가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ETKF (Ensemble Transform Kalman Filter):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격자 위에서 ensemble로 상태 추정 (NWP 기법)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GPR (Gaussian Process Regression):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커널 기반 비모수 회귀 — 단순 공간 보간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nRMSE = RMSE / Hs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Hs로 정규화한 오차 — 5% 이하면 우수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VR (Variance Ratio) = Var(ẑ)/Var(z)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진폭 보존도. 1=완벽, 0=평탄(under-fit)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Pearson ρ: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shape 일치도 (진폭과 무관)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SS (Skill Score) = 1 − MSE(ẑ)/MSE(0)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양수 = "0 예측보다 나음"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RMSE_unobs: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관측에서 ≥10 m 떨어진 영역만의 RMSE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Wilcoxon signed-rank test: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짝지은 차이의 부호 분포 검정 (정규성 X)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Cohen's d: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effect size — 0.8 이상이면 large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모든 항목은 본 발표 후속 슬라이드에서 다시 등장합니다 — 모르는 단어 나오면 이 슬라이드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Dispersion 제약: 추정된 파동을 "실제 중력파 dispersion 위에 있도록" 강제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ω를 자유로 두면 nRMSE만 ↓, 1초 뒤 phase 발산 (A1 ablation 확인)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cⱼ = cos(θ)·1/(d/d_ref)는 단순 기하 가중치 — 정확한 Fresnel R(θ)가 아님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본 항목 명명을 'Fresnel-aware' → 'geometry-aware'로 정정 (paper)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λ₁ sparsity: dominant component만 살리도록 spectral 표현 압축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RMSE(unobs)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 분석 — Forecast 능력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(no dispersion) — 외삽 5초 후 비교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Full: nRMSE 0.219 → 5초 후 0.231 (4% 증가)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A1:   nRMSE 0.158 → 5초 후 0.476 (3× 폭발)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instantaneous는 좋지만 시간 외삽 직후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phase decoherence로 사용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5166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dispersion drift R̄가 0.51이면 위험?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4864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한 component 예시 (BF4 5c 첫 component)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|k|=0.16 rad/m  →  ω_disp = 1.25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 추정 ω = 1.78 rad/s  →  Δω = 0.53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1초 후 phase 오차 ≈ 0.53 rad ≈ 30°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→ 거의 모든 wave에서 위치 어긋남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25603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Per-method 정성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파봉·파골 모두 GT의 80~90% 진폭 유지, 위상 거의 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보존되지만 spatial structure가 noisy — 여러 spurious component에 에너지 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— VR=0.065와 일관 (zero-predictor에 가까움), 격자/커널 limit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시각적 한 줄 결론: WaveSplat만 "진짜 wave field 같은"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구체 결과 — Forecast skill score (paper 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1c   t+5s: SS = +0.96       t+10s: SS = +0.94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2c   t+5s: SS = +0.96       t+10s: SS = +0.95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5c   t+5s: SS = +0.41       t+10s: SS = +0.18  (multi-component → drift 누적)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5c   t+5s: SS = +0.36       t+10s: SS = +0.12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15c  t+5s: SS = −0.04       t+10s: SS = −0.21  (성분 수 한계)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852160"/>
            <a:ext cx="8229600" cy="41148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ETKF → LETKF: 각 grid 점 update 시 local 관측만 사용 (Gaspari-Cohn taper)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spurious long-range correlation 억제 / 단점: r_loc ↓시 amplitude 과소 (VR ↓)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GPR-1 → GPR-disp: 커널 K = K_spatial × K_dispersion 조합으로 시간 phase 보정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physics-aware GPR로 "공정한" 비교 / 단점: 커널 계산 비용 ↑ (~36× 느림)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비유 — 자동차 active suspension의 해양 버전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자동차: 전방 카메라 → 노면 검지 → 서스펜션 미리 조절 → 충격 감소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하이드로포일: 전방 LiDAR → WaveSplat → preview 시점 wave 기울기 → foil 받음각 조정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차이: 도로보다 파도가 시간으로 변하므로 dispersion 외삽이 추가로 필요 (WaveSplat 기여)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  <p:pic>
        <p:nvPicPr>
          <p:cNvPr id="9" name="Picture 8" descr="hydrofoil_controlle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68680"/>
            <a:ext cx="8778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ISO 2631 승차감 기준 — 객관적 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834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ISO 2631-1: 인체 vibration exposure 기준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aRMS [m/s²] 기준 분류: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0.315  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0.315 ~ 0.63  Slight discomfort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0.50 ~ 1.00  Fairly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0.80 ~ 1.60 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&gt; 1.60  Very uncomfortable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6634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Encounter angle 별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98348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Head sea (μ=180°): 짧은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Foil이 빠르게 wave 통과 → preview 짧아도 충분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Beam sea (μ=90°): 긴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파면이 천천히 변화 → preview 길어야 효과적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Quarter (μ=135°): 중간 — 균형적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Following (μ=0°): 거의 정적 → FF 효과 적음 (생략)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다중 component 간 방향 분리 한계가 원인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WaveSplat의 방향 추정 오차(±5° 이상)가 그대로 제어 입력으로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BF4 한계의 원인 — Direction error 전파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FF 명령 = K_ff × α_wave   ←   α_wave = −∂η/∂x − w/V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∂η/∂x는 wave 방향 미분 → direction estimate에 supersensitive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Direction이 5° 어긋나면 ∂η/∂x 부호 바뀔 수 있음 → FF가 오히려 disturbance 증폭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 사례: 두 component가 ±20° 분리되어 있어 superposition 시 phase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989320"/>
            <a:ext cx="8229600" cy="36576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개선 방향: (a) vessel yaw 변화 활용한 multi-frame direction voting  (b) IMU heading 기반 directional prior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30+ component crowding 시 방향 분리 어려움 (k-space에서 인접 peak)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multi-frame 방향 voting / vessel yaw 변화 활용으로 개선 가능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WaveSplat: nRMSE 30.1%↓, ~10× faster, SS only+   |   Hydrofoil: aRMS 11~41%↓, BF3 E2E 92~96%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References — 검증된 인용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주요 참고문헌 (CrossRef DOI 검증 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[1] Kerbl, B., Kopanas, G., Leimkühler, T., Drettakis, G. (2023). "3D Gaussian Splatting for Real-Time Radiance Field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Rendering." ACM TOG 42(4). DOI: 10.1145/3592433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[2] Desmars, N., Bonnefoy, F., Grilli, S.T., Ducrozet, G., Perignon, Y., Guérin, C.-A., Ferrant, P. (2020). "Experimental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numerical assessment of deterministic nonlinear ocean waves prediction algorithms using non-uniformly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sampled wave gauges." Ocean Engineering 212, 107659. DOI: 10.1016/j.oceaneng.2020.107659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[3] Desmars, N., Hartmann, M., Behrendt, J., Hoffmann, N., Klein, M. (2023). "Nonlinear deterministic reconstruction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and prediction of remotely measured ocean surface waves." J. Fluid Mech. 975, A8. DOI: 10.1017/jfm.2023.841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[4] Hunt, B.R., Kostelich, E.J., Szunyogh, I. (2007). "Efficient data assimilation for spatiotemporal chaos: A local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ensemble transform Kalman filter." Physica D 230(1-2), 112-126. DOI: 10.1016/j.physd.2006.11.008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[5] Ehlers, S., Klein, M., Heinlein, A., Wedler, M., Desmars, N., Hoffmann, N., Stender, M. (2023). "Machine learning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for phase-resolved reconstruction of nonlinear ocean wave surface elevations from sparse remote sensing data."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Engineering 288, 116059. DOI: 10.1016/j.oceaneng.2023.116059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[6] Hwang, P.A., Krabill, W.B., Wright, W., Swift, R.N., Walsh, E.J. (2000). "Airborne Scanning Lidar Measurement of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Ocean Waves." Remote Sensing of Environment 73(2), 236-246. DOI: 10.1016/S0034-4257(00)00098-5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[7] Belmont, M.R., Horwood, J.M.K., Thurley, R.W.F., Baker, J. (2008). "Shallow Angle Wave Profiling LIDAR." IEEE/OES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       9th Working Conference on Current Measurement Technology, 217-223. DOI: 10.1109/CCM.2008.4480871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[8] Wilcoxon, F. (1945). "Individual Comparisons by Ranking Methods." Biometrics Bulletin 1(6), 80. DOI: 10.2307/3001968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[9] Cohen, J. (1988). Statistical Power Analysis for the Behavioral Sciences (2nd ed.). Lawrence Erlbaum Associates.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[10] Holthuijsen, L.H. (2007). Waves in Oceanic and Coastal Waters.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[11] Faltinsen, O.M. (2005). Hydrodynamics of High-Speed Marine Vehicles. Cambridge University Press.</a:t>
            </a:r>
          </a:p>
          <a:p>
            <a:r>
              <a:rPr sz="900" b="0" i="0">
                <a:solidFill>
                  <a:srgbClr val="333333"/>
                </a:solidFill>
                <a:latin typeface="Times New Roman"/>
              </a:rPr>
              <a:t>[12] Born, M., Wolf, E. (1999). Principles of Optics (7th ed.). Cambridge University Press. (Fresnel R(θ))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※ 모든 인용은 CrossRef API + ScienceDirect TOC로 metadata 확인 완료 (paper/references.bib와 동기화)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" y="0"/>
            <a:ext cx="8193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200">
                <a:solidFill>
                  <a:srgbClr val="1A1A2E"/>
                </a:solidFill>
                <a:latin typeface="Times New Roman"/>
              </a:rPr>
              <a:t>Hydrofoil 결과 (4) — 단일점 선수 센서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100">
                <a:solidFill>
                  <a:srgbClr val="C05317"/>
                </a:solidFill>
                <a:latin typeface="Times New Roman"/>
              </a:rPr>
              <a:t>Candela C-8 bow sensor (SP) vs WaveSplat — 5 seeds × 4 scenarios, 30 s each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15568"/>
          <a:ext cx="93268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828800"/>
                <a:gridCol w="1828800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Times New Roman"/>
                        </a:rPr>
                        <a:t>시나리오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Times New Roman"/>
                        </a:rPr>
                        <a:t>GT-FF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Times New Roman"/>
                        </a:rPr>
                        <a:t>WS-FF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Times New Roman"/>
                        </a:rPr>
                        <a:t>SP-temporal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Times New Roman"/>
                        </a:rPr>
                        <a:t>SP1/GT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333333"/>
                          </a:solidFill>
                          <a:latin typeface="Times New Roman"/>
                        </a:rPr>
                        <a:t>BF3 Head  μ=180° Tp=5s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+12.0%(±3.0)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+11.9%(±3.3)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−13.3%(±0.7)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−0.2%(±1.6)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−111%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333333"/>
                          </a:solidFill>
                          <a:latin typeface="Times New Roman"/>
                        </a:rPr>
                        <a:t>BF4 Head  μ=180° Tp=7.5s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+9.9%(±1.4)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+10.0%(±1.3)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+7.0%(±1.1)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≈0%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71%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333333"/>
                          </a:solidFill>
                          <a:latin typeface="Times New Roman"/>
                        </a:rPr>
                        <a:t>BF3 Beam  μ=90°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+38.4%(±11.0)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+33.0%(±11.3)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+21.4%(±31.5)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−35.0%(±11.8)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b="1" sz="950">
                          <a:solidFill>
                            <a:srgbClr val="333333"/>
                          </a:solidFill>
                          <a:latin typeface="Times New Roman"/>
                        </a:rPr>
                        <a:t>BF3 Quarter  μ=135°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+15.2%(±7.2)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+15.2%(±7.3)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+2.5%(±9.2)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−1.9%(±3.3)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50">
                          <a:solidFill>
                            <a:srgbClr val="333333"/>
                          </a:solidFill>
                          <a:latin typeface="Times New Roman"/>
                        </a:rPr>
                        <a:t>16%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3383280"/>
            <a:ext cx="4023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200">
                <a:solidFill>
                  <a:srgbClr val="C05317"/>
                </a:solidFill>
                <a:latin typeface="Times New Roman"/>
              </a:rPr>
              <a:t>핵심 발견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▪ BF3 Head sea: SP-1pt 일관적 악화 (−13.3%, std ±0.7%)</a:t>
            </a:r>
          </a:p>
          <a:p>
            <a:pPr algn="l"/>
            <a:r>
              <a:rPr b="0" sz="850">
                <a:solidFill>
                  <a:srgbClr val="6B7280"/>
                </a:solidFill>
                <a:latin typeface="Times New Roman"/>
              </a:rPr>
              <a:t>   → per-foil 위상 오차 Δφ ≈ 21°, sensor quality 무관한 구조적 한계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▪ BF3 Beam sea: SP-1pt 극도로 불안정 (std ±31.5%, σ/μ≈1.5)</a:t>
            </a:r>
          </a:p>
          <a:p>
            <a:pPr algn="l"/>
            <a:r>
              <a:rPr b="0" sz="850">
                <a:solidFill>
                  <a:srgbClr val="6B7280"/>
                </a:solidFill>
                <a:latin typeface="Times New Roman"/>
              </a:rPr>
              <a:t>   → directional spread로 인한 seed-dependent 위상 충돌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▪ SP-temporal: beam sea에서 일관적 악화 (−35.0%)</a:t>
            </a:r>
          </a:p>
          <a:p>
            <a:pPr algn="l"/>
            <a:r>
              <a:rPr b="0" sz="850">
                <a:solidFill>
                  <a:srgbClr val="6B7280"/>
                </a:solidFill>
                <a:latin typeface="Times New Roman"/>
              </a:rPr>
              <a:t>   → head-sea 가정 (∂η/∂x ≈ −∂η/∂t/c) 이 beam에서 부호 역전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▪ SP-1pt가 유효한 조건: Head sea + 장주기 너울 (Tp &gt; 7s)</a:t>
            </a:r>
          </a:p>
          <a:p>
            <a:pPr algn="l"/>
            <a:r>
              <a:rPr b="0" sz="850">
                <a:solidFill>
                  <a:srgbClr val="6B7280"/>
                </a:solidFill>
                <a:latin typeface="Times New Roman"/>
              </a:rPr>
              <a:t>   → BF4 head sea에서만 71% GT 회수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338328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200">
                <a:solidFill>
                  <a:srgbClr val="C05317"/>
                </a:solidFill>
                <a:latin typeface="Times New Roman"/>
              </a:rPr>
              <a:t>WaveSplat이 필요한 이유 — 물리적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3703320"/>
            <a:ext cx="4434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Per-foil 독립 평가: 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WaveSplat은 각 foil의 preview 위치에서 스펙트럼 모델을 독립 평가 → 4.5m 간격의 위상 차이를 정확히 반영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방향 로버스트: 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directional spread가 있는 실해상 스펙트럼에서 SP-1pt는 seed에 따라 도움/해로움이 바뀜 (σ/μ≈1.5), WaveSplat은 σ/μ≈0.34로 안정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SP-temporal의 근본 한계: 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∂η/∂x = −(1/c)∂η/∂t 는 head-sea 가정. 이를 제거하려면 방향 정보가 필요 → WaveSplat이 이미 제공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63640"/>
            <a:ext cx="8412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C05317"/>
                </a:solidFill>
                <a:latin typeface="Times New Roman"/>
              </a:rPr>
              <a:t>단일점 센서 유효 영역: Head sea 전용 + 장주기 너울 (Tp &gt; 7s)  |  혼합 항로·단주기·beam sea → LiDAR + WaveSplat 필수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