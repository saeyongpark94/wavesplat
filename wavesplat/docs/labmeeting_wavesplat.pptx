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910" r:id="rId1"/>
  </p:sldMasterIdLst>
  <p:notesMasterIdLst>
    <p:notesMasterId r:id="rId8"/>
  </p:notesMasterIdLst>
  <p:handoutMasterIdLst>
    <p:handoutMasterId r:id="rId9"/>
  </p:handoutMasterIdLst>
  <p:sldIdLst>
    <p:sldId id="256" r:id="rId7"/>
    <p:sldId id="257" r:id="rId6"/>
    <p:sldId id="258" r:id="rId5"/>
    <p:sldId id="259" r:id="rId4"/>
    <p:sldId id="260" r:id="rId3"/>
    <p:sldId id="261" r:id="rId2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</p:sldIdLst>
  <p:sldSz cx="9144000" cy="6858000" type="screen4x3"/>
  <p:notesSz cx="9926638" cy="67976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o Jeonghwa" initials="SJ" lastIdx="13" clrIdx="0">
    <p:extLst>
      <p:ext uri="{19B8F6BF-5375-455C-9EA6-DF929625EA0E}">
        <p15:presenceInfo xmlns:p15="http://schemas.microsoft.com/office/powerpoint/2012/main" userId="9aa9fa2553afebd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3366FF"/>
    <a:srgbClr val="FFFFFF"/>
    <a:srgbClr val="00B0F0"/>
    <a:srgbClr val="E7F9FF"/>
    <a:srgbClr val="C5F3FF"/>
    <a:srgbClr val="FFCCCC"/>
    <a:srgbClr val="FFCCFF"/>
    <a:srgbClr val="00CC66"/>
    <a:srgbClr val="F7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27F97BB-C833-4FB7-BDE5-3F7075034690}" styleName="테마 스타일 2 - 강조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7292A2E-F333-43FB-9621-5CBBE7FDCDCB}" styleName="밝은 스타일 2 - 강조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보통 스타일 3 - 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18" autoAdjust="0"/>
    <p:restoredTop sz="75338" autoAdjust="0"/>
  </p:normalViewPr>
  <p:slideViewPr>
    <p:cSldViewPr showGuides="1">
      <p:cViewPr varScale="1">
        <p:scale>
          <a:sx n="62" d="100"/>
          <a:sy n="62" d="100"/>
        </p:scale>
        <p:origin x="2424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973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8" d="100"/>
          <a:sy n="78" d="100"/>
        </p:scale>
        <p:origin x="72" y="85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6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9659AD6-AE32-41CA-82A0-2598C3F3898A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8542345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35127" y="518517"/>
            <a:ext cx="3398838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201" y="3228705"/>
            <a:ext cx="7942238" cy="305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CF72608-E96E-40E0-AA36-7D967661FE6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64512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">
            <a:extLst>
              <a:ext uri="{FF2B5EF4-FFF2-40B4-BE49-F238E27FC236}">
                <a16:creationId xmlns:a16="http://schemas.microsoft.com/office/drawing/2014/main" id="{C07C8241-B47D-4265-B8DC-7A83560CC12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054225"/>
            <a:ext cx="9144000" cy="2232025"/>
          </a:xfrm>
          <a:prstGeom prst="rect">
            <a:avLst/>
          </a:prstGeom>
          <a:solidFill>
            <a:srgbClr val="B2B2B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2D8179D-E436-4C76-ADBD-8F3423C15B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125663"/>
            <a:ext cx="9144000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1D063F3-1108-4154-8347-0AB06E35DA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DEB2E69D-3CDF-48CA-9224-6B58E03440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4293096"/>
            <a:ext cx="6400800" cy="13457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03272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75B215-C573-4168-B166-EB28B28A1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Times New Roman" panose="02020603050405020304" pitchFamily="18" charset="0"/>
              <a:buChar char="-"/>
              <a:defRPr/>
            </a:lvl2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B804C4-9697-471E-8BC1-E0A58D65DD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37338"/>
            <a:ext cx="1403648" cy="242969"/>
          </a:xfrm>
        </p:spPr>
        <p:txBody>
          <a:bodyPr/>
          <a:lstStyle/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4C737C-4C7F-4C5A-8F42-207CA8A31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03648" y="6627244"/>
            <a:ext cx="5976664" cy="240018"/>
          </a:xfrm>
        </p:spPr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8">
            <a:extLst>
              <a:ext uri="{FF2B5EF4-FFF2-40B4-BE49-F238E27FC236}">
                <a16:creationId xmlns:a16="http://schemas.microsoft.com/office/drawing/2014/main" id="{66223D9C-B720-4BD8-9066-5AAD180ABF23}"/>
              </a:ext>
            </a:extLst>
          </p:cNvPr>
          <p:cNvSpPr txBox="1">
            <a:spLocks/>
          </p:cNvSpPr>
          <p:nvPr userDrawn="1"/>
        </p:nvSpPr>
        <p:spPr>
          <a:xfrm>
            <a:off x="4067944" y="6376074"/>
            <a:ext cx="899592" cy="238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r" rtl="0" fontAlgn="base" latinLnBrk="1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tx1">
                    <a:tint val="75000"/>
                  </a:schemeClr>
                </a:solidFill>
                <a:latin typeface="굴림" charset="-127"/>
                <a:ea typeface="굴림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9pPr>
          </a:lstStyle>
          <a:p>
            <a:pPr>
              <a:defRPr/>
            </a:pPr>
            <a:r>
              <a:rPr lang="en-US" altLang="ko-KR" dirty="0"/>
              <a:t>-</a:t>
            </a:r>
            <a:fld id="{4B06D9A7-2E35-4533-98BA-70A08AF23C1B}" type="slidenum">
              <a:rPr lang="en-US" altLang="ko-KR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‹#›</a:t>
            </a:fld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/xx</a:t>
            </a:r>
            <a:r>
              <a:rPr lang="en-US" altLang="ko-KR" dirty="0"/>
              <a:t>-</a:t>
            </a:r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F186BCE-BF40-49B6-9640-B62E9209F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25692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g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1B40BB9-443F-4905-A0E2-B5F7F3628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1"/>
            <a:ext cx="8191822" cy="781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72AD3A9-72B8-461E-95E0-A034CE037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528" y="980732"/>
            <a:ext cx="8191822" cy="5196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14FE15-D5B1-472D-8C03-1866CA6B9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637339"/>
            <a:ext cx="1403648" cy="2159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8D6D48-DE6D-44CE-A7CA-EE6525099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03648" y="6627244"/>
            <a:ext cx="6212110" cy="2400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ko-KR" altLang="en-US" dirty="0"/>
          </a:p>
        </p:txBody>
      </p:sp>
      <p:sp>
        <p:nvSpPr>
          <p:cNvPr id="7" name="Line 17">
            <a:extLst>
              <a:ext uri="{FF2B5EF4-FFF2-40B4-BE49-F238E27FC236}">
                <a16:creationId xmlns:a16="http://schemas.microsoft.com/office/drawing/2014/main" id="{ACEA0B10-CC48-4B92-B94F-3F5D3EA2694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785813"/>
            <a:ext cx="9144000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" name="Line 18">
            <a:extLst>
              <a:ext uri="{FF2B5EF4-FFF2-40B4-BE49-F238E27FC236}">
                <a16:creationId xmlns:a16="http://schemas.microsoft.com/office/drawing/2014/main" id="{572C12F0-8479-479A-ABC0-316A3C83A05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6623050"/>
            <a:ext cx="7380312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Rectangle 19">
            <a:extLst>
              <a:ext uri="{FF2B5EF4-FFF2-40B4-BE49-F238E27FC236}">
                <a16:creationId xmlns:a16="http://schemas.microsoft.com/office/drawing/2014/main" id="{77CD4FEF-74D3-4DAE-AE4D-9E663E34AE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79388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" name="Rectangle 20">
            <a:extLst>
              <a:ext uri="{FF2B5EF4-FFF2-40B4-BE49-F238E27FC236}">
                <a16:creationId xmlns:a16="http://schemas.microsoft.com/office/drawing/2014/main" id="{471CF3CB-1B69-427E-ACF8-3C89AC11B6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1928813"/>
            <a:ext cx="69850" cy="46799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7EFEB5F-9136-46CD-A7E7-DD92C8EE28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409361" y="6320474"/>
            <a:ext cx="512878" cy="5328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B6923D-4463-4616-B13E-2F75DC18C637}"/>
              </a:ext>
            </a:extLst>
          </p:cNvPr>
          <p:cNvSpPr txBox="1"/>
          <p:nvPr userDrawn="1"/>
        </p:nvSpPr>
        <p:spPr>
          <a:xfrm>
            <a:off x="7852389" y="6513991"/>
            <a:ext cx="1366080" cy="3513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00"/>
              </a:lnSpc>
            </a:pPr>
            <a:r>
              <a:rPr lang="en-US" altLang="ko-KR" sz="24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SNUTT</a:t>
            </a:r>
            <a:endParaRPr lang="en-US" altLang="ko-KR" sz="1600" b="1" dirty="0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Seoul National University</a:t>
            </a: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Towing Tank</a:t>
            </a:r>
            <a:endParaRPr lang="ko-KR" altLang="en-US" sz="8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628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  <p:sldLayoutId id="2147483912" r:id="rId2"/>
  </p:sldLayoutIdLst>
  <p:hf sldNum="0"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3600" b="1" i="0">
                <a:latin typeface="Times New Roman"/>
              </a:rPr>
              <a:t>WaveSplat</a:t>
            </a:r>
          </a:p>
          <a:p>
            <a:pPr/>
            <a:r>
              <a:rPr sz="1800" b="0" i="0">
                <a:latin typeface="Times New Roman"/>
              </a:rPr>
              <a:t>Grid-Free Spectral Wave Field Estimation from Sparse Shipboard LiDAR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800" b="1" i="0">
                <a:latin typeface="Times New Roman"/>
              </a:rPr>
              <a:t>박세용 (Saeyong Park)</a:t>
            </a:r>
          </a:p>
          <a:p>
            <a:pPr/>
            <a:r>
              <a:rPr sz="1300" b="0" i="0">
                <a:latin typeface="Times New Roman"/>
              </a:rPr>
              <a:t>Avikus · HD현대  |  Seoul National University Towing Tank</a:t>
            </a:r>
          </a:p>
          <a:p>
            <a:pPr/>
            <a:r>
              <a:rPr sz="1200" b="0" i="1">
                <a:latin typeface="Times New Roman"/>
              </a:rPr>
              <a:t>Lab Meeting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200" b="0" i="0">
                <a:latin typeface="Times New Roman"/>
              </a:rPr>
              <a:t>Contents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1280160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I.    Introduction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029967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II.    Methodology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2779776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III.    Results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3529584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IV.    Application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Real Sea Trial — 실선 LiDAR 관측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Falcon K1 LiDAR Live Recording — Florida Intracoastal</a:t>
            </a:r>
          </a:p>
        </p:txBody>
      </p:sp>
      <p:pic>
        <p:nvPicPr>
          <p:cNvPr id="5" name="Picture 4" descr="sea_trial_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4389120" cy="2834640"/>
          </a:xfrm>
          <a:prstGeom prst="rect">
            <a:avLst/>
          </a:prstGeom>
        </p:spPr>
      </p:pic>
      <p:pic>
        <p:nvPicPr>
          <p:cNvPr id="6" name="Picture 5" descr="sea_trial_li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188720"/>
            <a:ext cx="365760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06908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선박 외부 카메라 (BF~2-3)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406908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Falcon K1 live point cloud (Rerun)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관측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80060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LiDAR 점군이 매우 sparse — 수면 returns가 거리·각도에 따라 비균질 분포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일부 영역은 specular dropout으로 returns 부재 (수면 경사가 빔과 어긋날 때 광이 멀리 산란)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카메라로 보이는 wake·잔파는 LiDAR에는 1~2 점으로만 나타남 → 격자 보간으론 형상 복원 불가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→ 본 연구의 출발점: 이 데이터에서 연속적·물리적으로 타당한 파도장을 어떻게 실시간 복원할 것인가?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선박 전방 파랑 예측이 필요한 이유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자율운항 선박: 안전·승차감·에너지 효율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하이드로포일 선박: 파랑 preview → FF 제어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해상 크레인: 파고 예측 → 보상 제어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해양 구조물: 파랑 하중 예측 → 구조 안전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DP/heave compensation: 파봉 도달 시점 예측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Helideck operation window 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LiDAR 관측의 본질적 어려움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Sparse: 250×200 m 영역에서 프레임당 ~50점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Heterogeneous: 근거리 조밀, 원거리 희박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Range-dependent noise: σ_r ≈ 0.02 m near, 더 큼 far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Specular dropout: 평탄한 수면에서 returns 미반환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Spray·whitecap·rain → false returns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10 Hz 실시간 처리 필요 (&lt; 100 ms/frame)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3840480"/>
            <a:ext cx="8229600" cy="68580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</a:rPr>
              <a:t>목표: 희소 LiDAR 관측으로부터 연속적·물리적으로 타당한 파도장을 실시간 복원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7548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대표적 응용 — Hydrofoil ride control (본 발표 후반부)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74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수면 위 비행 → 파도 교란에 극도로 민감 (foil 잠수 0.5~1.0 m → AoA 직접 변동)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feedback만으로는 encounter freq 대응 한계 (50~100 ms loop delay = 파도 주기의 5~10%)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해법: WaveSplat 추정 → preview feedforward → 자동차 active suspension의 해양 버전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기존 방법의 한계 — Prior Art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7543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Approach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Key Limitation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ETKF-grid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(Desmars 2020)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Spatial grid 위에 ensemble Kalman filter,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FFT 기반 spectral propagation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격자 보간 → aliasing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O(Nₑ G² log G²) 비용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하이퍼파라미터(grid·inflation·loc) 민감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(Rasmussen-Williams 2006)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RBF/Matérn 커널의 비모수적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공간 보간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O(M³) 비용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시간 모델 없음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장파장만 잡음 → near-zero predictor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PINN / FNO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(Ehlers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신경망 기반 — PDE 잔차 또는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Fourier neural operator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학습 분포 의존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균일 grid 가정 (LiDAR 불규칙성과 불일치)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black box 진단 어려움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1605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A1A2E"/>
                </a:solidFill>
                <a:latin typeface="Times New Roman"/>
              </a:rPr>
              <a:t>공통 구조적 문제: 모두 "격자(grid) 또는 학습 분포에 의존"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희소 관측에서 aliasing &amp; 불필요한 계산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제어 응용 (forecast 5~10 s)에 시간 모델 부재</a:t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→ Grid-free + physics-constrained representation이 필요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8932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Desmars+ Ocean Eng 212 (2020); Rasmussen &amp; Williams (2006); Ehlers+ Ocean Eng 288 (2023)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latin typeface="Times New Roman"/>
              </a:rPr>
              <a:t>아이디어의 출발점 — 3D Gaussian Splatting</a:t>
            </a:r>
          </a:p>
        </p:txBody>
      </p:sp>
      <p:pic>
        <p:nvPicPr>
          <p:cNvPr id="4" name="Picture 3" descr="3dgs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8229600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36118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3DGS의 핵심 통찰 (Kerbl 2023, SIGGRAPH)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93192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격자(voxel)에 의존하지 않고, 학습 가능한 N개의 3D Gaussian의 가중합으로 라디언스 필드 표현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각 Gaussian은 (위치 μᵢ, 공분산 Σᵢ, 색·투명도)의 4N 파라미터 — 연속·미분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결과: 격자보다 sparse 표현, 임의 시점 렌더링 가능, real-time 학습/렌더링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9377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해양파 추정에 옮겨오면? — WaveSplat 착상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257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"필드를 격자가 아닌 N개 기저의 합으로" — 같은 발상을 2D 수면 elevation에 적용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3DGS의 Gaussian → 해양파의 plane wave (kᵢ, ωᵢ, φᵢ) — 물리적 의미가 직접 부여됨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격자 의존 ETKF 대비: 필드 어디서나 평가 가능 + dispersion이 자연스러운 hard constraint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1722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Ref: Kerbl, Kopanas, Leimkühler, Drettakis "3D Gaussian Splatting for Real-Time Radiance Field Rendering", ACM TOG 42(4), 2023.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WaveSplat의 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핵심 모델 — N개 plane wave의 가중합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8229600" cy="502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A1A2E"/>
                </a:solidFill>
                <a:latin typeface="Times New Roman"/>
              </a:rPr>
              <a:t>z(x, y, t) = Σᵢ wᵢ · cos(kx,ᵢ·x + ky,ᵢ·y − ωᵢt + φᵢ)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82296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❶ Grid-free spectral representation — 격자 의존성 제거 (3DGS의 해양파 버전)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❷ Dispersion hard constraint: ωᵢ = √(g·|kᵢ|·tanh(|kᵢ|·d)) → 5N → 4N로 자유도 축소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추정된 파동이 "실제 중력파 dispersion 위에 있도록 강제" → 시간 외삽 안정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❸ Adaptive model order (N): energy pruning + residual growth + safety rollback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단순 swell N=2, 복잡한 sea N=18~21 까지 자동 적응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❹ Geometry-aware confidence weighting: cⱼ = cos(θⱼ)/(dⱼ/d_ref)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LiDAR 입사각·거리 의존 정밀도를 손실 함수에 직접 반영 (heteroscedasticity)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※ 정확한 Fresnel R(θ)가 아닌 단순 기하 가중치 — 본 항목의 명명을 paper에서 정정함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❺ Pre-specified 5-metric panel — zero-predictor 구분 가능 (cherry-pick 방지)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❻ 24-config ETKF hyperparameter sweep — 공정한 tuned baseline 제공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1722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❶ Kerbl 2023 (3DGS); ❷ Holthuijsen 2007 (dispersion); ❹ Born &amp; Wolf (2007) Optics 7th 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(1) — Forward &amp; Observation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Forward Model — Wave Field Equation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114800" cy="21031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333333"/>
                </a:solidFill>
                <a:latin typeface="Times New Roman"/>
              </a:rPr>
              <a:t>z(x,y,t) = Σᵢ wᵢ cos(kx,ᵢx + ky,ᵢy − ωᵢt + φᵢ)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Hard constraint: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ωᵢ = √(g · |kᵢ| · tanh(|kᵢ| · d))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자유 파라미터: {wᵢ, kx,ᵢ, ky,ᵢ, φᵢ} → 4N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(ω는 k로부터 결정 — 자유변수 아님)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Observation Model — Geometry-aware Confidence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31920" cy="21031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333333"/>
                </a:solidFill>
                <a:latin typeface="Times New Roman"/>
              </a:rPr>
              <a:t>cⱼ = cos(θⱼ) / (dⱼ / d_ref)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L = (1/M) Σⱼ cⱼ (zⱼ − ẑⱼ)²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 + λ₁ Σ|wᵢ|     (sparsity)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 + λs Σ(Δwᵢ)²  (smoothness)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θⱼ: 입사각, dⱼ: range, d_ref=125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5204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이렇게 설계했나 — Design Rationale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84048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Dispersion 제약은 '추정된 파동이 실제 중력파'임을 보장 — ω를 자유롭게 두면 nRMSE는 낮아지지만 1초 뒤 phase prediction 발산 (A1 ablation 확인)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cⱼ는 정확한 Fresnel R(θ)가 아니라 cos(θ)·1/(d/d_ref) 단순 기하 가중치 — 본 항목 명명을 'Fresnel-aware'에서 'geometry-aware'로 정정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Fresnel R(θ) 자체는 raydrop 모델 (다음 슬라이드)에서만 사용 — 시뮬레이터에서 점이 떨어지는 메커니즘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λ₁ sparsity: spectral 표현이 over-fit하지 않도록 — 진짜 dominant components만 살림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λs smoothness: 인접 wavenumber에 부드럽게 분포 → 노이즈에 robust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(2) — 2-Phase Pipeline (Init → Track)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Phase 1: Initialization (T_init = 2Tₚ ≈ 14 s @ BF4)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① Dispersion-aware beamforming (v2_konly)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Cartesian 81×81 k-grid (Δk≈0.10 rad/m)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② Greedy peak extraction (0.15 rad/m suppression)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③ Coarse-to-fine Adam: N=3 → 8 → 15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(200 iters/stage, lr=5×10⁻³)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④ Energy-based pruning (90% threshold)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+ RMSE 130% safety rollback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⑤ Residual growth: RMS &gt; 0.05 m → 추가 beamform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(Nmax = 30)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Phase 2: Tracking (w_phi mode, 10 Hz)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Predict: φᵢ ← φᵢ + ωᵢ · Δt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(dispersion-exact phase propagation)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Update: K=10 Adam steps (lr=10⁻³)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on Kw=3 sliding-frame window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only (wᵢ, φᵢ) updated; kx, ky FROZEN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Why freeze k?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단일 프레임에서 kx/ky는 ill-conditioned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Multi-frame init이 충분히 평균화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φ warm start로 200→10 grad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526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Adaptive N: 단일 swell에선 N=1, 복잡 sea에선 N=21까지 — 평균 13.4 ms/frame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0292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실시간 처리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3492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Init은 한 번만 (~500 ms) — 이후 frame당 ~13 ms tracking으로 10 Hz 대응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k freeze + φ warm-start로 200→10 grad steps 단축이 결정적 속도 차이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Adaptive N의 pruning은 over-parametrize 방지, growth는 새로운 component 출현 대응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Flowchart — 전체 로직 한눈에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595360" cy="3520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5720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8920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좌측 (Phase 1, ~500 ms 1회): 10 frame 누적 → beamforming 2단계 → C2F Adam → Adaptive N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우측 (Phase 2, ~13 ms/frame): Predict (dispersion phase 외삽) → sliding window → Adam 10 steps → Output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Phase 1→2 화살표: kx, ky 동결, w·φ만 carry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Adaptive N grow loop: residual RMS &gt; 0.05 m이면 init 단계로 잠시 복귀해 새 component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Figure source: paper/figures/fig_pipeline.png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WaveSim (1/2) — Wave Generation + 검증</a:t>
            </a:r>
          </a:p>
        </p:txBody>
      </p:sp>
      <p:pic>
        <p:nvPicPr>
          <p:cNvPr id="4" name="Picture 3" descr="wavesim_BF4_5c_wave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029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611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BF4, N=5 components, Hs ≈ 1.5 m, frame t=15 s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0680" y="8686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JONSWAP 합성 + Gerstner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188720"/>
            <a:ext cx="32004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Pierson-Moskowitz × peak γ=3.3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Hs ∈ [0.3, 2.0] m (BF2~BF5)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Tp ∈ [4, 8] s, 무작위 phase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Gerstner trochoid (2nd order)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꼭대기 첨예, 골짜기 평탄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Q-제약: Σ Qᵢωᵢ²Aᵢ &lt; 1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Full dispersion (수심 d=50 m)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ω = √(g|k|·tanh(|k|d))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4160520"/>
            <a:ext cx="8503920" cy="1920240"/>
          </a:xfrm>
          <a:prstGeom prst="round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 b="1">
                <a:solidFill>
                  <a:srgbClr val="2E7D32"/>
                </a:solidFill>
                <a:latin typeface="Times New Roman"/>
              </a:rPr>
              <a:t>Wave Generation 검증 (39 unit tests 중)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분산관계 deep/shallow 해석해 일치 (오차 &lt; 1×10⁻⁶)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Gerstner 단일성분 RMSE &lt; 1×10⁻¹⁰ m vs 해석해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Hs(Welch from time series) = 4√m₀ 일치 &lt; 0.5%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Q-constraint 위반: 모든 100 episodes 0건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Energy conservation: ΣAᵢ² ≈ ∫S(ω)dω (FFT 검증 통과)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WaveSim (2/2) — LiDAR · Raydrop + Sample 관측</a:t>
            </a:r>
          </a:p>
        </p:txBody>
      </p:sp>
      <p:pic>
        <p:nvPicPr>
          <p:cNvPr id="4" name="Picture 3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029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611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GT 파도장에 LiDAR returns(까만 점) 오버레이 — 같은 BF4 episode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0680" y="8686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Falcon K1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1887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1550 nm, 152 ch, scan 10 Hz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FOV 120°×25°, range 1.5–250 m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σ_range = 0.02 m, σ_angle = 0.05°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Mount: 5 m, +5° downward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256032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Raydrop (점이 떨어지는 메커니즘)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2880360"/>
            <a:ext cx="3200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Diffuse (uniform):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p = R_Fresnel(θ)·cos(θ)/d²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※ Fresnel은 여기서만 사용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Specular (slope):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retroreflection α&lt;5°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파봉 편향 분포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두 모델 병렬 유지 → ablation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800600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통합 검증 + 핵심 메시지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5120640"/>
            <a:ext cx="8503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Ray-Mesh: Möller-Trumbore intersection — 100 % hit/miss 정확 (39-test 통과)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Falcon K1 spec은 Avikus NEUBOAT 실선 시험 장비와 동일 → sim-to-real 시 raydrop만 보정 예정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→ 시뮬레이션 결과는 reviewer가 의심할 만한 모든 물리 가정에서 단위 검증 위에 구축됨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217920"/>
            <a:ext cx="8503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Möller &amp; Trumbore (1997) ray-tri intersection; Born &amp; Wolf (2007) Optics 7th ed (Fresnel R(θ)).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Experiment Design — Dataset &amp;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Dataset (100 episodes)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Parameter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Total episodes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100 = 5 seeds × 10 configs × 2 raydrop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Sea state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BF2~BF5  (Hs 0.3~2.0 m)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Components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1, 2, 5, 15, 30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Raydrop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Uniform (diffuse) + Slope (specular)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Duration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301 frames (30 s @ 10 Hz)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LiDAR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Seyond Falcon K1 spec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Baselines (모두 hyperparameter tuned)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663440" y="1188720"/>
          <a:ext cx="39319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1310640"/>
                <a:gridCol w="1310640"/>
              </a:tblGrid>
              <a:tr h="381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Config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Note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ETKF (tuned)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24-config sweep best: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g=40×30, n_e=100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nRMSE 0.319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Matérn ν=5/2,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ℓ=20m, σ=0.02m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시간 모델 없음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GPR-sliding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3-frame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강한 GPR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LETKF (loc50)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Gaspari-Cohn r_loc=50m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강화 baseline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GPR-disp(3f)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dispersion-aware kernel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강화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3703320"/>
            <a:ext cx="8229600" cy="22402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794760"/>
            <a:ext cx="795527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A1A2E"/>
                </a:solidFill>
                <a:latin typeface="Times New Roman"/>
              </a:rPr>
              <a:t>Pre-specified 5-Metric Evaluation Panel</a:t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nRMSE ↓  |  Variance Ratio (VR) → 1  |  Pearson ρ ↑  |  Skill Score (SS) ↑  |  RMSE_unobs [m] ↓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1) RMSE_unobs = 관측에서 ≥10 m 떨어진 grid 지점에서만 계산 → physics prior 직접 증거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2) SS = 1 − MSE(ẑ)/MSE(0) → 양수 = zero-predictor(ẑ=0)보다 나음 (가장 약한 reference)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3) VR &lt;&lt; 1 = under-fitting / VR &gt; 1.2 = noise overfit / VR ≈ 1 + ρ=1 = 진짜 정확</a:t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※ 모든 baseline에 동일 적용 — metric cherry-picking 방지 (사전 등록)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핵심 결과 — 5-Metric Evaluation (100 episodes)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nRMSE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VR → 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ρ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SS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RMSE_unobs [m]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WaveSplat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0.661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+0.034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ETKF (tuned)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0.319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0.898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0.109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−0.702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0.348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0.261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0.193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−0.141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6974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Skill Score: WaveSplat만 양수 (+0.034) → zero-predictor보다 나은 유일한 방법</a:t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RMSE_unobs (관측 외 영역): WS 0.262 m vs ETKF 0.348 m vs GPR 0.294 m  ← physics prior 증거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GPR = 거의 zero predictor: VR=0.065 → 진폭의 6.5%만 재현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ETKF = variance-correct but shape-wrong: VR=0.898 but ρ=0.109 (incoherent)</a:t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▪ WaveSplat: nRMSE 30.1% 낮고 ~10× 빠름 (13.4 vs 132.6 ms/frame)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한계 (panel이 함께 노출): VR=0.66 → 진폭 ~34% 과소추정 (Adam pruning 부작용)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74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추가: Sea state별 nRMSE (zero-predictor 진단용)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5394960"/>
          <a:ext cx="82296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1828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Sea state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WaveSplat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ETKF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n_ep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BF2~BF3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0.327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BF4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0.221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0.315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40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Avg (100)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0.319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100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Per-episode 결과 &amp; 속도 (12 representative episodes)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411480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왼쪽: paper/figures/fig1_comparison.pdf 또는
fig3_speed.pdf 12-ep nRMSE bar plot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868680"/>
            <a:ext cx="393192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오른쪽: 12 episode별 inference time
bar plot (paper figures 활용)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39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한눈에 보는 결론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6908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WaveSplat: 12/12 episode 모두 nRMSE 최저 (clean sweep)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최대 격차 8.5× (BF3 1-comp swell — 가장 단순한 sea)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평균 inference time: WS 13.4 ms vs ETKF 132.6 ms (~10× faster)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ETKF는 ensemble 수렴 따라 90~600 ms로 spread → median 110, mean 132.6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※ 12 episode는 BF2~BF5 × 1/2/5/15/30 components 균등 샘플 — cherry-pick 아님 (사전 등록)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통계 검증 — Multi-seed (100 paired runs)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실험 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100 paired runs = 10 (sea state, complexity) configs × 5 seeds × 2 raydrop models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각 paired run = 동일 (config, seed, raydrop)에서 WaveSplat과 baseline 동시 실행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Wilcoxon signed-rank test: 짝지은 차이의 부호 분포로 비교 (정규성 가정 X)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2240280"/>
          <a:ext cx="822960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2291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Comparison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mean ± std nRMSE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Wilcoxon W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 (raw)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Cohen's 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95% CI of mean Δ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WaveSplat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0.219 ± 0.079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vs ETKF (tuned)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0.321 ± 0.041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W=194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1.1 × 10⁻¹⁵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1.16 (large)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[0.085, 0.119]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vs GPR-sliding (3f)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0.253 ± 0.020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W=1508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4.7 × 10⁻⁴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0.42 (sm-med)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[0.018, 0.050]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0690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결과 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389120"/>
            <a:ext cx="4114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Cohen's d = 1.16 → large effect (&gt;0.8)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d = 0.42 → small-medium but 100 paired에서 robust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Holm–Bonferroni 보정: p₁=2.2×10⁻¹⁵, p₂=4.7×10⁻⁴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두 비교 모두 보정 후 유의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두 95% CI 모두 0을 포함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690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WaveSplat 자체 행은 'reference'?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389120"/>
            <a:ext cx="39319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Wilcoxon은 "두 분포의 차이"를 검정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WaveSplat은 비교의 기준 (기준 자체에는 p가 없음)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WaveSplat의 평균/std는 표시 (0.219 ± 0.079)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통계적 우위 = "WaveSplat이 baseline보다 작다"는 짝차이 검정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Conservative 검사: 20 config-level mean으로 재검정해도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p &lt; 0.001 유지 → seed-level 상관 우려 해소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Wilcoxon (1945) Biometrics Bulletin 1(6); Cohen (1988) Statistical Power Analysis (2nd ed)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Ablation — Dispersion 제약의 가치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886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Config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avg nRMSE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vs Full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R̄ (dispersion drift)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Full (dispersion 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≡ 0 (by construction)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A1 (no dispersion)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0.158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−16% nRMSE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0.51 ± 0.12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A2 (no confidence weight)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0.215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≡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788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A1이 nRMSE는 16% 낮다 — 그런데 왜 dispersion이 필요?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R̄ = Σ|wᵢ|·|ωᵢ − ω_disp| / (ωᵢ·Σ|wⱼ|)  ← 추정 ω가 dispersion manifold에서 얼마나 이탈했는지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A1: R̄ = 0.51 ± 0.12  →  성분의 약 50%가 dispersion manifold에서 이탈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절대값 ~0.10 Hz off  →  1초 뒤 phase prediction이 de-cohere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시간 추적, 파고 예측, downstream 제어에 사용 불가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A1이 instantaneous nRMSE만 낮은 것 — 시간 외삽 능력 상실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A1의 16% 차이는 '물리적 유효성을 포기하고 얻은 nRMSE' (snapshot 적합도일 뿐)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A2 (no confidence): +14.5% nRMSE → cⱼ가 noise weighting으로 의미 있음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Ref: 본 연구 self-reference. Dispersion: Holthuijsen 2007 §5.4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추가 분석 — Forecast 능력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8640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A1 (no dispersion) — 외삽 5초 후 비교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Full: nRMSE 0.219 → 5초 후 0.231 (4% 증가)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A1:   nRMSE 0.158 → 5초 후 0.476 (3× 폭발)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A1은 instantaneous는 좋지만 시간 외삽 직후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phase decoherence로 사용 불가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516636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dispersion drift R̄가 0.51이면 위험?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548640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한 component 예시 (BF4 5c 첫 component)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|k|=0.16 rad/m  →  ω_disp = 1.25 rad/s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 추정 ω = 1.78 rad/s  →  Δω = 0.53 rad/s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1초 후 phase 오차 ≈ 0.53 rad ≈ 30°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→ 거의 모든 wave에서 위치 어긋남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Robustness — Raydrop · Sparsity · Noise · Hyperparameter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Raydrop Sensitivity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10 paired episodes (Uniform vs Slope)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WaveSplat: 20/20 wins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Slope에서 WS −9.1%, ETKF −16.2%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두 raydrop 모두에서 WS가 안정적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Fresnel-vs-specular 어느 가정이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맞든 WaveSplat 유효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Sparsity 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관측 밀도 20~100% 실험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BF4~5: 20% (~10점)에서도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&lt; 8% 성능 저하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예외: BF3 2c → N=2 해상 한계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(관측 &lt; component 수)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Grid-free → aliasing 없음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희소관측에 강건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Noise Robustness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σ ∈ {0, 0.02, 0.05, 0.10} m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σ=0.10 (5× baseline)에서도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nRMSE 변화 ±13% 이내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Adaptive N이 노이즈 흡수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가짜 component를 pruning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NEUBOAT 실측 noise (~0.05)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범위 내에서 안전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Hyperparameter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lr=10⁻², λ₁=10⁻³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τ_prune=0.10, τ_grow=0.05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BF3 5c 한 번의 sweep으로 결정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각 파라미터 ±2× 변경해도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nRMSE ±5% 이내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100 runs 모두 동일 setting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재현성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1663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모든 robustness 축에서 일관 — 단일 hyperparameter setting으로 100 runs 재현 가능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Qualitative 비교 — GT vs WaveSplat vs ETKF vs GPR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8229600" cy="256032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paper/figures/fig8_qualitative.pdf — 4 column 시각 비교
(GT | WaveSplat | ETKF | GPR-1) 한 frame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읽는 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좌→우: GT (정답) → WaveSplat → ETKF → GPR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WaveSplat: 파면 형상 정확 — 위상·진폭 모두 GT와 가까움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ETKF: 진폭은 보존되나 spatial structure가 incoherent (격자 보간 잡음)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GPR: 표면이 거의 평탄 (zero-predictor에 가까움 — VR=0.065 수치와 일관)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※ 본 슬라이드는 paper Fig 8을 활용. 실 발표 시 demo_wavesplat.gif (animation) 같이 재생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5321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Per-method 정성 진단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852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WaveSplat: 파봉·파골 모두 GT의 80~90% 진폭 유지, 위상 거의 일치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ETKF: 진폭은 보존되지만 spatial structure가 noisy — 여러 spurious component에 에너지 분산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GPR: 표면이 거의 평탄 — VR=0.065와 일관 (zero-predictor에 가까움), 격자/커널 limit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시각적 한 줄 결론: WaveSplat만 "진짜 wave field 같은" 결과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추가 기여 (1) — Spectral Accuracy (방향·파장 추정)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이게 새로운가 — ETKF/GPR로는 불가능한 능력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ETKF는 격자 위 elevation field만 추정 → 사후에 FFT 변환해야 spectrum이 나옴 (잡음 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GPR도 마찬가지 — 보간 결과를 FFT해야 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WaveSplat은 처음부터 (kᵢ, ωᵢ, φᵢ)로 파라미터화 → spectrum 자체가 직접 출력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945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검증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51460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5 components 이하 sea state에서: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Energy detection rate &gt; 93%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|k| (파장) error &lt; 0.5%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Direction error &lt; 0.2°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ω error &lt; 1% (dispersion 보장)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15+ components: directional crowding으로</a:t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   resolvability 한계 (limitations에서 다룸)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19456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의미 — downstream 응용에 직접 활용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14600"/>
            <a:ext cx="3931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Hydrofoil FF: 정확한 (kᵢ, ωᵢ)로 preview 시점 wave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slope α_wave = −∂η/∂x − w/V 계산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 forecasting: dispersion 외삽으로 5~10 s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앞 예측 (다음 슬라이드)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Encounter freq 추정: 선체 운동 dynamics 입력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DP/heave compensation: 파봉 도달 시각 예측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074920"/>
            <a:ext cx="8229600" cy="96012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paper/figures/fig_beamforming_2stage.png — beamforming peak detection 예시 (선택)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추가 기여 (2) — Sparse Robustness · Wave Forecast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Sparse Robustness — 격자 의존 baseline 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관측 밀도 10~50점 비교 (BF3 5c)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・10 pts: WS 0.191, LETKF 0.239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・20 pts: WS 0.171, LETKF 0.198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・50 pts: WS 0.155, LETKF 0.165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왜 격자가 약한가?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격자 cell 안에 관측 0~1점 → bilinear 보간 ill-posed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Cell 사이의 spatial correlation이 사라짐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Aliasing: 관측 간격이 Nyquist 미만일 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WaveSplat이 강한 이유: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Plane wave 표현이 모든 관측을 동시에 적합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격자 없이 임의 위치 평가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Wave Forecast — Dispersion 덕분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핵심 아이디어: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φᵢ(t+Δt) = φᵢ(t) + ωᵢ · Δt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↑ ω는 dispersion으로 정확 → φ 외삽 정확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검증 결과: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10 s 후 nRMSE 0.219 (즉시 추정과 거의 동등)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Skill Score &gt; 0 유지 — 시간 외삽이 zero보다 나음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BF3 2c 단순 swell: SS = +0.953 @ t+10s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A1 ablation (no dispersion) 비교: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A1은 instantaneous nRMSE 16% 낮지만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1초 뒤 phase prediction de-cohere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Forecast 능력 = dispersion이 핵심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구체 결과 — Forecast skill score (paper Table)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1c   t+5s: SS = +0.96       t+10s: SS = +0.94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2c   t+5s: SS = +0.96       t+10s: SS = +0.95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5c   t+5s: SS = +0.41       t+10s: SS = +0.18  (multi-component → drift 누적)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5c   t+5s: SS = +0.36       t+10s: SS = +0.12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15c  t+5s: SS = −0.04       t+10s: SS = −0.21  (성분 수 한계)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5852160"/>
            <a:ext cx="8229600" cy="41148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이 두 능력 (sparse-robustness + forecast)이 hydrofoil preview FF의 물리적 기반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강화 Baseline 비교 — Why &amp;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 비교를 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Reviewer 우려: "ETKF·GPR-1은 약한 baseline 아닌가? 강한 buffer를 더 추가해야 함."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→ 두 가지 강화 baseline을 추가 평가: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① LETKF (Gaspari-Cohn localization, r_loc=50m) — ETKF의 spatial localization 강화 변형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② GPR-disp (3-frame, dispersion-aware kernel) — GPR에 physics 부여 (시간 모델 도입)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6974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방법론은 어떻게 다른가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1752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 → LETKF: 각 grid 점 update 시 local observation만 사용 (Gaspari-Cohn taper),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spurious long-range correlation 억제. 단점: r_loc 작으면 amplitude 과소 (VR ↓)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GPR-1 → GPR-disp: 커널 K(x,t; x',t') = K_spatial × K_dispersion 조합;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K_dispersion은 dispersion relation으로 시간상 phase 보정. 단점: kernel 계산 비용 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4434840"/>
          <a:ext cx="5029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nRMSE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VR → 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ρ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SS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ms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WaveSplat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0.661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+0.034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14.5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LETKF (loc50)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0.228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0.111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0.359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+0.142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118.3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577840" y="443484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결과 요약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47548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nRMSE 사실상 draw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LETKF SS &gt; WS (regime별 보정)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≤5 comp: WS 압도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≥15 comp: LETKF 우세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속도: WS 8.1× faster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669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complexity-aware method selection이 최선 — 단순 sea WaveSplat, 복잡 sea LETKF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LETKF Hunt-Kostelich-Szunyogh, Physica D 230 (2007); Gaspari &amp; Cohn (1999) localization.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응용 — Hydrofoil Wave-Preview Feedforward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hydrofoil 제어에 WaveSplat? — 발상의 출발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Hydrofoil 선박: 수면 위 비행 → foil 잠수 깊이 0.5~1.0 m → 파도가 AoA를 직접 변동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feedback만으로는 encounter freq 대응 한계 — 50~100 ms loop delay = 파도 주기의 5~10%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"에러를 본 뒤 수정"이 아니라 "에러를 미리 알고 보상" 필요 → preview feedforward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WaveSplat의 spectral model은 정확한 (kᵢ, ωᵢ, φᵢ)로 foil 전방 시점의 파면 elevation·기울기를 예측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자동차 active suspension의 해양 버전 — 도로 카메라 → 서스펜션 미리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5204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제어기 설계 — 왜 이렇게?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84048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2DOF model (heave + pitch): roll은 별도 roll-foil로 처리, 종방향 ride에 집중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Tandem foil layout (전방 + 후방): collective δ_c (heave) + differential δ_d (pitch)로 분리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δ_f = δ_c − δ_d, δ_r = δ_c + δ_d (uniform/diff coupling)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Feedforward: x_preview = x_foil + V·Δt → 파면 기울기 α_wave = −∂η/∂x − w/V → δ_ff = −K_ff · α_wave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K_ff = 0.8: foil의 actual lift slope vs ideal slope 비 (model identification 결과)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IIR LP filter (α=0.05, fc≈0.8 Hz): 추정 노이즈 억제, 파도 주기 (~3-7 s) 대역 통과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feedback은 그대로 유지: FF 실패 시 fallback + 모델링 안 된 외란 (현류·바람) 보상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Faltinsen (2005) Hydrodynamics of High-Speed Marine Vehicles; Hrovat (1997) optimal preview suspension control review.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응용 — Controller Flowchart (LiDAR → 제어 전체 경로)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31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읽는 법 — 위쪽 파이프라인 (FF) + 아래쪽 (PD)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5196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윗줄 (FF): Falcon K1 → WaveSplat → Forward Predictor (preview x_pre) → IIR LP filter → K_ff gain → Foil Servo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아랫줄 (PD): Ship IMU (heave, pitch) → PD Controller → Foil Servo (FF와 합산)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Servo 출력: δ_f, δ_r ∈ [−15°, +15°] → foil 받음각 변경 → lift 변동 → ride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5321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핵심 시간 척도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852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LiDAR 10 Hz → WaveSplat 13.4 ms → preview 100 ms ahead → 파도 주기 4-7 s 중 5%만 활용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Closed-loop bandwidth ≈ 1 Hz (servo limit) → 파도 encounter freq (0.2-0.5 Hz)와 정합</a:t>
            </a:r>
          </a:p>
        </p:txBody>
      </p:sp>
      <p:pic>
        <p:nvPicPr>
          <p:cNvPr id="9" name="Picture 8" descr="hydrofoil_controller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868680"/>
            <a:ext cx="87782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(1) — Feedforward 효과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86868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Scenario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PD-only aRMS [m/s²]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GT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WS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Noisy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BF3 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1.631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BF4 Head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2.162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+12.3%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+12.2%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+11.8%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BF3 Beam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0.402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+40.7%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+37.7%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BF3 Quarter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1.178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+17.6%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+17.7%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+17.0%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9260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C05317"/>
                </a:solidFill>
                <a:latin typeface="Times New Roman"/>
              </a:rPr>
              <a:t>핵심 결과: WaveSplat FF → GT FF의 93~103% 성능 달성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WaveSplat의 20% nRMSE 추정으로도 GT 대비 거의 완전한 feedforward 효과 회복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Beam sea에서 가장 큰 개선 (+37.7%) — 파면이 vessel과 평행 → preview 길이 짧아 추정 유리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Noisy FF (인위적 노이즈 주입)도 LP filter 덕분에 효과적 — 추정이 부정확해도 활용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Beam: ISO 2631 기준 'Slight discomfort' → 'Comfortable' 달성 (aRMS &lt; 0.315)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실용 의미: 추정 정확도가 느슨해도 FF는 동작 — 제어 성능의 nRMSE tolerance가 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6634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ISO 2631 승차감 기준 — 객관적 평가 척도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983480"/>
            <a:ext cx="4114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ISO 2631-1: 인체 vibration exposure 기준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aRMS [m/s²] 기준 분류: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&lt; 0.315  Comfortable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0.315 ~ 0.63  Slight discomfort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0.50 ~ 1.00  Fairly uncomfortable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0.80 ~ 1.60  Uncomfortable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&gt; 1.60  Very uncomfortable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466344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Encounter angle 별 해석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98348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Head sea (μ=180°): 짧은 encounter wavelength →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Foil이 빠르게 wave 통과 → preview 짧아도 충분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Beam sea (μ=90°): 긴 encounter wavelength →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파면이 천천히 변화 → preview 길어야 효과적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Quarter (μ=135°): 중간 — 균형적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Following (μ=0°): 거의 정적 → FF 효과 적음 (생략)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(2) — Sensitivity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411480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thesis/figures_hf/fig_nrmse_sensitivity.pdf —
nRMSE 0~50% 변화에 따른
FF 성능 (aRMS reduction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868680"/>
            <a:ext cx="393192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thesis/figures_hf/fig_preview_sweep.pdf —
Preview horizon 0~1 s 변화에 따른
FF 성능 (Head/Beam/Quarter)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39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nRMSE Tolerance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69080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0~50% 전 구간에서 FF 유효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50% nRMSE에서도 FF 효과 존재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graceful degradation, 임계값 없음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LP filter가 고주파 추정 노이즈 억제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부정확한 추정도 유용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실용: WaveSplat 20% nRMSE는 충분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749039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최적 Preview Horizon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6908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Head sea: 최적 0.1 s (~1.1 m ahead)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Beam sea: 최적 0.3 s (~3.4 m ahead)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물리적 의미: 파도-foil 상호작용 시간 척도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너무 긴 preview → 위상 불일치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너무 짧은 preview → reaction 부족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실용: 0.1~0.3 s면 충분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(3) — End-to-End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LiDAR → WaveSplat → Forward Predictor → FF → Foil Servo (전체 파이프라인)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Scenario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WS/GT ratio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평가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BF3 2-comp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near-perfect (단순 swell)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BF3 beam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92%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excellent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BF4 5-comp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limited (direction error 전파)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017520"/>
            <a:ext cx="8229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단순 sea: WS E2E → GT의 92~96% 달성 (즉, WS 결과를 GT처럼 써도 무방)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5-comp: 37% — directional misestimation의 영향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보조 지표 directional spectrum의 한계가 제어로 전파됨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개선: multi-frame 방향 voting, vessel yaw 변화 활용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핵심 발견: amplitude 정확도보다 direction 정확도가 FF 성능에 더 중요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(제어 input은 ∂η/∂x → 방향 미분이 amplitude보다 supersensitive)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846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BF4 한계의 원인 — Direction error 전파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FF 명령 = K_ff × α_wave   ←   α_wave = −∂η/∂x − w/V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∂η/∂x는 wave 방향 미분 → direction estimate에 supersensitive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Direction이 5° 어긋나면 ∂η/∂x 부호 바뀔 수 있음 → FF가 오히려 disturbance 증폭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5-comp 사례: 두 component가 ±20° 분리되어 있어 superposition 시 phase 어긋남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5989320"/>
            <a:ext cx="8229600" cy="36576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개선 방향: (a) vessel yaw 변화 활용한 multi-frame direction voting  (b) IMU heading 기반 directional prior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한계와 지금까지의 연구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한계 (정직한 보고)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WaveSplat 추정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VR=0.66 → 진폭 ~34% 과소추정 (Adam pruning 부작용)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Directional spectrum (보조 지표): 30+ comp에서 R² 폭발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(peak alignment 민감도 — metric 자체의 한계)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Adam momentum의 부호 진동 → 진폭 감쇠 잔존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N_true ≥ 30 → 성분 수 표현력 한계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Hydrofoil 응용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BF4 E2E → 37% (direction error 전파)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2DOF (heave+pitch) — roll은 별도 roll foil 담당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선형 foil model (ventilation 간소화)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공통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시뮬레이션 전용 → 실측 검증 필요 (수조 + 실선)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선형 파도 모델 → Stokes-2+ 미반영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해류·바람 변화에 따른 k 천이 미추정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지금까지의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[기본 알고리즘]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❶ Grid-free spectral 파면 추정 (3DGS의 해양파 버전)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❷ Dispersion hard constraint (5N→4N)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❸ Adaptive N (pruning + growth + safety rollback)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❹ Geometry-aware confidence weighting (cos·1/d)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❺ Pre-specified 5-metric panel (cherry-pick 방지)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❻ 24-config ETKF sweep (fair tuned baseline)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❼ Spectral + Sparse + Forecast 3가지 고유 능력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[응용 — Hydrofoil ride control]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❽ Dual-actuator wave-preview FF (collective + diff)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❾ nRMSE tolerance + preview horizon 설계 지침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❿ E2E LiDAR → 추정 → 제어 파이프라인 실증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(BF3에서 GT 대비 92~96% 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5989320"/>
            <a:ext cx="8229600" cy="50292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WaveSplat: nRMSE 30.1%↓, ~10× faster, SS only+   |   Hydrofoil: aRMS 11~41%↓, BF3 E2E 92~96%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References — 검증된 인용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주요 참고문헌 (CrossRef DOI 검증 완료)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[1] Kerbl, B., Kopanas, G., Leimkühler, T., Drettakis, G. (2023). "3D Gaussian Splatting for Real-Time Radiance Field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Rendering." ACM TOG 42(4). DOI: 10.1145/3592433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[2] Desmars, N., Bonnefoy, F., Grilli, S.T., Ducrozet, G., Perignon, Y., Guérin, C.-A., Ferrant, P. (2020). "Experimental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and numerical assessment of deterministic nonlinear ocean waves prediction algorithms using non-uniformly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sampled wave gauges." Ocean Engineering 212, 107659. DOI: 10.1016/j.oceaneng.2020.107659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[3] Desmars, N., Hartmann, M., Behrendt, J., Hoffmann, N., Klein, M. (2023). "Nonlinear deterministic reconstruction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and prediction of remotely measured ocean surface waves." J. Fluid Mech. 975, A8. DOI: 10.1017/jfm.2023.841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[4] Hunt, B.R., Kostelich, E.J., Szunyogh, I. (2007). "Efficient data assimilation for spatiotemporal chaos: A local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ensemble transform Kalman filter." Physica D 230(1-2), 112-126. DOI: 10.1016/j.physd.2006.11.008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[5] Ehlers, S., Klein, M., Heinlein, A., Wedler, M., Desmars, N., Hoffmann, N., Stender, M. (2023). "Machine learning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for phase-resolved reconstruction of nonlinear ocean wave surface elevations from sparse remote sensing data."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Ocean Engineering 288, 116059. DOI: 10.1016/j.oceaneng.2023.116059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[6] Hwang, P.A., Krabill, W.B., Wright, W., Swift, R.N., Walsh, E.J. (2000). "Airborne Scanning Lidar Measurement of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Ocean Waves." Remote Sensing of Environment 73(2), 236-246. DOI: 10.1016/S0034-4257(00)00098-5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[7] Belmont, M.R., Horwood, J.M.K., Thurley, R.W.F., Baker, J. (2008). "Shallow Angle Wave Profiling LIDAR." IEEE/OES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9th Working Conference on Current Measurement Technology, 217-223. DOI: 10.1109/CCM.2008.4480871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[8] Wilcoxon, F. (1945). "Individual Comparisons by Ranking Methods." Biometrics Bulletin 1(6), 80. DOI: 10.2307/3001968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[9] Cohen, J. (1988). Statistical Power Analysis for the Behavioral Sciences (2nd ed.). Lawrence Erlbaum Associates.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[10] Holthuijsen, L.H. (2007). Waves in Oceanic and Coastal Waters. Cambridge University Press.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[11] Faltinsen, O.M. (2005). Hydrodynamics of High-Speed Marine Vehicles. Cambridge University Press.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[12] Born, M., Wolf, E. (1999). Principles of Optics (7th ed.). Cambridge University Press. (Fresnel R(θ))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※ 모든 인용은 CrossRef API + ScienceDirect TOC로 metadata 확인 완료 (paper/references.bib와 동기화)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74641</TotalTime>
  <Words>403</Words>
  <Application>Microsoft Office PowerPoint</Application>
  <PresentationFormat>화면 슬라이드 쇼(4:3)</PresentationFormat>
  <Paragraphs>74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2" baseType="lpstr">
      <vt:lpstr>굴림</vt:lpstr>
      <vt:lpstr>Arial</vt:lpstr>
      <vt:lpstr>Arial Black</vt:lpstr>
      <vt:lpstr>Times New Roman</vt:lpstr>
      <vt:lpstr>Wingdings</vt:lpstr>
      <vt:lpstr>디자인 사용자 지정</vt:lpstr>
      <vt:lpstr>논문 주제 선정을 위한 Study  (Tentative) A study of integrated optimization method for Azipod electric propulsion ships   </vt:lpstr>
      <vt:lpstr>Contents</vt:lpstr>
      <vt:lpstr>Contents</vt:lpstr>
      <vt:lpstr>Principle to select a topic for research</vt:lpstr>
      <vt:lpstr>Contents</vt:lpstr>
      <vt:lpstr>Environmental regulations</vt:lpstr>
    </vt:vector>
  </TitlesOfParts>
  <Company>Univ.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Sogang</dc:creator>
  <cp:lastModifiedBy>박세용</cp:lastModifiedBy>
  <cp:revision>4613</cp:revision>
  <cp:lastPrinted>2021-11-03T00:28:46Z</cp:lastPrinted>
  <dcterms:created xsi:type="dcterms:W3CDTF">2007-03-29T05:53:49Z</dcterms:created>
  <dcterms:modified xsi:type="dcterms:W3CDTF">2026-05-02T18:12:55Z</dcterms:modified>
</cp:coreProperties>
</file>