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CCEE"/>
                </a:solidFill>
                <a:latin typeface="Calibri"/>
              </a:defRPr>
            </a:pPr>
            <a:r>
              <a:t>Grid-Free Spectral Wave Field Estimation</a:t>
            </a:r>
            <a:br/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박세용 (Saeyong Park)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Avikus · HD현대  |  서울대학교 조선해양공학과  |  Lab Meeting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6692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7ACC"/>
                </a:solidFill>
                <a:latin typeface="Calibri"/>
              </a:defRPr>
            </a:pPr>
            <a:r>
              <a:t>Target: Ocean Engineering (Elsevier)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왜 이 연구가 필요한가?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Problem &amp;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선박 전방 파랑 예측이 필요한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자율운항 선박의 안전 · 승차감 · 에너지 효율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하이드로포일 선박: 파랑 preview → feedforward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해상 크레인: 파고 예측 → 보상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해양 구조물: 파랑 하중 예측 → 구조 안전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LiDAR 관측의 본질적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Sparse: 200×150 m 영역에서 프레임당 ~50점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Heterogeneous: 근거리 조밀 ↔ 원거리 희박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Noisy: beam divergence + specular dropout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10 Hz 실시간 처리 필요 (&lt; 100 ms/frame)</a:t>
            </a:r>
          </a:p>
        </p:txBody>
      </p:sp>
      <p:pic>
        <p:nvPicPr>
          <p:cNvPr id="10" name="Picture 9" descr="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84632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43891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목표: 희소 LiDAR 관측으로부터</a:t>
            </a:r>
            <a:br/>
            <a:r>
              <a:t>연속적이고 물리적으로 타당한</a:t>
            </a:r>
            <a:br/>
            <a:r>
              <a:t>파도장을 실시간 복원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기존 방법의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Prior Art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Limitation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ETKF-grid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(Desmars 2020)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Ensemble Kalman Filter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on spatial grid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격자 보간 → aliasing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O(Nₑ·G²logG²), 하이퍼파라미터 민감</a:t>
                      </a:r>
                    </a:p>
                  </a:txBody>
                  <a:tcPr anchor="ctr"/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(RBF/Matérn)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Gaussian Process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O(M³), 시간 모델 없음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단순 공간 보간 → zero-predictor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PINN / FNO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(Ehlers 2024)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Neural Network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기반 추정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학습 분포 의존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 불규칙 샘플링과 궁합 나쁨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553A"/>
                </a:solidFill>
                <a:latin typeface="Calibri"/>
              </a:defRPr>
            </a:pPr>
            <a:r>
              <a:t>공통 문제: 격자(grid)에 의존 → 희소 관측에서 aliasing &amp; 불필요한 계산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→ Grid-free representation이 필요하다!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WaveSplat의 Novelty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Why this is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핵심 아이디어: 파도장을 N개의 spectral component (plane wave)로 직접 파라미터화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onsolas"/>
              </a:defRPr>
            </a:pPr>
            <a:r>
              <a:t>z(x, y, t)  =  Σᵢ  wᵢ · cos(kx,ᵢ · x  +  ky,ᵢ · y  −  ωᵢ · t  +  φᵢ)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❶ Grid-free spectral representation — 3D Gaussian Splatting의 해양파 버전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❷ Dispersion hard constraint: ωᵢ = √(g·|kᵢ|·tanh(|kᵢ|·d))  →  5N → 4N 파라미터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❸ Adaptive model order: energy pruning + residual growth + safety rollback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❹ Fresnel confidence weighting: cⱼ = cos(θⱼ)/(dⱼ/d_ref)  — LiDAR 관측 품질 모델링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❺ Pre-specified 6-metric evaluation panel — zero-predictor 구분 가능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❻ 24-config ETKF hyperparameter sweep — 공정한 tuned baseline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(1): Forward &amp; Observation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Forward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z(x, y, t) = Σᵢ wᵢ cos(kx,ᵢ x + ky,ᵢ y − ωᵢ t + φᵢ)</a:t>
            </a:r>
            <a:br/>
            <a:br/>
            <a:r>
              <a:t>ωᵢ = √(g |kᵢ| tanh(|kᵢ| d))     ← hard constraint</a:t>
            </a:r>
            <a:br/>
            <a:br/>
            <a:r>
              <a:t>파라미터: {wᵢ, kx,ᵢ, ky,ᵢ, φᵢ}  → 4N개</a:t>
            </a:r>
            <a:br/>
            <a:r>
              <a:t>(ω는 k로부터 결정되므로 자유변수 아님)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Observation Model (Fresnel Confidence)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cⱼ = cos(θⱼ) / (dⱼ / d_ref)</a:t>
            </a:r>
            <a:br/>
            <a:br/>
            <a:r>
              <a:t>L = (1/M) Σⱼ cⱼ (zⱼ − ẑⱼ)²</a:t>
            </a:r>
            <a:br/>
            <a:r>
              <a:t>    + λ₁ Σ|wᵢ|             (sparsity)</a:t>
            </a:r>
            <a:br/>
            <a:r>
              <a:t>    + λs Σ(Δwᵢ)²          (smoothness)</a:t>
            </a:r>
            <a:br/>
            <a:br/>
            <a:r>
              <a:t>θⱼ: beam incidence angle</a:t>
            </a:r>
            <a:br/>
            <a:r>
              <a:t>dⱼ: range,  d_ref = 125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572000"/>
            <a:ext cx="9418320" cy="13716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1A1A2E"/>
                </a:solidFill>
                <a:latin typeface="Calibri"/>
              </a:defRPr>
            </a:pPr>
            <a:r>
              <a:t>물리적 의미: dispersion 제약은 '이 파도가 실제 중력파'임을 보장.</a:t>
            </a:r>
            <a:br/>
            <a:r>
              <a:t>ω를 자유롭게 놓으면 nRMSE는 낮아지지만, 1초 뒤 예측이 발산 (A1 ablation에서 확인)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(2): 2-Phase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Init →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Phase 1: Initialization  (T_init = 2Tₚ)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① Dispersion-aware beamforming (v2_konly)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→ polar k-grid (64 radial × 128 azimuthal)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② Greedy peak extraction (15° suppression)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③ Coarse-to-fine Adam: N=3 → 8 → 15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(200 iters/stage, lr=5e-3)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④ Energy-based pruning (90% threshold)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+ RMSE 130% safety rollback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⑤ Residual growth: RMS &gt; 0.05m → beamform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성분 추가 (Nmax = 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Phase 2: Tracking  (w_phi mode, 10 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Predict:  φᵢ ← φᵢ + ωᵢ · Δt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(dispersion-exact phase propagation)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Update:  K=10 Adam steps (lr=1e-3)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on Kw=3 sliding-frame window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only (wᵢ, φᵢ) updated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kx, ky are FROZEN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Why freeze k?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단일 프레임에서 kx/ky는 ill-conditioned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Multi-frame init이 충분히 평균화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φ warm start → 200 → 10 gradient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303520"/>
            <a:ext cx="941832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Adaptive N:  N=1 (단일 swell) ~ N=21 (complex sea)  |  13.4 ms/frame 평균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시뮬레이션 데이터의 물리적 신뢰성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WaveSim: Why We Can Trust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파도 생성: JONSWAP + Gerstner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JONSWAP 스펙트럼 → BF2~BF5 (Hs 0.3~2.0m)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Gerstner wave: 2차 비선형 정확해 (trochoid)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분산관계: ω = √(g|k|tanh(|k|d)),  오차 &lt; 10⁻⁶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단일 성분 해석해 대비 RMSE &lt; 10⁻¹⁰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LiDAR 모델: Seyond Falcon K1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1550 nm, 152 ch, 120°×25° FOV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Ray-surface: Möller-Trumbore → ~50점/frame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Fresnel 반사 (n=1.321): R(0°)≈2%, R(89°)&gt;80%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Noise: σ_range=0.02m, σ_angle=0.05°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553A"/>
                </a:solidFill>
                <a:latin typeface="Calibri"/>
              </a:defRPr>
            </a:pPr>
            <a:r>
              <a:t>2가지 Raydrop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Uniform (diffuse): Fresnel × cos(θ) / d²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Slope (specular): retroreflection 조건 기반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389120"/>
            <a:ext cx="5303520" cy="182880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CA02C"/>
                </a:solidFill>
              </a:defRPr>
            </a:pPr>
            <a:r>
              <a:t>검증 체인 (39 unit tests)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분산관계 deep/shallow 해석해 일치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Gerstner RMSE &lt; 10⁻¹⁰ m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Fresnel R(0°) = ((n-1)/(n+1))² 정확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Q-constraint 위반 없음 (BF2~BF5 전체)</a:t>
            </a:r>
          </a:p>
          <a:p>
            <a:pPr>
              <a:spcAft>
                <a:spcPts val="200"/>
              </a:spcAft>
              <a:defRPr sz="1200">
                <a:solidFill>
                  <a:srgbClr val="1A1A2E"/>
                </a:solidFill>
              </a:defRPr>
            </a:pPr>
            <a:r>
              <a:t>✓ Raydrop 확률 ∈ [0,1], 물리적 일관성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실험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Dataset &amp; Baselines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Total episodes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  (5 seeds × 10 configs × 2 raydrop)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Sea state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BF2~BF5  (Hs 0.3~2.0 m)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1, 2, 5, 15, 30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Raydrop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Uniform (diffuse)  +  Slope (specular)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301 frames (30 s @ 10 Hz)</a:t>
                      </a:r>
                    </a:p>
                  </a:txBody>
                  <a:tcPr anchor="ctr"/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Seyond Falcon K1 spec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24-config sweep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best: g=40×30, nₑ=100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nRMSE 0.319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(sweep range: 3.3×)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Matérn ν=5/2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ℓ=20m, σ=0.02m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시간 모델 없음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3-frame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강한 GPR 버전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Pre-specified 6-metric evaluation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nRMSE ↓  |  Variance Ratio (VR) → 1  |  Pearson ρ ↑  |  Skill Score (SS) ↑  |  Directional R² ↑  |  Hs error ↓</a:t>
            </a:r>
            <a:br/>
            <a:br/>
            <a:r>
              <a:t>핵심: SS = 1 − MSE(ẑ)/MSE(0)  →  양수면 zero-predictor(ẑ=0)보다 나은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핵심 결과: 6-Metric Evaluation (100 episodes)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★ Primary Result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102"/>
                <a:gridCol w="1476102"/>
                <a:gridCol w="1476102"/>
                <a:gridCol w="1476102"/>
                <a:gridCol w="1476102"/>
                <a:gridCol w="1476102"/>
                <a:gridCol w="1476108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nRMSE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Hs err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VR → 1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SS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 R²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−0.253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0.319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0.898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0.109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−0.702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+0.065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0.780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−0.140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+0.028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38404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✅ Skill Score: WaveSplat만 양수 (+0.034) — zero-predictor보다 나은 유일한 방법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GPR은 거의 zero predictor: VR=0.065 → 진폭의 6.5%만 재현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ETKF는 variance-correct but shape-wrong: VR=0.898 but ρ=0.109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⚡ WaveSplat nRMSE 30.1% lower  &amp;  ~10× faster (13.4 vs 132.6 ms)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WaveSplat 한계도 노출: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VR=0.66 → 진폭 ~34% 과소추정 (pruning의 대가)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Dir R²=−0.25 → 방향 성분은 chance 미만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9/23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Per-episode 결과 &amp; 속도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12 Representative Episodes</a:t>
            </a:r>
          </a:p>
        </p:txBody>
      </p:sp>
      <p:pic>
        <p:nvPicPr>
          <p:cNvPr id="6" name="Picture 5" descr="fig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4114800"/>
          </a:xfrm>
          <a:prstGeom prst="rect">
            <a:avLst/>
          </a:prstGeom>
        </p:spPr>
      </p:pic>
      <p:pic>
        <p:nvPicPr>
          <p:cNvPr id="7" name="Picture 6" descr="fig3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WaveSplat: 12/12 승  |  Best 8.5×  |  13.4 ms vs 132.6 ms (~10× faster)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10/23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통계 검증 (100 Paired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Statistical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37160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64"/>
                <a:gridCol w="1883664"/>
                <a:gridCol w="1883664"/>
                <a:gridCol w="1883664"/>
                <a:gridCol w="1883664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± std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Wilcoxon 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Cohen's 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0.219 ± 0.079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ETKF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0.321 ± 0.041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 × 10⁻¹⁵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1.16 (large)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[0.085, 0.119]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0.253 ± 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4.7 × 10⁻⁴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0.42 (sm-med)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[0.018, 0.050]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7" name="Picture 6" descr="fig6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840480"/>
            <a:ext cx="502920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100 paired = 10 configs × 5 seeds × 2 raydrop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같은 조건에서 WS vs baseline → paired test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1.16 → large effect (&gt; 0.8)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ETKF 차이가 매우 유의미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0.42 → small-medium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GPR도 통계적으로 robust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CI 모두 0을 포함하지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11/23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Ablation: Dispersion 제약의 가치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A1 vs Full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  <a:gridCol w="2583180"/>
                <a:gridCol w="25831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nRMSE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Full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R̄ (dispersion drift)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Full (dispersion 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 (by construction)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A1 (no dispersion)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−16% nRMSE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0.51 ± 0.12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A2 (no confidence)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3657600"/>
            <a:ext cx="10332720" cy="2286000"/>
          </a:xfrm>
          <a:prstGeom prst="roundRect">
            <a:avLst/>
          </a:prstGeom>
          <a:solidFill>
            <a:srgbClr val="FFF3E0"/>
          </a:solidFill>
          <a:ln>
            <a:solidFill>
              <a:srgbClr val="E85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553A"/>
                </a:solidFill>
              </a:defRPr>
            </a:pPr>
            <a:r>
              <a:t>A1이 nRMSE는 16% 낮다. 그런데 왜 dispersion이 필요한가?</a:t>
            </a:r>
          </a:p>
          <a:p>
            <a:pPr>
              <a:spcBef>
                <a:spcPts val="1000"/>
              </a:spcBef>
              <a:defRPr sz="1400">
                <a:solidFill>
                  <a:srgbClr val="1A1A2E"/>
                </a:solidFill>
              </a:defRPr>
            </a:pPr>
            <a:r>
              <a:t>R̄ = Σ|wᵢ|·|ωᵢ − ω_disp|/(ωᵢ·Σ|wⱼ|)</a:t>
            </a:r>
            <a:br/>
            <a:br/>
            <a:r>
              <a:t>A1: R̄ = 0.51 ± 0.12  →  성분의 약 50%가 dispersion manifold에서 이탈</a:t>
            </a:r>
            <a:br/>
            <a:r>
              <a:t>→ 절대값 ~0.10 Hz off  →  1초 뒤 phase prediction이 de-cohere</a:t>
            </a:r>
            <a:br/>
            <a:r>
              <a:t>→ 시간 추적, 파고 예측, downstream 제어에 사용 불가</a:t>
            </a:r>
            <a:br/>
            <a:br/>
            <a:r>
              <a:t>결론: A1의 16%는 '물리적 유효성을 포기하고 얻은 nRMSE'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12/23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Robustness: Raydrop · Sparsity ·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Raydrop Sensitivity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 paired episodes (U vs 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WaveSplat: 20/20 wins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Slope: WS −9.1%, ETKF −16.2%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raydrop 모두에서 안정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Sparsity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20~100% 실험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BF4~5: 20% (~10점)에서도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&lt; 8% 성능 저하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예외: BF3 2c (N=2 해상 한계)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Noise Robustness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 ∈ {0, 0.02, 0.05, 0.10} 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σ=0.10 (5× baseline)에서도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nRMSE 변화 ±13% 이내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Adaptive N이 노이즈 흡수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pruning이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Hyperparameter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lr=0.01, λ₁=1e-3, τ_prune=0.10, τ_grow=0.05  — BF3 5c 한 번의 sweep으로 결정</a:t>
            </a:r>
            <a:br/>
            <a:r>
              <a:t>각 파라미터 ±2× 변경해도 nRMSE ±5% 이내  |  100 runs 전체가 동일 설정으로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13/23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Qualitative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GT vs WaveSplat vs ETKF vs GPR</a:t>
            </a:r>
          </a:p>
        </p:txBody>
      </p:sp>
      <p:pic>
        <p:nvPicPr>
          <p:cNvPr id="6" name="Picture 5" descr="fig8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14/23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추가 기여: 3가지 고유 능력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Spectral Accuracy · Sparse Robustness ·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Spectral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5comp 이하: energy det &gt;93%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|k| error &lt; 0.5%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direction error &lt; 0.2 deg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ETKF/GPR에 없는 고유 능력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(grid-free spectral → 주파수 직접 추출)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Calibri"/>
              </a:defRPr>
            </a:pPr>
            <a:r>
              <a:t>Sparse Robustness (WS vs LETKF)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10~50점 비교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10pts: WS 0.191 vs LETKF 0.239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희소 관측에서 더 강건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Grid-free → aliasing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Wave Forecast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10초 후 nRMSE 0.219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Skill Score &gt; 0 유지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 2c: SS = +0.953 @t+10s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Dispersion constraint 덕분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(A1 없으면 예측 발산)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572000"/>
            <a:ext cx="10332720" cy="164592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CA02C"/>
                </a:solidFill>
              </a:defRPr>
            </a:pPr>
            <a:r>
              <a:t>이 3가지 능력은 WaveSplat만의 고유한 장점 (ETKF/GPR 불가능)</a:t>
            </a:r>
          </a:p>
          <a:p>
            <a:pPr>
              <a:defRPr sz="1400">
                <a:solidFill>
                  <a:srgbClr val="1A1A2E"/>
                </a:solidFill>
              </a:defRPr>
            </a:pPr>
            <a:r>
              <a:t>Spectral accuracy: 파면 스펙트럼을 직접 파라미터화하므로 가능</a:t>
            </a:r>
            <a:br/>
            <a:r>
              <a:t>Sparse robustness: grid-free → 관측 밀도 무관</a:t>
            </a:r>
            <a:br/>
            <a:r>
              <a:t>Forecast: dispersion constraint가 시간적 일관성 보장 → feedforward 제어의 물리적 근거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15/23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논문 2: Hydrofoil Feedforward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Wave-Preview Control for Hydrofoil Vessels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왜 하이드로포일 제어에 WaveSplat?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Hydrofoil: 수면 위 비행 → 파도 교란에 극도로 민감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Foil 잠수 깊이 0.5~1.0m → AoA 직접 변동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PD feedback만으로는 encounter freq 대응 한계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(50~100ms loop delay = 파도 주기의 5~10%)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핵심 아이디어: WaveSplat의 spectral model로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foil 전방 파도를 미리 예측 → feedforward 보상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자동차 preview suspension의 해양 버전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제어 구조: PD + Wave-Preview 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2DOF 모델: heave + pitch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선박: 1700kg, 22kts, tandem foil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NACA 63-series foil sections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PD feedback: collective-differential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δ_f = δ_c - δ_d,  δ_r = δ_c + δ_d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Feedforward: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x_preview = x_foil + V · Δt_prev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α_wave = -∂η/∂x - w/V  (at preview pt)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δ_ff = -K_ff · α_wave  (K_ff=0.8)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IIR LP filter (α=0.05, fc≈0.8Hz)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→ 추정 노이즈 억제, 파도 신호 통과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16/23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(1): Feedforward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PD-only vs PD+GT_FF vs PD+WS_FF vs PD+Noisy_FF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6544"/>
                <a:gridCol w="2066544"/>
                <a:gridCol w="2066544"/>
                <a:gridCol w="2066544"/>
                <a:gridCol w="2066544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PD-only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aRMS [m/s²]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GT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WS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Noisy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Head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1.631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+11.7%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BF4 Head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2.162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+12.3%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+12.2%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+11.8%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Beam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+40.7%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+37.7%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+27.5%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Quarter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1.178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+17.6%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+17.7%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+17.0%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A02C"/>
                </a:solidFill>
                <a:latin typeface="Calibri"/>
              </a:defRPr>
            </a:pPr>
            <a:r>
              <a:t>WaveSplat FF → GT FF의 93~103% 성능 달성!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WS 20% nRMSE로도 GT 대비 93~103% feedforward 효과 회복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Beam sea에서 가장 큰 개선 (+37.7%) — 파면이 평행하여 추정 유리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Noisy FF (인위적 노이즈 주입)도 LP filter 덕분에 효과적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 Beam: ISO 2631 'Slight discomfort' → 'Comfortable' 달성 (aRMS &lt; 0.315)</a:t>
            </a:r>
          </a:p>
        </p:txBody>
      </p:sp>
      <p:pic>
        <p:nvPicPr>
          <p:cNvPr id="9" name="Picture 8" descr="fig_phase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4389120"/>
            <a:ext cx="301752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17/23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(2): 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nRMSE Tolerance &amp; Preview Horizon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추정 오차 허용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nRMSE 0~50% 전 구간에서 FF 유효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50% nRMSE에서도 FF 효과 존재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threshold 없음 (graceful degradation)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LP filter가 고주파 추정 노이즈 억제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부정확한 추정도 유용하게 활용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실용적 의미: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WaveSplat의 20% nRMSE는 충분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더 정확할 필요 없이 제어에 활용 가능</a:t>
            </a:r>
          </a:p>
        </p:txBody>
      </p:sp>
      <p:pic>
        <p:nvPicPr>
          <p:cNvPr id="8" name="Picture 7" descr="fig_nrms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0"/>
            <a:ext cx="502920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최적 Preview Horizon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Head sea: 최적 0.1s (~1.1m ahead)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Beam sea: 최적 0.3s (~3.4m ahead)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물리적 의미: 파도-foil 상호작용 시간 스케일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너무 긴 preview → 위상 불일치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너무 짧은 preview → reaction 부족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Encounter freq에 따라 최적점 변화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실용: 0.1~0.3s면 충분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(cruise speed에서 1~3m 전방)</a:t>
            </a:r>
          </a:p>
        </p:txBody>
      </p:sp>
      <p:pic>
        <p:nvPicPr>
          <p:cNvPr id="11" name="Picture 10" descr="fig_preview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572000"/>
            <a:ext cx="5029200" cy="2011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18/23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(3): End-to-End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LiDAR → WaveSplat → Feedforward → Ride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End-to-End Pipeline 결과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5029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WS/GT ratio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평가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2-comp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near-perfect (simple sea)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beam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92%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excellent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BF4 5-comp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limited (direction error)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114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BF3: WaveSplat E2E → GT의 92~96% 달성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BF4: 37% — directional misestimation 영향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Dir R² = -0.25 문제가 제어에 전파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핵심 발견: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amplitude 정확도보다 direction 정확도가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feedforward 성능에 더 중요</a:t>
            </a:r>
          </a:p>
        </p:txBody>
      </p:sp>
      <p:pic>
        <p:nvPicPr>
          <p:cNvPr id="9" name="Picture 8" descr="fig_e2e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19/23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시뮬레이션 데모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PD-only vs PD+Feedforward — BF3 Head Sea Animation</a:t>
            </a:r>
          </a:p>
        </p:txBody>
      </p:sp>
      <p:pic>
        <p:nvPicPr>
          <p:cNvPr id="6" name="Picture 5" descr="_anim_first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3272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※ 실제 발표 시 GIF 파일(docs/hydrofoil_wave_animation.gif)을 삽입하여 재생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20/23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한계와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WaveSplat 추정 한계: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VR = 0.66 → 진폭 34% 과소추정 (pruning 대가)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Dir R² = −0.25 → 방향 추정이 가장 큰 약점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  → 개선: multi-frame 방향 voting / 2D k-space 정규화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진폭 감쇠 (Adam momentum 부호 진동)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Nₜᵣᵤₑ ≥ 30 이상 복잡 해상 → 성분 수 한계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Hydrofoil 제어 한계: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BF4 E2E → 37% (direction error 전파)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2DOF (heave+pitch): roll은 별도 roll foil 담당 구조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선형 foil model (ventilation 간소화)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공통 한계: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시뮬레이션 전용 → 실측 검증 필요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선형 파도 모델 → Stokes-2+ 미반영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해류/바람 변화에 따른 k 천이 미추정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전체 Contributions (논문 1+2)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❶ Grid-free spectral 파면 추정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❷ Dispersion hard constraint (5N→4N)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❸ Adaptive N (pruning + growth)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❹ Fresnel confidence weighting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❺ Pre-specified 6-metric panel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❻ 24-config ETKF sweep (fair baseline)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[논문1] ❼ Spectral accuracy + Sparse robustness + Forecast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[논문2] ❽ Dual-actuator wave-preview FF architecture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[논문2] ❾ nRMSE tolerance + preview horizon 설계 지침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• [논문2] ❿ E2E LiDAR→추정→제어 파이프라인 실증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WaveSplat: nRMSE 30.1%↓, ~10× faster, SS only+  |  Hydrofoil: aRMS 11~41%↓, BF3 E2E 92~96%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21/23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학위논문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선박 탑재 LiDAR 기반 실시간 파랑장 추정과 그 제어 응용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학위논문 목차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Ch.1 서론: 연구 배경, 목적, 범위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Ch.2 문헌 조사: 파랑 추정 + 제어 선행연구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Ch.3 WaveSplat (논문 1)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시뮬레이션, 알고리즘, 실험, 분석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+ 3 추가 기여 (spectral/sparse/forecast)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Ch.4 Hydrofoil FF Control (논문 2)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동역학 모델, 제어 설계, sensitivity, E2E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Ch.5 결론 및 향후 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부록: 파라미터 표, 추가 그래프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현재 진행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논문 1 (WaveSplat)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코드/실험 완료 (57 tests pass)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논문 작성 완료 (Ocean Eng. format)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적대적 페르소나 10라운드 검토 완료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공동저자 sign-off → 투고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논문 2 (Hydrofoil)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시뮬레이션 완료 (Phase 1~3)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초안 작성 완료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공동저자 검토 → 투고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학위논문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초안 완성 (203K lines, PDF 생성)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지도교수 검토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22/23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향후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Plans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단기 계획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논문 1 투고 (Ocean Engineering)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논문 2 투고 (Ocean Engineering / JSR)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수조 실험 검증 (SNU 조파수조, 2026 하반기)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규칙파/불규칙파 3~5 조건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용량식 wave gauge GT + Seyond Falcon K1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Sim-to-Real gap 정량화 (raydrop, noise)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확장 연구 방향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MPC 기반 6-DOF 통합 제어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preview information의 최적 활용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Stokes-2 nonlinear wave model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급경사파, 쇄파 환경 대응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해류(current) 동시 추정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실선 탑재 → 자율운항 통합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754880"/>
            <a:ext cx="9418320" cy="13716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007ACC"/>
                </a:solidFill>
              </a:defRPr>
            </a:pPr>
            <a:r>
              <a:t>박사학위 논문 주제</a:t>
            </a:r>
          </a:p>
          <a:p>
            <a:pPr algn="ctr">
              <a:defRPr sz="2200" b="1">
                <a:solidFill>
                  <a:srgbClr val="FFFFFF"/>
                </a:solidFill>
              </a:defRPr>
            </a:pPr>
            <a:r>
              <a:t>선박 탑재 LiDAR 기반 실시간 파랑장 추정과 그 제어 응용</a:t>
            </a:r>
          </a:p>
          <a:p>
            <a:br/>
            <a:pPr algn="ctr">
              <a:defRPr sz="1800">
                <a:solidFill>
                  <a:srgbClr val="AACCEE"/>
                </a:solidFill>
              </a:defRPr>
            </a:pPr>
            <a:r>
              <a:t>감사합니다. 질문 부탁드립니다.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23/23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