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85" r:id="rId38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용어 정리 — 본 발표를 따라가기 위한 핵심 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데이터 /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Beaufort scale (BF):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풍속 기반 해상 강도. BF2(Hs≈0.3 m) ~ BF5(Hs≈2.0 m)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Hs (significant wave height):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파고 분포의 4σ — "체감 파고"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Tp (peak period):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spectrum이 가장 큰 주파수의 주기 (s)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JONSWAP / Pierson-Moskowitz: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해양 spectrum 모델 (북해 관측 기반)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Dispersion relation: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파장↔주기 물리 법칙 ω=√(g|k|·tanh(|k|·d))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encounter frequency: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움직이는 선박이 만나는 파의 겉보기 주파수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추정 / 평가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ETKF (Ensemble Transform Kalman Filter):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격자 위에서 ensemble로 상태 추정 (NWP 기법)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GPR (Gaussian Process Regression):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커널 기반 비모수 회귀 — 단순 공간 보간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nRMSE = RMSE / Hs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Hs로 정규화한 오차 — 5% 이하면 우수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VR (Variance Ratio) = Var(ẑ)/Var(z)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진폭 보존도. 1=완벽, 0=평탄(under-fit)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Pearson ρ: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shape 일치도 (진폭과 무관)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SS (Skill Score) = 1 − MSE(ẑ)/MSE(0)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양수 = "0 예측보다 나음"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RMSE_unobs: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관측에서 ≥10 m 떨어진 영역만의 RMSE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Wilcoxon signed-rank test: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짝지은 차이의 부호 분포 검정 (정규성 X)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Cohen's d: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effect size — 0.8 이상이면 large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모든 항목은 본 발표 후속 슬라이드에서 다시 등장합니다 — 모르는 단어 나오면 이 슬라이드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Dispersion 제약: 추정된 파동을 "실제 중력파 dispersion 위에 있도록" 강제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ω를 자유로 두면 nRMSE만 ↓, 1초 뒤 phase 발산 (A1 ablation 확인)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cⱼ = cos(θ)·1/(d/d_ref)는 단순 기하 가중치 — 정확한 Fresnel R(θ)가 아님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본 항목 명명을 'Fresnel-aware' → 'geometry-aware'로 정정 (paper)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λ₁ sparsity: dominant component만 살리도록 spectral 표현 압축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RMSE(unobs)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ETKF → LETKF: 각 grid 점 update 시 local 관측만 사용 (Gaspari-Cohn taper)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spurious long-range correlation 억제 / 단점: r_loc ↓시 amplitude 과소 (VR ↓)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GPR-1 → GPR-disp: 커널 K = K_spatial × K_dispersion 조합으로 시간 phase 보정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physics-aware GPR로 "공정한" 비교 / 단점: 커널 계산 비용 ↑ (~36× 느림)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비유 — 자동차 active suspension의 해양 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자동차: 전방 카메라 → 노면 검지 → 서스펜션 미리 조절 → 충격 감소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하이드로포일: 전방 LiDAR → WaveSplat → preview 시점 wave 기울기 → foil 받음각 조정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차이: 도로보다 파도가 시간으로 변하므로 dispersion 외삽이 추가로 필요 (WaveSplat 기여)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directional misestimation의 영향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보조 지표 directional spectrum의 한계가 제어로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Directional spectrum (보조 지표): 30+ comp에서 R² 폭발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(peak alignment 민감도 — metric 자체의 한계)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WaveSplat: nRMSE 30.1%↓, ~10× faster, SS only+   |   Hydrofoil: aRMS 11~41%↓, BF3 E2E 92~96%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References — 검증된 인용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주요 참고문헌 (CrossRef DOI 검증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[1] Kerbl, B., Kopanas, G., Leimkühler, T., Drettakis, G. (2023). "3D Gaussian Splatting for Real-Time Radiance Field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Rendering." ACM TOG 42(4). DOI: 10.1145/3592433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[2] Desmars, N., Bonnefoy, F., Grilli, S.T., Ducrozet, G., Perignon, Y., Guérin, C.-A., Ferrant, P. (2020). "Experimental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numerical assessment of deterministic nonlinear ocean waves prediction algorithms using non-uniformly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sampled wave gauges." Ocean Engineering 212, 107659. DOI: 10.1016/j.oceaneng.2020.107659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[3] Desmars, N., Hartmann, M., Behrendt, J., Hoffmann, N., Klein, M. (2023). "Nonlinear deterministic reconstruction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prediction of remotely measured ocean surface waves." J. Fluid Mech. 975, A8. DOI: 10.1017/jfm.2023.841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[4] Hunt, B.R., Kostelich, E.J., Szunyogh, I. (2007). "Efficient data assimilation for spatiotemporal chaos: A local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ensemble transform Kalman filter." Physica D 230(1-2), 112-126. DOI: 10.1016/j.physd.2006.11.008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[5] Ehlers, S., Klein, M., Heinlein, A., Wedler, M., Desmars, N., Hoffmann, N., Stender, M. (2023). "Machine learning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for phase-resolved reconstruction of nonlinear ocean wave surface elevations from sparse remote sensing data."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Engineering 288, 116059. DOI: 10.1016/j.oceaneng.2023.116059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[6] Hwang, P.A., Krabill, W.B., Wright, W., Swift, R.N., Walsh, E.J. (2000). "Airborne Scanning Lidar Measurement of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Waves." Remote Sensing of Environment 73(2), 236-246. DOI: 10.1016/S0034-4257(00)00098-5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[7] Belmont, M.R., Horwood, J.M.K., Thurley, R.W.F., Baker, J. (2008). "Shallow Angle Wave Profiling LIDAR." IEEE/OES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9th Working Conference on Current Measurement Technology, 217-223. DOI: 10.1109/CCM.2008.4480871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[8] Wilcoxon, F. (1945). "Individual Comparisons by Ranking Methods." Biometrics Bulletin 1(6), 80. DOI: 10.2307/3001968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[9] Cohen, J. (1988). Statistical Power Analysis for the Behavioral Sciences (2nd ed.). Lawrence Erlbaum Associates.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[10] Holthuijsen, L.H. (2007). Waves in Oceanic and Coastal Waters.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[11] Faltinsen, O.M. (2005). Hydrodynamics of High-Speed Marine Vehicles.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[12] Born, M., Wolf, E. (1999). Principles of Optics (7th ed.). Cambridge University Press. (Fresnel R(θ))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※ 모든 인용은 CrossRef API + ScienceDirect TOC로 metadata 확인 완료 (paper/references.bib와 동기화)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