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910" r:id="rId1"/>
  </p:sldMasterIdLst>
  <p:notesMasterIdLst>
    <p:notesMasterId r:id="rId8"/>
  </p:notesMasterIdLst>
  <p:handoutMasterIdLst>
    <p:handoutMasterId r:id="rId9"/>
  </p:handoutMasterIdLst>
  <p:sldIdLst>
    <p:sldId id="256" r:id="rId7"/>
    <p:sldId id="257" r:id="rId6"/>
    <p:sldId id="258" r:id="rId5"/>
    <p:sldId id="259" r:id="rId4"/>
    <p:sldId id="260" r:id="rId3"/>
    <p:sldId id="285" r:id="rId38"/>
    <p:sldId id="261" r:id="rId2"/>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7" r:id="rId41"/>
    <p:sldId id="286" r:id="rId40"/>
    <p:sldId id="283" r:id="rId36"/>
  </p:sldIdLst>
  <p:sldSz cx="9144000" cy="6858000" type="screen4x3"/>
  <p:notesSz cx="9926638" cy="6797675"/>
  <p:defaultTextStyle>
    <a:defPPr>
      <a:defRPr lang="ko-KR"/>
    </a:defPPr>
    <a:lvl1pPr algn="l" rtl="0" fontAlgn="base" latinLnBrk="1">
      <a:spcBef>
        <a:spcPct val="0"/>
      </a:spcBef>
      <a:spcAft>
        <a:spcPct val="0"/>
      </a:spcAft>
      <a:defRPr kumimoji="1" kern="1200">
        <a:solidFill>
          <a:schemeClr val="tx1"/>
        </a:solidFill>
        <a:latin typeface="굴림" charset="-127"/>
        <a:ea typeface="굴림" charset="-127"/>
        <a:cs typeface="+mn-cs"/>
      </a:defRPr>
    </a:lvl1pPr>
    <a:lvl2pPr marL="457200" algn="l" rtl="0" fontAlgn="base" latinLnBrk="1">
      <a:spcBef>
        <a:spcPct val="0"/>
      </a:spcBef>
      <a:spcAft>
        <a:spcPct val="0"/>
      </a:spcAft>
      <a:defRPr kumimoji="1" kern="1200">
        <a:solidFill>
          <a:schemeClr val="tx1"/>
        </a:solidFill>
        <a:latin typeface="굴림" charset="-127"/>
        <a:ea typeface="굴림" charset="-127"/>
        <a:cs typeface="+mn-cs"/>
      </a:defRPr>
    </a:lvl2pPr>
    <a:lvl3pPr marL="914400" algn="l" rtl="0" fontAlgn="base" latinLnBrk="1">
      <a:spcBef>
        <a:spcPct val="0"/>
      </a:spcBef>
      <a:spcAft>
        <a:spcPct val="0"/>
      </a:spcAft>
      <a:defRPr kumimoji="1" kern="1200">
        <a:solidFill>
          <a:schemeClr val="tx1"/>
        </a:solidFill>
        <a:latin typeface="굴림" charset="-127"/>
        <a:ea typeface="굴림" charset="-127"/>
        <a:cs typeface="+mn-cs"/>
      </a:defRPr>
    </a:lvl3pPr>
    <a:lvl4pPr marL="1371600" algn="l" rtl="0" fontAlgn="base" latinLnBrk="1">
      <a:spcBef>
        <a:spcPct val="0"/>
      </a:spcBef>
      <a:spcAft>
        <a:spcPct val="0"/>
      </a:spcAft>
      <a:defRPr kumimoji="1" kern="1200">
        <a:solidFill>
          <a:schemeClr val="tx1"/>
        </a:solidFill>
        <a:latin typeface="굴림" charset="-127"/>
        <a:ea typeface="굴림" charset="-127"/>
        <a:cs typeface="+mn-cs"/>
      </a:defRPr>
    </a:lvl4pPr>
    <a:lvl5pPr marL="1828800" algn="l" rtl="0" fontAlgn="base" latinLnBrk="1">
      <a:spcBef>
        <a:spcPct val="0"/>
      </a:spcBef>
      <a:spcAft>
        <a:spcPct val="0"/>
      </a:spcAft>
      <a:defRPr kumimoji="1" kern="1200">
        <a:solidFill>
          <a:schemeClr val="tx1"/>
        </a:solidFill>
        <a:latin typeface="굴림" charset="-127"/>
        <a:ea typeface="굴림" charset="-127"/>
        <a:cs typeface="+mn-cs"/>
      </a:defRPr>
    </a:lvl5pPr>
    <a:lvl6pPr marL="2286000" algn="l" defTabSz="914400" rtl="0" eaLnBrk="1" latinLnBrk="1" hangingPunct="1">
      <a:defRPr kumimoji="1" kern="1200">
        <a:solidFill>
          <a:schemeClr val="tx1"/>
        </a:solidFill>
        <a:latin typeface="굴림" charset="-127"/>
        <a:ea typeface="굴림" charset="-127"/>
        <a:cs typeface="+mn-cs"/>
      </a:defRPr>
    </a:lvl6pPr>
    <a:lvl7pPr marL="2743200" algn="l" defTabSz="914400" rtl="0" eaLnBrk="1" latinLnBrk="1" hangingPunct="1">
      <a:defRPr kumimoji="1" kern="1200">
        <a:solidFill>
          <a:schemeClr val="tx1"/>
        </a:solidFill>
        <a:latin typeface="굴림" charset="-127"/>
        <a:ea typeface="굴림" charset="-127"/>
        <a:cs typeface="+mn-cs"/>
      </a:defRPr>
    </a:lvl7pPr>
    <a:lvl8pPr marL="3200400" algn="l" defTabSz="914400" rtl="0" eaLnBrk="1" latinLnBrk="1" hangingPunct="1">
      <a:defRPr kumimoji="1" kern="1200">
        <a:solidFill>
          <a:schemeClr val="tx1"/>
        </a:solidFill>
        <a:latin typeface="굴림" charset="-127"/>
        <a:ea typeface="굴림" charset="-127"/>
        <a:cs typeface="+mn-cs"/>
      </a:defRPr>
    </a:lvl8pPr>
    <a:lvl9pPr marL="3657600" algn="l" defTabSz="914400" rtl="0" eaLnBrk="1" latinLnBrk="1" hangingPunct="1">
      <a:defRPr kumimoji="1" kern="1200">
        <a:solidFill>
          <a:schemeClr val="tx1"/>
        </a:solidFill>
        <a:latin typeface="굴림" charset="-127"/>
        <a:ea typeface="굴림" charset="-127"/>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eo Jeonghwa" initials="SJ" lastIdx="13" clrIdx="0">
    <p:extLst>
      <p:ext uri="{19B8F6BF-5375-455C-9EA6-DF929625EA0E}">
        <p15:presenceInfo xmlns:p15="http://schemas.microsoft.com/office/powerpoint/2012/main" userId="9aa9fa2553afebd3"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3366FF"/>
    <a:srgbClr val="FFFFFF"/>
    <a:srgbClr val="00B0F0"/>
    <a:srgbClr val="E7F9FF"/>
    <a:srgbClr val="C5F3FF"/>
    <a:srgbClr val="FFCCCC"/>
    <a:srgbClr val="FFCCFF"/>
    <a:srgbClr val="00CC66"/>
    <a:srgbClr val="F7F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8799B23B-EC83-4686-B30A-512413B5E67A}" styleName="밝은 스타일 3 - 강조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327F97BB-C833-4FB7-BDE5-3F7075034690}" styleName="테마 스타일 2 - 강조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FD0F851-EC5A-4D38-B0AD-8093EC10F338}" styleName="밝은 스타일 1 - 강조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FABFCF23-3B69-468F-B69F-88F6DE6A72F2}" styleName="보통 스타일 1 - 강조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7DF18680-E054-41AD-8BC1-D1AEF772440D}" styleName="보통 스타일 2 - 강조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17292A2E-F333-43FB-9621-5CBBE7FDCDCB}" styleName="밝은 스타일 2 - 강조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0A15C55-8517-42AA-B614-E9B94910E393}" styleName="보통 스타일 2 - 강조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보통 스타일 3 - 강조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1E171933-4619-4E11-9A3F-F7608DF75F80}" styleName="보통 스타일 1 - 강조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BDBED569-4797-4DF1-A0F4-6AAB3CD982D8}" styleName="밝은 스타일 3 - 강조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보통 스타일 3 - 강조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518" autoAdjust="0"/>
    <p:restoredTop sz="75338" autoAdjust="0"/>
  </p:normalViewPr>
  <p:slideViewPr>
    <p:cSldViewPr showGuides="1">
      <p:cViewPr varScale="1">
        <p:scale>
          <a:sx n="62" d="100"/>
          <a:sy n="62" d="100"/>
        </p:scale>
        <p:origin x="2424" y="58"/>
      </p:cViewPr>
      <p:guideLst>
        <p:guide orient="horz" pos="2160"/>
        <p:guide pos="2880"/>
      </p:guideLst>
    </p:cSldViewPr>
  </p:slideViewPr>
  <p:outlineViewPr>
    <p:cViewPr>
      <p:scale>
        <a:sx n="33" d="100"/>
        <a:sy n="33" d="100"/>
      </p:scale>
      <p:origin x="0" y="-9732"/>
    </p:cViewPr>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78" d="100"/>
          <a:sy n="78" d="100"/>
        </p:scale>
        <p:origin x="72" y="85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handoutMaster" Target="handoutMasters/handoutMaster1.xml"/><Relationship Id="rId10" Type="http://schemas.openxmlformats.org/officeDocument/2006/relationships/commentAuthors" Target="commentAuthors.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31.xml"/><Relationship Id="rId37" Type="http://schemas.openxmlformats.org/officeDocument/2006/relationships/slide" Target="slides/slide30.xml"/><Relationship Id="rId38" Type="http://schemas.openxmlformats.org/officeDocument/2006/relationships/slide" Target="slides/slide6.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2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70" name="Rectangle 2"/>
          <p:cNvSpPr>
            <a:spLocks noGrp="1" noChangeArrowheads="1"/>
          </p:cNvSpPr>
          <p:nvPr>
            <p:ph type="hdr" sz="quarter"/>
          </p:nvPr>
        </p:nvSpPr>
        <p:spPr bwMode="auto">
          <a:xfrm>
            <a:off x="0" y="0"/>
            <a:ext cx="4302625" cy="34026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굴림" pitchFamily="50" charset="-127"/>
                <a:ea typeface="굴림" pitchFamily="50" charset="-127"/>
              </a:defRPr>
            </a:lvl1pPr>
          </a:lstStyle>
          <a:p>
            <a:pPr>
              <a:defRPr/>
            </a:pPr>
            <a:endParaRPr lang="en-US" altLang="ko-KR"/>
          </a:p>
        </p:txBody>
      </p:sp>
      <p:sp>
        <p:nvSpPr>
          <p:cNvPr id="7171" name="Rectangle 3"/>
          <p:cNvSpPr>
            <a:spLocks noGrp="1" noChangeArrowheads="1"/>
          </p:cNvSpPr>
          <p:nvPr>
            <p:ph type="dt" sz="quarter" idx="1"/>
          </p:nvPr>
        </p:nvSpPr>
        <p:spPr bwMode="auto">
          <a:xfrm>
            <a:off x="5621696" y="0"/>
            <a:ext cx="4302625" cy="34026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굴림" pitchFamily="50" charset="-127"/>
                <a:ea typeface="굴림" pitchFamily="50" charset="-127"/>
              </a:defRPr>
            </a:lvl1pPr>
          </a:lstStyle>
          <a:p>
            <a:pPr>
              <a:defRPr/>
            </a:pPr>
            <a:endParaRPr lang="en-US" altLang="ko-KR"/>
          </a:p>
        </p:txBody>
      </p:sp>
      <p:sp>
        <p:nvSpPr>
          <p:cNvPr id="7172" name="Rectangle 4"/>
          <p:cNvSpPr>
            <a:spLocks noGrp="1" noChangeArrowheads="1"/>
          </p:cNvSpPr>
          <p:nvPr>
            <p:ph type="ftr" sz="quarter" idx="2"/>
          </p:nvPr>
        </p:nvSpPr>
        <p:spPr bwMode="auto">
          <a:xfrm>
            <a:off x="0" y="6456324"/>
            <a:ext cx="4302625" cy="340264"/>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굴림" pitchFamily="50" charset="-127"/>
                <a:ea typeface="굴림" pitchFamily="50" charset="-127"/>
              </a:defRPr>
            </a:lvl1pPr>
          </a:lstStyle>
          <a:p>
            <a:pPr>
              <a:defRPr/>
            </a:pPr>
            <a:endParaRPr lang="en-US" altLang="ko-KR"/>
          </a:p>
        </p:txBody>
      </p:sp>
      <p:sp>
        <p:nvSpPr>
          <p:cNvPr id="7173" name="Rectangle 5"/>
          <p:cNvSpPr>
            <a:spLocks noGrp="1" noChangeArrowheads="1"/>
          </p:cNvSpPr>
          <p:nvPr>
            <p:ph type="sldNum" sz="quarter" idx="3"/>
          </p:nvPr>
        </p:nvSpPr>
        <p:spPr bwMode="auto">
          <a:xfrm>
            <a:off x="5621696" y="6456324"/>
            <a:ext cx="4302625" cy="340264"/>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atin typeface="굴림" pitchFamily="50" charset="-127"/>
                <a:ea typeface="굴림" pitchFamily="50" charset="-127"/>
              </a:defRPr>
            </a:lvl1pPr>
          </a:lstStyle>
          <a:p>
            <a:pPr>
              <a:defRPr/>
            </a:pPr>
            <a:fld id="{79659AD6-AE32-41CA-82A0-2598C3F3898A}" type="slidenum">
              <a:rPr lang="en-US" altLang="ko-KR"/>
              <a:pPr>
                <a:defRPr/>
              </a:pPr>
              <a:t>‹#›</a:t>
            </a:fld>
            <a:endParaRPr lang="en-US" altLang="ko-KR"/>
          </a:p>
        </p:txBody>
      </p:sp>
    </p:spTree>
    <p:extLst>
      <p:ext uri="{BB962C8B-B14F-4D97-AF65-F5344CB8AC3E}">
        <p14:creationId xmlns:p14="http://schemas.microsoft.com/office/powerpoint/2010/main" val="228542345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4302625" cy="34026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굴림" pitchFamily="50" charset="-127"/>
                <a:ea typeface="굴림" pitchFamily="50" charset="-127"/>
              </a:defRPr>
            </a:lvl1pPr>
          </a:lstStyle>
          <a:p>
            <a:pPr>
              <a:defRPr/>
            </a:pPr>
            <a:endParaRPr lang="en-US" altLang="ko-KR"/>
          </a:p>
        </p:txBody>
      </p:sp>
      <p:sp>
        <p:nvSpPr>
          <p:cNvPr id="4099" name="Rectangle 3"/>
          <p:cNvSpPr>
            <a:spLocks noGrp="1" noChangeArrowheads="1"/>
          </p:cNvSpPr>
          <p:nvPr>
            <p:ph type="dt" idx="1"/>
          </p:nvPr>
        </p:nvSpPr>
        <p:spPr bwMode="auto">
          <a:xfrm>
            <a:off x="5621696" y="0"/>
            <a:ext cx="4302625" cy="34026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굴림" pitchFamily="50" charset="-127"/>
                <a:ea typeface="굴림" pitchFamily="50" charset="-127"/>
              </a:defRPr>
            </a:lvl1pPr>
          </a:lstStyle>
          <a:p>
            <a:pPr>
              <a:defRPr/>
            </a:pPr>
            <a:endParaRPr lang="en-US" altLang="ko-KR"/>
          </a:p>
        </p:txBody>
      </p:sp>
      <p:sp>
        <p:nvSpPr>
          <p:cNvPr id="40964" name="Rectangle 4"/>
          <p:cNvSpPr>
            <a:spLocks noGrp="1" noRot="1" noChangeAspect="1" noChangeArrowheads="1" noTextEdit="1"/>
          </p:cNvSpPr>
          <p:nvPr>
            <p:ph type="sldImg" idx="2"/>
          </p:nvPr>
        </p:nvSpPr>
        <p:spPr bwMode="auto">
          <a:xfrm>
            <a:off x="3235127" y="518517"/>
            <a:ext cx="3398838" cy="254952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101" name="Rectangle 5"/>
          <p:cNvSpPr>
            <a:spLocks noGrp="1" noChangeArrowheads="1"/>
          </p:cNvSpPr>
          <p:nvPr>
            <p:ph type="body" sz="quarter" idx="3"/>
          </p:nvPr>
        </p:nvSpPr>
        <p:spPr bwMode="auto">
          <a:xfrm>
            <a:off x="992201" y="3228705"/>
            <a:ext cx="7942238" cy="3059117"/>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ko-KR" altLang="en-US" noProof="0"/>
              <a:t>마스터 텍스트 스타일을 편집합니다</a:t>
            </a:r>
          </a:p>
          <a:p>
            <a:pPr lvl="1"/>
            <a:r>
              <a:rPr lang="ko-KR" altLang="en-US" noProof="0"/>
              <a:t>둘째 수준</a:t>
            </a:r>
          </a:p>
          <a:p>
            <a:pPr lvl="2"/>
            <a:r>
              <a:rPr lang="ko-KR" altLang="en-US" noProof="0"/>
              <a:t>셋째 수준</a:t>
            </a:r>
          </a:p>
          <a:p>
            <a:pPr lvl="3"/>
            <a:r>
              <a:rPr lang="ko-KR" altLang="en-US" noProof="0"/>
              <a:t>넷째 수준</a:t>
            </a:r>
          </a:p>
          <a:p>
            <a:pPr lvl="4"/>
            <a:r>
              <a:rPr lang="ko-KR" altLang="en-US" noProof="0"/>
              <a:t>다섯째 수준</a:t>
            </a:r>
          </a:p>
        </p:txBody>
      </p:sp>
      <p:sp>
        <p:nvSpPr>
          <p:cNvPr id="4102" name="Rectangle 6"/>
          <p:cNvSpPr>
            <a:spLocks noGrp="1" noChangeArrowheads="1"/>
          </p:cNvSpPr>
          <p:nvPr>
            <p:ph type="ftr" sz="quarter" idx="4"/>
          </p:nvPr>
        </p:nvSpPr>
        <p:spPr bwMode="auto">
          <a:xfrm>
            <a:off x="0" y="6456324"/>
            <a:ext cx="4302625" cy="340264"/>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굴림" pitchFamily="50" charset="-127"/>
                <a:ea typeface="굴림" pitchFamily="50" charset="-127"/>
              </a:defRPr>
            </a:lvl1pPr>
          </a:lstStyle>
          <a:p>
            <a:pPr>
              <a:defRPr/>
            </a:pPr>
            <a:endParaRPr lang="en-US" altLang="ko-KR"/>
          </a:p>
        </p:txBody>
      </p:sp>
      <p:sp>
        <p:nvSpPr>
          <p:cNvPr id="4103" name="Rectangle 7"/>
          <p:cNvSpPr>
            <a:spLocks noGrp="1" noChangeArrowheads="1"/>
          </p:cNvSpPr>
          <p:nvPr>
            <p:ph type="sldNum" sz="quarter" idx="5"/>
          </p:nvPr>
        </p:nvSpPr>
        <p:spPr bwMode="auto">
          <a:xfrm>
            <a:off x="5621696" y="6456324"/>
            <a:ext cx="4302625" cy="340264"/>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atin typeface="굴림" pitchFamily="50" charset="-127"/>
                <a:ea typeface="굴림" pitchFamily="50" charset="-127"/>
              </a:defRPr>
            </a:lvl1pPr>
          </a:lstStyle>
          <a:p>
            <a:pPr>
              <a:defRPr/>
            </a:pPr>
            <a:fld id="{7CF72608-E96E-40E0-AA36-7D967661FE69}" type="slidenum">
              <a:rPr lang="en-US" altLang="ko-KR"/>
              <a:pPr>
                <a:defRPr/>
              </a:pPr>
              <a:t>‹#›</a:t>
            </a:fld>
            <a:endParaRPr lang="en-US" altLang="ko-KR"/>
          </a:p>
        </p:txBody>
      </p:sp>
    </p:spTree>
    <p:extLst>
      <p:ext uri="{BB962C8B-B14F-4D97-AF65-F5344CB8AC3E}">
        <p14:creationId xmlns:p14="http://schemas.microsoft.com/office/powerpoint/2010/main" val="326451296"/>
      </p:ext>
    </p:extLst>
  </p:cSld>
  <p:clrMap bg1="lt1" tx1="dk1" bg2="lt2" tx2="dk2" accent1="accent1" accent2="accent2" accent3="accent3" accent4="accent4" accent5="accent5" accent6="accent6" hlink="hlink" folHlink="folHlink"/>
  <p:hf hdr="0" ftr="0" dt="0"/>
  <p:notesStyle>
    <a:lvl1pPr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1pPr>
    <a:lvl2pPr marL="4572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2pPr>
    <a:lvl3pPr marL="9144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3pPr>
    <a:lvl4pPr marL="13716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4pPr>
    <a:lvl5pPr marL="18288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이 연구를 아주 쉽게 한 문장으로 ━━━
"배 앞에 붙은 레이저 센서로 파도를 감지해서, 그 정보로 하이드로포일(날개 달린 배)을 미리 조종해 흔들림을 줄이는 기술입니다."
━━━ 발표 전 청중에게 이렇게 시작하면 좋습니다 ━━━
"혹시 자동차 앞유리에 빗물 감지 센서가 붙어 있어서, 비가 오면 자동으로 와이퍼가 켜지는 것 보신 적 있으신가요? 이것과 비슷한 발상입니다. 파도를 '미리' 감지해서, 배가 흔들리기 전에 먼저 대비하는 겁니다."
━━━ WaveSplat이라는 이름은 어디서 왔나요? ━━━
Wave = 파도
Splat = 2023년 컴퓨터 그래픽스 분야에서 나온 '3D Gaussian Splatting'이라는 기술 이름에서 따왔습니다.
3D Gaussian Splatting이 뭔지 간단히 설명하면:
  → 3D 사진을 찍을 때, 기존에는 공간을 촘촘한 격자(바둑판처럼)로 나눠서 표현했습니다.
  → 새 기술은 그 대신 '붓터치' 수천 개를 겹쳐서 표현합니다. 훨씬 효율적이고 빠릅니다.
  → WaveSplat은 이 발상을 파도에 적용한 것입니다.
━━━ 핵심 메시지 (발표 내내 이 맥락에서 이해하면 됩니다) ━━━
  문제: 배 위 레이저 센서가 찍는 파도 데이터가 너무 드문드문합니다.
        250m×200m 넓이(축구장 7개 크기)에서 점 50개. 이걸로 파도 전체 모양을 알아야 합니다.
  기존 방법: 점들 사이를 직선으로 이어 메꿉니다 (격자 보간). 파도 물리학을 전혀 모릅니다.
  WaveSplat: "파도는 원래 여러 사인파의 합"이라는 물리 법칙을 이용해서,
              적은 데이터로도 전체 파도 모양을 훨씬 정확하게 복원합니다.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발표 전체 흐름을 청중에게 안내하기 ━━━
"오늘 발표는 4개 파트로 이루어져 있습니다. 처음엔 '왜 이게 필요한가', 중간에 '어떻게 만들었는가', 그 다음엔 '얼마나 잘 됐는가', 마지막엔 '실제 배 제어에 써보니 어떤가'입니다."
━━━ 각 파트를 한 줄로 설명 ━━━
I. Introduction (3~7번 슬라이드) — "왜 이 연구를 했는가"
  → 파도 예측이 왜 필요한지, 기존 방법이 왜 안 되는지 설명합니다.
II. Methodology (8~13번 슬라이드) — "어떻게 만들었는가"
  → WaveSplat의 작동 원리를 설명합니다.
  → 수식이 나오지만, 각각 친절하게 풀어드릴 겁니다.
III. Results (14~23번 슬라이드) — "얼마나 잘 됐는가"
  → 100번 실험한 결과를 보여줍니다.
  → 기존 방법보다 30% 더 정확하고 10배 빠릅니다.
IV. Application (24~31번 슬라이드) — "실제로 써보니"
  → 하이드로포일 선박에 적용하면 승차감이 얼마나 좋아지는지 보여줍니다.
━━━ 전체 소요 시간 ━━━
  대략 슬라이드당 1~2분. 총 31장 → 약 40~50분 예상.</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이 슬라이드에서 보여주는 것 ━━━
실제 배 위에 달린 레이저 센서(LiDAR)로 찍은 영상입니다.
왼쪽은 외부 카메라 영상, 오른쪽은 레이저 센서가 찍은 점구름(point cloud)입니다.
━━━ LiDAR(라이다)가 뭔가요? ━━━
LiDAR = 레이저로 거리를 재는 센서입니다.
작동 원리: 레이저 빛을 쏘고 → 물체에 반사되어 돌아오는 시간을 잽니다 → 거리를 계산합니다.
비유: 동굴에서 "야호!"를 외치면 메아리가 돌아오는 시간으로 동굴 크기를 짐작하는 것과 같습니다.
자율주행차에도 달려 있는 그 센서와 같은 종류입니다. 여기선 바다 위 파도를 측정합니다.
초당 10번씩 360도로 레이저를 쏩니다.
━━━ 그런데 왜 데이터가 이렇게 드문드문(sparse)한가요? ━━━
바다 수면은 레이저를 잘 흡수하거나 반대 방향으로 튕겨냅니다.
비유: 거울에 손전등을 비출 때, 딱 맞는 각도여야 눈에 빛이 들어옵니다.
파도 수면도 마찬가지로, 레이저 빔과 수면 경사가 딱 맞아야 신호가 돌아옵니다.
조금이라도 각도가 틀리면 신호가 엉뚱한 방향으로 날아가 버립니다.
결과: 250m×200m (축구장 약 7개 크기) 바다에서 한 번에 겨우 50개의 점만 찍힙니다.
━━━ 이게 왜 어려운 문제인가요? ━━━
축구장 7개 크기 공간에서 점 50개로 파도 전체 모양을 복원해야 합니다.
마치 100칸짜리 퍼즐에서 5개 조각만 보고 전체 그림을 맞추는 것과 같습니다.
기존 방법은 "없는 조각은 주변 조각의 평균"으로 채웁니다. 이건 파도 물리학을 전혀 모릅니다.
WaveSplat은 "파도는 물리 법칙을 따른다"는 것을 이용해 훨씬 정확하게 복원합니다.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왜 파도를 미리 알아야 하는가? ━━━
파도를 미리 알면 좋은 이유가 여러 가지 있습니다.
① 하이드로포일 선박 (이 발표의 주요 응용)
  하이드로포일 = 물 위를 나는 배. 수중 날개로 선체를 들어올려 물 마찰을 없앱니다.
  문제: 파도가 오면 날개 잠수 깊이가 변하고, 배가 출렁거립니다.
  해결: 파도를 미리 보고 날개 각도를 미리 조정합니다.
  비유: 과속방지턱을 보고 미리 속도를 줄이는 것 vs. 부딪힌 다음에 멈추는 것.
② 해상 크레인
  배 위 크레인으로 화물을 내릴 때 파도 때문에 배가 흔들리면 위험합니다.
  파도를 미리 알면 "3초 후에 배가 얼마나 흔들릴지" 예측해서 크레인을 보정할 수 있습니다.
③ 자율운항 선박
  파도가 너무 높으면 속도를 줄이거나 경로를 바꿔야 합니다.
  실시간 파도 정보가 있으면 AI 선장이 더 안전하게 판단할 수 있습니다.
④ 헬기 착륙
  배 위 헬기 착륙판(helideck)에 헬기가 착륙할 때, 파도가 심하면 매우 위험합니다.
  파도 예측으로 "지금 착륙해도 되는가?" 실시간 판단이 가능합니다.
━━━ "PD feedback만으로는 왜 부족한가?" — 이 개념이 중요합니다 ━━━
PD 제어기 = 현재 상태를 측정하고 → 목표와의 차이를 계산하고 → 수정합니다.
이것은 항상 "에러가 생긴 후에" 수정합니다.
문제: 하이드로포일 선박은 빠릅니다 (시속 약 40km). 파도가 오는 속도도 빠릅니다.
제어기가 반응하는 데 0.05~0.1초 걸리는데, 그 사이에 파도가 이미 지나가버립니다.
마치 백미러로 보면서 운전하는 것과 같습니다.
해결: 파도를 미리 보고 → 파도가 도달하기 전에 → 날개를 미리 조정합니다.
비유: 룸미러 대신 전방 카메라로 보면서 운전하는 것.</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기존 방법들 — 왜 이 문제에 맞지 않는가? ━━━
이 연구 전에도 "드문드문한 데이터로 파도 복원"을 시도한 방법이 있었습니다.
각각의 문제점을 아주 쉽게 설명드립니다.
━━━ ① Grid-based 방법 (격자 보간) ━━━
어떻게 작동하나:
  250m×200m 바다를 바둑판처럼 잘게 나눕니다 (예: 2m 간격이면 12,500칸).
  LiDAR 점이 있는 칸은 그 값을 씁니다.
  점이 없는 칸은? 주변 칸 값의 평균으로 채웁니다.
왜 문제인가:
  12,500칸 중 LiDAR 점이 있는 칸은 50개뿐입니다. 나머지 12,450칸은 추측입니다.
  "파도가 올라갔다 내려간다"는 물리 법칙을 전혀 모르고 단순히 평균 냅니다.
  또한 "지금 이 순간"만 보고, "5초 후 파도가 어디 있을지" 계산이 불가합니다.
━━━ ② GPR (가우시안 프로세스) ━━━
어떻게 작동하나:
  관측 점들 사이의 "유사도(거리가 가까우면 비슷할 것)"를 이용해 빈 곳을 채웁니다.
  통계적으로 꽤 정교한 방법입니다.
왜 문제인가:
  계산량 문제: 관측 점이 M개면 M³에 비례해 계산이 늘어납니다.
  M=50이면 50×50×50=125,000 계산. 이게 0.2초 이상 걸립니다.
  초당 10번 처리해야 하므로 0.1초 안에 끝내야 하는데, 0.2초면 너무 느립니다.
  결과: 진폭의 6.5%만 재현. 파도가 거의 없는 것처럼 평탄하게 나옵니다.
  마치 산의 실루엣을 그려야 하는데 평평한 직선만 그린 것과 같습니다.
━━━ ③ ETKF (앙상블 칼만 필터) ━━━
어떻게 작동하나:
  "100가지 가능한 파도 시나리오"를 동시에 계산합니다.
  새 LiDAR 데이터가 오면, 100개 시나리오 중 데이터와 가장 맞는 것을 선택합니다.
  기상청이 날씨 예보할 때 쓰는 방법과 비슷합니다.
왜 문제인가:
  100개를 동시에 계산하니 시간이 오래 걸립니다 (평균 0.13초/회).
  초당 10번 처리해야 하므로, 처리가 밀리기 시작합니다.
  또한 격자 기반이라 격자보다 작은 특징을 표현할 수 없습니다.
  가장 큰 문제: 진폭은 어느 정도 맞는데, 파봉(파도 꼭대기) 위치가 틀립니다.
  비유: 파도 높이는 1m라고 맞혔는데, 파봉이 실제보다 10m 옆에 있다고 말하는 것.
━━━ 공통 문제 ━━━
세 방법 모두 "격자나 통계 분포에 의존"합니다.
파도의 물리 법칙(파도는 어떤 속도로 어느 방향으로 진행하는가)을 제대로 활용하지 않습니다.
WaveSplat의 접근: 파도 자체가 물리 법칙의 결과물이므로, 처음부터 물리 법칙을 파라미터로 직접 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용어 정리 — 이 슬라이드는 "사전"입니다 ━━━
발표 중에 모르는 단어가 나오면 이 슬라이드로 돌아오세요.
지금 다 외우려고 하지 않아도 됩니다.
━━━ 파도 관련 용어 ━━━
Beaufort scale (보퍼트 등급):
  바람 세기를 숫자로 나타낸 척도입니다. 숫자가 클수록 거친 바다입니다.
  BF2 = 잔잔한 바다 (파고 약 0.3m, 잔물결 수준)
  BF3 = 약간 물결 (파고 약 0.9m, 소형 보트는 출렁)
  BF4 = 중간 파도 (파고 약 1.5m, 일반적인 해양 조건)
  BF5 = 제법 거친 바다 (파고 약 2m)
Hs (유의 파고):
  "관측된 파도 중 큰 것들의 평균 높이"입니다. 실제로 느끼는 파도 높이입니다.
  Hs=1.5m라면, 체감상 파도 높이가 약 1.5m입니다.
Tp (첨두 주기):
  파도 에너지가 가장 집중된 주기입니다.
  Tp=7초 → 7초마다 가장 큰 파도가 반복됩니다.
  Tp가 길수록 파장이 길고, 파도가 멀리서 옵니다.
Dispersion relation (분산관계):
  파도의 속도가 파장에 따라 정해진다는 물리 법칙입니다.
  ω = √(g·|k|·tanh(|k|·d))
  쉽게: "파장이 길수록 파도가 더 빨리 진행한다"는 법칙입니다.
  마치 중력이 물체의 낙하 속도를 결정하는 것처럼, 물리가 정해줍니다.
  ω = 파도 진동 속도, k = 파도 방향과 파장 정보, g = 중력 가속도(9.8m/s²), d = 수심.
━━━ 평가 지표 용어 ━━━
nRMSE (정규화 오차):
  추정 오차를 파고로 나눈 값입니다. 0이면 완벽, 1이면 파고만큼 틀린 것.
  0.2 = "파고의 20% 수준의 오차". 파고 1.5m이면 오차 약 30cm.
VR (분산 비):
  파도 높낮이 폭을 얼마나 잘 재현하는가입니다.
  1이면 완벽, 0.66이면 실제 파도 진폭의 66%만 재현 (34%는 낮게 추정).
  0.065면 거의 평탄 (파도가 없는 것처럼 나옴).
Pearson ρ (상관계수):
  파도 위치(위상)가 얼마나 맞는가입니다.
  1이면 완벽 일치, 0이면 완전히 무관계.
  중요: 진폭(VR)과 위상(ρ) 둘 다 봐야 진짜 정확한 건지 알 수 있습니다.
  진폭이 맞아도 위치가 틀리면 쓸모없고, 위치가 맞아도 진폭이 0이면 쓸모없습니다.
SS (Skill Score):
  "아무것도 예측 안 하는 것보다 나은가?"를 나타냅니다.
  SS &gt; 0 → 예측이 의미 있음. SS &lt; 0 → 예측 안 하는 게 더 나음.
  WaveSplat만 SS &gt; 0 달성.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3D Gaussian Splatting이란? (어려운 개념을 쉽게) ━━━
2023년에 나온 컴퓨터 그래픽스 기술입니다.
사진 여러 장으로 3D 장면을 재구성하는 기술인데, 기존보다 훨씬 빠르고 정확합니다.
기존 방법 (NeRF 등):
  공간을 촘촘한 3D 격자(바둑판을 3D로 만든 것)로 나눕니다.
  각 칸에 색깔과 투명도 값을 저장합니다.
  칸이 많아서 계산이 엄청 느립니다.
3DGS의 방법:
  격자 대신, '가우시안 타원형 덩어리' 수천~수백만 개로 장면을 표현합니다.
  각 덩어리는 위치, 방향, 크기, 색깔 정보를 가집니다.
비유: 그림을 그릴 때의 차이
  격자 방법 = 수십억 개의 작은 픽셀 하나하나를 색칠
  3DGS = 붓터치(가우시안 덩어리)를 수천 번 겹쳐서 그림 완성
  → 훨씬 적은 개수로 더 자연스러운 그림이 완성됩니다.
━━━ 이것이 WaveSplat과 어떤 관계인가? ━━━
3DGS의 핵심 아이디어: "격자 없이, 기저(basis) 함수들의 합으로 표현"
WaveSplat의 아이디어: 이것을 파도에 적용!
3DGS의 가우시안 덩어리 = WaveSplat의 사인파(plane wave) 하나
3DGS에서 각 덩어리의 위치/형태 = WaveSplat에서 각 파도의 방향/파장/속도
둘 다 격자 없이 임의 위치에서 계산 가능
차이점 (그리고 WaveSplat만의 강점):
  3DGS는 공간만 표현합니다.
  WaveSplat은 시간까지 포함합니다.
  → "지금 이 순간"뿐 아니라 "5초 후 파도가 어디 있을지"도 예측 가능합니다.
  → 이것이 하이드로포일 제어에 핵심입니다.
━━━ 왜 파도를 사인파의 합으로 표현하면 좋은가? ━━━
파도는 물리학적으로 원래 사인파들의 합입니다.
바다 파도는 수십~수백 개의 파장이 다른 사인파들이 겹친 결과입니다.
WaveSplat은 파도의 본질적인 구조를 그대로 파라미터로 표현하므로, 물리 법칙과 자연스럽게 일치합니다.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핵심 수식 완전 분해 ━━━
z(x, y, t) = Σᵢ wᵢ · cos(kx,ᵢ·x + ky,ᵢ·y − ωᵢt + φᵢ)
한 글자씩 의미를 설명합니다.
z(x, y, t):
  위치 x, y에서 시각 t일 때의 수면 높이입니다. (단위: 미터)
  예: z(100, 50, 3.0) = 3.0초에 (100m, 50m) 지점의 파도 높이.
Σᵢ (시그마):
  N개의 파도 성분을 모두 더하라는 기호입니다.
  바다 파도는 한 가지 파도가 아니라 여러 파도가 겹친 것입니다.
  N=5라면 5개의 사인파를 합칩니다.
wᵢ (w, 진폭):
  이 파도 성분의 높이입니다. w가 크면 큰 파도, 작으면 작은 파도.
cos(...)  (코사인):
  파도 모양이 올라갔다 내려가는 코사인 곡선이라는 뜻입니다.
kx,ᵢ · x + ky,ᵢ · y (공간 부분):
  파도가 어느 방향으로 가는지 나타냅니다.
  kx = 동서 방향 성분, ky = 남북 방향 성분.
  kx=0.1, ky=0이면 파도가 정동쪽으로 진행합니다.
−ωᵢt (시간 부분):
  시간이 흐를수록 파도가 앞으로 나아갑니다. 마이너스(-) 부호가 "진행"을 나타냅니다.
  ωᵢ가 크면 파도가 빨리 진동합니다.
φᵢ (피, 위상):
  지금 이 순간 파봉(파도 꼭대기)이 어디에 있는지입니다.
━━━ 6가지 혁신 포인트 — 쉽게 설명 ━━━
❶ 격자 없음 (Grid-free):
  기존: 격자 칸에 저장 → 격자 칸 없는 곳은 계산 불가.
  WaveSplat: 수식으로 계산 → 어느 위치든 직접 계산 가능.
  비유: 지도책(격자) vs GPS 수식. GPS는 어느 위치든 좌표만 있으면 됩니다.
❷ 물리 법칙 강제 (Dispersion 하드 제약):
  ω = √(g|k|tanh(|k|d)) 를 반드시 만족해야 합니다.
  쉽게: "추정된 파도가 반드시 진짜 물리학적 파도여야 한다"는 규칙.
  이걸 강제하면: 파도의 속도(ω)를 따로 추정할 필요가 없어집니다. 파장(k)에서 자동 계산.
  효과: 파라미터 5개→4개 절약 + 미래 예측이 안정적.
  이것 없으면: 현재는 맞아도 1초 후에 완전히 틀어집니다 (Ablation 슬라이드에서 확인).
❸ 자동 성분 수 조절 (Adaptive N):
  단순한 바다: N=2~3개 성분으로 표현.
  복잡한 바다: N=18~21개 성분까지 자동으로 늘어납니다.
  왜 자동으로? 사람이 매번 설정하지 않아도 되고, 상황에 맞게 최적화됩니다.
❹ 가까운 관측을 더 믿음 (Confidence weighting):
  멀리서 온 레이저 점은 오차가 큽니다. 가까운 점은 정확합니다.
  가까운 점의 영향을 더 크게, 먼 점의 영향을 더 작게 설정합니다.
❺ 5가지 지표 사전 정의:
  실험 전에 "이 5가지로 평가하겠다"고 미리 공표합니다.
  좋은 결과만 골라 보여주는 편향(cherry-pick)을 방지합니다.
❻ 비교 대상을 최적화해서 비교:
  "이미 충분히 좋게 만든 기존 방법"과 비교해야 공정합니다.
  ETKF를 24가지 설정으로 실험해서 가장 좋은 것과 비교합니다.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방법론 (1) — 두 가지 모델 ━━━
WaveSplat은 두 가지 모델로 구성됩니다.
  1. "파도를 어떻게 표현하는가" (Forward Model)
  2. "관측 데이터를 어떻게 활용하는가" (Observation Model)
━━━ Forward Model — 파도 표현 방법 ━━━
수식: z(x,y,t) = Σᵢ wᵢ cos(kx,ᵢx + ky,ᵢy − ωᵢt + φᵢ)
이 수식을 음악에 비유하면:
  바다 파도 = 여러 악기가 동시에 연주하는 교향곡
  각 파도 성분(wᵢ, kx,ᵢ, ky,ᵢ, φᵢ) = 각 악기 (음량, 음정, 박자)
  WaveSplat이 하는 일 = 교향곡 소리를 듣고 "어떤 악기가 어떤 음을 연주하는지" 역으로 알아내는 것
"하드 제약"이란?:
  ωᵢ = √(g·|kᵢ|·tanh(|kᵢ|·d)) 를 반드시 지켜야 합니다.
  ωᵢ는 파도가 얼마나 빨리 진동하는가. |kᵢ|는 파장의 역수(파도가 얼마나 촘촘한가).
  비유: "무거운 공은 빠르게 낙하한다"는 중력 법칙처럼,
  파도도 파장에 따라 진행 속도가 물리학적으로 정해져 있습니다.
  이 법칙을 "강제"하면, ω를 따로 추정할 필요가 없어집니다.
왜 이게 중요한가?:
  ω를 자유롭게 최적화하면 → 컴퓨터가 "지금 순간에만 맞는" 이상한 ω를 찾습니다.
  1초 후 → 파도 위치가 완전히 틀어집니다.
  하드 제약을 쓰면 → 지금도 맞고, 미래도 정확하게 예측됩니다.
━━━ Observation Model — 관측 데이터 활용 방법 ━━━
수식: cⱼ = cos(θⱼ) / (dⱼ / d_ref)
이것은 "어떤 관측점을 얼마나 믿을 것인가"를 결정합니다.
cⱼ = 이 관측점의 신뢰도 (클수록 더 믿음)
θⱼ = 레이저가 수면에 닿는 각도 (직각에 가까울수록 정확)
dⱼ = 거리 (가까울수록 정확)
d_ref = 125m (기준 거리, 이보다 가까우면 더 믿고, 멀면 덜 믿음)
비유:
  가까이서 본 것은 잘 보이고 (신뢰도 높음)
  멀리서 흐릿하게 본 것은 덜 믿음 (신뢰도 낮음)
  우리가 자연스럽게 하는 "판단"을 수식으로 표현한 것입니다.
손실 함수 L: "추정값이 관측과 얼마나 다른가"를 나타냅니다. 이것을 최소화하도록 최적화합니다.
λ₁과 λs: 너무 복잡하게 추정하지 않도록 하는 페널티. "단순한 것이 더 나을 수 있다"는 규칙.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2단계 파이프라인 — 요리 비유로 이해하기 ━━━
WaveSplat은 마치 요리사가 처음에 재료를 준비하고, 이후 계속 조리하는 것과 비슷합니다.
━━━ Phase 1: 초기화 (약 500ms, 처음 딱 한 번) ━━━
레이저 데이터 10프레임(약 1초치)을 모읍니다.
① Beamforming (파도 방향 찾기):
  비유: 눈을 감고 소리가 어느 방향에서 오는지 귀로 찾는 것.
  81×81 = 6,561가지 방향을 모두 시험해서 파도 에너지가 가장 센 방향을 찾습니다.
  이것이 kx, ky (파도 방향) 추정의 기초입니다.
② Peak extraction (중요한 방향 선택):
  6,561가지 중 에너지가 큰 것 N개를 선택합니다.
  (마치 음악에서 주요 악기의 주파수를 찾는 것)
③ Coarse-to-fine 최적화:
  N=3개로 시작 → 8개 → 15개로 늘리면서 점점 정밀하게 맞춥니다.
  비유: 사진 초점을 맞출 때 처음엔 대략, 점점 세밀하게 조정하는 것과 같습니다.
  Adam: 딥러닝에서 쓰는 최적화 알고리즘. 경사를 따라 내려가서 최소값을 찾습니다.
④ Energy pruning (불필요한 성분 제거):
  에너지가 작은 파도 성분은 제거합니다.
  비유: 노래에서 거의 안 들리는 악기는 무시하는 것.
⑤ Residual growth (놓친 파도 추가):
  제거 후에도 "아직 설명 못 한 파도"가 있으면 성분을 추가합니다.
  비유: 퍼즐을 맞추다가 남은 조각이 있으면 다시 시도하는 것.
━━━ Phase 2: 추적 (약 13ms, 초당 10번 반복) ━━━
Phase 1에서 파도의 방향(kx, ky)을 알았습니다. 이제는 빠르게 갱신합니다.
Predict (예측):
  φᵢ ← φᵢ + ωᵢ·Δt
  "0.1초가 지났으니, 파봉이 이만큼 앞으로 이동했을 것이다"를 계산합니다.
  ω가 물리 법칙으로 정확하므로, 이 계산이 정확합니다.
Update (수정):
  새 LiDAR 데이터로 오차를 수정합니다. (Adam 10단계만, 빠름)
  kx, ky는 고정 (이미 잘 알고 있으므로).
  wᵢ, φᵢ만 미세 조정 (진폭과 위상 조금씩 수정).
왜 kx, ky는 고정하나?:
  파도 방향은 바다가 급변하지 않는 한 유지됩니다.
  단일 프레임(점 50개)으로 방향을 다시 추정하면 오히려 틀립니다.
  고정하면: 200단계 최적화 → 10단계로 줄어들어 13ms에 가능.</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전체 흐름도 — 화살표를 따라가면 됩니다 ━━━
이 그림은 WaveSplat의 전체 동작을 한눈에 보여줍니다.
━━━ 그림 왼쪽 (Phase 1, 처음 한 번) ━━━
  [LiDAR 데이터 10프레임 수집]
       ↓
  [Beamforming: 파도 방향 찾기]
       ↓
  [Coarse-to-fine Adam 최적화]
       ↓
  [Energy pruning: 불필요 성분 제거]
       ↓
  [잔류 파도 있으면 → 다시 Beamforming (grow loop)]
       ↓
  [결과: N개 파도 성분, kx/ky 확정]
━━━ 그림 오른쪽 (Phase 2, 초당 10번 반복) ━━━
  [물리 법칙으로 위상 예측: φ += ω·Δt]
       ↓
  [새 LiDAR 데이터로 수정 (Adam 10단계)]
       ↓
  [출력: 현재 파도장 + 미래 예측]
Phase 1 → Phase 2 연결:
  kx, ky는 "동결"됩니다. w, φ만 계속 업데이트됩니다.
━━━ 시간 감각 ━━━
Phase 1: 약 0.5초. 커피 한 모금 마시는 사이.
Phase 2: 약 0.013초. 눈 깜짝하는 것의 약 1/5. 초당 70회 가능 (10회만 씀).
발표 중에 이 그림을 보일 때: "왼쪽은 처음 준비, 오른쪽은 반복 작업"이라고 설명하면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왜 시뮬레이터가 필요한가? ━━━
실험에서 "정답(Ground Truth)"을 알아야 비교할 수 있습니다.
실제 바다에서 실험하면:
  - 진짜 파도 모양을 알 수 없습니다. (파도를 완벽하게 측정하는 장비가 없음)
  - 날씨와 파도를 우리 마음대로 정할 수 없습니다.
  - 배를 빌리고, 사람을 태우고, 장비를 달고 → 수천만 원 이상 비용.
시뮬레이터를 쓰면:
  - 파도를 우리가 직접 만들므로 "정답"을 정확히 압니다.
  - BF2, BF3, BF4, BF5 등 다양한 조건을 마음대로 설정합니다.
  - 100번 반복 실험도 버튼 하나로 가능합니다.
  - 비용: 컴퓨터 전기세만.
━━━ JONSWAP 파도 모델 ━━━
바다 파도는 무작위처럼 보이지만, 통계적으로 규칙적인 패턴이 있습니다.
JONSWAP = 1960~70년대 북해에서 대규모 관측 실험으로 만든 파도 스펙트럼 공식.
"어느 주파수에 파도 에너지가 얼마나 있는가"를 바람 속도와 거리로 계산합니다.
전 세계 해양 공학에서 표준으로 쓰는 모델입니다.
━━━ Gerstner 파도 ━━━
가장 기본적인 파도 = 완벽한 사인 곡선. 그런데 실제 파도는 파봉이 뾰족하고 파곡이 넓습니다.
Gerstner 모델 = 조금 더 현실적인 파도 모양. (2차 근사)
비교: 정현파(sine) vs Gerstner
실제 파도처럼 보이도록 해줍니다. (완전히 정확하진 않지만, 1차 근사보다 훨씬 나음)
━━━ 검증이 왜 중요한가? ━━━
시뮬레이터 자체가 틀리면 → 실험 전체가 의미 없습니다.
그래서 39개의 자동 테스트로 물리적 정확성을 검증합니다.
분산관계 오차 &lt; 0.000001 (매우 정밀), 파도 형상 오차 &lt; 0.0000000001m.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LiDAR 시뮬레이터 — 실제 센서를 컴퓨터로 재현 ━━━
실제 배에 달 LiDAR 센서(Falcon K1)의 스펙을 그대로 넣어서 시뮬레이터를 만들었습니다.
실제 센서와 동일한 방식으로 레이저 점들을 생성합니다.
━━━ Falcon K1 센서 스펙 ━━━
  레이저 파장: 1550nm → 눈에 안 보이는 적외선 (안전합니다)
  채널 수: 152개 → 레이저 빔이 152줄로 나뉘어 쏩니다
  스캔 속도: 초당 10번 → 0.1초마다 갱신
  측정 거리: 1.5m ~ 250m → 250m 앞까지 봅니다
  거리 오차: ±2cm → 매우 정밀합니다
이 센서가 실제 Avikus NEUBOAT(실선 시험 선박)에 달린 것과 동일합니다.
→ 시뮬레이션 결과가 실제에도 적용될 가능성이 높습니다.
━━━ Raydrop이란? (왜 데이터가 드문드문 생기는지) ━━━
레이저가 수면에 쏴도 신호가 돌아오지 않는 두 가지 경우를 시뮬레이션합니다.
경우 1: Uniform (균일) 반사
  레이저가 항상 일정 확률로 신호를 돌려보냅니다.
  멀수록, 각도가 비스듬할수록 돌아올 확률이 낮습니다.
  공식: p = Fresnel 반사율 × cos(각도) / 거리²
  (Fresnel 반사율 = 빛이 매질 경계에서 반사되는 비율. 굴절 원리와 같음)
경우 2: Specular (경면) 반사
  수면이 거울처럼 레이저를 특정 방향으로만 반사합니다.
  레이저가 정확히 반대 방향(레이저 발사 방향)으로 돌아와야만 감지됩니다.
  파도가 특정 각도로 기울었을 때만 신호가 잡힙니다.
왜 두 가지 모두 테스트하나?:
  실제 바다에서 어느 메커니즘이 지배적인지 정확히 모릅니다.
  두 경우 모두에서 WaveSplat이 잘 작동함을 보여야 실용적입니다.
  (슬라이드 19에서 두 경우 모두 WaveSplat이 20/20으로 ETKF보다 우수함을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실험 설계 — 어떻게 공정하게 실험했나? ━━━
━━━ 100개 에피소드 구성 ━━━
실험의 "다양성"을 확보하기 위해 여러 조건을 조합했습니다.
Beaufort × 성분 수 × seed × raydrop 조합으로 100가지 다른 바다 조건을 만들었습니다.
Beaufort 4가지: 잔잔한 → 거친 바다
성분 수 5가지: N=1(매우 단순) → N=30(매우 복잡)
  N=1: 파도가 딱 한 방향으로만 옵니다. 가장 단순.
  N=30: 여러 방향에서 다양한 파장의 파도가 동시에 옵니다. 가장 복잡.
seed 5가지: 같은 조건이지만 파도 초기 위상이 다릅니다.
  → "운이 좋은 경우"와 "운이 나쁜 경우"를 모두 포함.
raydrop 2가지: uniform vs specular → 두 LiDAR 모델 모두 테스트.
가장 중요한 것: 100개를 실험 전에 미리 정했습니다.
  → "결과가 좋게 나온 것만 골라" 보여주는 편향(cherry-pick)을 원천 차단합니다.
  → 과학 연구의 신뢰성을 위한 핵심 절차입니다.
━━━ 비교 대상 (Baseline) — 왜 최적화해서 비교하나? ━━━
공정한 비교를 위해 기존 방법들을 최대한 좋게 만들어서 비교합니다.
"대충 만든 ETKF"와 비교하면 의미가 없습니다.
ETKF를 24가지 설정으로 실험:
  앙상블 크기(50 vs 100 vs 200) × 격자 해상도(2m vs 4m) × 관측 노이즈(0.02 vs 0.05) × 범위(25m vs 50m)
  = 3×2×2×2 = 24가지 모든 조합을 실험해서 가장 좋은 것과 비교합니다.
━━━ 5가지 평가 지표 — 왜 하나가 아닌 5개? ━━━
단일 지표의 함정:
  nRMSE 하나만 보면 → "항상 0을 출력"해도 어느 정도 점수가 나옵니다.
  (파도 높이로 나누면 zero predictor도 나쁘지 않아 보임)
SS(Skill Score) &gt; 0: "아무것도 예측 안 하는 것보다 나은가?"
  이 가장 기본적인 기준도 ETKF와 GPR은 통과 못합니다.
RMSE_unobs: 관측 점이 없는 곳(10m 이상 떨어진 곳)에서의 오차.
  이것이 물리 법칙 활용의 직접 증거입니다.
  "데이터가 없는 곳도 물리 법칙으로 맞혔나?" → 격자 보간은 이것이 불가합니다.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결과 표 완전 해설 ━━━
표를 왼쪽부터 읽겠습니다.
방법       nRMSE↓   VR→1    ρ↑     SS↑       time
WaveSplat  0.223    0.660   0.446  +0.034   13.4ms
ETKF       0.319    0.898   0.109  −0.702  132.6ms
GPR        0.261    0.065   0.193  −0.141  &gt;200ms
━━━ nRMSE — 오차가 얼마나 작은가? ━━━
WaveSplat 0.223 vs ETKF 0.319 → WaveSplat이 30% 낮습니다.
구체적으로: Hs=1.5m 바다에서 WS 오차 ≈ 33cm, ETKF 오차 ≈ 48cm.
━━━ VR — 파도 높이를 제대로 재현하는가? ━━━
WaveSplat VR=0.660: 실제 파도 진폭의 66%를 재현합니다. 34%는 낮게 추정. ← WaveSplat의 한계.
ETKF VR=0.898: 진폭은 잘 재현하는 것처럼 보입니다. 하지만...
GPR VR=0.065: 거의 평탄. 파도가 없는 수면처럼 출력합니다.
━━━ Pearson ρ — 파봉(파도 꼭대기) 위치가 맞는가? ━━━
WaveSplat ρ=0.446: 어느 정도 위치가 맞습니다.
ETKF ρ=0.109: 거의 무관계. 진폭은 맞는데 위치가 완전히 틀립니다.
  ← 이것이 ETKF의 핵심 문제입니다. VR은 좋아 보여도 실제로는 쓸모없습니다.
  비유: "파도 높이 1m"는 맞혔는데, "파봉이 10m 옆에 있다"고 하는 것.
━━━ SS — 아무것도 안 하는 것보다 나은가? ━━━
WaveSplat SS=+0.034: 유일하게 양수. "아무것도 예측 안 하는 것보다 나음"을 통과.
ETKF SS=−0.702: 오히려 zero predictor보다 못합니다. (놀랍게도 그렇습니다)
GPR SS=−0.141: 역시 zero predictor보다 못합니다.
━━━ time — 처리 속도 ━━━
WaveSplat 13.4ms → 초당 74회 가능. 10Hz로 운영.
ETKF 132.6ms → 초당 7.5회. 10Hz 처리 시 지연이 쌓입니다.
GPR &gt;200ms → 실시간 불가.
속도 차이: WaveSplat이 ETKF보다 약 10배 빠릅니다.
━━━ 한 줄 결론 ━━━
WaveSplat만 유일하게 SS&gt;0 달성. 오차 30% 낮음. 10배 빠름.
단, 진폭이 34% 과소추정되는 한계가 있습니다. (솔직하게 공개)</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12개 에피소드별 결과 ━━━
100개 중 12개를 대표로 보여줍니다.
12개는 미리 정해진 것입니다. 좋은 것만 고른 게 아닙니다.
━━━ 왜 12개인가? ━━━
BF2~BF5 (4단계) × N=1,2,5,15,30 (5종류) = 20개 조건 중
발표 시간상 12개를 균등하게 선택했습니다.
━━━ 결과 해석 ━━━
12/12 에피소드 전부 WaveSplat이 ETKF보다 nRMSE가 낮습니다.
단 한 번도 지지 않았습니다.
가장 큰 격차: BF3, N=1 (단순 사인파 하나)
  WS nRMSE ≈ 0.06 vs ETKF ≈ 0.51 → 8.5배 차이
  왜 이렇게 격차가 큰가?
  N=1이면 WaveSplat이 파라미터 4개만 추정합니다 (w, kx, ky, φ).
  데이터 50개로 파라미터 4개를 찾는 것 → 매우 쉬운 최적화.
  ETKF는 격자 전체(수천 개 셀)를 동시에 추정 → 데이터 50개로는 어려운 문제.
가장 작은 격차: BF4~BF5, N=30 (매우 복잡한 바다)
  WS ≈ 0.32 vs ETKF ≈ 0.36 → 격차 줄어듦.
  N=30이면 WaveSplat도 30개 파도 성분의 방향을 모두 구분해야 합니다.
  비슷한 방향의 성분들이 겹쳐 보여 구분이 어렵습니다.
속도:
  N=1~5: WS 8~15ms (매우 빠름)
  N=30: WS 35~50ms (adaptive N 때문에 늘어남. 그래도 ETKF보다 훨씬 빠름)
  ETKF: 90ms~600ms 사이에서 들쭉날쭉 (불안정)</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통계 검증 — "결과가 운이 아님"을 증명하는 방법 ━━━
실험 결과가 좋게 나왔을 때, "우연히 좋게 나온 것 아닌가?"라는 의심을 받을 수 있습니다.
통계 검증이 이를 수학적으로 반박합니다.
━━━ 왜 100쌍으로 실험하나? ━━━
1번 실험이 WaveSplat에 운 좋은 조건이었을 수 있습니다.
100번 실험을 같은 조건으로 비교하면, 운의 영향이 거의 사라집니다.
"100번 중 95번 이상 이기면 이건 실력"이라고 볼 수 있습니다.
━━━ Wilcoxon signed-rank test란? ━━━
두 방법을 100번 직접 비교합니다.
  WS vs ETKF: 1번~100번 각각 비교 → "WS가 이긴 횟수"를 셉니다.
  만약 우연이라면: 약 50번은 WS가 이기고, 50번은 ETKF가 이겨야 합니다.
  실제로 WS가 거의 항상 이기면 → 우연이 아닙니다.
왜 t-test가 아니라 Wilcoxon?:
  t-test는 데이터가 종 모양(정규분포)이라고 가정합니다.
  nRMSE 값들이 종 모양이 아닐 수 있습니다.
  Wilcoxon은 이 가정 없이도 사용 가능해서 더 안전합니다.
━━━ p값이란? ━━━
p = "이 결과가 우연일 확률"
p₁ = 2.2×10⁻¹⁵ (WS vs ETKF):
  = 0.0000000000000022
  = 1조 분의 2 수준. 사실상 0%입니다.
  "WaveSplat이 ETKF보다 일관되게 좋다"가 통계적으로 확실합니다.
p₂ = 4.7×10⁻⁴ (WS vs GPR):
  = 0.00047. 10,000번 중 4.7번 우연. 역시 매우 낮습니다.
━━━ Cohen's d (효과 크기)란? ━━━
"통계적으로 유의미한가?" + "실질적으로 차이가 큰가?"를 함께 봐야 합니다.
Cohen's d = 두 집단 차이 / 표준편차.
  d &gt; 0.8 → "큰(large) 효과"
  d = 1.16 (WS vs ETKF) → 매우 큰 효과. 실질적 차이가 큽니다.
━━━ 보정이 왜 필요한가? ━━━
두 가지 비교(WS vs ETKF, WS vs GPR)를 동시에 합니다.
여러 비교를 하면 "그중 하나가 우연히 유의미하게 나올" 확률이 올라갑니다.
Holm-Bonferroni 보정으로 이를 수정해도 두 비교 모두 유의미합니다.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Ablation 실험 — "이 기능이 정말 필요한가?" ━━━
WaveSplat의 특정 기능을 제거했을 때 어떻게 되는지 실험합니다.
"있어서 좋은 것"인지 "없으면 안 되는 것"인지 확인합니다.
━━━ A1: 분산관계 제약을 없애면? ━━━
분산관계 제약이란: ω = √(g|k|tanh|k|d) 를 반드시 만족해야 한다는 규칙.
이것을 제거하면: 컴퓨터가 ω를 마음대로 최적화합니다.
즉각적인 결과: 현재 순간 nRMSE가 16% 낮습니다. 더 좋아 보입니다!
하지만 5초 후에는?:
  Full model (제약 있음): nRMSE 0.219 → 5초 후 0.231 (5.5% 변화, 안정적)
  A1 (제약 없음): nRMSE 0.158 → 5초 후 0.476 (3배 폭발적 증가!)
왜 이런 일이 생기는가?
비유: 시계를 상상합니다.
  "1시간 = 60분 = 3600초"라는 물리적 법칙을 강제한 시계 → 미래도 정확합니다.
  이 법칙을 무시하고 "지금 이 순간 맞아 보이는 값"을 쓰는 시계 → 한 시간 후에는 완전히 틀립니다.
구체적으로:
  A1이 추정한 ω: 물리적으로 1.25 rad/s여야 하는데 1.78 rad/s로 추정.
  1초가 지나면: 위상 오차 = (1.78−1.25) × 1 = 0.53 rad ≈ 30° 어긋남.
  30°면 파봉이 전혀 다른 위치에 있습니다.
결론:
분산관계 제약 없이는 "지금 만 좋고 미래 예측 불가"입니다.
Hydrofoil FF는 t+0.1~0.3초 뒤 파도가 필요하므로 → 분산관계 제약은 필수입니다.
━━━ A2: Confidence weighting 없애면? ━━━
  nRMSE +14.5% 악화.
  멀리서 온 노이즈 많은 데이터가 가까운 정확한 데이터와 동등하게 처리됩니다.
  멀리 있는 노이즈가 추정을 오염시킵니다.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Robustness — 실제 상황에서도 잘 작동하는가? ━━━
실험실(시뮬레이션)에서 좋은 것과 실제에서 잘 되는 것은 다릅니다.
4가지 "불리한 상황"에서도 안정적인지 확인합니다.
━━━ ① Raydrop 모델 민감도 ━━━
두 가지 LiDAR 모델(Uniform vs Specular) 중 어느 것이 맞는지 확실하지 않습니다.
어느 가정을 하느냐에 따라 결과가 다르다면 문제입니다.
결과:
  WaveSplat: 두 모델 모두에서 ETKF보다 좋음 (20/20 승)
  Specular 모델에서 WS 성능 9.1% 하락, ETKF는 16.2% 하락
  → WaveSplat이 더 안정적입니다.
━━━ ② 희소성 민감도 (관측 점이 적어지면?) ━━━
관측 밀도를 20%~100%로 바꿔봅니다.
20% 밀도 = 프레임당 겨우 10점.
결과:
  BF4~5에서 10점만 있어도 nRMSE 8% 이하 하락.
  ETKF는 훨씬 더 많이 하락합니다.
왜 WaveSplat이 적은 데이터에서 강한가?:
  격자 기반 방법: 격자 셀에 데이터가 없으면 해당 셀은 추정 불가.
  WaveSplat: 파도 성분 하나가 전체 공간에 걸쳐 영향 → 점 10개도 전체 파라미터에 정보 제공.
  비유: 10개의 퍼즐 조각으로 전체 그림의 패턴(물리 법칙)을 알면, 나머지를 추론할 수 있습니다.
━━━ ③ 노이즈 민감도 ━━━
측정 오차를 기본(2cm)의 5배(10cm)까지 키워봅니다.
5배 더 노이즈가 많아도 nRMSE 변화 ±13% 이내.
Adaptive N이 노이즈를 "잘못된 파도 성분"으로 흡수했다가 pruning합니다.
━━━ ④ 하이퍼파라미터 민감도 ━━━
학습률, 정규화 계수 등을 ±2배 바꿔봅니다.
nRMSE 변화 ±5% 이내.
→ 처음 설정하고 모든 100개 에피소드에 동일하게 쓸 수 있습니다.
→ 바다 상태마다 설정을 바꿀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시각적 비교 — 그림으로 직접 확인 ━━━
4개 열을 차례로 비교합니다.
GT (Ground Truth, 정답):
  시뮬레이터에서 만든 진짜 파도입니다.
  파봉(파도 꼭대기)과 파곡(골짜기)이 규칙적으로 나타납니다.
  색이 진한 부분 = 높은 파도, 색이 연한 부분 = 낮은 파도.
WaveSplat:
  GT와 비슷한 패턴이 보입니다. 파봉 위치가 거의 맞습니다.
  조금 연하게 나오는 것이 보일 수 있습니다 (VR=0.66, 진폭 34% 과소추정).
  하지만 파도의 위치와 방향은 거의 정확합니다.
ETKF:
  파도 패턴이 GT와 다릅니다. 색깔 강도는 비슷하지만 (VR=0.90)
  파봉 위치가 GT와 맞지 않습니다 (ρ=0.109).
  비유: 음악에서 음량은 맞지만 박자가 틀린 것과 같습니다.
GPR:
  거의 단색(평탄)입니다. 파도가 있는지 없는지 구별하기 어렵습니다.
  VR=0.065 → 파도 진폭의 6.5%만 재현.
  비유: 산의 실루엣을 그려야 하는데 평평한 선만 그린 것.
━━━ 직관적 결론 ━━━
눈으로 봐도 WaveSplat만 "진짜 파도처럼 보인다"는 것이 명확합니다.
수치(nRMSE, VR, ρ)가 시각적으로도 확인됩니다.
발표 시 팁: "직접 눈으로 봐도 차이가 명확합니다"라고 말하면 청중이 쉽게 이해합니다.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스펙트럼 정확도 — WaveSplat만 가능한 추가 능력 ━━━
WaveSplat은 파도 높이(elevation)뿐 아니라, 파도 성분 정보도 직접 출력합니다.
기존 방법들은 이것이 불가합니다.
파도 성분 정보란?:
  이 파도가 어느 방향에서 오는가 (방향)
  파장이 얼마인가 (파수 |k|)
  주기가 얼마인가 (ω)
ETKF, GPR은 "높이 필드"만 추정합니다.
  방향을 알려면 추정된 높이 필드에 다시 FFT(주파수 분석)를 해야 합니다.
  이 과정에서 오차가 추가됩니다.
WaveSplat은 처음부터 (kx, ky, ω, φ)로 파라미터화합니다.
  방향, 파장, 속도가 직접 출력됩니다. 추가 계산 불필요.
━━━ 검증 결과 ━━━
N≤5인 단순한 바다에서:
  에너지 감지율 &gt; 93%: 파도 성분 대부분을 올바르게 찾아냅니다.
  파장 오차 &lt; 0.5%: 파장 100m인 파도라면 오차 50cm 미만.
  방향 오차 &lt; 0.2°: 북쪽(0°)에서 오는 파도를 0.2° 이내로 맞힙니다.
  ω 오차 &lt; 1%: 분산관계를 강제했으므로 거의 완벽.
N≥15인 복잡한 바다에서:
  방향이 비슷한 성분들이 겹쳐 구분하기 어렵습니다.
  비유: 유사한 음정의 악기 여러 개가 동시에 연주할 때 각각의 소리를 구별하기 어려운 것.
━━━ 왜 이게 중요한가? ━━━
① Hydrofoil FF: 파도가 어느 방향에서 오는지 알아야 전방/후방 foil 각각에 맞는 보상을 계산합니다.
② 미래 예측: 방향과 속도를 알아야 "5초 후 파봉이 어디 있을지" 정확히 계산 가능합니다.
③ 파랑 모니터링: 선박 운항자에게 실시간으로 "파도 방향: 북동 45°, 파장: 80m, 주기: 7초" 정보 제공 가능.</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두 가지 추가 능력 ━━━
슬라이드 15에서 5가지 평가 지표로 기본 성능을 확인했습니다.
여기서는 WaveSplat만의 두 가지 추가 능력을 보여줍니다.
━━━ ① 희소 관측에서 강건함 ━━━
관측 점이 10개밖에 없을 때도 잘 작동하는가?
비교 (BF3, 5개 성분):
  10점: WS nRMSE 0.191, ETKF 0.239
  20점: WS 0.171, ETKF 0.198
  50점: WS 0.155, ETKF 0.165
점이 적을수록 격차가 커집니다.
왜?: 격자 방법은 격자 셀에 데이터가 없으면 그 셀을 추정 못합니다.
      WaveSplat은 파도 방정식 하나가 전체 공간을 아우릅니다.
      점 10개라도 파도 방향·파장 추정에 "전역" 정보를 줍니다.
━━━ ② 시간 예측 (Wave Forecast) ━━━
핵심 수식: φᵢ(t+Δt) = φᵢ(t) + ωᵢ·Δt
ωᵢ가 분산관계로 정확히 결정되므로, 이 계산이 정확합니다.
비유: 지구 자전 주기(23시간 56분)를 정확히 알면, 24시간 후 달의 위치를 정확히 계산할 수 있는 것처럼.
결과:
  BF3, N=1 (단순): t+10초 후 SS=+0.94. 즉시 추정(+1.00에 가까움)과 거의 동등.
  BF3, N=5: t+10초 후 SS=+0.18. 떨어지지만 여전히 양수.
  BF4, N=15: t+10초 후 SS=−0.21. 복잡한 바다에서 한계.
분산관계 없는 방법(A1)과 비교:
  A1 즉시: 0.158 (좋아 보임) → A1 5초 후: 0.476 (3배 폭발)
  WS 즉시: 0.219             → WS 5초 후: 0.231 (안정)
분산관계 제약 = 미래 예측의 핵심. 이것이 Hydrofoil FF의 물리적 기반입니다.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강화 비교 대상 — "더 강한 기존 방법"과도 비교했습니다 ━━━
왜 추가 비교가 필요했나?:
  논문 심사위원이 "ETKF와 GPR은 약한 방법 아닌가? 더 강한 것과 비교해야 한다"고 할 수 있습니다.
  그래서 두 가지 강화 버전을 추가로 실험했습니다.
━━━ LETKF (Localized ETKF) ━━━
ETKF에 "공간 localization"을 추가한 버전입니다.
기존 ETKF 문제: 격자 전체의 데이터를 한꺼번에 씁니다.
  → 멀리 있는 관측이 가까운 격자 셀에 영향을 줍니다 (물리적으로 말이 안 됨).
LETKF 개선: 각 격자 셀 업데이트 시, 50m 이내 관측만 씁니다.
  → 멀리 있는 "허위 상관"을 제거합니다.
  → 복잡한 바다(N≥15)에서 WaveSplat보다 오히려 낫습니다.
━━━ GPR-disp (Physics-aware GPR) ━━━
GPR 커널에 분산관계 정보를 추가한 버전입니다.
커널 = K_spatial × K_dispersion (공간 상관 × 분산관계 기반 시간 상관)
문제: 계산량이 기하급수적으로 증가합니다 (ETKF보다 36배 느림).
→ 실시간 처리 불가. 연구 목적으로만 의미 있습니다.
━━━ 결론 ━━━
단순 바다(N≤5): WaveSplat 압도. 격차 2~8×, 속도 8.1× 빠름.
복잡 바다(N≥15): LETKF가 더 정확. 하지만 WaveSplat이 8배 빠릅니다.
실용적 권장사항:
  일반 운항 (바다가 잔잔~중간): WaveSplat 사용.
  폭풍 (N≥15 복잡한 바다): LETKF로 전환.
  두 가지를 합친 하이브리드 시스템이 최적입니다.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하이드로포일 선박이란? ━━━
수중 날개로 선체를 물 위로 띄우는 배입니다.
일반 배: 선체가 물에 잠겨 있습니다. 물 저항이 큽니다.
하이드로포일: 빠른 속도에서 날개(foil)가 양력을 만들어 선체를 물에서 들어올립니다.
  → 물 저항이 사라집니다 → 속도가 빠르고 에너지 효율이 좋습니다.
  → 마치 수상스키처럼 물 위를 달립니다.
비유: 비행기 날개가 공기 저항으로 양력을 만드는 것처럼, 수중 날개가 물의 저항으로 양력을 만듭니다.
대표적인 상용 하이드로포일: Candela C-8 (스웨덴), Artemis Technologies (영국), Enata Marine (두바이).
━━━ 파도가 왜 문제인가? ━━━
선체가 물 위에 떠 있기 때문에, 파도가 오면 날개 잠수 깊이가 변합니다.
  파봉(꼭대기)이 오면: 날개가 깊이 잠겨 양력 증가 → 배가 올라감
  파곡(골짜기)이 오면: 날개가 얕아져 양력 감소 → 배가 내려감
  → 배가 출렁거립니다.
━━━ PD 제어만으로는 왜 부족한가? ━━━
PD 제어기:
  현재 상태(배가 얼마나 기울었는가) → 측정 → 계산 → 날개 조정
  이 과정에 0.05~0.1초가 걸립니다.
  문제: 파도가 0.05초 안에 지나가버릴 수 있습니다.
  비유: 백미러만 보고 운전 → 장애물을 보는 순간 이미 지나쳤습니다.
Feedforward (FF) 제어:
  파도를 미리 보고 → 파도가 도달하기 전에 → 날개를 미리 조정.
  비유: 앞 유리로 전방을 보며 운전 → 장애물 전에 핸들을 돌립니다.
━━━ Feedforward 공식 ━━━
  x_preview = x_foil + V·Δt
    (foil 현재 위치에서 선속 × 시간만큼 앞에 있는 위치를 봅니다)
  α_wave = −∂η/∂x − w/V
    (그 위치에서 파면이 얼마나 기울어져 있는가)
  δ_ff = −K_ff · α_wave
    (기울기 반대 방향으로 날개를 조정합니다)
K_ff = 0.8: 날개의 실제 양력 효율 (이상적인 것의 80%). 실험으로 측정.
IIR LP filter: 추정 노이즈에서 나오는 빠른 진동을 걸러서 날개에 전달하지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전체 제어 시스템 흐름도 ━━━
이 그림이 연구의 전체 그림입니다.
LiDAR에서 시작해서 날개 조종까지 어떻게 연결되는지 보여줍니다.
━━━ 위쪽 경로 (Feedforward — 미리 준비) ━━━
[Falcon K1 LiDAR] → 파도 측정 → 10Hz로 업데이트
    ↓
[WaveSplat] → 파도 모양 추정 (~13ms 소요)
    ↓
[Forward Predictor] → x_pre = x_foil + V·Δt
                     현재 foil보다 V·Δt 앞에 있는 파도를 계산
    ↓
[IIR LP filter] → 고주파 노이즈 제거
    ↓
[K_ff 게인] → 파면 기울기 → 날개 편향각 변환
    ↓
[Foil Servo] → 날개 물리적으로 움직임
━━━ 아래쪽 경로 (PD Feedback — 이미 흔들리면 수정) ━━━
[선박 IMU] → 현재 heave(상하), pitch(앞뒤 기울기) 측정
    ↓
[PD 제어기] → 오차 × 비례(P) + 변화율 × 미분(D)
    ↓
[Foil Servo] → FF와 합산해서 날개 조종
━━━ 두 경로를 함께 쓰는 이유 ━━━
FF만: 추정이 완벽하지 않으면 보상이 완벽하지 않습니다.
PD만: 반응이 늦습니다.
FF + PD: FF가 파도를 미리 막고, PD가 남은 오차를 수정합니다.
  마치 운전할 때 전방을 보며(FF) 동시에 계기판도 확인(PD)하는 것.
━━━ 날개(Foil) 배치 ━━━
전방 foil + 후방 foil = 2개 날개가 있습니다.
  δ_front = δ_c − δ_d (앞날개 각도)
  δ_rear  = δ_c + δ_d (뒷날개 각도)
  δ_c = collective (heave 제어: 전체 배를 위아래로)
  δ_d = differential (pitch 제어: 앞뒤 기울기)
각 날개는 ±15° 범위에서 조절 가능합니다.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Hydrofoil 결과 (1) — 주요 결과 해설 ━━━
━━━ 표에서 "aRMS 개선율"이란? ━━━
aRMS = 승객이 느끼는 진동의 크기 (m/s²). 클수록 불편합니다.
개선율 = (FF 없을 때 − FF 있을 때) / FF 없을 때 × 100%
  양수 = 진동이 줄어들었다 = 좋은 것
  음수 = 오히려 나빠졌다
GT-FF: 파도를 완벽하게 알 때 FF. 이론적 최대 성능.
WS-FF: WaveSplat으로 추정한 파도를 사용한 FF. 실제 사용 버전.
━━━ 핵심 발견 ━━━
WS-FF = GT-FF의 93~103%:
  파도를 완벽하게 알 때와 거의 같은 FF 효과!
  "추정이 완벽하지 않아도 됩니다."
왜 완벽하지 않은 추정으로도 효과가 좋은가?:
  LP filter가 추정 오차의 고주파 부분을 제거합니다.
  파도 제어에 중요한 것은 파도의 "저주파 성분" (주기 4~7초).
  추정 오차는 주로 "고주파"에서 발생합니다.
  → 필터가 오차를 걸러주고, 유용한 정보만 날개에 전달합니다.
━━━ 방향별 해석 ━━━
Head sea (μ=180°, 정면에서 파도):
  파봉이 배 정면에서 정면으로 옵니다.
  encounter wavelength 짧음 → 파도가 빨리 지나감.
  FF 효과: ~+12% aRMS 감소.
Beam sea (μ=90°, 옆에서 파도):
  파봉이 배 옆에서 옵니다.
  파면이 두 foil을 동시에 지나감 → preview horizon이 길수록 유리.
  FF 효과: +37.7% (가장 큰 개선). Beam sea에서 가장 극적입니다.
Quarter (μ=135°, 45도 대각선에서):
  중간 효과.
━━━ ISO 2631 승차감 기준 ━━━
이것이 왜 중요한가?: 국제 표준으로 승객 불편함을 정량화합니다.
  &lt; 0.315 m/s² = Comfortable (쾌적)
  0.315~0.63 = Slight discomfort (약간 불편)
  0.63~1.0 = Fairly uncomfortable (상당히 불편)
BF3 Beam sea에서:
  FF 없이: Slight discomfort 구간
  WS-FF 후: Comfortable 구간
  실질적으로 승객이 느끼는 불편함이 없어집니다.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민감도 분석 — 두 가지 실용적 질문에 답합니다 ━━━
━━━ 질문 1: 추정이 얼마나 나빠도 FF가 작동하는가? ━━━
nRMSE를 0~50%로 인위적으로 나쁘게 만들어서 FF 성능을 봅니다.
결과:
  nRMSE 0% (완벽한 추정): 최대 FF 효과
  nRMSE 50%: 여전히 PD-only보다 FF가 좋습니다
  어느 nRMSE에서도 FF 성능이 갑자기 0이 되는 "임계값"이 없습니다.
이것이 왜 중요한가?:
  "WaveSplat 추정이 나빠지면 FF가 갑자기 해로울 수 있다"는 우려를 해소합니다.
  추정이 나빠져도 FF 효과가 서서히 줄어들 뿐, 갑자기 역효과를 내지 않습니다.
  현재 WaveSplat nRMSE 22% → 그래프에서 "안전한 구간"에 있습니다.
비유: 눈이 점점 나빠져도 운전할 수 있습니다. 완전히 안 보일 때만 멈춥니다.
━━━ 질문 2: 얼마나 먼 미래를 봐야 최적인가? (Preview Horizon) ━━━
Δt (preview 시간)를 0~1초로 바꿔봅니다.
결과:
  Head sea: 최적 Δt = 0.1초 (약 1.1m 앞)
  Beam sea: 최적 Δt = 0.3초 (약 3.4m 앞)
왜 Head sea에서 짧고 Beam sea에서 긴가?:
  Head sea: 파봉이 빠르게 지나갑니다. 0.1초만 미리 봐도 충분합니다.
  Beam sea: 파면이 두 foil에 동시에 영향을 미칩니다. 0.3초 미리 봐야 foil이 대응할 시간이 생깁니다.
너무 짧은 preview:
  파도가 이미 foil에 도달 → 미리 준비할 시간이 없습니다.
너무 긴 preview:
  미래 예측 오차가 커서 명령이 파도와 맞지 않습니다.
  비유: 10초 후 과속방지턱 대비로 지금 서스펜션을 올리면, 실제 턱에 도달할 때 서스펜션이 이미 내려와 있습니다.
결론: 0.1~0.3초 preview가 실용적 최적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End-to-End Demo — 전체 파이프라인을 연결한 최종 실험 ━━━
지금까지는 부분 부분을 따로 실험했습니다.
이제 전체를 연결합니다:
  LiDAR → (WaveSplat 추정) → (Forward Predictor) → (FF 명령) → (선박 응답)
  실제 사용 방식과 동일합니다.
━━━ 결과 ━━━
BF3 단순 sea (N=1~5 성분):
  WS E2E FF = GT-FF의 92~96% 성능
  거의 완벽합니다. "WaveSplat 추정을 GT처럼 써도 됩니다."
BF4 5-component sea:
  WS E2E FF = GT-FF의 37%
  상당히 떨어집니다. 왜?
━━━ BF4 5-comp에서 왜 성능이 낮은가? ━━━
원인: "방향 추정 오차"
FF 명령 = K_ff × α_wave
α_wave = −∂η/∂x − w/V
∂η/∂x 는 "x 방향 (배 진행 방향) 파면 기울기"입니다.
이것을 계산하려면 파도가 어느 방향에서 오는지 정확히 알아야 합니다.
만약 파도 방향을 5° 틀리게 추정하면:
  ∂η/∂x 계산에 오차가 생깁니다.
  심한 경우 FF 명령의 부호가 뒤집힙니다.
  즉, "흔들림을 줄이려 했는데 오히려 흔들림을 증폭"시킵니다.
BF4 5-comp의 경우:
  여러 성분이 ±20° 방향으로 퍼져 있습니다.
  이 성분들의 위상이 겹치면서 방향 추정 오차가 생깁니다.
━━━ 개선 방향 ━━━
(a) 배가 방향을 조금씩 바꾸면서 여러 각도에서 데이터를 모음 → 방향 추정 개선
(b) IMU(관성 항법 장치)의 방향 정보를 Prior로 사용
(c) 여러 프레임에서 방향 투표(voting)로 안정화
단순 sea에서 이미 92~96% 달성은 매우 의미 있는 결과입니다.
복잡 sea 개선은 향후 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단일점 선수 센서 비교 — 실용적으로 중요한 질문 ━━━
"WaveSplat이 없어도, 선수(뱃머리)에 파도 센서 하나만 달면 안 되는가?"
이것이 이 실험의 출발점입니다.
실제로 Candela(스웨덴 하이드로포일 회사)가 이 방식을 씁니다.
━━━ SP-1pt란? ━━━
SP = Single Point (단일 점)
선수(뱃머리) 앞쪽 한 점에서만 파도를 평가합니다.
WaveSplat GT 파도 정보를 그 한 점에서만 가져옵니다.
이것이 "단일점 센서로 할 수 있는 최선"입니다. 노이즈 없고, 완벽한 GT 파도를 씁니다.
━━━ BF3 Head sea에서 SP-1pt 결과: 평균 −13.3% (나빠졌다!) ━━━
왜 좋아야 할 것 같은데 나빠지는가?
문제를 단계별로 이해합니다.
파도의 파장 계산:
  BF3에서 Tp(파도 주기) = 5초
  λ(파장) = g × Tp² / (2π) = 9.81 × 25 / 6.28 ≈ 39m
  파장이 39m라는 것은, 파봉과 파봉 사이 거리가 39m라는 것입니다.
전방/후방 foil 간격:
  Candela C-8의 전방 foil과 후방 foil 사이 거리 = 4.5m
위상 차이 계산:
  4.5m가 39m의 파장에서 몇 도에 해당하는가?
  Δφ = 360° × 4.5/39 ≈ 41°
즉, CG(배 무게중심) 한 점에서 본 파도 신호를 전방 foil과 후방 foil에 똑같이 쓰면:
  전방 foil: +21° 위상 오차 (파봉이 조금 먼저 온다고 착각)
  후방 foil: −21° 위상 오차 (파봉이 조금 늦게 온다고 착각)
  → FF가 약 절반 정도 역방향으로 작동합니다.
이것이 구조적 문제인 이유:
  센서를 아무리 정밀하게 만들어도 해결 안 됩니다.
  GT(완벽한 데이터)를 써도 같은 결과입니다.
  "한 점에서 두 foil의 정보를 모두 얻는다"는 것 자체가 물리적으로 한계입니다.
BF4 Tp=7.5초에서는 λ≈88m → Δφ≈18° → 오차 감소 → SP-1pt +7.0% 개선 가능.
파장이 길수록 위상 차이가 작아져서 단일점이 어느 정도 작동합니다.
━━━ SP-temporal이란? ━━━
선수에 파도 높이 센서를 달고, 시간에 따른 변화로 기울기를 계산합니다.
  공식: ∂η/∂x ≈ −(1/c_p) × ∂η/∂t   (head-sea 가정)
  c_p = peak 파도의 위상 속도
  ∂η/∂t = 센서에서 측정한 시간 변화율
왜 "head-sea 가정"인가?:
  이 공식은 "파도가 정확히 배 정면(head)에서 온다"고 가정합니다.
  그래야만 시간 변화(∂η/∂t)에서 공간 기울기(∂η/∂x)를 유추할 수 있습니다.
Beam sea (옆에서 파도)에서 실패 이유:
  실제로 ∂η/∂x ≈ 0입니다. 파도가 옆으로 진행하니까 배 진행 방향 기울기가 없습니다.
  하지만 ∂η/∂t ≠ 0입니다. 파도는 여전히 위아래로 진동합니다.
  공식이 "없는 기울기"를 만들어냅니다 → FF가 없는 파도를 보상하려 합니다.
  결과: −35.0% aRMS 악화. 5개 seed 전부에서 일관되게 나빠집니다.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단일점 센서 vs WaveSplat — 안정성 비교 ━━━
━━━ BF3 Beam sea에서 seed별 결과 ━━━
같은 BF3 Beam sea 조건인데, 파도의 초기 위상(seed)에 따라:
  seed 42: +54% (FF가 매우 효과적)
  seed 0:  +31%
  seed 1:  +21%
  seed 2:  −8%
  seed 3:  −27% (FF가 오히려 흔들림 증폭)
같은 바다 조건인데 어떤 날은 좋고 어떤 날은 나쁩니다.
이것이 실용적으로 심각한 문제입니다.
"오늘은 SP 방식 쓰면 좋을까요 나쁠까요?" 운에 맡겨야 합니다.
통계:
  SP-1pt 평균: +21.4%, 표준편차: ±31.5%
  σ/μ = 1.47 → 표준편차가 평균보다 큽니다. 완전히 예측 불가.
━━━ 왜 seed마다 이렇게 다른가? ━━━
Beam sea(μ=90°, 옆에서 파도)라도 파도가 완벽히 90°로 오지는 않습니다.
방향 spread σ_θ=20° → 일부 성분이 80°, 일부가 100°, 일부가 70°에서 옵니다.
이 대각선 성분들의 위상이 seed마다 다릅니다.
→ 어떤 seed는 두 foil에 비슷한 위상 → FF 효과 좋음
→ 어떤 seed는 두 foil에 반대 위상 → FF가 흔들림 증폭
WaveSplat은?:
  각 성분(kx, ky, ω, φ)을 독립적으로 추정합니다.
  각 foil 위치에서 각 성분의 기울기를 따로 계산합니다.
  성분 간 위상 충돌이 없습니다.
  σ/μ = 0.34 (SP-1pt의 1.47 대비 4배 안정적)
━━━ 센서 선택 가이드 (언제 뭘 쓰면 되는가?) ━━━
Head sea + 긴 파도(Tp&gt;7초, λ&gt;88m):
  SP-1pt 어느 정도 작동 (GT의 71% 효과). 단순한 항로에서 허용.
Head sea + 짧은 파도(Tp&lt;7초):
  SP-1pt 일관적으로 악화. WaveSplat 필수.
Beam sea 또는 대각선 방향:
  SP-1pt 예측 불가 (운에 따라). SP-temporal 일관적 악화. WaveSplat 필수.
실상용 운항 (다양한 방향, 다양한 파도):
  WaveSplat이 유일한 안정적 해결책.
━━━ WaveSplat이 반드시 필요한 3가지 이유 요약 ━━━
① Per-foil 독립 평가: 전방 foil과 후방 foil 각각의 위치에서 파도를 따로 계산.
   → 41° 위상 오차를 원천 차단.
② 방향 독립성: 파도가 어느 방향에서 와도 각 성분을 독립 추정.
   → Beam sea, oblique sea에서도 안정적.
③ 정확한 기울기 계산: ∂η/∂x = Σ(−Aᵢ·kxᵢ·sin(phase))를 해석적으로 계산.
   → head-sea 가정 없음. 어느 방향이든 정확합니다.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마지막 슬라이드 — 한계와 기여 ━━━
━━━ 한계를 솔직하게 공개하는 이유 ━━━
좋은 연구는 자신의 한계를 솔직하게 보고합니다.
"완벽합니다"라고 하는 연구는 오히려 신뢰를 잃습니다.
한계를 알아야 언제 쓰고 언제 쓰지 말아야 하는지 알 수 있습니다.
━━━ 주요 한계 설명 ━━━
① VR=0.66 (진폭 34% 과소추정):
  원인: Adam optimizer가 최적화할 때 에너지가 작은 파도 성분을 제거(pruning).
  영향: 파봉 높이가 실제보다 34% 낮게 나옵니다.
  실용적 영향: 파봉 위치(위상)는 맞으므로, FF 제어에는 큰 영향 없습니다.
  향후 개선: pruning 후 진폭 재스케일링, 또는 에너지 보존 제약 추가.
② N=30+ crowding (복잡한 바다에서 방향 구분 어려움):
  원인: k-공간에서 비슷한 방향의 성분들이 겹쳐 보입니다.
  해결 방향: 배가 방향을 바꾸면서 더 많은 각도에서 관측 → 방향 분해능 향상.
③ 시뮬레이션만 검증:
  실제 바다에서 아직 실험하지 않았습니다.
  시뮬레이터가 실제와 얼마나 다른지 검증이 필요합니다.
  다음 단계: 수조(towing tank) 실험 → 실선(실제 배) 시험.
④ 선형 파도 모델:
  매우 큰 파도(storm)에서는 파도가 비선형입니다 (2차, 3차 성분 있음).
  현재 WaveSplat은 이를 무시합니다.
  실용적으로: Hs&lt;2m에서는 선형 모델이 충분합니다.
━━━ 기여 요약 — 이 연구에서 새롭게 한 것 ━━━
기초 알고리즘 (❶~❻): 격자 없는 방식, 물리 법칙 강제, 자동 성분 수 조절, 신뢰도 가중, 공정한 평가 설계.
WaveSplat만의 능력 (❼): 파도 성분 직접 추정 + 희소 관측에 강함 + 시간 예측 가능.
하이드로포일 응용 (❽~⓫): 실제 제어에 적용해서 승차감 개선 확인. 단일점 센서의 물리적 한계를 수학으로 증명하고 실험으로 확인.
━━━ 전체를 한 문장으로 ━━━
"배 위 레이저 센서가 찍는 드문드문한 파도 데이터에서, 물리 법칙을 이용해 격자 없이 실시간으로 파도를 정확히 복원하고, 이를 하이드로포일 선박 제어에 적용해 승차감을 크게 개선했습니다."
━━━ 질문 예상 답변 ━━━
Q: "실제 배에서 언제 적용 가능한가?"
A: "현재 시뮬레이션 검증 완료. 수조 실험이 다음 단계입니다. Avikus NEUBOAT가 같은 LiDAR를 사용하므로 sim-to-real 전환이 가장 빠릅니다."
Q: "N=30 이상의 복잡한 바다는 어떻게 하는가?"
A: "현재는 LETKF와 하이브리드로 대응합니다. WaveSplat이 N=5 이하에서 압도적이므로, 운항의 70%+ 조건을 커버합니다."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Rectangle 4">
            <a:extLst>
              <a:ext uri="{FF2B5EF4-FFF2-40B4-BE49-F238E27FC236}">
                <a16:creationId xmlns:a16="http://schemas.microsoft.com/office/drawing/2014/main" id="{C07C8241-B47D-4265-B8DC-7A83560CC123}"/>
              </a:ext>
            </a:extLst>
          </p:cNvPr>
          <p:cNvSpPr>
            <a:spLocks noChangeArrowheads="1"/>
          </p:cNvSpPr>
          <p:nvPr userDrawn="1"/>
        </p:nvSpPr>
        <p:spPr bwMode="auto">
          <a:xfrm>
            <a:off x="0" y="2054225"/>
            <a:ext cx="9144000" cy="2232025"/>
          </a:xfrm>
          <a:prstGeom prst="rect">
            <a:avLst/>
          </a:prstGeom>
          <a:solidFill>
            <a:srgbClr val="B2B2B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kumimoji="1">
                <a:solidFill>
                  <a:schemeClr val="tx1"/>
                </a:solidFill>
                <a:latin typeface="굴림" charset="-127"/>
                <a:ea typeface="굴림" charset="-127"/>
              </a:defRPr>
            </a:lvl1pPr>
            <a:lvl2pPr marL="742950" indent="-285750" eaLnBrk="0" hangingPunct="0">
              <a:defRPr kumimoji="1">
                <a:solidFill>
                  <a:schemeClr val="tx1"/>
                </a:solidFill>
                <a:latin typeface="굴림" charset="-127"/>
                <a:ea typeface="굴림" charset="-127"/>
              </a:defRPr>
            </a:lvl2pPr>
            <a:lvl3pPr marL="1143000" indent="-228600" eaLnBrk="0" hangingPunct="0">
              <a:defRPr kumimoji="1">
                <a:solidFill>
                  <a:schemeClr val="tx1"/>
                </a:solidFill>
                <a:latin typeface="굴림" charset="-127"/>
                <a:ea typeface="굴림" charset="-127"/>
              </a:defRPr>
            </a:lvl3pPr>
            <a:lvl4pPr marL="1600200" indent="-228600" eaLnBrk="0" hangingPunct="0">
              <a:defRPr kumimoji="1">
                <a:solidFill>
                  <a:schemeClr val="tx1"/>
                </a:solidFill>
                <a:latin typeface="굴림" charset="-127"/>
                <a:ea typeface="굴림" charset="-127"/>
              </a:defRPr>
            </a:lvl4pPr>
            <a:lvl5pPr marL="2057400" indent="-228600" eaLnBrk="0" hangingPunct="0">
              <a:defRPr kumimoji="1">
                <a:solidFill>
                  <a:schemeClr val="tx1"/>
                </a:solidFill>
                <a:latin typeface="굴림" charset="-127"/>
                <a:ea typeface="굴림" charset="-127"/>
              </a:defRPr>
            </a:lvl5pPr>
            <a:lvl6pPr marL="2514600" indent="-228600" eaLnBrk="0" fontAlgn="base" hangingPunct="0">
              <a:spcBef>
                <a:spcPct val="0"/>
              </a:spcBef>
              <a:spcAft>
                <a:spcPct val="0"/>
              </a:spcAft>
              <a:defRPr kumimoji="1">
                <a:solidFill>
                  <a:schemeClr val="tx1"/>
                </a:solidFill>
                <a:latin typeface="굴림" charset="-127"/>
                <a:ea typeface="굴림" charset="-127"/>
              </a:defRPr>
            </a:lvl6pPr>
            <a:lvl7pPr marL="2971800" indent="-228600" eaLnBrk="0" fontAlgn="base" hangingPunct="0">
              <a:spcBef>
                <a:spcPct val="0"/>
              </a:spcBef>
              <a:spcAft>
                <a:spcPct val="0"/>
              </a:spcAft>
              <a:defRPr kumimoji="1">
                <a:solidFill>
                  <a:schemeClr val="tx1"/>
                </a:solidFill>
                <a:latin typeface="굴림" charset="-127"/>
                <a:ea typeface="굴림" charset="-127"/>
              </a:defRPr>
            </a:lvl7pPr>
            <a:lvl8pPr marL="3429000" indent="-228600" eaLnBrk="0" fontAlgn="base" hangingPunct="0">
              <a:spcBef>
                <a:spcPct val="0"/>
              </a:spcBef>
              <a:spcAft>
                <a:spcPct val="0"/>
              </a:spcAft>
              <a:defRPr kumimoji="1">
                <a:solidFill>
                  <a:schemeClr val="tx1"/>
                </a:solidFill>
                <a:latin typeface="굴림" charset="-127"/>
                <a:ea typeface="굴림" charset="-127"/>
              </a:defRPr>
            </a:lvl8pPr>
            <a:lvl9pPr marL="3886200" indent="-228600" eaLnBrk="0" fontAlgn="base" hangingPunct="0">
              <a:spcBef>
                <a:spcPct val="0"/>
              </a:spcBef>
              <a:spcAft>
                <a:spcPct val="0"/>
              </a:spcAft>
              <a:defRPr kumimoji="1">
                <a:solidFill>
                  <a:schemeClr val="tx1"/>
                </a:solidFill>
                <a:latin typeface="굴림" charset="-127"/>
                <a:ea typeface="굴림" charset="-127"/>
              </a:defRPr>
            </a:lvl9pPr>
          </a:lstStyle>
          <a:p>
            <a:pPr eaLnBrk="1" hangingPunct="1"/>
            <a:endParaRPr lang="ko-KR" altLang="en-US"/>
          </a:p>
        </p:txBody>
      </p:sp>
      <p:sp>
        <p:nvSpPr>
          <p:cNvPr id="8" name="Rectangle 5">
            <a:extLst>
              <a:ext uri="{FF2B5EF4-FFF2-40B4-BE49-F238E27FC236}">
                <a16:creationId xmlns:a16="http://schemas.microsoft.com/office/drawing/2014/main" id="{72D8179D-E436-4C76-ADBD-8F3423C15BDF}"/>
              </a:ext>
            </a:extLst>
          </p:cNvPr>
          <p:cNvSpPr>
            <a:spLocks noChangeArrowheads="1"/>
          </p:cNvSpPr>
          <p:nvPr userDrawn="1"/>
        </p:nvSpPr>
        <p:spPr bwMode="auto">
          <a:xfrm>
            <a:off x="0" y="2125663"/>
            <a:ext cx="9144000" cy="2089150"/>
          </a:xfrm>
          <a:prstGeom prst="rect">
            <a:avLst/>
          </a:prstGeom>
          <a:solidFill>
            <a:schemeClr val="accent2">
              <a:lumMod val="75000"/>
            </a:schemeClr>
          </a:solidFill>
          <a:ln>
            <a:noFill/>
          </a:ln>
        </p:spPr>
        <p:txBody>
          <a:bodyPr wrap="none" anchor="ctr"/>
          <a:lstStyle>
            <a:lvl1pPr eaLnBrk="0" hangingPunct="0">
              <a:defRPr kumimoji="1">
                <a:solidFill>
                  <a:schemeClr val="tx1"/>
                </a:solidFill>
                <a:latin typeface="굴림" charset="-127"/>
                <a:ea typeface="굴림" charset="-127"/>
              </a:defRPr>
            </a:lvl1pPr>
            <a:lvl2pPr marL="742950" indent="-285750" eaLnBrk="0" hangingPunct="0">
              <a:defRPr kumimoji="1">
                <a:solidFill>
                  <a:schemeClr val="tx1"/>
                </a:solidFill>
                <a:latin typeface="굴림" charset="-127"/>
                <a:ea typeface="굴림" charset="-127"/>
              </a:defRPr>
            </a:lvl2pPr>
            <a:lvl3pPr marL="1143000" indent="-228600" eaLnBrk="0" hangingPunct="0">
              <a:defRPr kumimoji="1">
                <a:solidFill>
                  <a:schemeClr val="tx1"/>
                </a:solidFill>
                <a:latin typeface="굴림" charset="-127"/>
                <a:ea typeface="굴림" charset="-127"/>
              </a:defRPr>
            </a:lvl3pPr>
            <a:lvl4pPr marL="1600200" indent="-228600" eaLnBrk="0" hangingPunct="0">
              <a:defRPr kumimoji="1">
                <a:solidFill>
                  <a:schemeClr val="tx1"/>
                </a:solidFill>
                <a:latin typeface="굴림" charset="-127"/>
                <a:ea typeface="굴림" charset="-127"/>
              </a:defRPr>
            </a:lvl4pPr>
            <a:lvl5pPr marL="2057400" indent="-228600" eaLnBrk="0" hangingPunct="0">
              <a:defRPr kumimoji="1">
                <a:solidFill>
                  <a:schemeClr val="tx1"/>
                </a:solidFill>
                <a:latin typeface="굴림" charset="-127"/>
                <a:ea typeface="굴림" charset="-127"/>
              </a:defRPr>
            </a:lvl5pPr>
            <a:lvl6pPr marL="2514600" indent="-228600" eaLnBrk="0" fontAlgn="base" hangingPunct="0">
              <a:spcBef>
                <a:spcPct val="0"/>
              </a:spcBef>
              <a:spcAft>
                <a:spcPct val="0"/>
              </a:spcAft>
              <a:defRPr kumimoji="1">
                <a:solidFill>
                  <a:schemeClr val="tx1"/>
                </a:solidFill>
                <a:latin typeface="굴림" charset="-127"/>
                <a:ea typeface="굴림" charset="-127"/>
              </a:defRPr>
            </a:lvl6pPr>
            <a:lvl7pPr marL="2971800" indent="-228600" eaLnBrk="0" fontAlgn="base" hangingPunct="0">
              <a:spcBef>
                <a:spcPct val="0"/>
              </a:spcBef>
              <a:spcAft>
                <a:spcPct val="0"/>
              </a:spcAft>
              <a:defRPr kumimoji="1">
                <a:solidFill>
                  <a:schemeClr val="tx1"/>
                </a:solidFill>
                <a:latin typeface="굴림" charset="-127"/>
                <a:ea typeface="굴림" charset="-127"/>
              </a:defRPr>
            </a:lvl7pPr>
            <a:lvl8pPr marL="3429000" indent="-228600" eaLnBrk="0" fontAlgn="base" hangingPunct="0">
              <a:spcBef>
                <a:spcPct val="0"/>
              </a:spcBef>
              <a:spcAft>
                <a:spcPct val="0"/>
              </a:spcAft>
              <a:defRPr kumimoji="1">
                <a:solidFill>
                  <a:schemeClr val="tx1"/>
                </a:solidFill>
                <a:latin typeface="굴림" charset="-127"/>
                <a:ea typeface="굴림" charset="-127"/>
              </a:defRPr>
            </a:lvl8pPr>
            <a:lvl9pPr marL="3886200" indent="-228600" eaLnBrk="0" fontAlgn="base" hangingPunct="0">
              <a:spcBef>
                <a:spcPct val="0"/>
              </a:spcBef>
              <a:spcAft>
                <a:spcPct val="0"/>
              </a:spcAft>
              <a:defRPr kumimoji="1">
                <a:solidFill>
                  <a:schemeClr val="tx1"/>
                </a:solidFill>
                <a:latin typeface="굴림" charset="-127"/>
                <a:ea typeface="굴림" charset="-127"/>
              </a:defRPr>
            </a:lvl9pPr>
          </a:lstStyle>
          <a:p>
            <a:pPr eaLnBrk="1" hangingPunct="1"/>
            <a:endParaRPr lang="ko-KR" altLang="en-US"/>
          </a:p>
        </p:txBody>
      </p:sp>
      <p:sp>
        <p:nvSpPr>
          <p:cNvPr id="9" name="제목 1">
            <a:extLst>
              <a:ext uri="{FF2B5EF4-FFF2-40B4-BE49-F238E27FC236}">
                <a16:creationId xmlns:a16="http://schemas.microsoft.com/office/drawing/2014/main" id="{61D063F3-1108-4154-8347-0AB06E35DA7F}"/>
              </a:ext>
            </a:extLst>
          </p:cNvPr>
          <p:cNvSpPr>
            <a:spLocks noGrp="1"/>
          </p:cNvSpPr>
          <p:nvPr>
            <p:ph type="ctrTitle"/>
          </p:nvPr>
        </p:nvSpPr>
        <p:spPr>
          <a:xfrm>
            <a:off x="685800" y="2130425"/>
            <a:ext cx="7772400" cy="1470025"/>
          </a:xfrm>
          <a:prstGeom prst="rect">
            <a:avLst/>
          </a:prstGeom>
        </p:spPr>
        <p:txBody>
          <a:bodyPr/>
          <a:lstStyle>
            <a:lvl1pPr>
              <a:defRPr>
                <a:solidFill>
                  <a:schemeClr val="bg1"/>
                </a:solidFill>
                <a:latin typeface="Times New Roman" panose="02020603050405020304" pitchFamily="18" charset="0"/>
                <a:cs typeface="Times New Roman" panose="02020603050405020304" pitchFamily="18" charset="0"/>
              </a:defRPr>
            </a:lvl1pPr>
          </a:lstStyle>
          <a:p>
            <a:r>
              <a:rPr lang="ko-KR" altLang="en-US" dirty="0"/>
              <a:t>마스터 제목 스타일 편집</a:t>
            </a:r>
          </a:p>
        </p:txBody>
      </p:sp>
      <p:sp>
        <p:nvSpPr>
          <p:cNvPr id="10" name="부제목 2">
            <a:extLst>
              <a:ext uri="{FF2B5EF4-FFF2-40B4-BE49-F238E27FC236}">
                <a16:creationId xmlns:a16="http://schemas.microsoft.com/office/drawing/2014/main" id="{DEB2E69D-3CDF-48CA-9224-6B58E03440DE}"/>
              </a:ext>
            </a:extLst>
          </p:cNvPr>
          <p:cNvSpPr>
            <a:spLocks noGrp="1"/>
          </p:cNvSpPr>
          <p:nvPr>
            <p:ph type="subTitle" idx="1"/>
          </p:nvPr>
        </p:nvSpPr>
        <p:spPr>
          <a:xfrm>
            <a:off x="1371600" y="4293096"/>
            <a:ext cx="6400800" cy="1345704"/>
          </a:xfrm>
          <a:prstGeom prst="rect">
            <a:avLst/>
          </a:prstGeom>
        </p:spPr>
        <p:txBody>
          <a:bodyPr/>
          <a:lstStyle>
            <a:lvl1pPr marL="0" indent="0" algn="ctr">
              <a:buNone/>
              <a:defRPr>
                <a:solidFill>
                  <a:schemeClr val="tx1"/>
                </a:solidFill>
                <a:latin typeface="Times New Roman" panose="02020603050405020304" pitchFamily="18" charset="0"/>
                <a:cs typeface="Times New Roman" panose="02020603050405020304" pitchFamily="18"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dirty="0"/>
              <a:t>마스터 부제목 스타일 편집</a:t>
            </a:r>
          </a:p>
        </p:txBody>
      </p:sp>
    </p:spTree>
    <p:extLst>
      <p:ext uri="{BB962C8B-B14F-4D97-AF65-F5344CB8AC3E}">
        <p14:creationId xmlns:p14="http://schemas.microsoft.com/office/powerpoint/2010/main" val="26032723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3" name="내용 개체 틀 2">
            <a:extLst>
              <a:ext uri="{FF2B5EF4-FFF2-40B4-BE49-F238E27FC236}">
                <a16:creationId xmlns:a16="http://schemas.microsoft.com/office/drawing/2014/main" id="{D675B215-C573-4168-B166-EB28B28A1AE7}"/>
              </a:ext>
            </a:extLst>
          </p:cNvPr>
          <p:cNvSpPr>
            <a:spLocks noGrp="1"/>
          </p:cNvSpPr>
          <p:nvPr>
            <p:ph idx="1"/>
          </p:nvPr>
        </p:nvSpPr>
        <p:spPr/>
        <p:txBody>
          <a:bodyPr/>
          <a:lstStyle>
            <a:lvl1pPr marL="228600" indent="-228600">
              <a:buFont typeface="Wingdings" panose="05000000000000000000" pitchFamily="2" charset="2"/>
              <a:buChar char="§"/>
              <a:defRPr/>
            </a:lvl1pPr>
            <a:lvl2pPr marL="685800" indent="-228600">
              <a:buFont typeface="Times New Roman" panose="02020603050405020304" pitchFamily="18" charset="0"/>
              <a:buChar char="-"/>
              <a:defRPr/>
            </a:lvl2pPr>
          </a:lstStyle>
          <a:p>
            <a:pPr lvl="0"/>
            <a:r>
              <a:rPr lang="ko-KR" altLang="en-US" dirty="0"/>
              <a:t>마스터 텍스트 스타일 편집</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4" name="날짜 개체 틀 3">
            <a:extLst>
              <a:ext uri="{FF2B5EF4-FFF2-40B4-BE49-F238E27FC236}">
                <a16:creationId xmlns:a16="http://schemas.microsoft.com/office/drawing/2014/main" id="{3BB804C4-9697-471E-8BC1-E0A58D65DD25}"/>
              </a:ext>
            </a:extLst>
          </p:cNvPr>
          <p:cNvSpPr>
            <a:spLocks noGrp="1"/>
          </p:cNvSpPr>
          <p:nvPr>
            <p:ph type="dt" sz="half" idx="10"/>
          </p:nvPr>
        </p:nvSpPr>
        <p:spPr>
          <a:xfrm>
            <a:off x="0" y="6637338"/>
            <a:ext cx="1403648" cy="242969"/>
          </a:xfrm>
        </p:spPr>
        <p:txBody>
          <a:bodyPr/>
          <a:lstStyle/>
          <a:p>
            <a:r>
              <a:rPr lang="en-US" altLang="ko-KR" dirty="0"/>
              <a:t>April xx, 2023</a:t>
            </a:r>
            <a:endParaRPr lang="ko-KR" altLang="en-US" dirty="0"/>
          </a:p>
        </p:txBody>
      </p:sp>
      <p:sp>
        <p:nvSpPr>
          <p:cNvPr id="5" name="바닥글 개체 틀 4">
            <a:extLst>
              <a:ext uri="{FF2B5EF4-FFF2-40B4-BE49-F238E27FC236}">
                <a16:creationId xmlns:a16="http://schemas.microsoft.com/office/drawing/2014/main" id="{C64C737C-4C7F-4C5A-8F42-207CA8A31C84}"/>
              </a:ext>
            </a:extLst>
          </p:cNvPr>
          <p:cNvSpPr>
            <a:spLocks noGrp="1"/>
          </p:cNvSpPr>
          <p:nvPr>
            <p:ph type="ftr" sz="quarter" idx="11"/>
          </p:nvPr>
        </p:nvSpPr>
        <p:spPr>
          <a:xfrm>
            <a:off x="1403648" y="6627244"/>
            <a:ext cx="5976664" cy="240018"/>
          </a:xfrm>
        </p:spPr>
        <p:txBody>
          <a:bodyPr/>
          <a:lstStyle>
            <a:lvl1pPr>
              <a:defRPr/>
            </a:lvl1pPr>
          </a:lstStyle>
          <a:p>
            <a:endParaRPr lang="ko-KR" altLang="en-US" dirty="0"/>
          </a:p>
        </p:txBody>
      </p:sp>
      <p:sp>
        <p:nvSpPr>
          <p:cNvPr id="7" name="슬라이드 번호 개체 틀 8">
            <a:extLst>
              <a:ext uri="{FF2B5EF4-FFF2-40B4-BE49-F238E27FC236}">
                <a16:creationId xmlns:a16="http://schemas.microsoft.com/office/drawing/2014/main" id="{66223D9C-B720-4BD8-9066-5AAD180ABF23}"/>
              </a:ext>
            </a:extLst>
          </p:cNvPr>
          <p:cNvSpPr txBox="1">
            <a:spLocks/>
          </p:cNvSpPr>
          <p:nvPr userDrawn="1"/>
        </p:nvSpPr>
        <p:spPr>
          <a:xfrm>
            <a:off x="4067944" y="6376074"/>
            <a:ext cx="899592" cy="238125"/>
          </a:xfrm>
          <a:prstGeom prst="rect">
            <a:avLst/>
          </a:prstGeom>
        </p:spPr>
        <p:txBody>
          <a:bodyPr vert="horz" lIns="91440" tIns="45720" rIns="91440" bIns="45720" rtlCol="0" anchor="ctr"/>
          <a:lstStyle>
            <a:defPPr>
              <a:defRPr lang="ko-KR"/>
            </a:defPPr>
            <a:lvl1pPr algn="r" rtl="0" fontAlgn="base" latinLnBrk="1">
              <a:spcBef>
                <a:spcPct val="0"/>
              </a:spcBef>
              <a:spcAft>
                <a:spcPct val="0"/>
              </a:spcAft>
              <a:defRPr kumimoji="1" sz="1200" kern="1200">
                <a:solidFill>
                  <a:schemeClr val="tx1">
                    <a:tint val="75000"/>
                  </a:schemeClr>
                </a:solidFill>
                <a:latin typeface="굴림" charset="-127"/>
                <a:ea typeface="굴림" charset="-127"/>
                <a:cs typeface="+mn-cs"/>
              </a:defRPr>
            </a:lvl1pPr>
            <a:lvl2pPr marL="457200" algn="l" rtl="0" fontAlgn="base" latinLnBrk="1">
              <a:spcBef>
                <a:spcPct val="0"/>
              </a:spcBef>
              <a:spcAft>
                <a:spcPct val="0"/>
              </a:spcAft>
              <a:defRPr kumimoji="1" kern="1200">
                <a:solidFill>
                  <a:schemeClr val="tx1"/>
                </a:solidFill>
                <a:latin typeface="굴림" charset="-127"/>
                <a:ea typeface="굴림" charset="-127"/>
                <a:cs typeface="+mn-cs"/>
              </a:defRPr>
            </a:lvl2pPr>
            <a:lvl3pPr marL="914400" algn="l" rtl="0" fontAlgn="base" latinLnBrk="1">
              <a:spcBef>
                <a:spcPct val="0"/>
              </a:spcBef>
              <a:spcAft>
                <a:spcPct val="0"/>
              </a:spcAft>
              <a:defRPr kumimoji="1" kern="1200">
                <a:solidFill>
                  <a:schemeClr val="tx1"/>
                </a:solidFill>
                <a:latin typeface="굴림" charset="-127"/>
                <a:ea typeface="굴림" charset="-127"/>
                <a:cs typeface="+mn-cs"/>
              </a:defRPr>
            </a:lvl3pPr>
            <a:lvl4pPr marL="1371600" algn="l" rtl="0" fontAlgn="base" latinLnBrk="1">
              <a:spcBef>
                <a:spcPct val="0"/>
              </a:spcBef>
              <a:spcAft>
                <a:spcPct val="0"/>
              </a:spcAft>
              <a:defRPr kumimoji="1" kern="1200">
                <a:solidFill>
                  <a:schemeClr val="tx1"/>
                </a:solidFill>
                <a:latin typeface="굴림" charset="-127"/>
                <a:ea typeface="굴림" charset="-127"/>
                <a:cs typeface="+mn-cs"/>
              </a:defRPr>
            </a:lvl4pPr>
            <a:lvl5pPr marL="1828800" algn="l" rtl="0" fontAlgn="base" latinLnBrk="1">
              <a:spcBef>
                <a:spcPct val="0"/>
              </a:spcBef>
              <a:spcAft>
                <a:spcPct val="0"/>
              </a:spcAft>
              <a:defRPr kumimoji="1" kern="1200">
                <a:solidFill>
                  <a:schemeClr val="tx1"/>
                </a:solidFill>
                <a:latin typeface="굴림" charset="-127"/>
                <a:ea typeface="굴림" charset="-127"/>
                <a:cs typeface="+mn-cs"/>
              </a:defRPr>
            </a:lvl5pPr>
            <a:lvl6pPr marL="2286000" algn="l" defTabSz="914400" rtl="0" eaLnBrk="1" latinLnBrk="1" hangingPunct="1">
              <a:defRPr kumimoji="1" kern="1200">
                <a:solidFill>
                  <a:schemeClr val="tx1"/>
                </a:solidFill>
                <a:latin typeface="굴림" charset="-127"/>
                <a:ea typeface="굴림" charset="-127"/>
                <a:cs typeface="+mn-cs"/>
              </a:defRPr>
            </a:lvl6pPr>
            <a:lvl7pPr marL="2743200" algn="l" defTabSz="914400" rtl="0" eaLnBrk="1" latinLnBrk="1" hangingPunct="1">
              <a:defRPr kumimoji="1" kern="1200">
                <a:solidFill>
                  <a:schemeClr val="tx1"/>
                </a:solidFill>
                <a:latin typeface="굴림" charset="-127"/>
                <a:ea typeface="굴림" charset="-127"/>
                <a:cs typeface="+mn-cs"/>
              </a:defRPr>
            </a:lvl7pPr>
            <a:lvl8pPr marL="3200400" algn="l" defTabSz="914400" rtl="0" eaLnBrk="1" latinLnBrk="1" hangingPunct="1">
              <a:defRPr kumimoji="1" kern="1200">
                <a:solidFill>
                  <a:schemeClr val="tx1"/>
                </a:solidFill>
                <a:latin typeface="굴림" charset="-127"/>
                <a:ea typeface="굴림" charset="-127"/>
                <a:cs typeface="+mn-cs"/>
              </a:defRPr>
            </a:lvl8pPr>
            <a:lvl9pPr marL="3657600" algn="l" defTabSz="914400" rtl="0" eaLnBrk="1" latinLnBrk="1" hangingPunct="1">
              <a:defRPr kumimoji="1" kern="1200">
                <a:solidFill>
                  <a:schemeClr val="tx1"/>
                </a:solidFill>
                <a:latin typeface="굴림" charset="-127"/>
                <a:ea typeface="굴림" charset="-127"/>
                <a:cs typeface="+mn-cs"/>
              </a:defRPr>
            </a:lvl9pPr>
          </a:lstStyle>
          <a:p>
            <a:pPr>
              <a:defRPr/>
            </a:pPr>
            <a:r>
              <a:rPr lang="en-US" altLang="ko-KR" dirty="0"/>
              <a:t>-</a:t>
            </a:r>
            <a:fld id="{4B06D9A7-2E35-4533-98BA-70A08AF23C1B}" type="slidenum">
              <a:rPr lang="en-US" altLang="ko-KR" smtClean="0">
                <a:latin typeface="Times New Roman" panose="02020603050405020304" pitchFamily="18" charset="0"/>
                <a:cs typeface="Times New Roman" panose="02020603050405020304" pitchFamily="18" charset="0"/>
              </a:rPr>
              <a:pPr>
                <a:defRPr/>
              </a:pPr>
              <a:t>‹#›</a:t>
            </a:fld>
            <a:r>
              <a:rPr lang="en-US" altLang="ko-KR" dirty="0">
                <a:latin typeface="Times New Roman" panose="02020603050405020304" pitchFamily="18" charset="0"/>
                <a:cs typeface="Times New Roman" panose="02020603050405020304" pitchFamily="18" charset="0"/>
              </a:rPr>
              <a:t>/xx</a:t>
            </a:r>
            <a:r>
              <a:rPr lang="en-US" altLang="ko-KR" dirty="0"/>
              <a:t>-</a:t>
            </a:r>
          </a:p>
        </p:txBody>
      </p:sp>
      <p:sp>
        <p:nvSpPr>
          <p:cNvPr id="8" name="제목 7">
            <a:extLst>
              <a:ext uri="{FF2B5EF4-FFF2-40B4-BE49-F238E27FC236}">
                <a16:creationId xmlns:a16="http://schemas.microsoft.com/office/drawing/2014/main" id="{0F186BCE-BF40-49B6-9640-B62E9209F681}"/>
              </a:ext>
            </a:extLst>
          </p:cNvPr>
          <p:cNvSpPr>
            <a:spLocks noGrp="1"/>
          </p:cNvSpPr>
          <p:nvPr>
            <p:ph type="title"/>
          </p:nvPr>
        </p:nvSpPr>
        <p:spPr/>
        <p:txBody>
          <a:bodyPr/>
          <a:lstStyle/>
          <a:p>
            <a:r>
              <a:rPr lang="ko-KR" altLang="en-US"/>
              <a:t>마스터 제목 스타일 편집</a:t>
            </a:r>
          </a:p>
        </p:txBody>
      </p:sp>
    </p:spTree>
    <p:extLst>
      <p:ext uri="{BB962C8B-B14F-4D97-AF65-F5344CB8AC3E}">
        <p14:creationId xmlns:p14="http://schemas.microsoft.com/office/powerpoint/2010/main" val="3125692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91B40BB9-443F-4905-A0E2-B5F7F36289CB}"/>
              </a:ext>
            </a:extLst>
          </p:cNvPr>
          <p:cNvSpPr>
            <a:spLocks noGrp="1"/>
          </p:cNvSpPr>
          <p:nvPr>
            <p:ph type="title"/>
          </p:nvPr>
        </p:nvSpPr>
        <p:spPr>
          <a:xfrm>
            <a:off x="323528" y="1"/>
            <a:ext cx="8191822" cy="781620"/>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72AD3A9-72B8-461E-95E0-A034CE0374F3}"/>
              </a:ext>
            </a:extLst>
          </p:cNvPr>
          <p:cNvSpPr>
            <a:spLocks noGrp="1"/>
          </p:cNvSpPr>
          <p:nvPr>
            <p:ph type="body" idx="1"/>
          </p:nvPr>
        </p:nvSpPr>
        <p:spPr>
          <a:xfrm>
            <a:off x="323528" y="980732"/>
            <a:ext cx="8191822" cy="5196231"/>
          </a:xfrm>
          <a:prstGeom prst="rect">
            <a:avLst/>
          </a:prstGeom>
        </p:spPr>
        <p:txBody>
          <a:bodyPr vert="horz" lIns="91440" tIns="45720" rIns="91440" bIns="45720" rtlCol="0">
            <a:normAutofit/>
          </a:bodyPr>
          <a:lstStyle/>
          <a:p>
            <a:pPr lvl="0"/>
            <a:r>
              <a:rPr lang="ko-KR" altLang="en-US" dirty="0"/>
              <a:t>마스터 텍스트 스타일 편집</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4" name="날짜 개체 틀 3">
            <a:extLst>
              <a:ext uri="{FF2B5EF4-FFF2-40B4-BE49-F238E27FC236}">
                <a16:creationId xmlns:a16="http://schemas.microsoft.com/office/drawing/2014/main" id="{E714FE15-D5B1-472D-8C03-1866CA6B95ED}"/>
              </a:ext>
            </a:extLst>
          </p:cNvPr>
          <p:cNvSpPr>
            <a:spLocks noGrp="1"/>
          </p:cNvSpPr>
          <p:nvPr>
            <p:ph type="dt" sz="half" idx="2"/>
          </p:nvPr>
        </p:nvSpPr>
        <p:spPr>
          <a:xfrm>
            <a:off x="0" y="6637339"/>
            <a:ext cx="1403648" cy="215960"/>
          </a:xfrm>
          <a:prstGeom prst="rect">
            <a:avLst/>
          </a:prstGeom>
        </p:spPr>
        <p:txBody>
          <a:bodyPr vert="horz" lIns="91440" tIns="45720" rIns="91440" bIns="45720" rtlCol="0" anchor="ctr"/>
          <a:lstStyle>
            <a:lvl1pPr algn="l">
              <a:defRPr sz="1200">
                <a:solidFill>
                  <a:schemeClr val="tx1">
                    <a:tint val="75000"/>
                  </a:schemeClr>
                </a:solidFill>
                <a:latin typeface="Times New Roman" panose="02020603050405020304" pitchFamily="18" charset="0"/>
                <a:cs typeface="Times New Roman" panose="02020603050405020304" pitchFamily="18" charset="0"/>
              </a:defRPr>
            </a:lvl1pPr>
          </a:lstStyle>
          <a:p>
            <a:r>
              <a:rPr lang="en-US" altLang="ko-KR" dirty="0"/>
              <a:t>April xx, 2023</a:t>
            </a:r>
            <a:endParaRPr lang="ko-KR" altLang="en-US" dirty="0"/>
          </a:p>
        </p:txBody>
      </p:sp>
      <p:sp>
        <p:nvSpPr>
          <p:cNvPr id="5" name="바닥글 개체 틀 4">
            <a:extLst>
              <a:ext uri="{FF2B5EF4-FFF2-40B4-BE49-F238E27FC236}">
                <a16:creationId xmlns:a16="http://schemas.microsoft.com/office/drawing/2014/main" id="{258D6D48-DE6D-44CE-A7CA-EE6525099EC9}"/>
              </a:ext>
            </a:extLst>
          </p:cNvPr>
          <p:cNvSpPr>
            <a:spLocks noGrp="1"/>
          </p:cNvSpPr>
          <p:nvPr>
            <p:ph type="ftr" sz="quarter" idx="3"/>
          </p:nvPr>
        </p:nvSpPr>
        <p:spPr>
          <a:xfrm>
            <a:off x="1403648" y="6627244"/>
            <a:ext cx="6212110" cy="240018"/>
          </a:xfrm>
          <a:prstGeom prst="rect">
            <a:avLst/>
          </a:prstGeom>
        </p:spPr>
        <p:txBody>
          <a:bodyPr vert="horz" lIns="91440" tIns="45720" rIns="91440" bIns="45720" rtlCol="0" anchor="ctr"/>
          <a:lstStyle>
            <a:lvl1pPr algn="ctr">
              <a:defRPr sz="1200">
                <a:solidFill>
                  <a:schemeClr val="tx1">
                    <a:tint val="75000"/>
                  </a:schemeClr>
                </a:solidFill>
                <a:latin typeface="Times New Roman" panose="02020603050405020304" pitchFamily="18" charset="0"/>
                <a:cs typeface="Times New Roman" panose="02020603050405020304" pitchFamily="18" charset="0"/>
              </a:defRPr>
            </a:lvl1pPr>
          </a:lstStyle>
          <a:p>
            <a:endParaRPr lang="ko-KR" altLang="en-US" dirty="0"/>
          </a:p>
        </p:txBody>
      </p:sp>
      <p:sp>
        <p:nvSpPr>
          <p:cNvPr id="7" name="Line 17">
            <a:extLst>
              <a:ext uri="{FF2B5EF4-FFF2-40B4-BE49-F238E27FC236}">
                <a16:creationId xmlns:a16="http://schemas.microsoft.com/office/drawing/2014/main" id="{ACEA0B10-CC48-4B92-B94F-3F5D3EA26944}"/>
              </a:ext>
            </a:extLst>
          </p:cNvPr>
          <p:cNvSpPr>
            <a:spLocks noChangeShapeType="1"/>
          </p:cNvSpPr>
          <p:nvPr userDrawn="1"/>
        </p:nvSpPr>
        <p:spPr bwMode="auto">
          <a:xfrm>
            <a:off x="0" y="785813"/>
            <a:ext cx="9144000" cy="0"/>
          </a:xfrm>
          <a:prstGeom prst="line">
            <a:avLst/>
          </a:prstGeom>
          <a:noFill/>
          <a:ln w="38100">
            <a:solidFill>
              <a:srgbClr val="B2B2B2"/>
            </a:solidFill>
            <a:round/>
            <a:headEnd/>
            <a:tailEnd/>
          </a:ln>
          <a:extLst>
            <a:ext uri="{909E8E84-426E-40DD-AFC4-6F175D3DCCD1}">
              <a14:hiddenFill xmlns:a14="http://schemas.microsoft.com/office/drawing/2010/main">
                <a:noFill/>
              </a14:hiddenFill>
            </a:ext>
          </a:extLst>
        </p:spPr>
        <p:txBody>
          <a:bodyPr/>
          <a:lstStyle/>
          <a:p>
            <a:endParaRPr lang="ko-KR" altLang="en-US"/>
          </a:p>
        </p:txBody>
      </p:sp>
      <p:sp>
        <p:nvSpPr>
          <p:cNvPr id="8" name="Line 18">
            <a:extLst>
              <a:ext uri="{FF2B5EF4-FFF2-40B4-BE49-F238E27FC236}">
                <a16:creationId xmlns:a16="http://schemas.microsoft.com/office/drawing/2014/main" id="{572C12F0-8479-479A-ABC0-316A3C83A05A}"/>
              </a:ext>
            </a:extLst>
          </p:cNvPr>
          <p:cNvSpPr>
            <a:spLocks noChangeShapeType="1"/>
          </p:cNvSpPr>
          <p:nvPr userDrawn="1"/>
        </p:nvSpPr>
        <p:spPr bwMode="auto">
          <a:xfrm>
            <a:off x="0" y="6623050"/>
            <a:ext cx="7380312" cy="0"/>
          </a:xfrm>
          <a:prstGeom prst="line">
            <a:avLst/>
          </a:prstGeom>
          <a:noFill/>
          <a:ln w="38100">
            <a:solidFill>
              <a:srgbClr val="B2B2B2"/>
            </a:solidFill>
            <a:round/>
            <a:headEnd/>
            <a:tailEnd/>
          </a:ln>
          <a:extLst>
            <a:ext uri="{909E8E84-426E-40DD-AFC4-6F175D3DCCD1}">
              <a14:hiddenFill xmlns:a14="http://schemas.microsoft.com/office/drawing/2010/main">
                <a:noFill/>
              </a14:hiddenFill>
            </a:ext>
          </a:extLst>
        </p:spPr>
        <p:txBody>
          <a:bodyPr/>
          <a:lstStyle/>
          <a:p>
            <a:endParaRPr lang="ko-KR" altLang="en-US" dirty="0"/>
          </a:p>
        </p:txBody>
      </p:sp>
      <p:sp>
        <p:nvSpPr>
          <p:cNvPr id="9" name="Rectangle 19">
            <a:extLst>
              <a:ext uri="{FF2B5EF4-FFF2-40B4-BE49-F238E27FC236}">
                <a16:creationId xmlns:a16="http://schemas.microsoft.com/office/drawing/2014/main" id="{77CD4FEF-74D3-4DAE-AE4D-9E663E34AEF8}"/>
              </a:ext>
            </a:extLst>
          </p:cNvPr>
          <p:cNvSpPr>
            <a:spLocks noChangeArrowheads="1"/>
          </p:cNvSpPr>
          <p:nvPr userDrawn="1"/>
        </p:nvSpPr>
        <p:spPr bwMode="auto">
          <a:xfrm>
            <a:off x="0" y="0"/>
            <a:ext cx="179388" cy="2089150"/>
          </a:xfrm>
          <a:prstGeom prst="rect">
            <a:avLst/>
          </a:prstGeom>
          <a:solidFill>
            <a:schemeClr val="accent2">
              <a:lumMod val="75000"/>
            </a:schemeClr>
          </a:solidFill>
          <a:ln>
            <a:noFill/>
          </a:ln>
        </p:spPr>
        <p:txBody>
          <a:bodyPr wrap="none" anchor="ctr"/>
          <a:lstStyle>
            <a:lvl1pPr eaLnBrk="0" hangingPunct="0">
              <a:defRPr kumimoji="1">
                <a:solidFill>
                  <a:schemeClr val="tx1"/>
                </a:solidFill>
                <a:latin typeface="굴림" charset="-127"/>
                <a:ea typeface="굴림" charset="-127"/>
              </a:defRPr>
            </a:lvl1pPr>
            <a:lvl2pPr marL="742950" indent="-285750" eaLnBrk="0" hangingPunct="0">
              <a:defRPr kumimoji="1">
                <a:solidFill>
                  <a:schemeClr val="tx1"/>
                </a:solidFill>
                <a:latin typeface="굴림" charset="-127"/>
                <a:ea typeface="굴림" charset="-127"/>
              </a:defRPr>
            </a:lvl2pPr>
            <a:lvl3pPr marL="1143000" indent="-228600" eaLnBrk="0" hangingPunct="0">
              <a:defRPr kumimoji="1">
                <a:solidFill>
                  <a:schemeClr val="tx1"/>
                </a:solidFill>
                <a:latin typeface="굴림" charset="-127"/>
                <a:ea typeface="굴림" charset="-127"/>
              </a:defRPr>
            </a:lvl3pPr>
            <a:lvl4pPr marL="1600200" indent="-228600" eaLnBrk="0" hangingPunct="0">
              <a:defRPr kumimoji="1">
                <a:solidFill>
                  <a:schemeClr val="tx1"/>
                </a:solidFill>
                <a:latin typeface="굴림" charset="-127"/>
                <a:ea typeface="굴림" charset="-127"/>
              </a:defRPr>
            </a:lvl4pPr>
            <a:lvl5pPr marL="2057400" indent="-228600" eaLnBrk="0" hangingPunct="0">
              <a:defRPr kumimoji="1">
                <a:solidFill>
                  <a:schemeClr val="tx1"/>
                </a:solidFill>
                <a:latin typeface="굴림" charset="-127"/>
                <a:ea typeface="굴림" charset="-127"/>
              </a:defRPr>
            </a:lvl5pPr>
            <a:lvl6pPr marL="2514600" indent="-228600" eaLnBrk="0" fontAlgn="base" hangingPunct="0">
              <a:spcBef>
                <a:spcPct val="0"/>
              </a:spcBef>
              <a:spcAft>
                <a:spcPct val="0"/>
              </a:spcAft>
              <a:defRPr kumimoji="1">
                <a:solidFill>
                  <a:schemeClr val="tx1"/>
                </a:solidFill>
                <a:latin typeface="굴림" charset="-127"/>
                <a:ea typeface="굴림" charset="-127"/>
              </a:defRPr>
            </a:lvl6pPr>
            <a:lvl7pPr marL="2971800" indent="-228600" eaLnBrk="0" fontAlgn="base" hangingPunct="0">
              <a:spcBef>
                <a:spcPct val="0"/>
              </a:spcBef>
              <a:spcAft>
                <a:spcPct val="0"/>
              </a:spcAft>
              <a:defRPr kumimoji="1">
                <a:solidFill>
                  <a:schemeClr val="tx1"/>
                </a:solidFill>
                <a:latin typeface="굴림" charset="-127"/>
                <a:ea typeface="굴림" charset="-127"/>
              </a:defRPr>
            </a:lvl7pPr>
            <a:lvl8pPr marL="3429000" indent="-228600" eaLnBrk="0" fontAlgn="base" hangingPunct="0">
              <a:spcBef>
                <a:spcPct val="0"/>
              </a:spcBef>
              <a:spcAft>
                <a:spcPct val="0"/>
              </a:spcAft>
              <a:defRPr kumimoji="1">
                <a:solidFill>
                  <a:schemeClr val="tx1"/>
                </a:solidFill>
                <a:latin typeface="굴림" charset="-127"/>
                <a:ea typeface="굴림" charset="-127"/>
              </a:defRPr>
            </a:lvl8pPr>
            <a:lvl9pPr marL="3886200" indent="-228600" eaLnBrk="0" fontAlgn="base" hangingPunct="0">
              <a:spcBef>
                <a:spcPct val="0"/>
              </a:spcBef>
              <a:spcAft>
                <a:spcPct val="0"/>
              </a:spcAft>
              <a:defRPr kumimoji="1">
                <a:solidFill>
                  <a:schemeClr val="tx1"/>
                </a:solidFill>
                <a:latin typeface="굴림" charset="-127"/>
                <a:ea typeface="굴림" charset="-127"/>
              </a:defRPr>
            </a:lvl9pPr>
          </a:lstStyle>
          <a:p>
            <a:pPr eaLnBrk="1" hangingPunct="1">
              <a:defRPr/>
            </a:pPr>
            <a:endParaRPr lang="ko-KR" altLang="en-US"/>
          </a:p>
        </p:txBody>
      </p:sp>
      <p:sp>
        <p:nvSpPr>
          <p:cNvPr id="10" name="Rectangle 20">
            <a:extLst>
              <a:ext uri="{FF2B5EF4-FFF2-40B4-BE49-F238E27FC236}">
                <a16:creationId xmlns:a16="http://schemas.microsoft.com/office/drawing/2014/main" id="{471CF3CB-1B69-427E-ACF8-3C89AC11B6F6}"/>
              </a:ext>
            </a:extLst>
          </p:cNvPr>
          <p:cNvSpPr>
            <a:spLocks noChangeArrowheads="1"/>
          </p:cNvSpPr>
          <p:nvPr userDrawn="1"/>
        </p:nvSpPr>
        <p:spPr bwMode="auto">
          <a:xfrm>
            <a:off x="0" y="1928813"/>
            <a:ext cx="69850" cy="4679950"/>
          </a:xfrm>
          <a:prstGeom prst="rect">
            <a:avLst/>
          </a:prstGeom>
          <a:solidFill>
            <a:schemeClr val="accent2">
              <a:lumMod val="75000"/>
            </a:schemeClr>
          </a:solidFill>
          <a:ln>
            <a:noFill/>
          </a:ln>
        </p:spPr>
        <p:txBody>
          <a:bodyPr wrap="none" anchor="ctr"/>
          <a:lstStyle>
            <a:lvl1pPr eaLnBrk="0" hangingPunct="0">
              <a:defRPr kumimoji="1">
                <a:solidFill>
                  <a:schemeClr val="tx1"/>
                </a:solidFill>
                <a:latin typeface="굴림" charset="-127"/>
                <a:ea typeface="굴림" charset="-127"/>
              </a:defRPr>
            </a:lvl1pPr>
            <a:lvl2pPr marL="742950" indent="-285750" eaLnBrk="0" hangingPunct="0">
              <a:defRPr kumimoji="1">
                <a:solidFill>
                  <a:schemeClr val="tx1"/>
                </a:solidFill>
                <a:latin typeface="굴림" charset="-127"/>
                <a:ea typeface="굴림" charset="-127"/>
              </a:defRPr>
            </a:lvl2pPr>
            <a:lvl3pPr marL="1143000" indent="-228600" eaLnBrk="0" hangingPunct="0">
              <a:defRPr kumimoji="1">
                <a:solidFill>
                  <a:schemeClr val="tx1"/>
                </a:solidFill>
                <a:latin typeface="굴림" charset="-127"/>
                <a:ea typeface="굴림" charset="-127"/>
              </a:defRPr>
            </a:lvl3pPr>
            <a:lvl4pPr marL="1600200" indent="-228600" eaLnBrk="0" hangingPunct="0">
              <a:defRPr kumimoji="1">
                <a:solidFill>
                  <a:schemeClr val="tx1"/>
                </a:solidFill>
                <a:latin typeface="굴림" charset="-127"/>
                <a:ea typeface="굴림" charset="-127"/>
              </a:defRPr>
            </a:lvl4pPr>
            <a:lvl5pPr marL="2057400" indent="-228600" eaLnBrk="0" hangingPunct="0">
              <a:defRPr kumimoji="1">
                <a:solidFill>
                  <a:schemeClr val="tx1"/>
                </a:solidFill>
                <a:latin typeface="굴림" charset="-127"/>
                <a:ea typeface="굴림" charset="-127"/>
              </a:defRPr>
            </a:lvl5pPr>
            <a:lvl6pPr marL="2514600" indent="-228600" eaLnBrk="0" fontAlgn="base" hangingPunct="0">
              <a:spcBef>
                <a:spcPct val="0"/>
              </a:spcBef>
              <a:spcAft>
                <a:spcPct val="0"/>
              </a:spcAft>
              <a:defRPr kumimoji="1">
                <a:solidFill>
                  <a:schemeClr val="tx1"/>
                </a:solidFill>
                <a:latin typeface="굴림" charset="-127"/>
                <a:ea typeface="굴림" charset="-127"/>
              </a:defRPr>
            </a:lvl6pPr>
            <a:lvl7pPr marL="2971800" indent="-228600" eaLnBrk="0" fontAlgn="base" hangingPunct="0">
              <a:spcBef>
                <a:spcPct val="0"/>
              </a:spcBef>
              <a:spcAft>
                <a:spcPct val="0"/>
              </a:spcAft>
              <a:defRPr kumimoji="1">
                <a:solidFill>
                  <a:schemeClr val="tx1"/>
                </a:solidFill>
                <a:latin typeface="굴림" charset="-127"/>
                <a:ea typeface="굴림" charset="-127"/>
              </a:defRPr>
            </a:lvl7pPr>
            <a:lvl8pPr marL="3429000" indent="-228600" eaLnBrk="0" fontAlgn="base" hangingPunct="0">
              <a:spcBef>
                <a:spcPct val="0"/>
              </a:spcBef>
              <a:spcAft>
                <a:spcPct val="0"/>
              </a:spcAft>
              <a:defRPr kumimoji="1">
                <a:solidFill>
                  <a:schemeClr val="tx1"/>
                </a:solidFill>
                <a:latin typeface="굴림" charset="-127"/>
                <a:ea typeface="굴림" charset="-127"/>
              </a:defRPr>
            </a:lvl8pPr>
            <a:lvl9pPr marL="3886200" indent="-228600" eaLnBrk="0" fontAlgn="base" hangingPunct="0">
              <a:spcBef>
                <a:spcPct val="0"/>
              </a:spcBef>
              <a:spcAft>
                <a:spcPct val="0"/>
              </a:spcAft>
              <a:defRPr kumimoji="1">
                <a:solidFill>
                  <a:schemeClr val="tx1"/>
                </a:solidFill>
                <a:latin typeface="굴림" charset="-127"/>
                <a:ea typeface="굴림" charset="-127"/>
              </a:defRPr>
            </a:lvl9pPr>
          </a:lstStyle>
          <a:p>
            <a:pPr eaLnBrk="1" hangingPunct="1">
              <a:defRPr/>
            </a:pPr>
            <a:endParaRPr lang="ko-KR" altLang="en-US"/>
          </a:p>
        </p:txBody>
      </p:sp>
      <p:pic>
        <p:nvPicPr>
          <p:cNvPr id="11" name="그림 10">
            <a:extLst>
              <a:ext uri="{FF2B5EF4-FFF2-40B4-BE49-F238E27FC236}">
                <a16:creationId xmlns:a16="http://schemas.microsoft.com/office/drawing/2014/main" id="{07EFEB5F-9136-46CD-A7E7-DD92C8EE282D}"/>
              </a:ext>
            </a:extLst>
          </p:cNvPr>
          <p:cNvPicPr>
            <a:picLocks noChangeAspect="1"/>
          </p:cNvPicPr>
          <p:nvPr userDrawn="1"/>
        </p:nvPicPr>
        <p:blipFill>
          <a:blip r:embed="rId4"/>
          <a:stretch>
            <a:fillRect/>
          </a:stretch>
        </p:blipFill>
        <p:spPr>
          <a:xfrm>
            <a:off x="7409361" y="6320474"/>
            <a:ext cx="512878" cy="532824"/>
          </a:xfrm>
          <a:prstGeom prst="rect">
            <a:avLst/>
          </a:prstGeom>
        </p:spPr>
      </p:pic>
      <p:sp>
        <p:nvSpPr>
          <p:cNvPr id="6" name="TextBox 5">
            <a:extLst>
              <a:ext uri="{FF2B5EF4-FFF2-40B4-BE49-F238E27FC236}">
                <a16:creationId xmlns:a16="http://schemas.microsoft.com/office/drawing/2014/main" id="{B8B6923D-4463-4616-B13E-2F75DC18C637}"/>
              </a:ext>
            </a:extLst>
          </p:cNvPr>
          <p:cNvSpPr txBox="1"/>
          <p:nvPr userDrawn="1"/>
        </p:nvSpPr>
        <p:spPr>
          <a:xfrm>
            <a:off x="7852389" y="6513991"/>
            <a:ext cx="1366080" cy="351378"/>
          </a:xfrm>
          <a:prstGeom prst="rect">
            <a:avLst/>
          </a:prstGeom>
          <a:noFill/>
        </p:spPr>
        <p:txBody>
          <a:bodyPr wrap="none" rtlCol="0">
            <a:spAutoFit/>
          </a:bodyPr>
          <a:lstStyle/>
          <a:p>
            <a:pPr algn="ctr">
              <a:lnSpc>
                <a:spcPts val="100"/>
              </a:lnSpc>
            </a:pPr>
            <a:r>
              <a:rPr lang="en-US" altLang="ko-KR" sz="2400" b="1" dirty="0">
                <a:solidFill>
                  <a:schemeClr val="accent1">
                    <a:lumMod val="75000"/>
                  </a:schemeClr>
                </a:solidFill>
                <a:latin typeface="Arial Black" panose="020B0A04020102020204" pitchFamily="34" charset="0"/>
                <a:cs typeface="Times New Roman" panose="02020603050405020304" pitchFamily="18" charset="0"/>
              </a:rPr>
              <a:t>SNUTT</a:t>
            </a:r>
            <a:endParaRPr lang="en-US" altLang="ko-KR" sz="1600" b="1" dirty="0">
              <a:solidFill>
                <a:schemeClr val="accent1">
                  <a:lumMod val="75000"/>
                </a:schemeClr>
              </a:solidFill>
              <a:latin typeface="Arial Black" panose="020B0A04020102020204" pitchFamily="34" charset="0"/>
              <a:cs typeface="Times New Roman" panose="02020603050405020304" pitchFamily="18" charset="0"/>
            </a:endParaRPr>
          </a:p>
          <a:p>
            <a:pPr algn="ctr"/>
            <a:r>
              <a:rPr lang="en-US" altLang="ko-KR" sz="800" dirty="0">
                <a:solidFill>
                  <a:schemeClr val="accent1">
                    <a:lumMod val="75000"/>
                  </a:schemeClr>
                </a:solidFill>
                <a:latin typeface="Arial" panose="020B0604020202020204" pitchFamily="34" charset="0"/>
                <a:cs typeface="Arial" panose="020B0604020202020204" pitchFamily="34" charset="0"/>
              </a:rPr>
              <a:t>Seoul National University</a:t>
            </a:r>
          </a:p>
          <a:p>
            <a:pPr algn="ctr"/>
            <a:r>
              <a:rPr lang="en-US" altLang="ko-KR" sz="800" dirty="0">
                <a:solidFill>
                  <a:schemeClr val="accent1">
                    <a:lumMod val="75000"/>
                  </a:schemeClr>
                </a:solidFill>
                <a:latin typeface="Arial" panose="020B0604020202020204" pitchFamily="34" charset="0"/>
                <a:cs typeface="Arial" panose="020B0604020202020204" pitchFamily="34" charset="0"/>
              </a:rPr>
              <a:t>Towing Tank</a:t>
            </a:r>
            <a:endParaRPr lang="ko-KR" altLang="en-US" sz="800" dirty="0">
              <a:solidFill>
                <a:schemeClr val="accent1">
                  <a:lumMod val="75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6628855"/>
      </p:ext>
    </p:extLst>
  </p:cSld>
  <p:clrMap bg1="lt1" tx1="dk1" bg2="lt2" tx2="dk2" accent1="accent1" accent2="accent2" accent3="accent3" accent4="accent4" accent5="accent5" accent6="accent6" hlink="hlink" folHlink="folHlink"/>
  <p:sldLayoutIdLst>
    <p:sldLayoutId id="2147483911" r:id="rId1"/>
    <p:sldLayoutId id="2147483912" r:id="rId2"/>
  </p:sldLayoutIdLst>
  <p:hf sldNum="0" hdr="0"/>
  <p:txStyles>
    <p:titleStyle>
      <a:lvl1pPr algn="l" defTabSz="914400" rtl="0" eaLnBrk="1" latinLnBrk="1" hangingPunct="1">
        <a:lnSpc>
          <a:spcPct val="90000"/>
        </a:lnSpc>
        <a:spcBef>
          <a:spcPct val="0"/>
        </a:spcBef>
        <a:buNone/>
        <a:defRPr sz="36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1" hangingPunct="1">
        <a:lnSpc>
          <a:spcPct val="90000"/>
        </a:lnSpc>
        <a:spcBef>
          <a:spcPts val="500"/>
        </a:spcBef>
        <a:buFont typeface="Arial" panose="020B0604020202020204" pitchFamily="34" charset="0"/>
        <a:buChar char="•"/>
        <a:defRPr sz="14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1" hangingPunct="1">
        <a:lnSpc>
          <a:spcPct val="90000"/>
        </a:lnSpc>
        <a:spcBef>
          <a:spcPts val="500"/>
        </a:spcBef>
        <a:buFont typeface="Arial" panose="020B0604020202020204" pitchFamily="34" charset="0"/>
        <a:buChar char="•"/>
        <a:defRPr sz="14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r>
              <a:rPr sz="3600" b="1" i="0">
                <a:latin typeface="Times New Roman"/>
              </a:rPr>
              <a:t>WaveSplat</a:t>
            </a:r>
          </a:p>
          <a:p>
            <a:pPr/>
            <a:r>
              <a:rPr sz="1800" b="0" i="0">
                <a:latin typeface="Times New Roman"/>
              </a:rPr>
              <a:t>Grid-Free Spectral Wave Field Estimation from Sparse Shipboard LiDAR</a:t>
            </a:r>
          </a:p>
        </p:txBody>
      </p:sp>
      <p:sp>
        <p:nvSpPr>
          <p:cNvPr id="3" name="Subtitle 2"/>
          <p:cNvSpPr>
            <a:spLocks noGrp="1"/>
          </p:cNvSpPr>
          <p:nvPr>
            <p:ph type="subTitle" idx="1"/>
          </p:nvPr>
        </p:nvSpPr>
        <p:spPr/>
        <p:txBody>
          <a:bodyPr/>
          <a:lstStyle/>
          <a:p>
            <a:pPr/>
            <a:r>
              <a:rPr sz="1800" b="1" i="0">
                <a:latin typeface="Times New Roman"/>
              </a:rPr>
              <a:t>박세용 (Saeyong Park)</a:t>
            </a:r>
          </a:p>
          <a:p>
            <a:pPr/>
            <a:r>
              <a:rPr sz="1300" b="0" i="0">
                <a:latin typeface="Times New Roman"/>
              </a:rPr>
              <a:t>Avikus · HD현대  |  Seoul National University Towing Tank</a:t>
            </a:r>
          </a:p>
          <a:p>
            <a:pPr/>
            <a:r>
              <a:rPr sz="1200" b="0" i="1">
                <a:latin typeface="Times New Roman"/>
              </a:rPr>
              <a:t>Lab Meeting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3200" b="0" i="0">
                <a:latin typeface="Times New Roman"/>
              </a:rPr>
              <a:t>Contents</a:t>
            </a:r>
          </a:p>
        </p:txBody>
      </p:sp>
      <p:sp>
        <p:nvSpPr>
          <p:cNvPr id="4" name="Rounded Rectangle 3"/>
          <p:cNvSpPr/>
          <p:nvPr/>
        </p:nvSpPr>
        <p:spPr>
          <a:xfrm>
            <a:off x="1280160" y="1280160"/>
            <a:ext cx="6583680" cy="566928"/>
          </a:xfrm>
          <a:prstGeom prst="roundRect">
            <a:avLst/>
          </a:prstGeom>
          <a:solidFill>
            <a:srgbClr val="C05317"/>
          </a:solidFill>
          <a:ln>
            <a:solidFill>
              <a:srgbClr val="C05317"/>
            </a:solidFill>
          </a:ln>
        </p:spPr>
        <p:style>
          <a:lnRef idx="1">
            <a:schemeClr val="accent1"/>
          </a:lnRef>
          <a:fillRef idx="3">
            <a:schemeClr val="accent1"/>
          </a:fillRef>
          <a:effectRef idx="2">
            <a:schemeClr val="accent1"/>
          </a:effectRef>
          <a:fontRef idx="minor">
            <a:schemeClr val="lt1"/>
          </a:fontRef>
        </p:style>
        <p:txBody>
          <a:bodyPr rtlCol="0" anchor="ctr"/>
          <a:lstStyle/>
          <a:p>
            <a:r>
              <a:rPr sz="2000" b="1">
                <a:solidFill>
                  <a:srgbClr val="FFFFFF"/>
                </a:solidFill>
                <a:latin typeface="Times New Roman"/>
              </a:rPr>
              <a:t>  I.    Introduction</a:t>
            </a:r>
          </a:p>
        </p:txBody>
      </p:sp>
      <p:sp>
        <p:nvSpPr>
          <p:cNvPr id="5" name="Rounded Rectangle 4"/>
          <p:cNvSpPr/>
          <p:nvPr/>
        </p:nvSpPr>
        <p:spPr>
          <a:xfrm>
            <a:off x="1280160" y="2029967"/>
            <a:ext cx="6583680" cy="566928"/>
          </a:xfrm>
          <a:prstGeom prst="roundRect">
            <a:avLst/>
          </a:prstGeom>
          <a:solidFill>
            <a:srgbClr val="C05317"/>
          </a:solidFill>
          <a:ln>
            <a:solidFill>
              <a:srgbClr val="C05317"/>
            </a:solidFill>
          </a:ln>
        </p:spPr>
        <p:style>
          <a:lnRef idx="1">
            <a:schemeClr val="accent1"/>
          </a:lnRef>
          <a:fillRef idx="3">
            <a:schemeClr val="accent1"/>
          </a:fillRef>
          <a:effectRef idx="2">
            <a:schemeClr val="accent1"/>
          </a:effectRef>
          <a:fontRef idx="minor">
            <a:schemeClr val="lt1"/>
          </a:fontRef>
        </p:style>
        <p:txBody>
          <a:bodyPr rtlCol="0" anchor="ctr"/>
          <a:lstStyle/>
          <a:p>
            <a:r>
              <a:rPr sz="2000" b="1">
                <a:solidFill>
                  <a:srgbClr val="FFFFFF"/>
                </a:solidFill>
                <a:latin typeface="Times New Roman"/>
              </a:rPr>
              <a:t>  II.    Methodology</a:t>
            </a:r>
          </a:p>
        </p:txBody>
      </p:sp>
      <p:sp>
        <p:nvSpPr>
          <p:cNvPr id="6" name="Rounded Rectangle 5"/>
          <p:cNvSpPr/>
          <p:nvPr/>
        </p:nvSpPr>
        <p:spPr>
          <a:xfrm>
            <a:off x="1280160" y="2779776"/>
            <a:ext cx="6583680" cy="566928"/>
          </a:xfrm>
          <a:prstGeom prst="roundRect">
            <a:avLst/>
          </a:prstGeom>
          <a:solidFill>
            <a:srgbClr val="C05317"/>
          </a:solidFill>
          <a:ln>
            <a:solidFill>
              <a:srgbClr val="C05317"/>
            </a:solidFill>
          </a:ln>
        </p:spPr>
        <p:style>
          <a:lnRef idx="1">
            <a:schemeClr val="accent1"/>
          </a:lnRef>
          <a:fillRef idx="3">
            <a:schemeClr val="accent1"/>
          </a:fillRef>
          <a:effectRef idx="2">
            <a:schemeClr val="accent1"/>
          </a:effectRef>
          <a:fontRef idx="minor">
            <a:schemeClr val="lt1"/>
          </a:fontRef>
        </p:style>
        <p:txBody>
          <a:bodyPr rtlCol="0" anchor="ctr"/>
          <a:lstStyle/>
          <a:p>
            <a:r>
              <a:rPr sz="2000" b="1">
                <a:solidFill>
                  <a:srgbClr val="FFFFFF"/>
                </a:solidFill>
                <a:latin typeface="Times New Roman"/>
              </a:rPr>
              <a:t>  III.    Results</a:t>
            </a:r>
          </a:p>
        </p:txBody>
      </p:sp>
      <p:sp>
        <p:nvSpPr>
          <p:cNvPr id="7" name="Rounded Rectangle 6"/>
          <p:cNvSpPr/>
          <p:nvPr/>
        </p:nvSpPr>
        <p:spPr>
          <a:xfrm>
            <a:off x="1280160" y="3529584"/>
            <a:ext cx="6583680" cy="566928"/>
          </a:xfrm>
          <a:prstGeom prst="roundRect">
            <a:avLst/>
          </a:prstGeom>
          <a:solidFill>
            <a:srgbClr val="C05317"/>
          </a:solidFill>
          <a:ln>
            <a:solidFill>
              <a:srgbClr val="C05317"/>
            </a:solidFill>
          </a:ln>
        </p:spPr>
        <p:style>
          <a:lnRef idx="1">
            <a:schemeClr val="accent1"/>
          </a:lnRef>
          <a:fillRef idx="3">
            <a:schemeClr val="accent1"/>
          </a:fillRef>
          <a:effectRef idx="2">
            <a:schemeClr val="accent1"/>
          </a:effectRef>
          <a:fontRef idx="minor">
            <a:schemeClr val="lt1"/>
          </a:fontRef>
        </p:style>
        <p:txBody>
          <a:bodyPr rtlCol="0" anchor="ctr"/>
          <a:lstStyle/>
          <a:p>
            <a:r>
              <a:rPr sz="2000" b="1">
                <a:solidFill>
                  <a:srgbClr val="FFFFFF"/>
                </a:solidFill>
                <a:latin typeface="Times New Roman"/>
              </a:rPr>
              <a:t>  IV.    Application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600" b="0" i="0">
                <a:latin typeface="Times New Roman"/>
              </a:rPr>
              <a:t>Real Sea Trial — 실선 LiDAR 관측</a:t>
            </a:r>
          </a:p>
        </p:txBody>
      </p:sp>
      <p:sp>
        <p:nvSpPr>
          <p:cNvPr id="4" name="TextBox 3"/>
          <p:cNvSpPr txBox="1"/>
          <p:nvPr/>
        </p:nvSpPr>
        <p:spPr>
          <a:xfrm>
            <a:off x="365760" y="868680"/>
            <a:ext cx="8229600" cy="274320"/>
          </a:xfrm>
          <a:prstGeom prst="rect">
            <a:avLst/>
          </a:prstGeom>
          <a:noFill/>
        </p:spPr>
        <p:txBody>
          <a:bodyPr wrap="none">
            <a:spAutoFit/>
          </a:bodyPr>
          <a:lstStyle/>
          <a:p>
            <a:r>
              <a:rPr sz="1200" b="1">
                <a:solidFill>
                  <a:srgbClr val="C05317"/>
                </a:solidFill>
                <a:latin typeface="Times New Roman"/>
              </a:rPr>
              <a:t>Falcon K1 LiDAR Live Recording — Florida Intracoastal</a:t>
            </a:r>
          </a:p>
        </p:txBody>
      </p:sp>
      <p:pic>
        <p:nvPicPr>
          <p:cNvPr id="5" name="Picture 4" descr="sea_trial_cam.png"/>
          <p:cNvPicPr>
            <a:picLocks noChangeAspect="1"/>
          </p:cNvPicPr>
          <p:nvPr/>
        </p:nvPicPr>
        <p:blipFill>
          <a:blip r:embed="rId2"/>
          <a:stretch>
            <a:fillRect/>
          </a:stretch>
        </p:blipFill>
        <p:spPr>
          <a:xfrm>
            <a:off x="365760" y="1188720"/>
            <a:ext cx="4389120" cy="2834640"/>
          </a:xfrm>
          <a:prstGeom prst="rect">
            <a:avLst/>
          </a:prstGeom>
        </p:spPr>
      </p:pic>
      <p:pic>
        <p:nvPicPr>
          <p:cNvPr id="6" name="Picture 5" descr="sea_trial_lidar.png"/>
          <p:cNvPicPr>
            <a:picLocks noChangeAspect="1"/>
          </p:cNvPicPr>
          <p:nvPr/>
        </p:nvPicPr>
        <p:blipFill>
          <a:blip r:embed="rId3"/>
          <a:stretch>
            <a:fillRect/>
          </a:stretch>
        </p:blipFill>
        <p:spPr>
          <a:xfrm>
            <a:off x="4846320" y="1188720"/>
            <a:ext cx="3657600" cy="2834640"/>
          </a:xfrm>
          <a:prstGeom prst="rect">
            <a:avLst/>
          </a:prstGeom>
        </p:spPr>
      </p:pic>
      <p:sp>
        <p:nvSpPr>
          <p:cNvPr id="7" name="TextBox 6"/>
          <p:cNvSpPr txBox="1"/>
          <p:nvPr/>
        </p:nvSpPr>
        <p:spPr>
          <a:xfrm>
            <a:off x="365760" y="4069080"/>
            <a:ext cx="4389120" cy="256032"/>
          </a:xfrm>
          <a:prstGeom prst="rect">
            <a:avLst/>
          </a:prstGeom>
          <a:noFill/>
        </p:spPr>
        <p:txBody>
          <a:bodyPr wrap="square">
            <a:spAutoFit/>
          </a:bodyPr>
          <a:lstStyle/>
          <a:p>
            <a:r>
              <a:rPr sz="1000" b="0" i="1">
                <a:solidFill>
                  <a:srgbClr val="666666"/>
                </a:solidFill>
                <a:latin typeface="Times New Roman"/>
              </a:rPr>
              <a:t>선박 외부 카메라 (BF~2-3)</a:t>
            </a:r>
          </a:p>
        </p:txBody>
      </p:sp>
      <p:sp>
        <p:nvSpPr>
          <p:cNvPr id="8" name="TextBox 7"/>
          <p:cNvSpPr txBox="1"/>
          <p:nvPr/>
        </p:nvSpPr>
        <p:spPr>
          <a:xfrm>
            <a:off x="4846320" y="4069080"/>
            <a:ext cx="3657600" cy="256032"/>
          </a:xfrm>
          <a:prstGeom prst="rect">
            <a:avLst/>
          </a:prstGeom>
          <a:noFill/>
        </p:spPr>
        <p:txBody>
          <a:bodyPr wrap="square">
            <a:spAutoFit/>
          </a:bodyPr>
          <a:lstStyle/>
          <a:p>
            <a:r>
              <a:rPr sz="1000" b="0" i="1">
                <a:solidFill>
                  <a:srgbClr val="666666"/>
                </a:solidFill>
                <a:latin typeface="Times New Roman"/>
              </a:rPr>
              <a:t>Falcon K1 live point cloud (Rerun)</a:t>
            </a:r>
          </a:p>
        </p:txBody>
      </p:sp>
      <p:sp>
        <p:nvSpPr>
          <p:cNvPr id="9" name="TextBox 8"/>
          <p:cNvSpPr txBox="1"/>
          <p:nvPr/>
        </p:nvSpPr>
        <p:spPr>
          <a:xfrm>
            <a:off x="365760" y="4480560"/>
            <a:ext cx="8229600" cy="274320"/>
          </a:xfrm>
          <a:prstGeom prst="rect">
            <a:avLst/>
          </a:prstGeom>
          <a:noFill/>
        </p:spPr>
        <p:txBody>
          <a:bodyPr wrap="none">
            <a:spAutoFit/>
          </a:bodyPr>
          <a:lstStyle/>
          <a:p>
            <a:r>
              <a:rPr sz="1200" b="1">
                <a:solidFill>
                  <a:srgbClr val="C05317"/>
                </a:solidFill>
                <a:latin typeface="Times New Roman"/>
              </a:rPr>
              <a:t>관측 결과</a:t>
            </a:r>
          </a:p>
        </p:txBody>
      </p:sp>
      <p:sp>
        <p:nvSpPr>
          <p:cNvPr id="10" name="TextBox 9"/>
          <p:cNvSpPr txBox="1"/>
          <p:nvPr/>
        </p:nvSpPr>
        <p:spPr>
          <a:xfrm>
            <a:off x="365760" y="4800600"/>
            <a:ext cx="8229600" cy="1280160"/>
          </a:xfrm>
          <a:prstGeom prst="rect">
            <a:avLst/>
          </a:prstGeom>
          <a:noFill/>
        </p:spPr>
        <p:txBody>
          <a:bodyPr wrap="square">
            <a:spAutoFit/>
          </a:bodyPr>
          <a:lstStyle/>
          <a:p>
            <a:r>
              <a:rPr sz="1100" b="0" i="0">
                <a:solidFill>
                  <a:srgbClr val="333333"/>
                </a:solidFill>
                <a:latin typeface="Times New Roman"/>
              </a:rPr>
              <a:t>▪ LiDAR 점군이 매우 sparse — 수면 returns가 거리·각도에 따라 비균질 분포</a:t>
            </a:r>
          </a:p>
          <a:p>
            <a:r>
              <a:rPr sz="1100" b="0" i="0">
                <a:solidFill>
                  <a:srgbClr val="333333"/>
                </a:solidFill>
                <a:latin typeface="Times New Roman"/>
              </a:rPr>
              <a:t>▪ 일부 영역은 specular dropout으로 returns 부재 (수면 경사가 빔과 어긋날 때 광이 멀리 산란)</a:t>
            </a:r>
          </a:p>
          <a:p>
            <a:r>
              <a:rPr sz="1100" b="0" i="0">
                <a:solidFill>
                  <a:srgbClr val="333333"/>
                </a:solidFill>
                <a:latin typeface="Times New Roman"/>
              </a:rPr>
              <a:t>▪ 카메라로 보이는 wake·잔파는 LiDAR에는 1~2 점으로만 나타남 → 격자 보간으론 형상 복원 불가</a:t>
            </a:r>
          </a:p>
          <a:p>
            <a:r>
              <a:rPr sz="1200" b="1" i="0">
                <a:solidFill>
                  <a:srgbClr val="C05317"/>
                </a:solidFill>
                <a:latin typeface="Times New Roman"/>
              </a:rPr>
              <a:t>→ 본 연구의 출발점: 이 데이터에서 연속적·물리적으로 타당한 파도장을 어떻게 실시간 복원할 것인가?</a:t>
            </a:r>
          </a:p>
          <a:p>
            <a:pPr algn="l">
              <a:spcBef>
                <a:spcPts val="300"/>
              </a:spcBef>
            </a:pPr>
            <a:r>
              <a:rPr b="0" sz="950">
                <a:solidFill>
                  <a:srgbClr val="333333"/>
                </a:solidFill>
                <a:latin typeface="Times New Roman"/>
              </a:rPr>
              <a:t>→ 시뮬레이터 검증: WaveSim의 Falcon K1 raydrop 모델이 이 영상에서 관찰한 패턴을 재현. Fresnel R(θ) (수면 반사율) + specular retroreflection (&lt;5°) 두 모드 병렬 유지 → 두 raydrop 가정 모두에서 WaveSplat robustness 검증.</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600" b="0" i="0">
                <a:latin typeface="Times New Roman"/>
              </a:rPr>
              <a:t>Problem &amp; Motivation</a:t>
            </a:r>
          </a:p>
        </p:txBody>
      </p:sp>
      <p:sp>
        <p:nvSpPr>
          <p:cNvPr id="4" name="TextBox 3"/>
          <p:cNvSpPr txBox="1"/>
          <p:nvPr/>
        </p:nvSpPr>
        <p:spPr>
          <a:xfrm>
            <a:off x="365760" y="868680"/>
            <a:ext cx="4114800" cy="274320"/>
          </a:xfrm>
          <a:prstGeom prst="rect">
            <a:avLst/>
          </a:prstGeom>
          <a:noFill/>
        </p:spPr>
        <p:txBody>
          <a:bodyPr wrap="none">
            <a:spAutoFit/>
          </a:bodyPr>
          <a:lstStyle/>
          <a:p>
            <a:r>
              <a:rPr sz="1200" b="1">
                <a:solidFill>
                  <a:srgbClr val="C05317"/>
                </a:solidFill>
                <a:latin typeface="Times New Roman"/>
              </a:rPr>
              <a:t>선박 전방 파랑 예측이 필요한 이유</a:t>
            </a:r>
          </a:p>
        </p:txBody>
      </p:sp>
      <p:sp>
        <p:nvSpPr>
          <p:cNvPr id="5" name="TextBox 4"/>
          <p:cNvSpPr txBox="1"/>
          <p:nvPr/>
        </p:nvSpPr>
        <p:spPr>
          <a:xfrm>
            <a:off x="365760" y="1188720"/>
            <a:ext cx="4114800" cy="2468880"/>
          </a:xfrm>
          <a:prstGeom prst="rect">
            <a:avLst/>
          </a:prstGeom>
          <a:noFill/>
        </p:spPr>
        <p:txBody>
          <a:bodyPr wrap="square">
            <a:spAutoFit/>
          </a:bodyPr>
          <a:lstStyle/>
          <a:p>
            <a:r>
              <a:rPr sz="1100" b="0" i="0">
                <a:solidFill>
                  <a:srgbClr val="333333"/>
                </a:solidFill>
                <a:latin typeface="Times New Roman"/>
              </a:rPr>
              <a:t>▪ 자율운항 선박: 안전·승차감·에너지 효율</a:t>
            </a:r>
          </a:p>
          <a:p>
            <a:r>
              <a:rPr sz="1100" b="0" i="0">
                <a:solidFill>
                  <a:srgbClr val="333333"/>
                </a:solidFill>
                <a:latin typeface="Times New Roman"/>
              </a:rPr>
              <a:t>▪ 하이드로포일 선박: 파랑 preview → FF 제어</a:t>
            </a:r>
          </a:p>
          <a:p>
            <a:r>
              <a:rPr sz="1100" b="0" i="0">
                <a:solidFill>
                  <a:srgbClr val="333333"/>
                </a:solidFill>
                <a:latin typeface="Times New Roman"/>
              </a:rPr>
              <a:t>▪ 해상 크레인: 파고 예측 → 보상 제어</a:t>
            </a:r>
          </a:p>
          <a:p>
            <a:r>
              <a:rPr sz="1100" b="0" i="0">
                <a:solidFill>
                  <a:srgbClr val="333333"/>
                </a:solidFill>
                <a:latin typeface="Times New Roman"/>
              </a:rPr>
              <a:t>▪ 해양 구조물: 파랑 하중 예측 → 구조 안전</a:t>
            </a:r>
          </a:p>
          <a:p>
            <a:r>
              <a:rPr sz="1100" b="0" i="0">
                <a:solidFill>
                  <a:srgbClr val="333333"/>
                </a:solidFill>
                <a:latin typeface="Times New Roman"/>
              </a:rPr>
              <a:t>▪ DP/heave compensation: 파봉 도달 시점 예측</a:t>
            </a:r>
          </a:p>
          <a:p>
            <a:r>
              <a:rPr sz="1100" b="0" i="0">
                <a:solidFill>
                  <a:srgbClr val="333333"/>
                </a:solidFill>
                <a:latin typeface="Times New Roman"/>
              </a:rPr>
              <a:t>▪ Helideck operation window 판정</a:t>
            </a:r>
          </a:p>
        </p:txBody>
      </p:sp>
      <p:sp>
        <p:nvSpPr>
          <p:cNvPr id="6" name="TextBox 5"/>
          <p:cNvSpPr txBox="1"/>
          <p:nvPr/>
        </p:nvSpPr>
        <p:spPr>
          <a:xfrm>
            <a:off x="4663440" y="868680"/>
            <a:ext cx="3931920" cy="274320"/>
          </a:xfrm>
          <a:prstGeom prst="rect">
            <a:avLst/>
          </a:prstGeom>
          <a:noFill/>
        </p:spPr>
        <p:txBody>
          <a:bodyPr wrap="none">
            <a:spAutoFit/>
          </a:bodyPr>
          <a:lstStyle/>
          <a:p>
            <a:r>
              <a:rPr sz="1200" b="1">
                <a:solidFill>
                  <a:srgbClr val="C05317"/>
                </a:solidFill>
                <a:latin typeface="Times New Roman"/>
              </a:rPr>
              <a:t>LiDAR 관측의 본질적 어려움</a:t>
            </a:r>
          </a:p>
        </p:txBody>
      </p:sp>
      <p:sp>
        <p:nvSpPr>
          <p:cNvPr id="7" name="TextBox 6"/>
          <p:cNvSpPr txBox="1"/>
          <p:nvPr/>
        </p:nvSpPr>
        <p:spPr>
          <a:xfrm>
            <a:off x="4663440" y="1188720"/>
            <a:ext cx="3931920" cy="2468880"/>
          </a:xfrm>
          <a:prstGeom prst="rect">
            <a:avLst/>
          </a:prstGeom>
          <a:noFill/>
        </p:spPr>
        <p:txBody>
          <a:bodyPr wrap="square">
            <a:spAutoFit/>
          </a:bodyPr>
          <a:lstStyle/>
          <a:p>
            <a:r>
              <a:rPr sz="1100" b="0" i="0">
                <a:solidFill>
                  <a:srgbClr val="333333"/>
                </a:solidFill>
                <a:latin typeface="Times New Roman"/>
              </a:rPr>
              <a:t>▪ Sparse: 250×200 m 영역에서 프레임당 ~50점</a:t>
            </a:r>
          </a:p>
          <a:p>
            <a:r>
              <a:rPr sz="1100" b="0" i="0">
                <a:solidFill>
                  <a:srgbClr val="333333"/>
                </a:solidFill>
                <a:latin typeface="Times New Roman"/>
              </a:rPr>
              <a:t>▪ Heterogeneous: 근거리 조밀, 원거리 희박</a:t>
            </a:r>
          </a:p>
          <a:p>
            <a:r>
              <a:rPr sz="1100" b="0" i="0">
                <a:solidFill>
                  <a:srgbClr val="333333"/>
                </a:solidFill>
                <a:latin typeface="Times New Roman"/>
              </a:rPr>
              <a:t>▪ Range-dependent noise: σ_r ≈ 0.02 m near, 더 큼 far</a:t>
            </a:r>
          </a:p>
          <a:p>
            <a:r>
              <a:rPr sz="1100" b="0" i="0">
                <a:solidFill>
                  <a:srgbClr val="333333"/>
                </a:solidFill>
                <a:latin typeface="Times New Roman"/>
              </a:rPr>
              <a:t>▪ Specular dropout: 평탄한 수면에서 returns 미반환</a:t>
            </a:r>
          </a:p>
          <a:p>
            <a:r>
              <a:rPr sz="1100" b="0" i="0">
                <a:solidFill>
                  <a:srgbClr val="333333"/>
                </a:solidFill>
                <a:latin typeface="Times New Roman"/>
              </a:rPr>
              <a:t>▪ Spray·whitecap·rain → false returns 가능</a:t>
            </a:r>
          </a:p>
          <a:p>
            <a:r>
              <a:rPr sz="1100" b="0" i="0">
                <a:solidFill>
                  <a:srgbClr val="333333"/>
                </a:solidFill>
                <a:latin typeface="Times New Roman"/>
              </a:rPr>
              <a:t>▪ 10 Hz 실시간 처리 필요 (&lt; 100 ms/frame)</a:t>
            </a:r>
          </a:p>
        </p:txBody>
      </p:sp>
      <p:sp>
        <p:nvSpPr>
          <p:cNvPr id="8" name="Rounded Rectangle 7"/>
          <p:cNvSpPr/>
          <p:nvPr/>
        </p:nvSpPr>
        <p:spPr>
          <a:xfrm>
            <a:off x="365760" y="3840480"/>
            <a:ext cx="8229600" cy="685800"/>
          </a:xfrm>
          <a:prstGeom prst="roundRect">
            <a:avLst/>
          </a:prstGeom>
          <a:solidFill>
            <a:srgbClr val="C05317"/>
          </a:solidFill>
          <a:ln>
            <a:solidFill>
              <a:srgbClr val="C05317"/>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Times New Roman"/>
              </a:rPr>
              <a:t>목표: 희소 LiDAR 관측으로부터 연속적·물리적으로 타당한 파도장을 실시간 복원</a:t>
            </a:r>
          </a:p>
        </p:txBody>
      </p:sp>
      <p:sp>
        <p:nvSpPr>
          <p:cNvPr id="9" name="TextBox 8"/>
          <p:cNvSpPr txBox="1"/>
          <p:nvPr/>
        </p:nvSpPr>
        <p:spPr>
          <a:xfrm>
            <a:off x="365760" y="4754880"/>
            <a:ext cx="8229600" cy="274320"/>
          </a:xfrm>
          <a:prstGeom prst="rect">
            <a:avLst/>
          </a:prstGeom>
          <a:noFill/>
        </p:spPr>
        <p:txBody>
          <a:bodyPr wrap="none">
            <a:spAutoFit/>
          </a:bodyPr>
          <a:lstStyle/>
          <a:p>
            <a:r>
              <a:rPr sz="1200" b="1">
                <a:solidFill>
                  <a:srgbClr val="C05317"/>
                </a:solidFill>
                <a:latin typeface="Times New Roman"/>
              </a:rPr>
              <a:t>대표적 응용 — Hydrofoil ride control (본 발표 후반부)</a:t>
            </a:r>
          </a:p>
        </p:txBody>
      </p:sp>
      <p:sp>
        <p:nvSpPr>
          <p:cNvPr id="10" name="TextBox 9"/>
          <p:cNvSpPr txBox="1"/>
          <p:nvPr/>
        </p:nvSpPr>
        <p:spPr>
          <a:xfrm>
            <a:off x="365760" y="5074920"/>
            <a:ext cx="8229600" cy="914400"/>
          </a:xfrm>
          <a:prstGeom prst="rect">
            <a:avLst/>
          </a:prstGeom>
          <a:noFill/>
        </p:spPr>
        <p:txBody>
          <a:bodyPr wrap="square">
            <a:spAutoFit/>
          </a:bodyPr>
          <a:lstStyle/>
          <a:p>
            <a:r>
              <a:rPr sz="1100" b="0" i="0">
                <a:solidFill>
                  <a:srgbClr val="333333"/>
                </a:solidFill>
                <a:latin typeface="Times New Roman"/>
              </a:rPr>
              <a:t>▪ 수면 위 비행 → 파도 교란에 극도로 민감 (foil 잠수 0.5~1.0 m → AoA 직접 변동)</a:t>
            </a:r>
          </a:p>
          <a:p>
            <a:r>
              <a:rPr sz="1100" b="0" i="0">
                <a:solidFill>
                  <a:srgbClr val="333333"/>
                </a:solidFill>
                <a:latin typeface="Times New Roman"/>
              </a:rPr>
              <a:t>▪ PD feedback만으로는 encounter freq 대응 한계 (50~100 ms loop delay = 파도 주기의 5~10%)</a:t>
            </a:r>
          </a:p>
          <a:p>
            <a:r>
              <a:rPr sz="1100" b="0" i="0">
                <a:solidFill>
                  <a:srgbClr val="333333"/>
                </a:solidFill>
                <a:latin typeface="Times New Roman"/>
              </a:rPr>
              <a:t>▪ 해법: WaveSplat 추정 → preview feedforward → 자동차 active suspension의 해양 버전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600" b="0" i="0">
                <a:latin typeface="Times New Roman"/>
              </a:rPr>
              <a:t>기존 방법의 한계 — Prior Art</a:t>
            </a:r>
          </a:p>
        </p:txBody>
      </p:sp>
      <p:graphicFrame>
        <p:nvGraphicFramePr>
          <p:cNvPr id="4" name="Table 3"/>
          <p:cNvGraphicFramePr>
            <a:graphicFrameLocks noGrp="1"/>
          </p:cNvGraphicFramePr>
          <p:nvPr/>
        </p:nvGraphicFramePr>
        <p:xfrm>
          <a:off x="365760" y="960120"/>
          <a:ext cx="8229600" cy="3017520"/>
        </p:xfrm>
        <a:graphic>
          <a:graphicData uri="http://schemas.openxmlformats.org/drawingml/2006/table">
            <a:tbl>
              <a:tblPr firstRow="1" bandRow="1">
                <a:tableStyleId>{5C22544A-7EE6-4342-B048-85BDC9FD1C3A}</a:tableStyleId>
              </a:tblPr>
              <a:tblGrid>
                <a:gridCol w="2743200"/>
                <a:gridCol w="2743200"/>
                <a:gridCol w="2743200"/>
              </a:tblGrid>
              <a:tr h="754380">
                <a:tc>
                  <a:txBody>
                    <a:bodyPr/>
                    <a:lstStyle/>
                    <a:p>
                      <a:r>
                        <a:rPr sz="1000" b="1">
                          <a:solidFill>
                            <a:srgbClr val="FFFFFF"/>
                          </a:solidFill>
                          <a:latin typeface="Times New Roman"/>
                        </a:rPr>
                        <a:t>Method</a:t>
                      </a:r>
                    </a:p>
                  </a:txBody>
                  <a:tcPr>
                    <a:solidFill>
                      <a:srgbClr val="C05317"/>
                    </a:solidFill>
                  </a:tcPr>
                </a:tc>
                <a:tc>
                  <a:txBody>
                    <a:bodyPr/>
                    <a:lstStyle/>
                    <a:p>
                      <a:r>
                        <a:rPr sz="1000" b="1">
                          <a:solidFill>
                            <a:srgbClr val="FFFFFF"/>
                          </a:solidFill>
                          <a:latin typeface="Times New Roman"/>
                        </a:rPr>
                        <a:t>Approach</a:t>
                      </a:r>
                    </a:p>
                  </a:txBody>
                  <a:tcPr>
                    <a:solidFill>
                      <a:srgbClr val="C05317"/>
                    </a:solidFill>
                  </a:tcPr>
                </a:tc>
                <a:tc>
                  <a:txBody>
                    <a:bodyPr/>
                    <a:lstStyle/>
                    <a:p>
                      <a:r>
                        <a:rPr sz="1000" b="1">
                          <a:solidFill>
                            <a:srgbClr val="FFFFFF"/>
                          </a:solidFill>
                          <a:latin typeface="Times New Roman"/>
                        </a:rPr>
                        <a:t>Key Limitation</a:t>
                      </a:r>
                    </a:p>
                  </a:txBody>
                  <a:tcPr>
                    <a:solidFill>
                      <a:srgbClr val="C05317"/>
                    </a:solidFill>
                  </a:tcPr>
                </a:tc>
              </a:tr>
              <a:tr h="754380">
                <a:tc>
                  <a:txBody>
                    <a:bodyPr/>
                    <a:lstStyle/>
                    <a:p>
                      <a:r>
                        <a:rPr sz="1000" b="1">
                          <a:latin typeface="Times New Roman"/>
                        </a:rPr>
                        <a:t>ETKF-grid</a:t>
                      </a:r>
                    </a:p>
                    <a:p>
                      <a:r>
                        <a:rPr sz="1000" b="1">
                          <a:latin typeface="Times New Roman"/>
                        </a:rPr>
                        <a:t>(Desmars 2020)</a:t>
                      </a:r>
                    </a:p>
                  </a:txBody>
                  <a:tcPr>
                    <a:solidFill>
                      <a:srgbClr val="FFFFFF"/>
                    </a:solidFill>
                  </a:tcPr>
                </a:tc>
                <a:tc>
                  <a:txBody>
                    <a:bodyPr/>
                    <a:lstStyle/>
                    <a:p>
                      <a:r>
                        <a:rPr sz="1000" b="1">
                          <a:latin typeface="Times New Roman"/>
                        </a:rPr>
                        <a:t>Spatial grid 위에 ensemble Kalman filter,</a:t>
                      </a:r>
                    </a:p>
                    <a:p>
                      <a:r>
                        <a:rPr sz="1000" b="1">
                          <a:latin typeface="Times New Roman"/>
                        </a:rPr>
                        <a:t>FFT 기반 spectral propagation</a:t>
                      </a:r>
                    </a:p>
                  </a:txBody>
                  <a:tcPr>
                    <a:solidFill>
                      <a:srgbClr val="FFFFFF"/>
                    </a:solidFill>
                  </a:tcPr>
                </a:tc>
                <a:tc>
                  <a:txBody>
                    <a:bodyPr/>
                    <a:lstStyle/>
                    <a:p>
                      <a:r>
                        <a:rPr sz="1000" b="1">
                          <a:latin typeface="Times New Roman"/>
                        </a:rPr>
                        <a:t>격자 보간 → aliasing</a:t>
                      </a:r>
                    </a:p>
                    <a:p>
                      <a:r>
                        <a:rPr sz="1000" b="1">
                          <a:latin typeface="Times New Roman"/>
                        </a:rPr>
                        <a:t>O(Nₑ G² log G²) 비용</a:t>
                      </a:r>
                    </a:p>
                    <a:p>
                      <a:r>
                        <a:rPr sz="1000" b="1">
                          <a:latin typeface="Times New Roman"/>
                        </a:rPr>
                        <a:t>하이퍼파라미터(grid·inflation·loc) 민감</a:t>
                      </a:r>
                    </a:p>
                  </a:txBody>
                  <a:tcPr>
                    <a:solidFill>
                      <a:srgbClr val="FFFFFF"/>
                    </a:solidFill>
                  </a:tcPr>
                </a:tc>
              </a:tr>
              <a:tr h="754380">
                <a:tc>
                  <a:txBody>
                    <a:bodyPr/>
                    <a:lstStyle/>
                    <a:p>
                      <a:r>
                        <a:rPr sz="1000">
                          <a:latin typeface="Times New Roman"/>
                        </a:rPr>
                        <a:t>GPR</a:t>
                      </a:r>
                    </a:p>
                    <a:p>
                      <a:r>
                        <a:rPr sz="1000">
                          <a:latin typeface="Times New Roman"/>
                        </a:rPr>
                        <a:t>(Rasmussen-Williams 2006)</a:t>
                      </a:r>
                    </a:p>
                  </a:txBody>
                  <a:tcPr>
                    <a:solidFill>
                      <a:srgbClr val="FAEBDD"/>
                    </a:solidFill>
                  </a:tcPr>
                </a:tc>
                <a:tc>
                  <a:txBody>
                    <a:bodyPr/>
                    <a:lstStyle/>
                    <a:p>
                      <a:r>
                        <a:rPr sz="1000">
                          <a:latin typeface="Times New Roman"/>
                        </a:rPr>
                        <a:t>RBF/Matérn 커널의 비모수적</a:t>
                      </a:r>
                    </a:p>
                    <a:p>
                      <a:r>
                        <a:rPr sz="1000">
                          <a:latin typeface="Times New Roman"/>
                        </a:rPr>
                        <a:t>공간 보간</a:t>
                      </a:r>
                    </a:p>
                  </a:txBody>
                  <a:tcPr>
                    <a:solidFill>
                      <a:srgbClr val="FAEBDD"/>
                    </a:solidFill>
                  </a:tcPr>
                </a:tc>
                <a:tc>
                  <a:txBody>
                    <a:bodyPr/>
                    <a:lstStyle/>
                    <a:p>
                      <a:r>
                        <a:rPr sz="1000">
                          <a:latin typeface="Times New Roman"/>
                        </a:rPr>
                        <a:t>O(M³) 비용</a:t>
                      </a:r>
                    </a:p>
                    <a:p>
                      <a:r>
                        <a:rPr sz="1000">
                          <a:latin typeface="Times New Roman"/>
                        </a:rPr>
                        <a:t>시간 모델 없음</a:t>
                      </a:r>
                    </a:p>
                    <a:p>
                      <a:r>
                        <a:rPr sz="1000">
                          <a:latin typeface="Times New Roman"/>
                        </a:rPr>
                        <a:t>장파장만 잡음 → near-zero predictor</a:t>
                      </a:r>
                    </a:p>
                  </a:txBody>
                  <a:tcPr>
                    <a:solidFill>
                      <a:srgbClr val="FAEBDD"/>
                    </a:solidFill>
                  </a:tcPr>
                </a:tc>
              </a:tr>
              <a:tr h="754380">
                <a:tc>
                  <a:txBody>
                    <a:bodyPr/>
                    <a:lstStyle/>
                    <a:p>
                      <a:r>
                        <a:rPr sz="1000">
                          <a:latin typeface="Times New Roman"/>
                        </a:rPr>
                        <a:t>PINN / FNO</a:t>
                      </a:r>
                    </a:p>
                    <a:p>
                      <a:r>
                        <a:rPr sz="1000">
                          <a:latin typeface="Times New Roman"/>
                        </a:rPr>
                        <a:t>(Ehlers 2024)</a:t>
                      </a:r>
                    </a:p>
                  </a:txBody>
                  <a:tcPr>
                    <a:solidFill>
                      <a:srgbClr val="FFFFFF"/>
                    </a:solidFill>
                  </a:tcPr>
                </a:tc>
                <a:tc>
                  <a:txBody>
                    <a:bodyPr/>
                    <a:lstStyle/>
                    <a:p>
                      <a:r>
                        <a:rPr sz="1000">
                          <a:latin typeface="Times New Roman"/>
                        </a:rPr>
                        <a:t>신경망 기반 — PDE 잔차 또는</a:t>
                      </a:r>
                    </a:p>
                    <a:p>
                      <a:r>
                        <a:rPr sz="1000">
                          <a:latin typeface="Times New Roman"/>
                        </a:rPr>
                        <a:t>Fourier neural operator</a:t>
                      </a:r>
                    </a:p>
                  </a:txBody>
                  <a:tcPr>
                    <a:solidFill>
                      <a:srgbClr val="FFFFFF"/>
                    </a:solidFill>
                  </a:tcPr>
                </a:tc>
                <a:tc>
                  <a:txBody>
                    <a:bodyPr/>
                    <a:lstStyle/>
                    <a:p>
                      <a:r>
                        <a:rPr sz="1000">
                          <a:latin typeface="Times New Roman"/>
                        </a:rPr>
                        <a:t>학습 분포 의존</a:t>
                      </a:r>
                    </a:p>
                    <a:p>
                      <a:r>
                        <a:rPr sz="1000">
                          <a:latin typeface="Times New Roman"/>
                        </a:rPr>
                        <a:t>균일 grid 가정 (LiDAR 불규칙성과 불일치)</a:t>
                      </a:r>
                    </a:p>
                    <a:p>
                      <a:r>
                        <a:rPr sz="1000">
                          <a:latin typeface="Times New Roman"/>
                        </a:rPr>
                        <a:t>black box 진단 어려움</a:t>
                      </a:r>
                    </a:p>
                  </a:txBody>
                  <a:tcPr>
                    <a:solidFill>
                      <a:srgbClr val="FFFFFF"/>
                    </a:solidFill>
                  </a:tcPr>
                </a:tc>
              </a:tr>
            </a:tbl>
          </a:graphicData>
        </a:graphic>
      </p:graphicFrame>
      <p:sp>
        <p:nvSpPr>
          <p:cNvPr id="5" name="TextBox 4"/>
          <p:cNvSpPr txBox="1"/>
          <p:nvPr/>
        </p:nvSpPr>
        <p:spPr>
          <a:xfrm>
            <a:off x="365760" y="4160520"/>
            <a:ext cx="8229600" cy="1645920"/>
          </a:xfrm>
          <a:prstGeom prst="rect">
            <a:avLst/>
          </a:prstGeom>
          <a:noFill/>
        </p:spPr>
        <p:txBody>
          <a:bodyPr wrap="square">
            <a:spAutoFit/>
          </a:bodyPr>
          <a:lstStyle/>
          <a:p>
            <a:r>
              <a:rPr sz="1300" b="1" i="0">
                <a:solidFill>
                  <a:srgbClr val="1A1A2E"/>
                </a:solidFill>
                <a:latin typeface="Times New Roman"/>
              </a:rPr>
              <a:t>공통 구조적 문제: 모두 "격자(grid) 또는 학습 분포에 의존"</a:t>
            </a:r>
          </a:p>
          <a:p>
            <a:r>
              <a:rPr sz="1100" b="0" i="0">
                <a:solidFill>
                  <a:srgbClr val="333333"/>
                </a:solidFill>
                <a:latin typeface="Times New Roman"/>
              </a:rPr>
              <a:t>   → 희소 관측에서 aliasing &amp; 불필요한 계산</a:t>
            </a:r>
          </a:p>
          <a:p>
            <a:r>
              <a:rPr sz="1100" b="0" i="0">
                <a:solidFill>
                  <a:srgbClr val="333333"/>
                </a:solidFill>
                <a:latin typeface="Times New Roman"/>
              </a:rPr>
              <a:t>   → 제어 응용 (forecast 5~10 s)에 시간 모델 부재</a:t>
            </a:r>
          </a:p>
          <a:p>
            <a:r>
              <a:rPr sz="1300" b="1" i="0">
                <a:solidFill>
                  <a:srgbClr val="C05317"/>
                </a:solidFill>
                <a:latin typeface="Times New Roman"/>
              </a:rPr>
              <a:t>→ Grid-free + physics-constrained representation이 필요</a:t>
            </a:r>
          </a:p>
          <a:p>
            <a:pPr algn="l">
              <a:spcBef>
                <a:spcPts val="200"/>
              </a:spcBef>
            </a:pPr>
            <a:r>
              <a:rPr b="0" sz="800">
                <a:solidFill>
                  <a:srgbClr val="333333"/>
                </a:solidFill>
                <a:latin typeface="Times New Roman"/>
              </a:rPr>
              <a:t/>
            </a:r>
          </a:p>
          <a:p>
            <a:pPr algn="l">
              <a:spcBef>
                <a:spcPts val="200"/>
              </a:spcBef>
            </a:pPr>
            <a:r>
              <a:rPr b="0" sz="900">
                <a:solidFill>
                  <a:srgbClr val="333333"/>
                </a:solidFill>
                <a:latin typeface="Times New Roman"/>
              </a:rPr>
              <a:t>▸ ETKF-grid: 격자 셀당 0~1점 → bilinear ill-posed; N_e=100 앙상블로 132.6 ms/frame; dispersion soft-constrained only</a:t>
            </a:r>
          </a:p>
          <a:p>
            <a:pPr algn="l">
              <a:spcBef>
                <a:spcPts val="200"/>
              </a:spcBef>
            </a:pPr>
            <a:r>
              <a:rPr b="0" sz="900">
                <a:solidFill>
                  <a:srgbClr val="333333"/>
                </a:solidFill>
                <a:latin typeface="Times New Roman"/>
              </a:rPr>
              <a:t>▸ GPR: RBF 커널 공간 보간 O(M³); 시간 모델 없음; VR=0.065 → 진폭 6.5%만 재현 (거의 zero-predictor)</a:t>
            </a:r>
          </a:p>
          <a:p>
            <a:pPr algn="l">
              <a:spcBef>
                <a:spcPts val="200"/>
              </a:spcBef>
            </a:pPr>
            <a:r>
              <a:rPr b="0" sz="900">
                <a:solidFill>
                  <a:srgbClr val="333333"/>
                </a:solidFill>
                <a:latin typeface="Times New Roman"/>
              </a:rPr>
              <a:t>▸ PINN/FNO: 학습 분포 의존 → 학습 외 sea state 취약; 균일 grid 가정 (sparse LiDAR에 직접 부적합)</a:t>
            </a:r>
          </a:p>
          <a:p>
            <a:pPr algn="l">
              <a:spcBef>
                <a:spcPts val="300"/>
              </a:spcBef>
            </a:pPr>
            <a:r>
              <a:rPr b="1" sz="950">
                <a:solidFill>
                  <a:srgbClr val="C05317"/>
                </a:solidFill>
                <a:latin typeface="Times New Roman"/>
              </a:rPr>
              <a:t>→ WaveSplat: Grid-free spectral (격자 없음) + ω = √(g|k|tanh|k|d) 하드 제약 + 13.4 ms/frame 실시간</a:t>
            </a:r>
          </a:p>
        </p:txBody>
      </p:sp>
      <p:sp>
        <p:nvSpPr>
          <p:cNvPr id="6" name="TextBox 5"/>
          <p:cNvSpPr txBox="1"/>
          <p:nvPr/>
        </p:nvSpPr>
        <p:spPr>
          <a:xfrm>
            <a:off x="365760" y="5989320"/>
            <a:ext cx="8229600" cy="228600"/>
          </a:xfrm>
          <a:prstGeom prst="rect">
            <a:avLst/>
          </a:prstGeom>
          <a:noFill/>
        </p:spPr>
        <p:txBody>
          <a:bodyPr wrap="none">
            <a:spAutoFit/>
          </a:bodyPr>
          <a:lstStyle/>
          <a:p>
            <a:r>
              <a:rPr sz="800" i="1">
                <a:solidFill>
                  <a:srgbClr val="666666"/>
                </a:solidFill>
                <a:latin typeface="Times New Roman"/>
              </a:rPr>
              <a:t>Refs: Desmars+ Ocean Eng 212 (2020); Rasmussen &amp; Williams (2006); Ehlers+ Ocean Eng 288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용어 정리 — 본 발표를 따라가기 위한 핵심 단어</a:t>
            </a:r>
          </a:p>
        </p:txBody>
      </p:sp>
      <p:sp>
        <p:nvSpPr>
          <p:cNvPr id="4" name="TextBox 3"/>
          <p:cNvSpPr txBox="1"/>
          <p:nvPr/>
        </p:nvSpPr>
        <p:spPr>
          <a:xfrm>
            <a:off x="365760" y="868680"/>
            <a:ext cx="4114800" cy="274320"/>
          </a:xfrm>
          <a:prstGeom prst="rect">
            <a:avLst/>
          </a:prstGeom>
          <a:noFill/>
        </p:spPr>
        <p:txBody>
          <a:bodyPr wrap="none">
            <a:spAutoFit/>
          </a:bodyPr>
          <a:lstStyle/>
          <a:p>
            <a:r>
              <a:rPr sz="1200" b="1">
                <a:solidFill>
                  <a:srgbClr val="C05317"/>
                </a:solidFill>
                <a:latin typeface="Times New Roman"/>
              </a:rPr>
              <a:t>데이터 / 환경</a:t>
            </a:r>
          </a:p>
        </p:txBody>
      </p:sp>
      <p:sp>
        <p:nvSpPr>
          <p:cNvPr id="5" name="TextBox 4"/>
          <p:cNvSpPr txBox="1"/>
          <p:nvPr/>
        </p:nvSpPr>
        <p:spPr>
          <a:xfrm>
            <a:off x="365760" y="1188720"/>
            <a:ext cx="4114800" cy="4846320"/>
          </a:xfrm>
          <a:prstGeom prst="rect">
            <a:avLst/>
          </a:prstGeom>
          <a:noFill/>
        </p:spPr>
        <p:txBody>
          <a:bodyPr wrap="square">
            <a:spAutoFit/>
          </a:bodyPr>
          <a:lstStyle/>
          <a:p>
            <a:r>
              <a:rPr sz="1000" b="1" i="0">
                <a:solidFill>
                  <a:srgbClr val="1A1A2E"/>
                </a:solidFill>
                <a:latin typeface="Times New Roman"/>
              </a:rPr>
              <a:t>▪ Beaufort scale (BF):</a:t>
            </a:r>
          </a:p>
          <a:p>
            <a:r>
              <a:rPr sz="1000" b="0" i="0">
                <a:solidFill>
                  <a:srgbClr val="333333"/>
                </a:solidFill>
                <a:latin typeface="Times New Roman"/>
              </a:rPr>
              <a:t>   풍속 기반 해상 강도. BF2(Hs≈0.3 m) ~ BF5(Hs≈2.0 m)</a:t>
            </a:r>
          </a:p>
          <a:p>
            <a:r>
              <a:rPr sz="1000" b="1" i="0">
                <a:solidFill>
                  <a:srgbClr val="1A1A2E"/>
                </a:solidFill>
                <a:latin typeface="Times New Roman"/>
              </a:rPr>
              <a:t>▪ Hs (significant wave height):</a:t>
            </a:r>
          </a:p>
          <a:p>
            <a:r>
              <a:rPr sz="1000" b="0" i="0">
                <a:solidFill>
                  <a:srgbClr val="333333"/>
                </a:solidFill>
                <a:latin typeface="Times New Roman"/>
              </a:rPr>
              <a:t>   파고 분포의 4σ — "체감 파고"</a:t>
            </a:r>
          </a:p>
          <a:p>
            <a:r>
              <a:rPr sz="1000" b="1" i="0">
                <a:solidFill>
                  <a:srgbClr val="1A1A2E"/>
                </a:solidFill>
                <a:latin typeface="Times New Roman"/>
              </a:rPr>
              <a:t>▪ Tp (peak period):</a:t>
            </a:r>
          </a:p>
          <a:p>
            <a:r>
              <a:rPr sz="1000" b="0" i="0">
                <a:solidFill>
                  <a:srgbClr val="333333"/>
                </a:solidFill>
                <a:latin typeface="Times New Roman"/>
              </a:rPr>
              <a:t>   spectrum이 가장 큰 주파수의 주기 (s)</a:t>
            </a:r>
          </a:p>
          <a:p>
            <a:r>
              <a:rPr sz="1000" b="1" i="0">
                <a:solidFill>
                  <a:srgbClr val="1A1A2E"/>
                </a:solidFill>
                <a:latin typeface="Times New Roman"/>
              </a:rPr>
              <a:t>▪ JONSWAP / Pierson-Moskowitz:</a:t>
            </a:r>
          </a:p>
          <a:p>
            <a:r>
              <a:rPr sz="1000" b="0" i="0">
                <a:solidFill>
                  <a:srgbClr val="333333"/>
                </a:solidFill>
                <a:latin typeface="Times New Roman"/>
              </a:rPr>
              <a:t>   해양 spectrum 모델 (북해 관측 기반)</a:t>
            </a:r>
          </a:p>
          <a:p>
            <a:r>
              <a:rPr sz="1000" b="1" i="0">
                <a:solidFill>
                  <a:srgbClr val="1A1A2E"/>
                </a:solidFill>
                <a:latin typeface="Times New Roman"/>
              </a:rPr>
              <a:t>▪ Dispersion relation:</a:t>
            </a:r>
          </a:p>
          <a:p>
            <a:r>
              <a:rPr sz="1000" b="0" i="0">
                <a:solidFill>
                  <a:srgbClr val="333333"/>
                </a:solidFill>
                <a:latin typeface="Times New Roman"/>
              </a:rPr>
              <a:t>   파장↔주기 물리 법칙 ω=√(g|k|·tanh(|k|·d))</a:t>
            </a:r>
          </a:p>
          <a:p>
            <a:r>
              <a:rPr sz="1000" b="1" i="0">
                <a:solidFill>
                  <a:srgbClr val="1A1A2E"/>
                </a:solidFill>
                <a:latin typeface="Times New Roman"/>
              </a:rPr>
              <a:t>▪ encounter frequency:</a:t>
            </a:r>
          </a:p>
          <a:p>
            <a:r>
              <a:rPr sz="1000" b="0" i="0">
                <a:solidFill>
                  <a:srgbClr val="333333"/>
                </a:solidFill>
                <a:latin typeface="Times New Roman"/>
              </a:rPr>
              <a:t>   움직이는 선박이 만나는 파의 겉보기 주파수</a:t>
            </a:r>
          </a:p>
        </p:txBody>
      </p:sp>
      <p:sp>
        <p:nvSpPr>
          <p:cNvPr id="6" name="TextBox 5"/>
          <p:cNvSpPr txBox="1"/>
          <p:nvPr/>
        </p:nvSpPr>
        <p:spPr>
          <a:xfrm>
            <a:off x="4663440" y="868680"/>
            <a:ext cx="3931920" cy="274320"/>
          </a:xfrm>
          <a:prstGeom prst="rect">
            <a:avLst/>
          </a:prstGeom>
          <a:noFill/>
        </p:spPr>
        <p:txBody>
          <a:bodyPr wrap="none">
            <a:spAutoFit/>
          </a:bodyPr>
          <a:lstStyle/>
          <a:p>
            <a:r>
              <a:rPr sz="1200" b="1">
                <a:solidFill>
                  <a:srgbClr val="C05317"/>
                </a:solidFill>
                <a:latin typeface="Times New Roman"/>
              </a:rPr>
              <a:t>추정 / 평가 metric</a:t>
            </a:r>
          </a:p>
        </p:txBody>
      </p:sp>
      <p:sp>
        <p:nvSpPr>
          <p:cNvPr id="7" name="TextBox 6"/>
          <p:cNvSpPr txBox="1"/>
          <p:nvPr/>
        </p:nvSpPr>
        <p:spPr>
          <a:xfrm>
            <a:off x="4663440" y="1188720"/>
            <a:ext cx="3931920" cy="4846320"/>
          </a:xfrm>
          <a:prstGeom prst="rect">
            <a:avLst/>
          </a:prstGeom>
          <a:noFill/>
        </p:spPr>
        <p:txBody>
          <a:bodyPr wrap="square">
            <a:spAutoFit/>
          </a:bodyPr>
          <a:lstStyle/>
          <a:p>
            <a:r>
              <a:rPr sz="1000" b="1" i="0">
                <a:solidFill>
                  <a:srgbClr val="1A1A2E"/>
                </a:solidFill>
                <a:latin typeface="Times New Roman"/>
              </a:rPr>
              <a:t>▪ ETKF (Ensemble Transform Kalman Filter):</a:t>
            </a:r>
          </a:p>
          <a:p>
            <a:r>
              <a:rPr sz="1000" b="0" i="0">
                <a:solidFill>
                  <a:srgbClr val="333333"/>
                </a:solidFill>
                <a:latin typeface="Times New Roman"/>
              </a:rPr>
              <a:t>   격자 위에서 ensemble로 상태 추정 (NWP 기법)</a:t>
            </a:r>
          </a:p>
          <a:p>
            <a:r>
              <a:rPr sz="1000" b="1" i="0">
                <a:solidFill>
                  <a:srgbClr val="1A1A2E"/>
                </a:solidFill>
                <a:latin typeface="Times New Roman"/>
              </a:rPr>
              <a:t>▪ GPR (Gaussian Process Regression):</a:t>
            </a:r>
          </a:p>
          <a:p>
            <a:r>
              <a:rPr sz="1000" b="0" i="0">
                <a:solidFill>
                  <a:srgbClr val="333333"/>
                </a:solidFill>
                <a:latin typeface="Times New Roman"/>
              </a:rPr>
              <a:t>   커널 기반 비모수 회귀 — 단순 공간 보간</a:t>
            </a:r>
          </a:p>
          <a:p>
            <a:r>
              <a:rPr sz="1000" b="1" i="0">
                <a:solidFill>
                  <a:srgbClr val="1A1A2E"/>
                </a:solidFill>
                <a:latin typeface="Times New Roman"/>
              </a:rPr>
              <a:t>▪ nRMSE = RMSE / Hs</a:t>
            </a:r>
          </a:p>
          <a:p>
            <a:r>
              <a:rPr sz="1000" b="0" i="0">
                <a:solidFill>
                  <a:srgbClr val="333333"/>
                </a:solidFill>
                <a:latin typeface="Times New Roman"/>
              </a:rPr>
              <a:t>   Hs로 정규화한 오차 — 5% 이하면 우수</a:t>
            </a:r>
          </a:p>
          <a:p>
            <a:r>
              <a:rPr sz="1000" b="1" i="0">
                <a:solidFill>
                  <a:srgbClr val="1A1A2E"/>
                </a:solidFill>
                <a:latin typeface="Times New Roman"/>
              </a:rPr>
              <a:t>▪ VR (Variance Ratio) = Var(ẑ)/Var(z)</a:t>
            </a:r>
          </a:p>
          <a:p>
            <a:r>
              <a:rPr sz="1000" b="0" i="0">
                <a:solidFill>
                  <a:srgbClr val="333333"/>
                </a:solidFill>
                <a:latin typeface="Times New Roman"/>
              </a:rPr>
              <a:t>   진폭 보존도. 1=완벽, 0=평탄(under-fit)</a:t>
            </a:r>
          </a:p>
          <a:p>
            <a:r>
              <a:rPr sz="1000" b="1" i="0">
                <a:solidFill>
                  <a:srgbClr val="1A1A2E"/>
                </a:solidFill>
                <a:latin typeface="Times New Roman"/>
              </a:rPr>
              <a:t>▪ Pearson ρ:</a:t>
            </a:r>
          </a:p>
          <a:p>
            <a:r>
              <a:rPr sz="1000" b="0" i="0">
                <a:solidFill>
                  <a:srgbClr val="333333"/>
                </a:solidFill>
                <a:latin typeface="Times New Roman"/>
              </a:rPr>
              <a:t>   shape 일치도 (진폭과 무관)</a:t>
            </a:r>
          </a:p>
          <a:p>
            <a:r>
              <a:rPr sz="1000" b="1" i="0">
                <a:solidFill>
                  <a:srgbClr val="1A1A2E"/>
                </a:solidFill>
                <a:latin typeface="Times New Roman"/>
              </a:rPr>
              <a:t>▪ SS (Skill Score) = 1 − MSE(ẑ)/MSE(0)</a:t>
            </a:r>
          </a:p>
          <a:p>
            <a:r>
              <a:rPr sz="1000" b="0" i="0">
                <a:solidFill>
                  <a:srgbClr val="333333"/>
                </a:solidFill>
                <a:latin typeface="Times New Roman"/>
              </a:rPr>
              <a:t>   양수 = "0 예측보다 나음"</a:t>
            </a:r>
          </a:p>
          <a:p>
            <a:r>
              <a:rPr sz="1000" b="1" i="0">
                <a:solidFill>
                  <a:srgbClr val="1A1A2E"/>
                </a:solidFill>
                <a:latin typeface="Times New Roman"/>
              </a:rPr>
              <a:t>▪ RMSE_unobs:</a:t>
            </a:r>
          </a:p>
          <a:p>
            <a:r>
              <a:rPr sz="1000" b="0" i="0">
                <a:solidFill>
                  <a:srgbClr val="333333"/>
                </a:solidFill>
                <a:latin typeface="Times New Roman"/>
              </a:rPr>
              <a:t>   관측에서 ≥10 m 떨어진 영역만의 RMSE</a:t>
            </a:r>
          </a:p>
          <a:p>
            <a:r>
              <a:rPr sz="1000" b="1" i="0">
                <a:solidFill>
                  <a:srgbClr val="1A1A2E"/>
                </a:solidFill>
                <a:latin typeface="Times New Roman"/>
              </a:rPr>
              <a:t>▪ Wilcoxon signed-rank test:</a:t>
            </a:r>
          </a:p>
          <a:p>
            <a:r>
              <a:rPr sz="1000" b="0" i="0">
                <a:solidFill>
                  <a:srgbClr val="333333"/>
                </a:solidFill>
                <a:latin typeface="Times New Roman"/>
              </a:rPr>
              <a:t>   짝지은 차이의 부호 분포 검정 (정규성 X)</a:t>
            </a:r>
          </a:p>
          <a:p>
            <a:r>
              <a:rPr sz="1000" b="1" i="0">
                <a:solidFill>
                  <a:srgbClr val="1A1A2E"/>
                </a:solidFill>
                <a:latin typeface="Times New Roman"/>
              </a:rPr>
              <a:t>▪ Cohen's d:</a:t>
            </a:r>
          </a:p>
          <a:p>
            <a:r>
              <a:rPr sz="1000" b="0" i="0">
                <a:solidFill>
                  <a:srgbClr val="333333"/>
                </a:solidFill>
                <a:latin typeface="Times New Roman"/>
              </a:rPr>
              <a:t>   effect size — 0.8 이상이면 large</a:t>
            </a:r>
          </a:p>
        </p:txBody>
      </p:sp>
      <p:sp>
        <p:nvSpPr>
          <p:cNvPr id="8" name="TextBox 7"/>
          <p:cNvSpPr txBox="1"/>
          <p:nvPr/>
        </p:nvSpPr>
        <p:spPr>
          <a:xfrm>
            <a:off x="365760" y="6217920"/>
            <a:ext cx="8229600" cy="274320"/>
          </a:xfrm>
          <a:prstGeom prst="rect">
            <a:avLst/>
          </a:prstGeom>
          <a:noFill/>
        </p:spPr>
        <p:txBody>
          <a:bodyPr wrap="square">
            <a:spAutoFit/>
          </a:bodyPr>
          <a:lstStyle/>
          <a:p>
            <a:r>
              <a:rPr sz="1000" b="0" i="1">
                <a:solidFill>
                  <a:srgbClr val="666666"/>
                </a:solidFill>
                <a:latin typeface="Times New Roman"/>
              </a:rPr>
              <a:t>※ 모든 항목은 본 발표 후속 슬라이드에서 다시 등장합니다 — 모르는 단어 나오면 이 슬라이드 참고</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400" b="0" i="0">
                <a:latin typeface="Times New Roman"/>
              </a:rPr>
              <a:t>아이디어의 출발점 — 3D Gaussian Splatting</a:t>
            </a:r>
          </a:p>
        </p:txBody>
      </p:sp>
      <p:pic>
        <p:nvPicPr>
          <p:cNvPr id="4" name="Picture 3" descr="3dgs_analogy.png"/>
          <p:cNvPicPr>
            <a:picLocks noChangeAspect="1"/>
          </p:cNvPicPr>
          <p:nvPr/>
        </p:nvPicPr>
        <p:blipFill>
          <a:blip r:embed="rId2"/>
          <a:stretch>
            <a:fillRect/>
          </a:stretch>
        </p:blipFill>
        <p:spPr>
          <a:xfrm>
            <a:off x="365760" y="868680"/>
            <a:ext cx="8229600" cy="2606040"/>
          </a:xfrm>
          <a:prstGeom prst="rect">
            <a:avLst/>
          </a:prstGeom>
        </p:spPr>
      </p:pic>
      <p:sp>
        <p:nvSpPr>
          <p:cNvPr id="5" name="TextBox 4"/>
          <p:cNvSpPr txBox="1"/>
          <p:nvPr/>
        </p:nvSpPr>
        <p:spPr>
          <a:xfrm>
            <a:off x="365760" y="3611880"/>
            <a:ext cx="8229600" cy="274320"/>
          </a:xfrm>
          <a:prstGeom prst="rect">
            <a:avLst/>
          </a:prstGeom>
          <a:noFill/>
        </p:spPr>
        <p:txBody>
          <a:bodyPr wrap="none">
            <a:spAutoFit/>
          </a:bodyPr>
          <a:lstStyle/>
          <a:p>
            <a:r>
              <a:rPr sz="1200" b="1">
                <a:solidFill>
                  <a:srgbClr val="C05317"/>
                </a:solidFill>
                <a:latin typeface="Times New Roman"/>
              </a:rPr>
              <a:t>3DGS의 핵심 통찰 (Kerbl 2023, SIGGRAPH)</a:t>
            </a:r>
          </a:p>
        </p:txBody>
      </p:sp>
      <p:sp>
        <p:nvSpPr>
          <p:cNvPr id="6" name="TextBox 5"/>
          <p:cNvSpPr txBox="1"/>
          <p:nvPr/>
        </p:nvSpPr>
        <p:spPr>
          <a:xfrm>
            <a:off x="365760" y="3931920"/>
            <a:ext cx="8229600" cy="1005840"/>
          </a:xfrm>
          <a:prstGeom prst="rect">
            <a:avLst/>
          </a:prstGeom>
          <a:noFill/>
        </p:spPr>
        <p:txBody>
          <a:bodyPr wrap="square">
            <a:spAutoFit/>
          </a:bodyPr>
          <a:lstStyle/>
          <a:p>
            <a:r>
              <a:rPr sz="1100" b="0" i="0">
                <a:solidFill>
                  <a:srgbClr val="333333"/>
                </a:solidFill>
                <a:latin typeface="Times New Roman"/>
              </a:rPr>
              <a:t>▪ 격자(voxel)에 의존하지 않고, 학습 가능한 N개의 3D Gaussian의 가중합으로 라디언스 필드 표현</a:t>
            </a:r>
          </a:p>
          <a:p>
            <a:r>
              <a:rPr sz="1100" b="0" i="0">
                <a:solidFill>
                  <a:srgbClr val="333333"/>
                </a:solidFill>
                <a:latin typeface="Times New Roman"/>
              </a:rPr>
              <a:t>▪ 각 Gaussian은 (위치 μᵢ, 공분산 Σᵢ, 색·투명도)의 4N 파라미터 — 연속·미분 가능</a:t>
            </a:r>
          </a:p>
          <a:p>
            <a:r>
              <a:rPr sz="1100" b="0" i="0">
                <a:solidFill>
                  <a:srgbClr val="333333"/>
                </a:solidFill>
                <a:latin typeface="Times New Roman"/>
              </a:rPr>
              <a:t>▪ 결과: 격자보다 sparse 표현, 임의 시점 렌더링 가능, real-time 학습/렌더링</a:t>
            </a:r>
          </a:p>
        </p:txBody>
      </p:sp>
      <p:sp>
        <p:nvSpPr>
          <p:cNvPr id="7" name="TextBox 6"/>
          <p:cNvSpPr txBox="1"/>
          <p:nvPr/>
        </p:nvSpPr>
        <p:spPr>
          <a:xfrm>
            <a:off x="365760" y="4937760"/>
            <a:ext cx="8229600" cy="274320"/>
          </a:xfrm>
          <a:prstGeom prst="rect">
            <a:avLst/>
          </a:prstGeom>
          <a:noFill/>
        </p:spPr>
        <p:txBody>
          <a:bodyPr wrap="none">
            <a:spAutoFit/>
          </a:bodyPr>
          <a:lstStyle/>
          <a:p>
            <a:r>
              <a:rPr sz="1200" b="1">
                <a:solidFill>
                  <a:srgbClr val="C05317"/>
                </a:solidFill>
                <a:latin typeface="Times New Roman"/>
              </a:rPr>
              <a:t>해양파 추정에 옮겨오면? — WaveSplat 착상</a:t>
            </a:r>
          </a:p>
        </p:txBody>
      </p:sp>
      <p:sp>
        <p:nvSpPr>
          <p:cNvPr id="8" name="TextBox 7"/>
          <p:cNvSpPr txBox="1"/>
          <p:nvPr/>
        </p:nvSpPr>
        <p:spPr>
          <a:xfrm>
            <a:off x="365760" y="5257800"/>
            <a:ext cx="8229600" cy="914400"/>
          </a:xfrm>
          <a:prstGeom prst="rect">
            <a:avLst/>
          </a:prstGeom>
          <a:noFill/>
        </p:spPr>
        <p:txBody>
          <a:bodyPr wrap="square">
            <a:spAutoFit/>
          </a:bodyPr>
          <a:lstStyle/>
          <a:p>
            <a:r>
              <a:rPr sz="1100" b="0" i="0">
                <a:solidFill>
                  <a:srgbClr val="333333"/>
                </a:solidFill>
                <a:latin typeface="Times New Roman"/>
              </a:rPr>
              <a:t>▪ "필드를 격자가 아닌 N개 기저의 합으로" — 같은 발상을 2D 수면 elevation에 적용</a:t>
            </a:r>
          </a:p>
          <a:p>
            <a:r>
              <a:rPr sz="1100" b="0" i="0">
                <a:solidFill>
                  <a:srgbClr val="333333"/>
                </a:solidFill>
                <a:latin typeface="Times New Roman"/>
              </a:rPr>
              <a:t>▪ 3DGS의 Gaussian → 해양파의 plane wave (kᵢ, ωᵢ, φᵢ) — 물리적 의미가 직접 부여됨</a:t>
            </a:r>
          </a:p>
          <a:p>
            <a:r>
              <a:rPr sz="1100" b="0" i="0">
                <a:solidFill>
                  <a:srgbClr val="333333"/>
                </a:solidFill>
                <a:latin typeface="Times New Roman"/>
              </a:rPr>
              <a:t>▪ 격자 의존 ETKF 대비: 필드 어디서나 평가 가능 + dispersion이 자연스러운 hard constraint</a:t>
            </a:r>
          </a:p>
        </p:txBody>
      </p:sp>
      <p:sp>
        <p:nvSpPr>
          <p:cNvPr id="9" name="TextBox 8"/>
          <p:cNvSpPr txBox="1"/>
          <p:nvPr/>
        </p:nvSpPr>
        <p:spPr>
          <a:xfrm>
            <a:off x="365760" y="6172200"/>
            <a:ext cx="8229600" cy="228600"/>
          </a:xfrm>
          <a:prstGeom prst="rect">
            <a:avLst/>
          </a:prstGeom>
          <a:noFill/>
        </p:spPr>
        <p:txBody>
          <a:bodyPr wrap="none">
            <a:spAutoFit/>
          </a:bodyPr>
          <a:lstStyle/>
          <a:p>
            <a:r>
              <a:rPr sz="800" i="1">
                <a:solidFill>
                  <a:srgbClr val="666666"/>
                </a:solidFill>
                <a:latin typeface="Times New Roman"/>
              </a:rPr>
              <a:t>Ref: Kerbl, Kopanas, Leimkühler, Drettakis "3D Gaussian Splatting for Real-Time Radiance Field Rendering", ACM TOG 42(4), 2023.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600" b="0" i="0">
                <a:latin typeface="Times New Roman"/>
              </a:rPr>
              <a:t>WaveSplat의 Novelty</a:t>
            </a:r>
          </a:p>
        </p:txBody>
      </p:sp>
      <p:sp>
        <p:nvSpPr>
          <p:cNvPr id="4" name="TextBox 3"/>
          <p:cNvSpPr txBox="1"/>
          <p:nvPr/>
        </p:nvSpPr>
        <p:spPr>
          <a:xfrm>
            <a:off x="365760" y="868680"/>
            <a:ext cx="8229600" cy="274320"/>
          </a:xfrm>
          <a:prstGeom prst="rect">
            <a:avLst/>
          </a:prstGeom>
          <a:noFill/>
        </p:spPr>
        <p:txBody>
          <a:bodyPr wrap="none">
            <a:spAutoFit/>
          </a:bodyPr>
          <a:lstStyle/>
          <a:p>
            <a:r>
              <a:rPr sz="1200" b="1">
                <a:solidFill>
                  <a:srgbClr val="C05317"/>
                </a:solidFill>
                <a:latin typeface="Times New Roman"/>
              </a:rPr>
              <a:t>핵심 모델 — N개 plane wave의 가중합</a:t>
            </a:r>
          </a:p>
        </p:txBody>
      </p:sp>
      <p:sp>
        <p:nvSpPr>
          <p:cNvPr id="5" name="Rectangle 4"/>
          <p:cNvSpPr/>
          <p:nvPr/>
        </p:nvSpPr>
        <p:spPr>
          <a:xfrm>
            <a:off x="365760" y="1188720"/>
            <a:ext cx="8229600" cy="502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A1A2E"/>
                </a:solidFill>
                <a:latin typeface="Times New Roman"/>
              </a:rPr>
              <a:t>z(x, y, t) = Σᵢ wᵢ · cos(kx,ᵢ·x + ky,ᵢ·y − ωᵢt + φᵢ)</a:t>
            </a:r>
          </a:p>
        </p:txBody>
      </p:sp>
      <p:sp>
        <p:nvSpPr>
          <p:cNvPr id="6" name="TextBox 5"/>
          <p:cNvSpPr txBox="1"/>
          <p:nvPr/>
        </p:nvSpPr>
        <p:spPr>
          <a:xfrm>
            <a:off x="365760" y="1828800"/>
            <a:ext cx="8229600" cy="4251960"/>
          </a:xfrm>
          <a:prstGeom prst="rect">
            <a:avLst/>
          </a:prstGeom>
          <a:noFill/>
        </p:spPr>
        <p:txBody>
          <a:bodyPr wrap="square">
            <a:spAutoFit/>
          </a:bodyPr>
          <a:lstStyle/>
          <a:p>
            <a:r>
              <a:rPr sz="1100" b="0" i="0">
                <a:solidFill>
                  <a:srgbClr val="333333"/>
                </a:solidFill>
                <a:latin typeface="Times New Roman"/>
              </a:rPr>
              <a:t>▪ ❶ Grid-free spectral representation — 격자 의존성 제거 (3DGS의 해양파 버전)</a:t>
            </a:r>
          </a:p>
          <a:p>
            <a:r>
              <a:rPr sz="1100" b="0" i="0">
                <a:solidFill>
                  <a:srgbClr val="333333"/>
                </a:solidFill>
                <a:latin typeface="Times New Roman"/>
              </a:rPr>
              <a:t>▪ ❷ Dispersion hard constraint: ωᵢ = √(g·|kᵢ|·tanh(|kᵢ|·d)) → 5N → 4N로 자유도 축소</a:t>
            </a:r>
          </a:p>
          <a:p>
            <a:r>
              <a:rPr sz="1100" b="0" i="0">
                <a:solidFill>
                  <a:srgbClr val="333333"/>
                </a:solidFill>
                <a:latin typeface="Times New Roman"/>
              </a:rPr>
              <a:t>   = 추정된 파동이 "실제 중력파 dispersion 위에 있도록 강제" → 시간 외삽 안정</a:t>
            </a:r>
          </a:p>
          <a:p>
            <a:r>
              <a:rPr sz="1100" b="0" i="0">
                <a:solidFill>
                  <a:srgbClr val="333333"/>
                </a:solidFill>
                <a:latin typeface="Times New Roman"/>
              </a:rPr>
              <a:t>▪ ❸ Adaptive model order (N): energy pruning + residual growth + safety rollback</a:t>
            </a:r>
          </a:p>
          <a:p>
            <a:r>
              <a:rPr sz="1100" b="0" i="0">
                <a:solidFill>
                  <a:srgbClr val="333333"/>
                </a:solidFill>
                <a:latin typeface="Times New Roman"/>
              </a:rPr>
              <a:t>   = 단순 swell N=2, 복잡한 sea N=18~21 까지 자동 적응</a:t>
            </a:r>
          </a:p>
          <a:p>
            <a:r>
              <a:rPr sz="1100" b="0" i="0">
                <a:solidFill>
                  <a:srgbClr val="333333"/>
                </a:solidFill>
                <a:latin typeface="Times New Roman"/>
              </a:rPr>
              <a:t>▪ ❹ Geometry-aware confidence weighting: cⱼ = cos(θⱼ)/(dⱼ/d_ref)</a:t>
            </a:r>
          </a:p>
          <a:p>
            <a:r>
              <a:rPr sz="1100" b="0" i="0">
                <a:solidFill>
                  <a:srgbClr val="333333"/>
                </a:solidFill>
                <a:latin typeface="Times New Roman"/>
              </a:rPr>
              <a:t>   = LiDAR 입사각·거리 의존 정밀도를 손실 함수에 직접 반영 (heteroscedasticity)</a:t>
            </a:r>
          </a:p>
          <a:p>
            <a:r>
              <a:rPr sz="1100" b="0" i="0">
                <a:solidFill>
                  <a:srgbClr val="333333"/>
                </a:solidFill>
                <a:latin typeface="Times New Roman"/>
              </a:rPr>
              <a:t>   ※ 정확한 Fresnel R(θ)가 아닌 단순 기하 가중치 — 본 항목의 명명을 paper에서 정정함</a:t>
            </a:r>
          </a:p>
          <a:p>
            <a:r>
              <a:rPr sz="1100" b="0" i="0">
                <a:solidFill>
                  <a:srgbClr val="333333"/>
                </a:solidFill>
                <a:latin typeface="Times New Roman"/>
              </a:rPr>
              <a:t>▪ ❺ Pre-specified 5-metric panel — zero-predictor 구분 가능 (cherry-pick 방지)</a:t>
            </a:r>
          </a:p>
          <a:p>
            <a:r>
              <a:rPr sz="1100" b="0" i="0">
                <a:solidFill>
                  <a:srgbClr val="333333"/>
                </a:solidFill>
                <a:latin typeface="Times New Roman"/>
              </a:rPr>
              <a:t>▪ ❻ 24-config ETKF hyperparameter sweep — 공정한 tuned baseline 제공</a:t>
            </a:r>
          </a:p>
        </p:txBody>
      </p:sp>
      <p:sp>
        <p:nvSpPr>
          <p:cNvPr id="7" name="TextBox 6"/>
          <p:cNvSpPr txBox="1"/>
          <p:nvPr/>
        </p:nvSpPr>
        <p:spPr>
          <a:xfrm>
            <a:off x="365760" y="6172200"/>
            <a:ext cx="8229600" cy="228600"/>
          </a:xfrm>
          <a:prstGeom prst="rect">
            <a:avLst/>
          </a:prstGeom>
          <a:noFill/>
        </p:spPr>
        <p:txBody>
          <a:bodyPr wrap="none">
            <a:spAutoFit/>
          </a:bodyPr>
          <a:lstStyle/>
          <a:p>
            <a:r>
              <a:rPr sz="800" i="1">
                <a:solidFill>
                  <a:srgbClr val="666666"/>
                </a:solidFill>
                <a:latin typeface="Times New Roman"/>
              </a:rPr>
              <a:t>Refs: ❶ Kerbl 2023 (3DGS); ❷ Holthuijsen 2007 (dispersion); ❹ Born &amp; Wolf (2007) Optics 7th 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Methodology (1) — Forward &amp; Observation Model</a:t>
            </a:r>
          </a:p>
        </p:txBody>
      </p:sp>
      <p:sp>
        <p:nvSpPr>
          <p:cNvPr id="4" name="TextBox 3"/>
          <p:cNvSpPr txBox="1"/>
          <p:nvPr/>
        </p:nvSpPr>
        <p:spPr>
          <a:xfrm>
            <a:off x="365760" y="868680"/>
            <a:ext cx="4114800" cy="274320"/>
          </a:xfrm>
          <a:prstGeom prst="rect">
            <a:avLst/>
          </a:prstGeom>
          <a:noFill/>
        </p:spPr>
        <p:txBody>
          <a:bodyPr wrap="none">
            <a:spAutoFit/>
          </a:bodyPr>
          <a:lstStyle/>
          <a:p>
            <a:r>
              <a:rPr sz="1200" b="1">
                <a:solidFill>
                  <a:srgbClr val="C05317"/>
                </a:solidFill>
                <a:latin typeface="Times New Roman"/>
              </a:rPr>
              <a:t>Forward Model — Wave Field Equation</a:t>
            </a:r>
          </a:p>
        </p:txBody>
      </p:sp>
      <p:sp>
        <p:nvSpPr>
          <p:cNvPr id="5" name="Rectangle 4"/>
          <p:cNvSpPr/>
          <p:nvPr/>
        </p:nvSpPr>
        <p:spPr>
          <a:xfrm>
            <a:off x="365760" y="1188720"/>
            <a:ext cx="4114800" cy="2103120"/>
          </a:xfrm>
          <a:prstGeom prst="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r>
              <a:rPr sz="1100">
                <a:solidFill>
                  <a:srgbClr val="333333"/>
                </a:solidFill>
                <a:latin typeface="Times New Roman"/>
              </a:rPr>
              <a:t>z(x,y,t) = Σᵢ wᵢ cos(kx,ᵢx + ky,ᵢy − ωᵢt + φᵢ)</a:t>
            </a:r>
          </a:p>
          <a:p>
            <a:r>
              <a:rPr sz="1100">
                <a:solidFill>
                  <a:srgbClr val="333333"/>
                </a:solidFill>
                <a:latin typeface="Times New Roman"/>
              </a:rPr>
              <a:t/>
            </a:r>
          </a:p>
          <a:p>
            <a:r>
              <a:rPr sz="1100">
                <a:solidFill>
                  <a:srgbClr val="333333"/>
                </a:solidFill>
                <a:latin typeface="Times New Roman"/>
              </a:rPr>
              <a:t>Hard constraint:</a:t>
            </a:r>
          </a:p>
          <a:p>
            <a:r>
              <a:rPr sz="1100">
                <a:solidFill>
                  <a:srgbClr val="333333"/>
                </a:solidFill>
                <a:latin typeface="Times New Roman"/>
              </a:rPr>
              <a:t>  ωᵢ = √(g · |kᵢ| · tanh(|kᵢ| · d))</a:t>
            </a:r>
          </a:p>
          <a:p>
            <a:r>
              <a:rPr sz="1100">
                <a:solidFill>
                  <a:srgbClr val="333333"/>
                </a:solidFill>
                <a:latin typeface="Times New Roman"/>
              </a:rPr>
              <a:t/>
            </a:r>
          </a:p>
          <a:p>
            <a:r>
              <a:rPr sz="1100">
                <a:solidFill>
                  <a:srgbClr val="333333"/>
                </a:solidFill>
                <a:latin typeface="Times New Roman"/>
              </a:rPr>
              <a:t>자유 파라미터: {wᵢ, kx,ᵢ, ky,ᵢ, φᵢ} → 4N</a:t>
            </a:r>
          </a:p>
          <a:p>
            <a:r>
              <a:rPr sz="1100">
                <a:solidFill>
                  <a:srgbClr val="333333"/>
                </a:solidFill>
                <a:latin typeface="Times New Roman"/>
              </a:rPr>
              <a:t>(ω는 k로부터 결정 — 자유변수 아님)</a:t>
            </a:r>
          </a:p>
        </p:txBody>
      </p:sp>
      <p:sp>
        <p:nvSpPr>
          <p:cNvPr id="6" name="TextBox 5"/>
          <p:cNvSpPr txBox="1"/>
          <p:nvPr/>
        </p:nvSpPr>
        <p:spPr>
          <a:xfrm>
            <a:off x="4663440" y="868680"/>
            <a:ext cx="3931920" cy="274320"/>
          </a:xfrm>
          <a:prstGeom prst="rect">
            <a:avLst/>
          </a:prstGeom>
          <a:noFill/>
        </p:spPr>
        <p:txBody>
          <a:bodyPr wrap="none">
            <a:spAutoFit/>
          </a:bodyPr>
          <a:lstStyle/>
          <a:p>
            <a:r>
              <a:rPr sz="1200" b="1">
                <a:solidFill>
                  <a:srgbClr val="C05317"/>
                </a:solidFill>
                <a:latin typeface="Times New Roman"/>
              </a:rPr>
              <a:t>Observation Model — Geometry-aware Confidence</a:t>
            </a:r>
          </a:p>
        </p:txBody>
      </p:sp>
      <p:sp>
        <p:nvSpPr>
          <p:cNvPr id="7" name="Rectangle 6"/>
          <p:cNvSpPr/>
          <p:nvPr/>
        </p:nvSpPr>
        <p:spPr>
          <a:xfrm>
            <a:off x="4663440" y="1188720"/>
            <a:ext cx="3931920" cy="2103120"/>
          </a:xfrm>
          <a:prstGeom prst="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r>
              <a:rPr sz="1100">
                <a:solidFill>
                  <a:srgbClr val="333333"/>
                </a:solidFill>
                <a:latin typeface="Times New Roman"/>
              </a:rPr>
              <a:t>cⱼ = cos(θⱼ) / (dⱼ / d_ref)</a:t>
            </a:r>
          </a:p>
          <a:p>
            <a:r>
              <a:rPr sz="1100">
                <a:solidFill>
                  <a:srgbClr val="333333"/>
                </a:solidFill>
                <a:latin typeface="Times New Roman"/>
              </a:rPr>
              <a:t/>
            </a:r>
          </a:p>
          <a:p>
            <a:r>
              <a:rPr sz="1100">
                <a:solidFill>
                  <a:srgbClr val="333333"/>
                </a:solidFill>
                <a:latin typeface="Times New Roman"/>
              </a:rPr>
              <a:t>L = (1/M) Σⱼ cⱼ (zⱼ − ẑⱼ)²</a:t>
            </a:r>
          </a:p>
          <a:p>
            <a:r>
              <a:rPr sz="1100">
                <a:solidFill>
                  <a:srgbClr val="333333"/>
                </a:solidFill>
                <a:latin typeface="Times New Roman"/>
              </a:rPr>
              <a:t>   + λ₁ Σ|wᵢ|     (sparsity)</a:t>
            </a:r>
          </a:p>
          <a:p>
            <a:r>
              <a:rPr sz="1100">
                <a:solidFill>
                  <a:srgbClr val="333333"/>
                </a:solidFill>
                <a:latin typeface="Times New Roman"/>
              </a:rPr>
              <a:t>   + λs Σ(Δwᵢ)²  (smoothness)</a:t>
            </a:r>
          </a:p>
          <a:p>
            <a:r>
              <a:rPr sz="1100">
                <a:solidFill>
                  <a:srgbClr val="333333"/>
                </a:solidFill>
                <a:latin typeface="Times New Roman"/>
              </a:rPr>
              <a:t/>
            </a:r>
          </a:p>
          <a:p>
            <a:r>
              <a:rPr sz="1100">
                <a:solidFill>
                  <a:srgbClr val="333333"/>
                </a:solidFill>
                <a:latin typeface="Times New Roman"/>
              </a:rPr>
              <a:t>θⱼ: 입사각, dⱼ: range, d_ref=125 m</a:t>
            </a:r>
          </a:p>
        </p:txBody>
      </p:sp>
      <p:sp>
        <p:nvSpPr>
          <p:cNvPr id="8" name="TextBox 7"/>
          <p:cNvSpPr txBox="1"/>
          <p:nvPr/>
        </p:nvSpPr>
        <p:spPr>
          <a:xfrm>
            <a:off x="365760" y="3520440"/>
            <a:ext cx="8229600" cy="274320"/>
          </a:xfrm>
          <a:prstGeom prst="rect">
            <a:avLst/>
          </a:prstGeom>
          <a:noFill/>
        </p:spPr>
        <p:txBody>
          <a:bodyPr wrap="none">
            <a:spAutoFit/>
          </a:bodyPr>
          <a:lstStyle/>
          <a:p>
            <a:r>
              <a:rPr sz="1200" b="1">
                <a:solidFill>
                  <a:srgbClr val="C05317"/>
                </a:solidFill>
                <a:latin typeface="Times New Roman"/>
              </a:rPr>
              <a:t>왜 이렇게 설계했나 — Design Rationale</a:t>
            </a:r>
          </a:p>
        </p:txBody>
      </p:sp>
      <p:sp>
        <p:nvSpPr>
          <p:cNvPr id="9" name="TextBox 8"/>
          <p:cNvSpPr txBox="1"/>
          <p:nvPr/>
        </p:nvSpPr>
        <p:spPr>
          <a:xfrm>
            <a:off x="365760" y="3840480"/>
            <a:ext cx="8229600" cy="2194560"/>
          </a:xfrm>
          <a:prstGeom prst="rect">
            <a:avLst/>
          </a:prstGeom>
          <a:noFill/>
        </p:spPr>
        <p:txBody>
          <a:bodyPr wrap="square">
            <a:spAutoFit/>
          </a:bodyPr>
          <a:lstStyle/>
          <a:p>
            <a:r>
              <a:rPr sz="1100" b="0">
                <a:solidFill>
                  <a:srgbClr val="333333"/>
                </a:solidFill>
                <a:latin typeface="Times New Roman"/>
              </a:rPr>
              <a:t>▪ Dispersion 제약: 추정된 파동을 "실제 중력파 dispersion 위에 있도록" 강제</a:t>
            </a:r>
          </a:p>
          <a:p>
            <a:r>
              <a:rPr sz="1100" b="0">
                <a:solidFill>
                  <a:srgbClr val="333333"/>
                </a:solidFill>
                <a:latin typeface="Times New Roman"/>
              </a:rPr>
              <a:t>   → ω를 자유로 두면 nRMSE만 ↓, 1초 뒤 phase 발산 (A1 ablation 확인)</a:t>
            </a:r>
          </a:p>
          <a:p>
            <a:r>
              <a:rPr sz="1100" b="0">
                <a:solidFill>
                  <a:srgbClr val="333333"/>
                </a:solidFill>
                <a:latin typeface="Times New Roman"/>
              </a:rPr>
              <a:t>▪ cⱼ = cos(θ)·1/(d/d_ref)는 단순 기하 가중치 — 정확한 Fresnel R(θ)가 아님</a:t>
            </a:r>
          </a:p>
          <a:p>
            <a:r>
              <a:rPr sz="1100" b="0">
                <a:solidFill>
                  <a:srgbClr val="333333"/>
                </a:solidFill>
                <a:latin typeface="Times New Roman"/>
              </a:rPr>
              <a:t>   → 본 항목 명명을 'Fresnel-aware' → 'geometry-aware'로 정정 (paper)</a:t>
            </a:r>
          </a:p>
          <a:p>
            <a:r>
              <a:rPr sz="1100" b="0">
                <a:solidFill>
                  <a:srgbClr val="333333"/>
                </a:solidFill>
                <a:latin typeface="Times New Roman"/>
              </a:rPr>
              <a:t>▪ Fresnel R(θ) 자체는 raydrop 모델 (다음 슬라이드)에서만 사용</a:t>
            </a:r>
          </a:p>
          <a:p>
            <a:r>
              <a:rPr sz="1100" b="0">
                <a:solidFill>
                  <a:srgbClr val="333333"/>
                </a:solidFill>
                <a:latin typeface="Times New Roman"/>
              </a:rPr>
              <a:t>▪ λ₁ sparsity: dominant component만 살리도록 spectral 표현 압축</a:t>
            </a:r>
          </a:p>
          <a:p>
            <a:r>
              <a:rPr sz="1100" b="0">
                <a:solidFill>
                  <a:srgbClr val="333333"/>
                </a:solidFill>
                <a:latin typeface="Times New Roman"/>
              </a:rPr>
              <a:t>▪ λs smoothness: 인접 wavenumber에 부드럽게 분포 → 노이즈에 robust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Methodology (2) — 2-Phase Pipeline (Init → Track)</a:t>
            </a:r>
          </a:p>
        </p:txBody>
      </p:sp>
      <p:sp>
        <p:nvSpPr>
          <p:cNvPr id="4" name="TextBox 3"/>
          <p:cNvSpPr txBox="1"/>
          <p:nvPr/>
        </p:nvSpPr>
        <p:spPr>
          <a:xfrm>
            <a:off x="365760" y="868680"/>
            <a:ext cx="4114800" cy="274320"/>
          </a:xfrm>
          <a:prstGeom prst="rect">
            <a:avLst/>
          </a:prstGeom>
          <a:noFill/>
        </p:spPr>
        <p:txBody>
          <a:bodyPr wrap="none">
            <a:spAutoFit/>
          </a:bodyPr>
          <a:lstStyle/>
          <a:p>
            <a:r>
              <a:rPr sz="1200" b="1">
                <a:solidFill>
                  <a:srgbClr val="C05317"/>
                </a:solidFill>
                <a:latin typeface="Times New Roman"/>
              </a:rPr>
              <a:t>Phase 1: Initialization (T_init = 2Tₚ ≈ 14 s @ BF4)</a:t>
            </a:r>
          </a:p>
        </p:txBody>
      </p:sp>
      <p:sp>
        <p:nvSpPr>
          <p:cNvPr id="5" name="TextBox 4"/>
          <p:cNvSpPr txBox="1"/>
          <p:nvPr/>
        </p:nvSpPr>
        <p:spPr>
          <a:xfrm>
            <a:off x="365760" y="1188720"/>
            <a:ext cx="4114800" cy="3108960"/>
          </a:xfrm>
          <a:prstGeom prst="rect">
            <a:avLst/>
          </a:prstGeom>
          <a:noFill/>
        </p:spPr>
        <p:txBody>
          <a:bodyPr wrap="square">
            <a:spAutoFit/>
          </a:bodyPr>
          <a:lstStyle/>
          <a:p>
            <a:r>
              <a:rPr sz="1100" b="0" i="0">
                <a:solidFill>
                  <a:srgbClr val="333333"/>
                </a:solidFill>
                <a:latin typeface="Times New Roman"/>
              </a:rPr>
              <a:t>① Dispersion-aware beamforming (v2_konly)</a:t>
            </a:r>
          </a:p>
          <a:p>
            <a:r>
              <a:rPr sz="1100" b="0" i="0">
                <a:solidFill>
                  <a:srgbClr val="333333"/>
                </a:solidFill>
                <a:latin typeface="Times New Roman"/>
              </a:rPr>
              <a:t>   → Cartesian 81×81 k-grid (Δk≈0.10 rad/m)</a:t>
            </a:r>
          </a:p>
          <a:p>
            <a:r>
              <a:rPr sz="1100" b="0" i="0">
                <a:solidFill>
                  <a:srgbClr val="333333"/>
                </a:solidFill>
                <a:latin typeface="Times New Roman"/>
              </a:rPr>
              <a:t>② Greedy peak extraction (0.15 rad/m suppression)</a:t>
            </a:r>
          </a:p>
          <a:p>
            <a:r>
              <a:rPr sz="1100" b="0" i="0">
                <a:solidFill>
                  <a:srgbClr val="333333"/>
                </a:solidFill>
                <a:latin typeface="Times New Roman"/>
              </a:rPr>
              <a:t>③ Coarse-to-fine Adam: N=3 → 8 → 15</a:t>
            </a:r>
          </a:p>
          <a:p>
            <a:r>
              <a:rPr sz="1100" b="0" i="0">
                <a:solidFill>
                  <a:srgbClr val="333333"/>
                </a:solidFill>
                <a:latin typeface="Times New Roman"/>
              </a:rPr>
              <a:t>   (200 iters/stage, lr=5×10⁻³)</a:t>
            </a:r>
          </a:p>
          <a:p>
            <a:r>
              <a:rPr sz="1100" b="0" i="0">
                <a:solidFill>
                  <a:srgbClr val="333333"/>
                </a:solidFill>
                <a:latin typeface="Times New Roman"/>
              </a:rPr>
              <a:t>④ Energy-based pruning (90% threshold)</a:t>
            </a:r>
          </a:p>
          <a:p>
            <a:r>
              <a:rPr sz="1100" b="0" i="0">
                <a:solidFill>
                  <a:srgbClr val="333333"/>
                </a:solidFill>
                <a:latin typeface="Times New Roman"/>
              </a:rPr>
              <a:t>   + RMSE 130% safety rollback</a:t>
            </a:r>
          </a:p>
          <a:p>
            <a:r>
              <a:rPr sz="1100" b="0" i="0">
                <a:solidFill>
                  <a:srgbClr val="333333"/>
                </a:solidFill>
                <a:latin typeface="Times New Roman"/>
              </a:rPr>
              <a:t>⑤ Residual growth: RMS &gt; 0.05 m → 추가 beamform</a:t>
            </a:r>
          </a:p>
          <a:p>
            <a:r>
              <a:rPr sz="1100" b="0" i="0">
                <a:solidFill>
                  <a:srgbClr val="333333"/>
                </a:solidFill>
                <a:latin typeface="Times New Roman"/>
              </a:rPr>
              <a:t>   (Nmax = 30)</a:t>
            </a:r>
          </a:p>
        </p:txBody>
      </p:sp>
      <p:sp>
        <p:nvSpPr>
          <p:cNvPr id="6" name="TextBox 5"/>
          <p:cNvSpPr txBox="1"/>
          <p:nvPr/>
        </p:nvSpPr>
        <p:spPr>
          <a:xfrm>
            <a:off x="4663440" y="868680"/>
            <a:ext cx="3931920" cy="274320"/>
          </a:xfrm>
          <a:prstGeom prst="rect">
            <a:avLst/>
          </a:prstGeom>
          <a:noFill/>
        </p:spPr>
        <p:txBody>
          <a:bodyPr wrap="none">
            <a:spAutoFit/>
          </a:bodyPr>
          <a:lstStyle/>
          <a:p>
            <a:r>
              <a:rPr sz="1200" b="1">
                <a:solidFill>
                  <a:srgbClr val="C05317"/>
                </a:solidFill>
                <a:latin typeface="Times New Roman"/>
              </a:rPr>
              <a:t>Phase 2: Tracking (w_phi mode, 10 Hz)</a:t>
            </a:r>
          </a:p>
        </p:txBody>
      </p:sp>
      <p:sp>
        <p:nvSpPr>
          <p:cNvPr id="7" name="TextBox 6"/>
          <p:cNvSpPr txBox="1"/>
          <p:nvPr/>
        </p:nvSpPr>
        <p:spPr>
          <a:xfrm>
            <a:off x="4663440" y="1188720"/>
            <a:ext cx="3931920" cy="3108960"/>
          </a:xfrm>
          <a:prstGeom prst="rect">
            <a:avLst/>
          </a:prstGeom>
          <a:noFill/>
        </p:spPr>
        <p:txBody>
          <a:bodyPr wrap="square">
            <a:spAutoFit/>
          </a:bodyPr>
          <a:lstStyle/>
          <a:p>
            <a:r>
              <a:rPr sz="1100" b="0" i="0">
                <a:solidFill>
                  <a:srgbClr val="333333"/>
                </a:solidFill>
                <a:latin typeface="Times New Roman"/>
              </a:rPr>
              <a:t>Predict: φᵢ ← φᵢ + ωᵢ · Δt</a:t>
            </a:r>
          </a:p>
          <a:p>
            <a:r>
              <a:rPr sz="1100" b="0" i="0">
                <a:solidFill>
                  <a:srgbClr val="333333"/>
                </a:solidFill>
                <a:latin typeface="Times New Roman"/>
              </a:rPr>
              <a:t>   (dispersion-exact phase propagation)</a:t>
            </a:r>
          </a:p>
          <a:p>
            <a:r>
              <a:rPr sz="1100" b="0" i="0">
                <a:solidFill>
                  <a:srgbClr val="333333"/>
                </a:solidFill>
                <a:latin typeface="Times New Roman"/>
              </a:rPr>
              <a:t/>
            </a:r>
          </a:p>
          <a:p>
            <a:r>
              <a:rPr sz="1100" b="0" i="0">
                <a:solidFill>
                  <a:srgbClr val="333333"/>
                </a:solidFill>
                <a:latin typeface="Times New Roman"/>
              </a:rPr>
              <a:t>Update: K=10 Adam steps (lr=10⁻³)</a:t>
            </a:r>
          </a:p>
          <a:p>
            <a:r>
              <a:rPr sz="1100" b="0" i="0">
                <a:solidFill>
                  <a:srgbClr val="333333"/>
                </a:solidFill>
                <a:latin typeface="Times New Roman"/>
              </a:rPr>
              <a:t>   on Kw=3 sliding-frame window</a:t>
            </a:r>
          </a:p>
          <a:p>
            <a:r>
              <a:rPr sz="1100" b="0" i="0">
                <a:solidFill>
                  <a:srgbClr val="333333"/>
                </a:solidFill>
                <a:latin typeface="Times New Roman"/>
              </a:rPr>
              <a:t>   → only (wᵢ, φᵢ) updated; kx, ky FROZEN</a:t>
            </a:r>
          </a:p>
          <a:p>
            <a:r>
              <a:rPr sz="1100" b="0" i="0">
                <a:solidFill>
                  <a:srgbClr val="333333"/>
                </a:solidFill>
                <a:latin typeface="Times New Roman"/>
              </a:rPr>
              <a:t/>
            </a:r>
          </a:p>
          <a:p>
            <a:r>
              <a:rPr sz="1100" b="0" i="0">
                <a:solidFill>
                  <a:srgbClr val="333333"/>
                </a:solidFill>
                <a:latin typeface="Times New Roman"/>
              </a:rPr>
              <a:t>Why freeze k?</a:t>
            </a:r>
          </a:p>
          <a:p>
            <a:r>
              <a:rPr sz="1100" b="0" i="0">
                <a:solidFill>
                  <a:srgbClr val="333333"/>
                </a:solidFill>
                <a:latin typeface="Times New Roman"/>
              </a:rPr>
              <a:t>   • 단일 프레임에서 kx/ky는 ill-conditioned</a:t>
            </a:r>
          </a:p>
          <a:p>
            <a:r>
              <a:rPr sz="1100" b="0" i="0">
                <a:solidFill>
                  <a:srgbClr val="333333"/>
                </a:solidFill>
                <a:latin typeface="Times New Roman"/>
              </a:rPr>
              <a:t>   • Multi-frame init이 충분히 평균화</a:t>
            </a:r>
          </a:p>
          <a:p>
            <a:r>
              <a:rPr sz="1100" b="0" i="0">
                <a:solidFill>
                  <a:srgbClr val="333333"/>
                </a:solidFill>
                <a:latin typeface="Times New Roman"/>
              </a:rPr>
              <a:t>   • φ warm start로 200→10 grad steps</a:t>
            </a:r>
          </a:p>
        </p:txBody>
      </p:sp>
      <p:sp>
        <p:nvSpPr>
          <p:cNvPr id="8" name="TextBox 7"/>
          <p:cNvSpPr txBox="1"/>
          <p:nvPr/>
        </p:nvSpPr>
        <p:spPr>
          <a:xfrm>
            <a:off x="365760" y="4526280"/>
            <a:ext cx="8229600" cy="457200"/>
          </a:xfrm>
          <a:prstGeom prst="rect">
            <a:avLst/>
          </a:prstGeom>
          <a:noFill/>
        </p:spPr>
        <p:txBody>
          <a:bodyPr wrap="square">
            <a:spAutoFit/>
          </a:bodyPr>
          <a:lstStyle/>
          <a:p>
            <a:r>
              <a:rPr sz="1300" b="1" i="0">
                <a:solidFill>
                  <a:srgbClr val="C05317"/>
                </a:solidFill>
                <a:latin typeface="Times New Roman"/>
              </a:rPr>
              <a:t>Adaptive N: 단일 swell에선 N=1, 복잡 sea에선 N=21까지 — 평균 13.4 ms/frame</a:t>
            </a:r>
          </a:p>
        </p:txBody>
      </p:sp>
      <p:sp>
        <p:nvSpPr>
          <p:cNvPr id="9" name="TextBox 8"/>
          <p:cNvSpPr txBox="1"/>
          <p:nvPr/>
        </p:nvSpPr>
        <p:spPr>
          <a:xfrm>
            <a:off x="365760" y="5029200"/>
            <a:ext cx="8229600" cy="274320"/>
          </a:xfrm>
          <a:prstGeom prst="rect">
            <a:avLst/>
          </a:prstGeom>
          <a:noFill/>
        </p:spPr>
        <p:txBody>
          <a:bodyPr wrap="none">
            <a:spAutoFit/>
          </a:bodyPr>
          <a:lstStyle/>
          <a:p>
            <a:r>
              <a:rPr sz="1200" b="1">
                <a:solidFill>
                  <a:srgbClr val="C05317"/>
                </a:solidFill>
                <a:latin typeface="Times New Roman"/>
              </a:rPr>
              <a:t>실시간 처리 핵심</a:t>
            </a:r>
          </a:p>
        </p:txBody>
      </p:sp>
      <p:sp>
        <p:nvSpPr>
          <p:cNvPr id="10" name="TextBox 9"/>
          <p:cNvSpPr txBox="1"/>
          <p:nvPr/>
        </p:nvSpPr>
        <p:spPr>
          <a:xfrm>
            <a:off x="365760" y="5349240"/>
            <a:ext cx="8229600" cy="914400"/>
          </a:xfrm>
          <a:prstGeom prst="rect">
            <a:avLst/>
          </a:prstGeom>
          <a:noFill/>
        </p:spPr>
        <p:txBody>
          <a:bodyPr wrap="square">
            <a:spAutoFit/>
          </a:bodyPr>
          <a:lstStyle/>
          <a:p>
            <a:r>
              <a:rPr sz="1100" b="0" i="0">
                <a:solidFill>
                  <a:srgbClr val="333333"/>
                </a:solidFill>
                <a:latin typeface="Times New Roman"/>
              </a:rPr>
              <a:t>▪ Init은 한 번만 (~500 ms) — 이후 frame당 ~13 ms tracking으로 10 Hz 대응</a:t>
            </a:r>
          </a:p>
          <a:p>
            <a:r>
              <a:rPr sz="1100" b="0" i="0">
                <a:solidFill>
                  <a:srgbClr val="333333"/>
                </a:solidFill>
                <a:latin typeface="Times New Roman"/>
              </a:rPr>
              <a:t>▪ k freeze + φ warm-start로 200→10 grad steps 단축이 결정적 속도 차이</a:t>
            </a:r>
          </a:p>
          <a:p>
            <a:r>
              <a:rPr sz="1100" b="0" i="0">
                <a:solidFill>
                  <a:srgbClr val="333333"/>
                </a:solidFill>
                <a:latin typeface="Times New Roman"/>
              </a:rPr>
              <a:t>▪ Adaptive N의 pruning은 over-parametrize 방지, growth는 새로운 component 출현 대응</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Methodology Flowchart — 전체 로직 한눈에</a:t>
            </a:r>
          </a:p>
        </p:txBody>
      </p:sp>
      <p:pic>
        <p:nvPicPr>
          <p:cNvPr id="4" name="Picture 3" descr="fig_pipeline.png"/>
          <p:cNvPicPr>
            <a:picLocks noChangeAspect="1"/>
          </p:cNvPicPr>
          <p:nvPr/>
        </p:nvPicPr>
        <p:blipFill>
          <a:blip r:embed="rId2"/>
          <a:stretch>
            <a:fillRect/>
          </a:stretch>
        </p:blipFill>
        <p:spPr>
          <a:xfrm>
            <a:off x="274320" y="914400"/>
            <a:ext cx="8595360" cy="3520440"/>
          </a:xfrm>
          <a:prstGeom prst="rect">
            <a:avLst/>
          </a:prstGeom>
        </p:spPr>
      </p:pic>
      <p:sp>
        <p:nvSpPr>
          <p:cNvPr id="5" name="TextBox 4"/>
          <p:cNvSpPr txBox="1"/>
          <p:nvPr/>
        </p:nvSpPr>
        <p:spPr>
          <a:xfrm>
            <a:off x="365760" y="4572000"/>
            <a:ext cx="8229600" cy="274320"/>
          </a:xfrm>
          <a:prstGeom prst="rect">
            <a:avLst/>
          </a:prstGeom>
          <a:noFill/>
        </p:spPr>
        <p:txBody>
          <a:bodyPr wrap="none">
            <a:spAutoFit/>
          </a:bodyPr>
          <a:lstStyle/>
          <a:p>
            <a:r>
              <a:rPr sz="1200" b="1">
                <a:solidFill>
                  <a:srgbClr val="C05317"/>
                </a:solidFill>
                <a:latin typeface="Times New Roman"/>
              </a:rPr>
              <a:t>읽는 법</a:t>
            </a:r>
          </a:p>
        </p:txBody>
      </p:sp>
      <p:sp>
        <p:nvSpPr>
          <p:cNvPr id="6" name="TextBox 5"/>
          <p:cNvSpPr txBox="1"/>
          <p:nvPr/>
        </p:nvSpPr>
        <p:spPr>
          <a:xfrm>
            <a:off x="365760" y="4892040"/>
            <a:ext cx="8229600" cy="1280160"/>
          </a:xfrm>
          <a:prstGeom prst="rect">
            <a:avLst/>
          </a:prstGeom>
          <a:noFill/>
        </p:spPr>
        <p:txBody>
          <a:bodyPr wrap="square">
            <a:spAutoFit/>
          </a:bodyPr>
          <a:lstStyle/>
          <a:p>
            <a:r>
              <a:rPr sz="1100" b="0" i="0">
                <a:solidFill>
                  <a:srgbClr val="333333"/>
                </a:solidFill>
                <a:latin typeface="Times New Roman"/>
              </a:rPr>
              <a:t>▪ 좌측 (Phase 1, ~500 ms 1회): 10 frame 누적 → beamforming 2단계 → C2F Adam → Adaptive N</a:t>
            </a:r>
          </a:p>
          <a:p>
            <a:r>
              <a:rPr sz="1100" b="0" i="0">
                <a:solidFill>
                  <a:srgbClr val="333333"/>
                </a:solidFill>
                <a:latin typeface="Times New Roman"/>
              </a:rPr>
              <a:t>▪ 우측 (Phase 2, ~13 ms/frame): Predict (dispersion phase 외삽) → sliding window → Adam 10 steps → Output</a:t>
            </a:r>
          </a:p>
          <a:p>
            <a:r>
              <a:rPr sz="1100" b="0" i="0">
                <a:solidFill>
                  <a:srgbClr val="333333"/>
                </a:solidFill>
                <a:latin typeface="Times New Roman"/>
              </a:rPr>
              <a:t>▪ Phase 1→2 화살표: kx, ky 동결, w·φ만 carry</a:t>
            </a:r>
          </a:p>
          <a:p>
            <a:r>
              <a:rPr sz="1100" b="0" i="0">
                <a:solidFill>
                  <a:srgbClr val="333333"/>
                </a:solidFill>
                <a:latin typeface="Times New Roman"/>
              </a:rPr>
              <a:t>▪ Adaptive N grow loop: residual RMS &gt; 0.05 m이면 init 단계로 잠시 복귀해 새 component 추가</a:t>
            </a:r>
          </a:p>
        </p:txBody>
      </p:sp>
      <p:sp>
        <p:nvSpPr>
          <p:cNvPr id="7" name="TextBox 6"/>
          <p:cNvSpPr txBox="1"/>
          <p:nvPr/>
        </p:nvSpPr>
        <p:spPr>
          <a:xfrm>
            <a:off x="365760" y="6263640"/>
            <a:ext cx="8229600" cy="228600"/>
          </a:xfrm>
          <a:prstGeom prst="rect">
            <a:avLst/>
          </a:prstGeom>
          <a:noFill/>
        </p:spPr>
        <p:txBody>
          <a:bodyPr wrap="none">
            <a:spAutoFit/>
          </a:bodyPr>
          <a:lstStyle/>
          <a:p>
            <a:r>
              <a:rPr sz="800" i="1">
                <a:solidFill>
                  <a:srgbClr val="666666"/>
                </a:solidFill>
                <a:latin typeface="Times New Roman"/>
              </a:rPr>
              <a:t>Figure source: paper/figures/fig_pipeline.png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WaveSim (1/2) — Wave Generation + 검증</a:t>
            </a:r>
          </a:p>
        </p:txBody>
      </p:sp>
      <p:pic>
        <p:nvPicPr>
          <p:cNvPr id="4" name="Picture 3" descr="wavesim_BF4_5c_wave_field.png"/>
          <p:cNvPicPr>
            <a:picLocks noChangeAspect="1"/>
          </p:cNvPicPr>
          <p:nvPr/>
        </p:nvPicPr>
        <p:blipFill>
          <a:blip r:embed="rId2"/>
          <a:stretch>
            <a:fillRect/>
          </a:stretch>
        </p:blipFill>
        <p:spPr>
          <a:xfrm>
            <a:off x="274320" y="868680"/>
            <a:ext cx="5029200" cy="2743200"/>
          </a:xfrm>
          <a:prstGeom prst="rect">
            <a:avLst/>
          </a:prstGeom>
        </p:spPr>
      </p:pic>
      <p:sp>
        <p:nvSpPr>
          <p:cNvPr id="5" name="TextBox 4"/>
          <p:cNvSpPr txBox="1"/>
          <p:nvPr/>
        </p:nvSpPr>
        <p:spPr>
          <a:xfrm>
            <a:off x="274320" y="3611880"/>
            <a:ext cx="5029200" cy="274320"/>
          </a:xfrm>
          <a:prstGeom prst="rect">
            <a:avLst/>
          </a:prstGeom>
          <a:noFill/>
        </p:spPr>
        <p:txBody>
          <a:bodyPr wrap="square">
            <a:spAutoFit/>
          </a:bodyPr>
          <a:lstStyle/>
          <a:p>
            <a:r>
              <a:rPr sz="1000" b="0" i="1">
                <a:solidFill>
                  <a:srgbClr val="666666"/>
                </a:solidFill>
                <a:latin typeface="Times New Roman"/>
              </a:rPr>
              <a:t>BF4, N=5 components, Hs ≈ 1.5 m, frame t=15 s 예시</a:t>
            </a:r>
          </a:p>
        </p:txBody>
      </p:sp>
      <p:sp>
        <p:nvSpPr>
          <p:cNvPr id="6" name="TextBox 5"/>
          <p:cNvSpPr txBox="1"/>
          <p:nvPr/>
        </p:nvSpPr>
        <p:spPr>
          <a:xfrm>
            <a:off x="5440680" y="868680"/>
            <a:ext cx="3200400" cy="274320"/>
          </a:xfrm>
          <a:prstGeom prst="rect">
            <a:avLst/>
          </a:prstGeom>
          <a:noFill/>
        </p:spPr>
        <p:txBody>
          <a:bodyPr wrap="none">
            <a:spAutoFit/>
          </a:bodyPr>
          <a:lstStyle/>
          <a:p>
            <a:r>
              <a:rPr sz="1200" b="1">
                <a:solidFill>
                  <a:srgbClr val="C05317"/>
                </a:solidFill>
                <a:latin typeface="Times New Roman"/>
              </a:rPr>
              <a:t>JONSWAP 합성 + Gerstner</a:t>
            </a:r>
          </a:p>
        </p:txBody>
      </p:sp>
      <p:sp>
        <p:nvSpPr>
          <p:cNvPr id="7" name="TextBox 6"/>
          <p:cNvSpPr txBox="1"/>
          <p:nvPr/>
        </p:nvSpPr>
        <p:spPr>
          <a:xfrm>
            <a:off x="5440680" y="1188720"/>
            <a:ext cx="3200400" cy="2697480"/>
          </a:xfrm>
          <a:prstGeom prst="rect">
            <a:avLst/>
          </a:prstGeom>
          <a:noFill/>
        </p:spPr>
        <p:txBody>
          <a:bodyPr wrap="square">
            <a:spAutoFit/>
          </a:bodyPr>
          <a:lstStyle/>
          <a:p>
            <a:r>
              <a:rPr sz="1100" b="0" i="0">
                <a:solidFill>
                  <a:srgbClr val="333333"/>
                </a:solidFill>
                <a:latin typeface="Times New Roman"/>
              </a:rPr>
              <a:t>▪ Pierson-Moskowitz × peak γ=3.3</a:t>
            </a:r>
          </a:p>
          <a:p>
            <a:r>
              <a:rPr sz="1100" b="0" i="0">
                <a:solidFill>
                  <a:srgbClr val="333333"/>
                </a:solidFill>
                <a:latin typeface="Times New Roman"/>
              </a:rPr>
              <a:t>▪ Hs ∈ [0.3, 2.0] m (BF2~BF5)</a:t>
            </a:r>
          </a:p>
          <a:p>
            <a:r>
              <a:rPr sz="1100" b="0" i="0">
                <a:solidFill>
                  <a:srgbClr val="333333"/>
                </a:solidFill>
                <a:latin typeface="Times New Roman"/>
              </a:rPr>
              <a:t>▪ Tp ∈ [4, 8] s, 무작위 phase</a:t>
            </a:r>
          </a:p>
          <a:p>
            <a:r>
              <a:rPr sz="1100" b="0" i="0">
                <a:solidFill>
                  <a:srgbClr val="333333"/>
                </a:solidFill>
                <a:latin typeface="Times New Roman"/>
              </a:rPr>
              <a:t>▪ Gerstner trochoid (2nd order)</a:t>
            </a:r>
          </a:p>
          <a:p>
            <a:r>
              <a:rPr sz="1100" b="0" i="0">
                <a:solidFill>
                  <a:srgbClr val="333333"/>
                </a:solidFill>
                <a:latin typeface="Times New Roman"/>
              </a:rPr>
              <a:t>   → 꼭대기 첨예, 골짜기 평탄</a:t>
            </a:r>
          </a:p>
          <a:p>
            <a:r>
              <a:rPr sz="1100" b="0" i="0">
                <a:solidFill>
                  <a:srgbClr val="333333"/>
                </a:solidFill>
                <a:latin typeface="Times New Roman"/>
              </a:rPr>
              <a:t>▪ Q-제약: Σ Qᵢωᵢ²Aᵢ &lt; 1</a:t>
            </a:r>
          </a:p>
          <a:p>
            <a:r>
              <a:rPr sz="1100" b="0" i="0">
                <a:solidFill>
                  <a:srgbClr val="333333"/>
                </a:solidFill>
                <a:latin typeface="Times New Roman"/>
              </a:rPr>
              <a:t>▪ Full dispersion (수심 d=50 m)</a:t>
            </a:r>
          </a:p>
          <a:p>
            <a:r>
              <a:rPr sz="1100" b="0" i="0">
                <a:solidFill>
                  <a:srgbClr val="333333"/>
                </a:solidFill>
                <a:latin typeface="Times New Roman"/>
              </a:rPr>
              <a:t>   ω = √(g|k|·tanh(|k|d))</a:t>
            </a:r>
          </a:p>
        </p:txBody>
      </p:sp>
      <p:sp>
        <p:nvSpPr>
          <p:cNvPr id="8" name="Rounded Rectangle 7"/>
          <p:cNvSpPr/>
          <p:nvPr/>
        </p:nvSpPr>
        <p:spPr>
          <a:xfrm>
            <a:off x="274320" y="4160520"/>
            <a:ext cx="8503920" cy="1920240"/>
          </a:xfrm>
          <a:prstGeom prst="roundRect">
            <a:avLst/>
          </a:prstGeom>
          <a:solidFill>
            <a:srgbClr val="E8F5E9"/>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a:lstStyle/>
          <a:p>
            <a:r>
              <a:rPr sz="1300" b="1">
                <a:solidFill>
                  <a:srgbClr val="2E7D32"/>
                </a:solidFill>
                <a:latin typeface="Times New Roman"/>
              </a:rPr>
              <a:t>Wave Generation 검증 (39 unit tests 중)</a:t>
            </a:r>
          </a:p>
          <a:p>
            <a:r>
              <a:rPr sz="1100" b="0">
                <a:solidFill>
                  <a:srgbClr val="333333"/>
                </a:solidFill>
                <a:latin typeface="Times New Roman"/>
              </a:rPr>
              <a:t>✓ 분산관계 deep/shallow 해석해 일치 (오차 &lt; 1×10⁻⁶)</a:t>
            </a:r>
          </a:p>
          <a:p>
            <a:r>
              <a:rPr sz="1100" b="0">
                <a:solidFill>
                  <a:srgbClr val="333333"/>
                </a:solidFill>
                <a:latin typeface="Times New Roman"/>
              </a:rPr>
              <a:t>✓ Gerstner 단일성분 RMSE &lt; 1×10⁻¹⁰ m vs 해석해</a:t>
            </a:r>
          </a:p>
          <a:p>
            <a:r>
              <a:rPr sz="1100" b="0">
                <a:solidFill>
                  <a:srgbClr val="333333"/>
                </a:solidFill>
                <a:latin typeface="Times New Roman"/>
              </a:rPr>
              <a:t>✓ Hs(Welch from time series) = 4√m₀ 일치 &lt; 0.5%</a:t>
            </a:r>
          </a:p>
          <a:p>
            <a:r>
              <a:rPr sz="1100" b="0">
                <a:solidFill>
                  <a:srgbClr val="333333"/>
                </a:solidFill>
                <a:latin typeface="Times New Roman"/>
              </a:rPr>
              <a:t>✓ Q-constraint 위반: 모든 100 episodes 0건</a:t>
            </a:r>
          </a:p>
          <a:p>
            <a:r>
              <a:rPr sz="1100" b="0">
                <a:solidFill>
                  <a:srgbClr val="333333"/>
                </a:solidFill>
                <a:latin typeface="Times New Roman"/>
              </a:rPr>
              <a:t>✓ Energy conservation: ΣAᵢ² ≈ ∫S(ω)dω (FFT 검증 통과)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WaveSim (2/2) — LiDAR · Raydrop + Sample 관측</a:t>
            </a:r>
          </a:p>
        </p:txBody>
      </p:sp>
      <p:pic>
        <p:nvPicPr>
          <p:cNvPr id="4" name="Picture 3" descr="wavesim_BF4_5c_wave_lidar.png"/>
          <p:cNvPicPr>
            <a:picLocks noChangeAspect="1"/>
          </p:cNvPicPr>
          <p:nvPr/>
        </p:nvPicPr>
        <p:blipFill>
          <a:blip r:embed="rId2"/>
          <a:stretch>
            <a:fillRect/>
          </a:stretch>
        </p:blipFill>
        <p:spPr>
          <a:xfrm>
            <a:off x="274320" y="868680"/>
            <a:ext cx="5029200" cy="2743200"/>
          </a:xfrm>
          <a:prstGeom prst="rect">
            <a:avLst/>
          </a:prstGeom>
        </p:spPr>
      </p:pic>
      <p:sp>
        <p:nvSpPr>
          <p:cNvPr id="5" name="TextBox 4"/>
          <p:cNvSpPr txBox="1"/>
          <p:nvPr/>
        </p:nvSpPr>
        <p:spPr>
          <a:xfrm>
            <a:off x="274320" y="3611880"/>
            <a:ext cx="5029200" cy="274320"/>
          </a:xfrm>
          <a:prstGeom prst="rect">
            <a:avLst/>
          </a:prstGeom>
          <a:noFill/>
        </p:spPr>
        <p:txBody>
          <a:bodyPr wrap="square">
            <a:spAutoFit/>
          </a:bodyPr>
          <a:lstStyle/>
          <a:p>
            <a:r>
              <a:rPr sz="1000" b="0" i="1">
                <a:solidFill>
                  <a:srgbClr val="666666"/>
                </a:solidFill>
                <a:latin typeface="Times New Roman"/>
              </a:rPr>
              <a:t>GT 파도장에 LiDAR returns(까만 점) 오버레이 — 같은 BF4 episode</a:t>
            </a:r>
          </a:p>
        </p:txBody>
      </p:sp>
      <p:sp>
        <p:nvSpPr>
          <p:cNvPr id="6" name="TextBox 5"/>
          <p:cNvSpPr txBox="1"/>
          <p:nvPr/>
        </p:nvSpPr>
        <p:spPr>
          <a:xfrm>
            <a:off x="5440680" y="868680"/>
            <a:ext cx="3200400" cy="274320"/>
          </a:xfrm>
          <a:prstGeom prst="rect">
            <a:avLst/>
          </a:prstGeom>
          <a:noFill/>
        </p:spPr>
        <p:txBody>
          <a:bodyPr wrap="none">
            <a:spAutoFit/>
          </a:bodyPr>
          <a:lstStyle/>
          <a:p>
            <a:r>
              <a:rPr sz="1200" b="1">
                <a:solidFill>
                  <a:srgbClr val="C05317"/>
                </a:solidFill>
                <a:latin typeface="Times New Roman"/>
              </a:rPr>
              <a:t>Falcon K1 Sensor</a:t>
            </a:r>
          </a:p>
        </p:txBody>
      </p:sp>
      <p:sp>
        <p:nvSpPr>
          <p:cNvPr id="7" name="TextBox 6"/>
          <p:cNvSpPr txBox="1"/>
          <p:nvPr/>
        </p:nvSpPr>
        <p:spPr>
          <a:xfrm>
            <a:off x="5440680" y="1188720"/>
            <a:ext cx="3200400" cy="1280160"/>
          </a:xfrm>
          <a:prstGeom prst="rect">
            <a:avLst/>
          </a:prstGeom>
          <a:noFill/>
        </p:spPr>
        <p:txBody>
          <a:bodyPr wrap="square">
            <a:spAutoFit/>
          </a:bodyPr>
          <a:lstStyle/>
          <a:p>
            <a:r>
              <a:rPr sz="1100" b="0" i="0">
                <a:solidFill>
                  <a:srgbClr val="333333"/>
                </a:solidFill>
                <a:latin typeface="Times New Roman"/>
              </a:rPr>
              <a:t>▪ 1550 nm, 152 ch, scan 10 Hz</a:t>
            </a:r>
          </a:p>
          <a:p>
            <a:r>
              <a:rPr sz="1100" b="0" i="0">
                <a:solidFill>
                  <a:srgbClr val="333333"/>
                </a:solidFill>
                <a:latin typeface="Times New Roman"/>
              </a:rPr>
              <a:t>▪ FOV 120°×25°, range 1.5–250 m</a:t>
            </a:r>
          </a:p>
          <a:p>
            <a:r>
              <a:rPr sz="1100" b="0" i="0">
                <a:solidFill>
                  <a:srgbClr val="333333"/>
                </a:solidFill>
                <a:latin typeface="Times New Roman"/>
              </a:rPr>
              <a:t>▪ σ_range = 0.02 m, σ_angle = 0.05°</a:t>
            </a:r>
          </a:p>
          <a:p>
            <a:r>
              <a:rPr sz="1100" b="0" i="0">
                <a:solidFill>
                  <a:srgbClr val="333333"/>
                </a:solidFill>
                <a:latin typeface="Times New Roman"/>
              </a:rPr>
              <a:t>▪ Mount: 5 m, +5° downward</a:t>
            </a:r>
          </a:p>
        </p:txBody>
      </p:sp>
      <p:sp>
        <p:nvSpPr>
          <p:cNvPr id="8" name="TextBox 7"/>
          <p:cNvSpPr txBox="1"/>
          <p:nvPr/>
        </p:nvSpPr>
        <p:spPr>
          <a:xfrm>
            <a:off x="5440680" y="2560320"/>
            <a:ext cx="3200400" cy="274320"/>
          </a:xfrm>
          <a:prstGeom prst="rect">
            <a:avLst/>
          </a:prstGeom>
          <a:noFill/>
        </p:spPr>
        <p:txBody>
          <a:bodyPr wrap="none">
            <a:spAutoFit/>
          </a:bodyPr>
          <a:lstStyle/>
          <a:p>
            <a:r>
              <a:rPr sz="1200" b="1">
                <a:solidFill>
                  <a:srgbClr val="C05317"/>
                </a:solidFill>
                <a:latin typeface="Times New Roman"/>
              </a:rPr>
              <a:t>Raydrop (점이 떨어지는 메커니즘)</a:t>
            </a:r>
          </a:p>
        </p:txBody>
      </p:sp>
      <p:sp>
        <p:nvSpPr>
          <p:cNvPr id="9" name="TextBox 8"/>
          <p:cNvSpPr txBox="1"/>
          <p:nvPr/>
        </p:nvSpPr>
        <p:spPr>
          <a:xfrm>
            <a:off x="5440680" y="2880360"/>
            <a:ext cx="3200400" cy="1783080"/>
          </a:xfrm>
          <a:prstGeom prst="rect">
            <a:avLst/>
          </a:prstGeom>
          <a:noFill/>
        </p:spPr>
        <p:txBody>
          <a:bodyPr wrap="square">
            <a:spAutoFit/>
          </a:bodyPr>
          <a:lstStyle/>
          <a:p>
            <a:r>
              <a:rPr sz="1100" b="0" i="0">
                <a:solidFill>
                  <a:srgbClr val="333333"/>
                </a:solidFill>
                <a:latin typeface="Times New Roman"/>
              </a:rPr>
              <a:t>▪ Diffuse (uniform):</a:t>
            </a:r>
          </a:p>
          <a:p>
            <a:r>
              <a:rPr sz="1100" b="0" i="0">
                <a:solidFill>
                  <a:srgbClr val="333333"/>
                </a:solidFill>
                <a:latin typeface="Times New Roman"/>
              </a:rPr>
              <a:t>   p = R_Fresnel(θ)·cos(θ)/d²</a:t>
            </a:r>
          </a:p>
          <a:p>
            <a:r>
              <a:rPr sz="1100" b="0" i="0">
                <a:solidFill>
                  <a:srgbClr val="333333"/>
                </a:solidFill>
                <a:latin typeface="Times New Roman"/>
              </a:rPr>
              <a:t>   ※ Fresnel은 여기서만 사용</a:t>
            </a:r>
          </a:p>
          <a:p>
            <a:r>
              <a:rPr sz="1100" b="0" i="0">
                <a:solidFill>
                  <a:srgbClr val="333333"/>
                </a:solidFill>
                <a:latin typeface="Times New Roman"/>
              </a:rPr>
              <a:t>▪ Specular (slope):</a:t>
            </a:r>
          </a:p>
          <a:p>
            <a:r>
              <a:rPr sz="1100" b="0" i="0">
                <a:solidFill>
                  <a:srgbClr val="333333"/>
                </a:solidFill>
                <a:latin typeface="Times New Roman"/>
              </a:rPr>
              <a:t>   retroreflection α&lt;5°</a:t>
            </a:r>
          </a:p>
          <a:p>
            <a:r>
              <a:rPr sz="1100" b="0" i="0">
                <a:solidFill>
                  <a:srgbClr val="333333"/>
                </a:solidFill>
                <a:latin typeface="Times New Roman"/>
              </a:rPr>
              <a:t>   → 파봉 편향 분포</a:t>
            </a:r>
          </a:p>
          <a:p>
            <a:r>
              <a:rPr sz="1100" b="0" i="0">
                <a:solidFill>
                  <a:srgbClr val="333333"/>
                </a:solidFill>
                <a:latin typeface="Times New Roman"/>
              </a:rPr>
              <a:t>▪ 두 모델 병렬 유지 → ablation</a:t>
            </a:r>
          </a:p>
        </p:txBody>
      </p:sp>
      <p:sp>
        <p:nvSpPr>
          <p:cNvPr id="10" name="TextBox 9"/>
          <p:cNvSpPr txBox="1"/>
          <p:nvPr/>
        </p:nvSpPr>
        <p:spPr>
          <a:xfrm>
            <a:off x="274320" y="4800600"/>
            <a:ext cx="8503920" cy="274320"/>
          </a:xfrm>
          <a:prstGeom prst="rect">
            <a:avLst/>
          </a:prstGeom>
          <a:noFill/>
        </p:spPr>
        <p:txBody>
          <a:bodyPr wrap="none">
            <a:spAutoFit/>
          </a:bodyPr>
          <a:lstStyle/>
          <a:p>
            <a:r>
              <a:rPr sz="1200" b="1">
                <a:solidFill>
                  <a:srgbClr val="C05317"/>
                </a:solidFill>
                <a:latin typeface="Times New Roman"/>
              </a:rPr>
              <a:t>통합 검증 + 핵심 메시지</a:t>
            </a:r>
          </a:p>
        </p:txBody>
      </p:sp>
      <p:sp>
        <p:nvSpPr>
          <p:cNvPr id="11" name="TextBox 10"/>
          <p:cNvSpPr txBox="1"/>
          <p:nvPr/>
        </p:nvSpPr>
        <p:spPr>
          <a:xfrm>
            <a:off x="274320" y="5120640"/>
            <a:ext cx="8503920" cy="1005840"/>
          </a:xfrm>
          <a:prstGeom prst="rect">
            <a:avLst/>
          </a:prstGeom>
          <a:noFill/>
        </p:spPr>
        <p:txBody>
          <a:bodyPr wrap="square">
            <a:spAutoFit/>
          </a:bodyPr>
          <a:lstStyle/>
          <a:p>
            <a:r>
              <a:rPr sz="1100" b="0" i="0">
                <a:solidFill>
                  <a:srgbClr val="333333"/>
                </a:solidFill>
                <a:latin typeface="Times New Roman"/>
              </a:rPr>
              <a:t>▪ Ray-Mesh: Möller-Trumbore intersection — 100 % hit/miss 정확 (39-test 통과)</a:t>
            </a:r>
          </a:p>
          <a:p>
            <a:r>
              <a:rPr sz="1100" b="0" i="0">
                <a:solidFill>
                  <a:srgbClr val="333333"/>
                </a:solidFill>
                <a:latin typeface="Times New Roman"/>
              </a:rPr>
              <a:t>▪ Falcon K1 spec은 Avikus NEUBOAT 실선 시험 장비와 동일 → sim-to-real 시 raydrop만 보정 예정</a:t>
            </a:r>
          </a:p>
          <a:p>
            <a:r>
              <a:rPr sz="1200" b="1" i="0">
                <a:solidFill>
                  <a:srgbClr val="C05317"/>
                </a:solidFill>
                <a:latin typeface="Times New Roman"/>
              </a:rPr>
              <a:t>→ 시뮬레이션 결과는 reviewer가 의심할 만한 모든 물리 가정에서 단위 검증 위에 구축됨</a:t>
            </a:r>
          </a:p>
        </p:txBody>
      </p:sp>
      <p:sp>
        <p:nvSpPr>
          <p:cNvPr id="12" name="TextBox 11"/>
          <p:cNvSpPr txBox="1"/>
          <p:nvPr/>
        </p:nvSpPr>
        <p:spPr>
          <a:xfrm>
            <a:off x="274320" y="6217920"/>
            <a:ext cx="8503920" cy="228600"/>
          </a:xfrm>
          <a:prstGeom prst="rect">
            <a:avLst/>
          </a:prstGeom>
          <a:noFill/>
        </p:spPr>
        <p:txBody>
          <a:bodyPr wrap="none">
            <a:spAutoFit/>
          </a:bodyPr>
          <a:lstStyle/>
          <a:p>
            <a:r>
              <a:rPr sz="800" i="1">
                <a:solidFill>
                  <a:srgbClr val="666666"/>
                </a:solidFill>
                <a:latin typeface="Times New Roman"/>
              </a:rPr>
              <a:t>Refs: Möller &amp; Trumbore (1997) ray-tri intersection; Born &amp; Wolf (2007) Optics 7th ed (Fresnel R(θ)).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Experiment Design — Dataset &amp; Baselines</a:t>
            </a:r>
          </a:p>
        </p:txBody>
      </p:sp>
      <p:sp>
        <p:nvSpPr>
          <p:cNvPr id="4" name="TextBox 3"/>
          <p:cNvSpPr txBox="1"/>
          <p:nvPr/>
        </p:nvSpPr>
        <p:spPr>
          <a:xfrm>
            <a:off x="365760" y="868680"/>
            <a:ext cx="4114800" cy="274320"/>
          </a:xfrm>
          <a:prstGeom prst="rect">
            <a:avLst/>
          </a:prstGeom>
          <a:noFill/>
        </p:spPr>
        <p:txBody>
          <a:bodyPr wrap="none">
            <a:spAutoFit/>
          </a:bodyPr>
          <a:lstStyle/>
          <a:p>
            <a:r>
              <a:rPr sz="1200" b="1">
                <a:solidFill>
                  <a:srgbClr val="C05317"/>
                </a:solidFill>
                <a:latin typeface="Times New Roman"/>
              </a:rPr>
              <a:t>Dataset (100 episodes)</a:t>
            </a:r>
          </a:p>
        </p:txBody>
      </p:sp>
      <p:graphicFrame>
        <p:nvGraphicFramePr>
          <p:cNvPr id="5" name="Table 4"/>
          <p:cNvGraphicFramePr>
            <a:graphicFrameLocks noGrp="1"/>
          </p:cNvGraphicFramePr>
          <p:nvPr/>
        </p:nvGraphicFramePr>
        <p:xfrm>
          <a:off x="365760" y="1188720"/>
          <a:ext cx="4114800" cy="2286000"/>
        </p:xfrm>
        <a:graphic>
          <a:graphicData uri="http://schemas.openxmlformats.org/drawingml/2006/table">
            <a:tbl>
              <a:tblPr firstRow="1" bandRow="1">
                <a:tableStyleId>{5C22544A-7EE6-4342-B048-85BDC9FD1C3A}</a:tableStyleId>
              </a:tblPr>
              <a:tblGrid>
                <a:gridCol w="2057400"/>
                <a:gridCol w="2057400"/>
              </a:tblGrid>
              <a:tr h="326571">
                <a:tc>
                  <a:txBody>
                    <a:bodyPr/>
                    <a:lstStyle/>
                    <a:p>
                      <a:r>
                        <a:rPr sz="1000" b="1">
                          <a:solidFill>
                            <a:srgbClr val="FFFFFF"/>
                          </a:solidFill>
                          <a:latin typeface="Times New Roman"/>
                        </a:rPr>
                        <a:t>Parameter</a:t>
                      </a:r>
                    </a:p>
                  </a:txBody>
                  <a:tcPr>
                    <a:solidFill>
                      <a:srgbClr val="C05317"/>
                    </a:solidFill>
                  </a:tcPr>
                </a:tc>
                <a:tc>
                  <a:txBody>
                    <a:bodyPr/>
                    <a:lstStyle/>
                    <a:p>
                      <a:r>
                        <a:rPr sz="1000" b="1">
                          <a:solidFill>
                            <a:srgbClr val="FFFFFF"/>
                          </a:solidFill>
                          <a:latin typeface="Times New Roman"/>
                        </a:rPr>
                        <a:t>Value</a:t>
                      </a:r>
                    </a:p>
                  </a:txBody>
                  <a:tcPr>
                    <a:solidFill>
                      <a:srgbClr val="C05317"/>
                    </a:solidFill>
                  </a:tcPr>
                </a:tc>
              </a:tr>
              <a:tr h="326571">
                <a:tc>
                  <a:txBody>
                    <a:bodyPr/>
                    <a:lstStyle/>
                    <a:p>
                      <a:r>
                        <a:rPr sz="1000" b="1">
                          <a:latin typeface="Times New Roman"/>
                        </a:rPr>
                        <a:t>Total episodes</a:t>
                      </a:r>
                    </a:p>
                  </a:txBody>
                  <a:tcPr>
                    <a:solidFill>
                      <a:srgbClr val="FFFFFF"/>
                    </a:solidFill>
                  </a:tcPr>
                </a:tc>
                <a:tc>
                  <a:txBody>
                    <a:bodyPr/>
                    <a:lstStyle/>
                    <a:p>
                      <a:r>
                        <a:rPr sz="1000" b="1">
                          <a:latin typeface="Times New Roman"/>
                        </a:rPr>
                        <a:t>100 = 5 seeds × 10 configs × 2 raydrop</a:t>
                      </a:r>
                    </a:p>
                  </a:txBody>
                  <a:tcPr>
                    <a:solidFill>
                      <a:srgbClr val="FFFFFF"/>
                    </a:solidFill>
                  </a:tcPr>
                </a:tc>
              </a:tr>
              <a:tr h="326571">
                <a:tc>
                  <a:txBody>
                    <a:bodyPr/>
                    <a:lstStyle/>
                    <a:p>
                      <a:r>
                        <a:rPr sz="1000">
                          <a:latin typeface="Times New Roman"/>
                        </a:rPr>
                        <a:t>Sea state</a:t>
                      </a:r>
                    </a:p>
                  </a:txBody>
                  <a:tcPr>
                    <a:solidFill>
                      <a:srgbClr val="FAEBDD"/>
                    </a:solidFill>
                  </a:tcPr>
                </a:tc>
                <a:tc>
                  <a:txBody>
                    <a:bodyPr/>
                    <a:lstStyle/>
                    <a:p>
                      <a:r>
                        <a:rPr sz="1000">
                          <a:latin typeface="Times New Roman"/>
                        </a:rPr>
                        <a:t>BF2~BF5  (Hs 0.3~2.0 m)</a:t>
                      </a:r>
                    </a:p>
                  </a:txBody>
                  <a:tcPr>
                    <a:solidFill>
                      <a:srgbClr val="FAEBDD"/>
                    </a:solidFill>
                  </a:tcPr>
                </a:tc>
              </a:tr>
              <a:tr h="326571">
                <a:tc>
                  <a:txBody>
                    <a:bodyPr/>
                    <a:lstStyle/>
                    <a:p>
                      <a:r>
                        <a:rPr sz="1000">
                          <a:latin typeface="Times New Roman"/>
                        </a:rPr>
                        <a:t>Components</a:t>
                      </a:r>
                    </a:p>
                  </a:txBody>
                  <a:tcPr>
                    <a:solidFill>
                      <a:srgbClr val="FFFFFF"/>
                    </a:solidFill>
                  </a:tcPr>
                </a:tc>
                <a:tc>
                  <a:txBody>
                    <a:bodyPr/>
                    <a:lstStyle/>
                    <a:p>
                      <a:r>
                        <a:rPr sz="1000">
                          <a:latin typeface="Times New Roman"/>
                        </a:rPr>
                        <a:t>1, 2, 5, 15, 30</a:t>
                      </a:r>
                    </a:p>
                  </a:txBody>
                  <a:tcPr>
                    <a:solidFill>
                      <a:srgbClr val="FFFFFF"/>
                    </a:solidFill>
                  </a:tcPr>
                </a:tc>
              </a:tr>
              <a:tr h="326571">
                <a:tc>
                  <a:txBody>
                    <a:bodyPr/>
                    <a:lstStyle/>
                    <a:p>
                      <a:r>
                        <a:rPr sz="1000">
                          <a:latin typeface="Times New Roman"/>
                        </a:rPr>
                        <a:t>Raydrop</a:t>
                      </a:r>
                    </a:p>
                  </a:txBody>
                  <a:tcPr>
                    <a:solidFill>
                      <a:srgbClr val="FAEBDD"/>
                    </a:solidFill>
                  </a:tcPr>
                </a:tc>
                <a:tc>
                  <a:txBody>
                    <a:bodyPr/>
                    <a:lstStyle/>
                    <a:p>
                      <a:r>
                        <a:rPr sz="1000">
                          <a:latin typeface="Times New Roman"/>
                        </a:rPr>
                        <a:t>Uniform (diffuse) + Slope (specular)</a:t>
                      </a:r>
                    </a:p>
                  </a:txBody>
                  <a:tcPr>
                    <a:solidFill>
                      <a:srgbClr val="FAEBDD"/>
                    </a:solidFill>
                  </a:tcPr>
                </a:tc>
              </a:tr>
              <a:tr h="326571">
                <a:tc>
                  <a:txBody>
                    <a:bodyPr/>
                    <a:lstStyle/>
                    <a:p>
                      <a:r>
                        <a:rPr sz="1000">
                          <a:latin typeface="Times New Roman"/>
                        </a:rPr>
                        <a:t>Duration</a:t>
                      </a:r>
                    </a:p>
                  </a:txBody>
                  <a:tcPr>
                    <a:solidFill>
                      <a:srgbClr val="FFFFFF"/>
                    </a:solidFill>
                  </a:tcPr>
                </a:tc>
                <a:tc>
                  <a:txBody>
                    <a:bodyPr/>
                    <a:lstStyle/>
                    <a:p>
                      <a:r>
                        <a:rPr sz="1000">
                          <a:latin typeface="Times New Roman"/>
                        </a:rPr>
                        <a:t>301 frames (30 s @ 10 Hz)</a:t>
                      </a:r>
                    </a:p>
                  </a:txBody>
                  <a:tcPr>
                    <a:solidFill>
                      <a:srgbClr val="FFFFFF"/>
                    </a:solidFill>
                  </a:tcPr>
                </a:tc>
              </a:tr>
              <a:tr h="326574">
                <a:tc>
                  <a:txBody>
                    <a:bodyPr/>
                    <a:lstStyle/>
                    <a:p>
                      <a:r>
                        <a:rPr sz="1000">
                          <a:latin typeface="Times New Roman"/>
                        </a:rPr>
                        <a:t>LiDAR</a:t>
                      </a:r>
                    </a:p>
                  </a:txBody>
                  <a:tcPr>
                    <a:solidFill>
                      <a:srgbClr val="FAEBDD"/>
                    </a:solidFill>
                  </a:tcPr>
                </a:tc>
                <a:tc>
                  <a:txBody>
                    <a:bodyPr/>
                    <a:lstStyle/>
                    <a:p>
                      <a:r>
                        <a:rPr sz="1000">
                          <a:latin typeface="Times New Roman"/>
                        </a:rPr>
                        <a:t>Seyond Falcon K1 spec</a:t>
                      </a:r>
                    </a:p>
                  </a:txBody>
                  <a:tcPr>
                    <a:solidFill>
                      <a:srgbClr val="FAEBDD"/>
                    </a:solidFill>
                  </a:tcPr>
                </a:tc>
              </a:tr>
            </a:tbl>
          </a:graphicData>
        </a:graphic>
      </p:graphicFrame>
      <p:sp>
        <p:nvSpPr>
          <p:cNvPr id="6" name="TextBox 5"/>
          <p:cNvSpPr txBox="1"/>
          <p:nvPr/>
        </p:nvSpPr>
        <p:spPr>
          <a:xfrm>
            <a:off x="4663440" y="868680"/>
            <a:ext cx="3931920" cy="274320"/>
          </a:xfrm>
          <a:prstGeom prst="rect">
            <a:avLst/>
          </a:prstGeom>
          <a:noFill/>
        </p:spPr>
        <p:txBody>
          <a:bodyPr wrap="none">
            <a:spAutoFit/>
          </a:bodyPr>
          <a:lstStyle/>
          <a:p>
            <a:r>
              <a:rPr sz="1200" b="1">
                <a:solidFill>
                  <a:srgbClr val="C05317"/>
                </a:solidFill>
                <a:latin typeface="Times New Roman"/>
              </a:rPr>
              <a:t>Baselines (모두 hyperparameter tuned)</a:t>
            </a:r>
          </a:p>
        </p:txBody>
      </p:sp>
      <p:graphicFrame>
        <p:nvGraphicFramePr>
          <p:cNvPr id="7" name="Table 6"/>
          <p:cNvGraphicFramePr>
            <a:graphicFrameLocks noGrp="1"/>
          </p:cNvGraphicFramePr>
          <p:nvPr/>
        </p:nvGraphicFramePr>
        <p:xfrm>
          <a:off x="4663440" y="1188720"/>
          <a:ext cx="3931920" cy="2286000"/>
        </p:xfrm>
        <a:graphic>
          <a:graphicData uri="http://schemas.openxmlformats.org/drawingml/2006/table">
            <a:tbl>
              <a:tblPr firstRow="1" bandRow="1">
                <a:tableStyleId>{5C22544A-7EE6-4342-B048-85BDC9FD1C3A}</a:tableStyleId>
              </a:tblPr>
              <a:tblGrid>
                <a:gridCol w="1310640"/>
                <a:gridCol w="1310640"/>
                <a:gridCol w="1310640"/>
              </a:tblGrid>
              <a:tr h="381000">
                <a:tc>
                  <a:txBody>
                    <a:bodyPr/>
                    <a:lstStyle/>
                    <a:p>
                      <a:r>
                        <a:rPr sz="1000" b="1">
                          <a:solidFill>
                            <a:srgbClr val="FFFFFF"/>
                          </a:solidFill>
                          <a:latin typeface="Times New Roman"/>
                        </a:rPr>
                        <a:t>Method</a:t>
                      </a:r>
                    </a:p>
                  </a:txBody>
                  <a:tcPr>
                    <a:solidFill>
                      <a:srgbClr val="C05317"/>
                    </a:solidFill>
                  </a:tcPr>
                </a:tc>
                <a:tc>
                  <a:txBody>
                    <a:bodyPr/>
                    <a:lstStyle/>
                    <a:p>
                      <a:r>
                        <a:rPr sz="1000" b="1">
                          <a:solidFill>
                            <a:srgbClr val="FFFFFF"/>
                          </a:solidFill>
                          <a:latin typeface="Times New Roman"/>
                        </a:rPr>
                        <a:t>Config</a:t>
                      </a:r>
                    </a:p>
                  </a:txBody>
                  <a:tcPr>
                    <a:solidFill>
                      <a:srgbClr val="C05317"/>
                    </a:solidFill>
                  </a:tcPr>
                </a:tc>
                <a:tc>
                  <a:txBody>
                    <a:bodyPr/>
                    <a:lstStyle/>
                    <a:p>
                      <a:r>
                        <a:rPr sz="1000" b="1">
                          <a:solidFill>
                            <a:srgbClr val="FFFFFF"/>
                          </a:solidFill>
                          <a:latin typeface="Times New Roman"/>
                        </a:rPr>
                        <a:t>Note</a:t>
                      </a:r>
                    </a:p>
                  </a:txBody>
                  <a:tcPr>
                    <a:solidFill>
                      <a:srgbClr val="C05317"/>
                    </a:solidFill>
                  </a:tcPr>
                </a:tc>
              </a:tr>
              <a:tr h="381000">
                <a:tc>
                  <a:txBody>
                    <a:bodyPr/>
                    <a:lstStyle/>
                    <a:p>
                      <a:r>
                        <a:rPr sz="1000" b="1">
                          <a:latin typeface="Times New Roman"/>
                        </a:rPr>
                        <a:t>ETKF (tuned)</a:t>
                      </a:r>
                    </a:p>
                  </a:txBody>
                  <a:tcPr>
                    <a:solidFill>
                      <a:srgbClr val="FFFFFF"/>
                    </a:solidFill>
                  </a:tcPr>
                </a:tc>
                <a:tc>
                  <a:txBody>
                    <a:bodyPr/>
                    <a:lstStyle/>
                    <a:p>
                      <a:r>
                        <a:rPr sz="1000" b="1">
                          <a:latin typeface="Times New Roman"/>
                        </a:rPr>
                        <a:t>24-config sweep best:</a:t>
                      </a:r>
                    </a:p>
                    <a:p>
                      <a:r>
                        <a:rPr sz="1000" b="1">
                          <a:latin typeface="Times New Roman"/>
                        </a:rPr>
                        <a:t>g=40×30, n_e=100</a:t>
                      </a:r>
                    </a:p>
                  </a:txBody>
                  <a:tcPr>
                    <a:solidFill>
                      <a:srgbClr val="FFFFFF"/>
                    </a:solidFill>
                  </a:tcPr>
                </a:tc>
                <a:tc>
                  <a:txBody>
                    <a:bodyPr/>
                    <a:lstStyle/>
                    <a:p>
                      <a:r>
                        <a:rPr sz="1000" b="1">
                          <a:latin typeface="Times New Roman"/>
                        </a:rPr>
                        <a:t>nRMSE 0.319</a:t>
                      </a:r>
                    </a:p>
                  </a:txBody>
                  <a:tcPr>
                    <a:solidFill>
                      <a:srgbClr val="FFFFFF"/>
                    </a:solidFill>
                  </a:tcPr>
                </a:tc>
              </a:tr>
              <a:tr h="381000">
                <a:tc>
                  <a:txBody>
                    <a:bodyPr/>
                    <a:lstStyle/>
                    <a:p>
                      <a:r>
                        <a:rPr sz="1000">
                          <a:latin typeface="Times New Roman"/>
                        </a:rPr>
                        <a:t>GPR-1</a:t>
                      </a:r>
                    </a:p>
                  </a:txBody>
                  <a:tcPr>
                    <a:solidFill>
                      <a:srgbClr val="FAEBDD"/>
                    </a:solidFill>
                  </a:tcPr>
                </a:tc>
                <a:tc>
                  <a:txBody>
                    <a:bodyPr/>
                    <a:lstStyle/>
                    <a:p>
                      <a:r>
                        <a:rPr sz="1000">
                          <a:latin typeface="Times New Roman"/>
                        </a:rPr>
                        <a:t>Matérn ν=5/2,</a:t>
                      </a:r>
                    </a:p>
                    <a:p>
                      <a:r>
                        <a:rPr sz="1000">
                          <a:latin typeface="Times New Roman"/>
                        </a:rPr>
                        <a:t>ℓ=20m, σ=0.02m</a:t>
                      </a:r>
                    </a:p>
                  </a:txBody>
                  <a:tcPr>
                    <a:solidFill>
                      <a:srgbClr val="FAEBDD"/>
                    </a:solidFill>
                  </a:tcPr>
                </a:tc>
                <a:tc>
                  <a:txBody>
                    <a:bodyPr/>
                    <a:lstStyle/>
                    <a:p>
                      <a:r>
                        <a:rPr sz="1000">
                          <a:latin typeface="Times New Roman"/>
                        </a:rPr>
                        <a:t>시간 모델 없음</a:t>
                      </a:r>
                    </a:p>
                  </a:txBody>
                  <a:tcPr>
                    <a:solidFill>
                      <a:srgbClr val="FAEBDD"/>
                    </a:solidFill>
                  </a:tcPr>
                </a:tc>
              </a:tr>
              <a:tr h="381000">
                <a:tc>
                  <a:txBody>
                    <a:bodyPr/>
                    <a:lstStyle/>
                    <a:p>
                      <a:r>
                        <a:rPr sz="1000">
                          <a:latin typeface="Times New Roman"/>
                        </a:rPr>
                        <a:t>GPR-sliding</a:t>
                      </a:r>
                    </a:p>
                  </a:txBody>
                  <a:tcPr>
                    <a:solidFill>
                      <a:srgbClr val="FFFFFF"/>
                    </a:solidFill>
                  </a:tcPr>
                </a:tc>
                <a:tc>
                  <a:txBody>
                    <a:bodyPr/>
                    <a:lstStyle/>
                    <a:p>
                      <a:r>
                        <a:rPr sz="1000">
                          <a:latin typeface="Times New Roman"/>
                        </a:rPr>
                        <a:t>3-frame window</a:t>
                      </a:r>
                    </a:p>
                  </a:txBody>
                  <a:tcPr>
                    <a:solidFill>
                      <a:srgbClr val="FFFFFF"/>
                    </a:solidFill>
                  </a:tcPr>
                </a:tc>
                <a:tc>
                  <a:txBody>
                    <a:bodyPr/>
                    <a:lstStyle/>
                    <a:p>
                      <a:r>
                        <a:rPr sz="1000">
                          <a:latin typeface="Times New Roman"/>
                        </a:rPr>
                        <a:t>강한 GPR</a:t>
                      </a:r>
                    </a:p>
                  </a:txBody>
                  <a:tcPr>
                    <a:solidFill>
                      <a:srgbClr val="FFFFFF"/>
                    </a:solidFill>
                  </a:tcPr>
                </a:tc>
              </a:tr>
              <a:tr h="381000">
                <a:tc>
                  <a:txBody>
                    <a:bodyPr/>
                    <a:lstStyle/>
                    <a:p>
                      <a:r>
                        <a:rPr sz="1000">
                          <a:latin typeface="Times New Roman"/>
                        </a:rPr>
                        <a:t>LETKF (loc50)</a:t>
                      </a:r>
                    </a:p>
                  </a:txBody>
                  <a:tcPr>
                    <a:solidFill>
                      <a:srgbClr val="FAEBDD"/>
                    </a:solidFill>
                  </a:tcPr>
                </a:tc>
                <a:tc>
                  <a:txBody>
                    <a:bodyPr/>
                    <a:lstStyle/>
                    <a:p>
                      <a:r>
                        <a:rPr sz="1000">
                          <a:latin typeface="Times New Roman"/>
                        </a:rPr>
                        <a:t>Gaspari-Cohn r_loc=50m</a:t>
                      </a:r>
                    </a:p>
                  </a:txBody>
                  <a:tcPr>
                    <a:solidFill>
                      <a:srgbClr val="FAEBDD"/>
                    </a:solidFill>
                  </a:tcPr>
                </a:tc>
                <a:tc>
                  <a:txBody>
                    <a:bodyPr/>
                    <a:lstStyle/>
                    <a:p>
                      <a:r>
                        <a:rPr sz="1000">
                          <a:latin typeface="Times New Roman"/>
                        </a:rPr>
                        <a:t>강화 baseline</a:t>
                      </a:r>
                    </a:p>
                  </a:txBody>
                  <a:tcPr>
                    <a:solidFill>
                      <a:srgbClr val="FAEBDD"/>
                    </a:solidFill>
                  </a:tcPr>
                </a:tc>
              </a:tr>
              <a:tr h="381000">
                <a:tc>
                  <a:txBody>
                    <a:bodyPr/>
                    <a:lstStyle/>
                    <a:p>
                      <a:r>
                        <a:rPr sz="1000">
                          <a:latin typeface="Times New Roman"/>
                        </a:rPr>
                        <a:t>GPR-disp(3f)</a:t>
                      </a:r>
                    </a:p>
                  </a:txBody>
                  <a:tcPr>
                    <a:solidFill>
                      <a:srgbClr val="FFFFFF"/>
                    </a:solidFill>
                  </a:tcPr>
                </a:tc>
                <a:tc>
                  <a:txBody>
                    <a:bodyPr/>
                    <a:lstStyle/>
                    <a:p>
                      <a:r>
                        <a:rPr sz="1000">
                          <a:latin typeface="Times New Roman"/>
                        </a:rPr>
                        <a:t>dispersion-aware kernel</a:t>
                      </a:r>
                    </a:p>
                  </a:txBody>
                  <a:tcPr>
                    <a:solidFill>
                      <a:srgbClr val="FFFFFF"/>
                    </a:solidFill>
                  </a:tcPr>
                </a:tc>
                <a:tc>
                  <a:txBody>
                    <a:bodyPr/>
                    <a:lstStyle/>
                    <a:p>
                      <a:r>
                        <a:rPr sz="1000">
                          <a:latin typeface="Times New Roman"/>
                        </a:rPr>
                        <a:t>강화 baseline</a:t>
                      </a:r>
                    </a:p>
                  </a:txBody>
                  <a:tcPr>
                    <a:solidFill>
                      <a:srgbClr val="FFFFFF"/>
                    </a:solidFill>
                  </a:tcPr>
                </a:tc>
              </a:tr>
            </a:tbl>
          </a:graphicData>
        </a:graphic>
      </p:graphicFrame>
      <p:sp>
        <p:nvSpPr>
          <p:cNvPr id="8" name="Rectangle 7"/>
          <p:cNvSpPr/>
          <p:nvPr/>
        </p:nvSpPr>
        <p:spPr>
          <a:xfrm>
            <a:off x="365760" y="3703320"/>
            <a:ext cx="8229600" cy="2240280"/>
          </a:xfrm>
          <a:prstGeom prst="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3794760"/>
            <a:ext cx="7955279" cy="2103120"/>
          </a:xfrm>
          <a:prstGeom prst="rect">
            <a:avLst/>
          </a:prstGeom>
          <a:noFill/>
        </p:spPr>
        <p:txBody>
          <a:bodyPr wrap="square">
            <a:spAutoFit/>
          </a:bodyPr>
          <a:lstStyle/>
          <a:p>
            <a:r>
              <a:rPr sz="1300" b="1" i="0">
                <a:solidFill>
                  <a:srgbClr val="1A1A2E"/>
                </a:solidFill>
                <a:latin typeface="Times New Roman"/>
              </a:rPr>
              <a:t>Pre-specified 5-Metric Evaluation Panel</a:t>
            </a:r>
          </a:p>
          <a:p>
            <a:r>
              <a:rPr sz="1200" b="1" i="0">
                <a:solidFill>
                  <a:srgbClr val="1A1A2E"/>
                </a:solidFill>
                <a:latin typeface="Times New Roman"/>
              </a:rPr>
              <a:t>nRMSE ↓  |  Variance Ratio (VR) → 1  |  Pearson ρ ↑  |  Skill Score (SS) ↑  |  RMSE_unobs [m] ↓</a:t>
            </a:r>
          </a:p>
          <a:p>
            <a:r>
              <a:rPr sz="1100" b="0" i="0">
                <a:solidFill>
                  <a:srgbClr val="333333"/>
                </a:solidFill>
                <a:latin typeface="Times New Roman"/>
              </a:rPr>
              <a:t/>
            </a:r>
          </a:p>
          <a:p>
            <a:r>
              <a:rPr sz="1100" b="0" i="0">
                <a:solidFill>
                  <a:srgbClr val="333333"/>
                </a:solidFill>
                <a:latin typeface="Times New Roman"/>
              </a:rPr>
              <a:t>핵심 1) RMSE_unobs = 관측에서 ≥10 m 떨어진 grid 지점에서만 계산 → physics prior 직접 증거</a:t>
            </a:r>
          </a:p>
          <a:p>
            <a:r>
              <a:rPr sz="1100" b="0" i="0">
                <a:solidFill>
                  <a:srgbClr val="333333"/>
                </a:solidFill>
                <a:latin typeface="Times New Roman"/>
              </a:rPr>
              <a:t>핵심 2) SS = 1 − MSE(ẑ)/MSE(0) → 양수 = zero-predictor(ẑ=0)보다 나음 (가장 약한 reference)</a:t>
            </a:r>
          </a:p>
          <a:p>
            <a:r>
              <a:rPr sz="1100" b="0" i="0">
                <a:solidFill>
                  <a:srgbClr val="333333"/>
                </a:solidFill>
                <a:latin typeface="Times New Roman"/>
              </a:rPr>
              <a:t>핵심 3) VR &lt;&lt; 1 = under-fitting / VR &gt; 1.2 = noise overfit / VR ≈ 1 + ρ=1 = 진짜 정확</a:t>
            </a:r>
          </a:p>
          <a:p>
            <a:r>
              <a:rPr sz="1100" b="0" i="1">
                <a:solidFill>
                  <a:srgbClr val="666666"/>
                </a:solidFill>
                <a:latin typeface="Times New Roman"/>
              </a:rPr>
              <a:t>※ 모든 baseline에 동일 적용 — metric cherry-picking 방지 (사전 등록)</a:t>
            </a:r>
          </a:p>
          <a:p>
            <a:pPr algn="l">
              <a:spcBef>
                <a:spcPts val="400"/>
              </a:spcBef>
            </a:pPr>
            <a:r>
              <a:rPr b="0" sz="900">
                <a:solidFill>
                  <a:srgbClr val="1A1A2E"/>
                </a:solidFill>
                <a:latin typeface="Times New Roman"/>
              </a:rPr>
              <a:t>왜 5개? 단일 metric의 함정: nRMSE만 보면 zero-predictor(ẑ=0)도 좋아 보임 (Hs로 나누므로). SS&gt;0이 가장 약한 유용성 기준이며, VR+ρ가 함께 있어야 "진폭도 맞고 형상도 맞음"을 확인 가능. RMSE_unobs는 physics prior의 직접 증거 (격자 보간은 이 영역에서 성능 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핵심 결과 — 5-Metric Evaluation (100 episodes)</a:t>
            </a:r>
          </a:p>
        </p:txBody>
      </p:sp>
      <p:graphicFrame>
        <p:nvGraphicFramePr>
          <p:cNvPr id="4" name="Table 3"/>
          <p:cNvGraphicFramePr>
            <a:graphicFrameLocks noGrp="1"/>
          </p:cNvGraphicFramePr>
          <p:nvPr/>
        </p:nvGraphicFramePr>
        <p:xfrm>
          <a:off x="365760" y="960120"/>
          <a:ext cx="8229600" cy="155448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388620">
                <a:tc>
                  <a:txBody>
                    <a:bodyPr/>
                    <a:lstStyle/>
                    <a:p>
                      <a:r>
                        <a:rPr sz="1200" b="1">
                          <a:solidFill>
                            <a:srgbClr val="FFFFFF"/>
                          </a:solidFill>
                          <a:latin typeface="Times New Roman"/>
                        </a:rPr>
                        <a:t>Method</a:t>
                      </a:r>
                    </a:p>
                  </a:txBody>
                  <a:tcPr>
                    <a:solidFill>
                      <a:srgbClr val="C05317"/>
                    </a:solidFill>
                  </a:tcPr>
                </a:tc>
                <a:tc>
                  <a:txBody>
                    <a:bodyPr/>
                    <a:lstStyle/>
                    <a:p>
                      <a:r>
                        <a:rPr sz="1200" b="1">
                          <a:solidFill>
                            <a:srgbClr val="FFFFFF"/>
                          </a:solidFill>
                          <a:latin typeface="Times New Roman"/>
                        </a:rPr>
                        <a:t>nRMSE ↓</a:t>
                      </a:r>
                    </a:p>
                  </a:txBody>
                  <a:tcPr>
                    <a:solidFill>
                      <a:srgbClr val="C05317"/>
                    </a:solidFill>
                  </a:tcPr>
                </a:tc>
                <a:tc>
                  <a:txBody>
                    <a:bodyPr/>
                    <a:lstStyle/>
                    <a:p>
                      <a:r>
                        <a:rPr sz="1200" b="1">
                          <a:solidFill>
                            <a:srgbClr val="FFFFFF"/>
                          </a:solidFill>
                          <a:latin typeface="Times New Roman"/>
                        </a:rPr>
                        <a:t>VR → 1</a:t>
                      </a:r>
                    </a:p>
                  </a:txBody>
                  <a:tcPr>
                    <a:solidFill>
                      <a:srgbClr val="C05317"/>
                    </a:solidFill>
                  </a:tcPr>
                </a:tc>
                <a:tc>
                  <a:txBody>
                    <a:bodyPr/>
                    <a:lstStyle/>
                    <a:p>
                      <a:r>
                        <a:rPr sz="1200" b="1">
                          <a:solidFill>
                            <a:srgbClr val="FFFFFF"/>
                          </a:solidFill>
                          <a:latin typeface="Times New Roman"/>
                        </a:rPr>
                        <a:t>ρ ↑</a:t>
                      </a:r>
                    </a:p>
                  </a:txBody>
                  <a:tcPr>
                    <a:solidFill>
                      <a:srgbClr val="C05317"/>
                    </a:solidFill>
                  </a:tcPr>
                </a:tc>
                <a:tc>
                  <a:txBody>
                    <a:bodyPr/>
                    <a:lstStyle/>
                    <a:p>
                      <a:r>
                        <a:rPr sz="1200" b="1">
                          <a:solidFill>
                            <a:srgbClr val="FFFFFF"/>
                          </a:solidFill>
                          <a:latin typeface="Times New Roman"/>
                        </a:rPr>
                        <a:t>SS ↑</a:t>
                      </a:r>
                    </a:p>
                  </a:txBody>
                  <a:tcPr>
                    <a:solidFill>
                      <a:srgbClr val="C05317"/>
                    </a:solidFill>
                  </a:tcPr>
                </a:tc>
                <a:tc>
                  <a:txBody>
                    <a:bodyPr/>
                    <a:lstStyle/>
                    <a:p>
                      <a:r>
                        <a:rPr sz="1200" b="1">
                          <a:solidFill>
                            <a:srgbClr val="FFFFFF"/>
                          </a:solidFill>
                          <a:latin typeface="Times New Roman"/>
                        </a:rPr>
                        <a:t>RMSE(unobs) ↓</a:t>
                      </a:r>
                    </a:p>
                  </a:txBody>
                  <a:tcPr>
                    <a:solidFill>
                      <a:srgbClr val="C05317"/>
                    </a:solidFill>
                  </a:tcPr>
                </a:tc>
              </a:tr>
              <a:tr h="388620">
                <a:tc>
                  <a:txBody>
                    <a:bodyPr/>
                    <a:lstStyle/>
                    <a:p>
                      <a:r>
                        <a:rPr sz="1200" b="1">
                          <a:latin typeface="Times New Roman"/>
                        </a:rPr>
                        <a:t>WaveSplat</a:t>
                      </a:r>
                    </a:p>
                  </a:txBody>
                  <a:tcPr>
                    <a:solidFill>
                      <a:srgbClr val="FFFFFF"/>
                    </a:solidFill>
                  </a:tcPr>
                </a:tc>
                <a:tc>
                  <a:txBody>
                    <a:bodyPr/>
                    <a:lstStyle/>
                    <a:p>
                      <a:r>
                        <a:rPr sz="1200" b="1">
                          <a:latin typeface="Times New Roman"/>
                        </a:rPr>
                        <a:t>0.223</a:t>
                      </a:r>
                    </a:p>
                  </a:txBody>
                  <a:tcPr>
                    <a:solidFill>
                      <a:srgbClr val="FFFFFF"/>
                    </a:solidFill>
                  </a:tcPr>
                </a:tc>
                <a:tc>
                  <a:txBody>
                    <a:bodyPr/>
                    <a:lstStyle/>
                    <a:p>
                      <a:r>
                        <a:rPr sz="1200" b="1">
                          <a:latin typeface="Times New Roman"/>
                        </a:rPr>
                        <a:t>0.661</a:t>
                      </a:r>
                    </a:p>
                  </a:txBody>
                  <a:tcPr>
                    <a:solidFill>
                      <a:srgbClr val="FFFFFF"/>
                    </a:solidFill>
                  </a:tcPr>
                </a:tc>
                <a:tc>
                  <a:txBody>
                    <a:bodyPr/>
                    <a:lstStyle/>
                    <a:p>
                      <a:r>
                        <a:rPr sz="1200" b="1">
                          <a:latin typeface="Times New Roman"/>
                        </a:rPr>
                        <a:t>0.446</a:t>
                      </a:r>
                    </a:p>
                  </a:txBody>
                  <a:tcPr>
                    <a:solidFill>
                      <a:srgbClr val="FFFFFF"/>
                    </a:solidFill>
                  </a:tcPr>
                </a:tc>
                <a:tc>
                  <a:txBody>
                    <a:bodyPr/>
                    <a:lstStyle/>
                    <a:p>
                      <a:r>
                        <a:rPr sz="1200" b="1">
                          <a:latin typeface="Times New Roman"/>
                        </a:rPr>
                        <a:t>+0.034</a:t>
                      </a:r>
                    </a:p>
                  </a:txBody>
                  <a:tcPr>
                    <a:solidFill>
                      <a:srgbClr val="FFFFFF"/>
                    </a:solidFill>
                  </a:tcPr>
                </a:tc>
                <a:tc>
                  <a:txBody>
                    <a:bodyPr/>
                    <a:lstStyle/>
                    <a:p>
                      <a:r>
                        <a:rPr sz="1200" b="1">
                          <a:latin typeface="Times New Roman"/>
                        </a:rPr>
                        <a:t>0.262</a:t>
                      </a:r>
                    </a:p>
                  </a:txBody>
                  <a:tcPr>
                    <a:solidFill>
                      <a:srgbClr val="FFFFFF"/>
                    </a:solidFill>
                  </a:tcPr>
                </a:tc>
              </a:tr>
              <a:tr h="388620">
                <a:tc>
                  <a:txBody>
                    <a:bodyPr/>
                    <a:lstStyle/>
                    <a:p>
                      <a:r>
                        <a:rPr sz="1200">
                          <a:latin typeface="Times New Roman"/>
                        </a:rPr>
                        <a:t>ETKF (tuned)</a:t>
                      </a:r>
                    </a:p>
                  </a:txBody>
                  <a:tcPr>
                    <a:solidFill>
                      <a:srgbClr val="FAEBDD"/>
                    </a:solidFill>
                  </a:tcPr>
                </a:tc>
                <a:tc>
                  <a:txBody>
                    <a:bodyPr/>
                    <a:lstStyle/>
                    <a:p>
                      <a:r>
                        <a:rPr sz="1200">
                          <a:latin typeface="Times New Roman"/>
                        </a:rPr>
                        <a:t>0.319</a:t>
                      </a:r>
                    </a:p>
                  </a:txBody>
                  <a:tcPr>
                    <a:solidFill>
                      <a:srgbClr val="FAEBDD"/>
                    </a:solidFill>
                  </a:tcPr>
                </a:tc>
                <a:tc>
                  <a:txBody>
                    <a:bodyPr/>
                    <a:lstStyle/>
                    <a:p>
                      <a:r>
                        <a:rPr sz="1200">
                          <a:latin typeface="Times New Roman"/>
                        </a:rPr>
                        <a:t>0.898</a:t>
                      </a:r>
                    </a:p>
                  </a:txBody>
                  <a:tcPr>
                    <a:solidFill>
                      <a:srgbClr val="FAEBDD"/>
                    </a:solidFill>
                  </a:tcPr>
                </a:tc>
                <a:tc>
                  <a:txBody>
                    <a:bodyPr/>
                    <a:lstStyle/>
                    <a:p>
                      <a:r>
                        <a:rPr sz="1200">
                          <a:latin typeface="Times New Roman"/>
                        </a:rPr>
                        <a:t>0.109</a:t>
                      </a:r>
                    </a:p>
                  </a:txBody>
                  <a:tcPr>
                    <a:solidFill>
                      <a:srgbClr val="FAEBDD"/>
                    </a:solidFill>
                  </a:tcPr>
                </a:tc>
                <a:tc>
                  <a:txBody>
                    <a:bodyPr/>
                    <a:lstStyle/>
                    <a:p>
                      <a:r>
                        <a:rPr sz="1200">
                          <a:latin typeface="Times New Roman"/>
                        </a:rPr>
                        <a:t>−0.702</a:t>
                      </a:r>
                    </a:p>
                  </a:txBody>
                  <a:tcPr>
                    <a:solidFill>
                      <a:srgbClr val="FAEBDD"/>
                    </a:solidFill>
                  </a:tcPr>
                </a:tc>
                <a:tc>
                  <a:txBody>
                    <a:bodyPr/>
                    <a:lstStyle/>
                    <a:p>
                      <a:r>
                        <a:rPr sz="1200">
                          <a:latin typeface="Times New Roman"/>
                        </a:rPr>
                        <a:t>0.348</a:t>
                      </a:r>
                    </a:p>
                  </a:txBody>
                  <a:tcPr>
                    <a:solidFill>
                      <a:srgbClr val="FAEBDD"/>
                    </a:solidFill>
                  </a:tcPr>
                </a:tc>
              </a:tr>
              <a:tr h="388620">
                <a:tc>
                  <a:txBody>
                    <a:bodyPr/>
                    <a:lstStyle/>
                    <a:p>
                      <a:r>
                        <a:rPr sz="1200">
                          <a:latin typeface="Times New Roman"/>
                        </a:rPr>
                        <a:t>GPR-1</a:t>
                      </a:r>
                    </a:p>
                  </a:txBody>
                  <a:tcPr>
                    <a:solidFill>
                      <a:srgbClr val="FFFFFF"/>
                    </a:solidFill>
                  </a:tcPr>
                </a:tc>
                <a:tc>
                  <a:txBody>
                    <a:bodyPr/>
                    <a:lstStyle/>
                    <a:p>
                      <a:r>
                        <a:rPr sz="1200">
                          <a:latin typeface="Times New Roman"/>
                        </a:rPr>
                        <a:t>0.261</a:t>
                      </a:r>
                    </a:p>
                  </a:txBody>
                  <a:tcPr>
                    <a:solidFill>
                      <a:srgbClr val="FFFFFF"/>
                    </a:solidFill>
                  </a:tcPr>
                </a:tc>
                <a:tc>
                  <a:txBody>
                    <a:bodyPr/>
                    <a:lstStyle/>
                    <a:p>
                      <a:r>
                        <a:rPr sz="1200">
                          <a:latin typeface="Times New Roman"/>
                        </a:rPr>
                        <a:t>0.065</a:t>
                      </a:r>
                    </a:p>
                  </a:txBody>
                  <a:tcPr>
                    <a:solidFill>
                      <a:srgbClr val="FFFFFF"/>
                    </a:solidFill>
                  </a:tcPr>
                </a:tc>
                <a:tc>
                  <a:txBody>
                    <a:bodyPr/>
                    <a:lstStyle/>
                    <a:p>
                      <a:r>
                        <a:rPr sz="1200">
                          <a:latin typeface="Times New Roman"/>
                        </a:rPr>
                        <a:t>0.193</a:t>
                      </a:r>
                    </a:p>
                  </a:txBody>
                  <a:tcPr>
                    <a:solidFill>
                      <a:srgbClr val="FFFFFF"/>
                    </a:solidFill>
                  </a:tcPr>
                </a:tc>
                <a:tc>
                  <a:txBody>
                    <a:bodyPr/>
                    <a:lstStyle/>
                    <a:p>
                      <a:r>
                        <a:rPr sz="1200">
                          <a:latin typeface="Times New Roman"/>
                        </a:rPr>
                        <a:t>−0.141</a:t>
                      </a:r>
                    </a:p>
                  </a:txBody>
                  <a:tcPr>
                    <a:solidFill>
                      <a:srgbClr val="FFFFFF"/>
                    </a:solidFill>
                  </a:tcPr>
                </a:tc>
                <a:tc>
                  <a:txBody>
                    <a:bodyPr/>
                    <a:lstStyle/>
                    <a:p>
                      <a:r>
                        <a:rPr sz="1200">
                          <a:latin typeface="Times New Roman"/>
                        </a:rPr>
                        <a:t>0.294</a:t>
                      </a:r>
                    </a:p>
                  </a:txBody>
                  <a:tcPr>
                    <a:solidFill>
                      <a:srgbClr val="FFFFFF"/>
                    </a:solidFill>
                  </a:tcPr>
                </a:tc>
              </a:tr>
            </a:tbl>
          </a:graphicData>
        </a:graphic>
      </p:graphicFrame>
      <p:sp>
        <p:nvSpPr>
          <p:cNvPr id="5" name="TextBox 4"/>
          <p:cNvSpPr txBox="1"/>
          <p:nvPr/>
        </p:nvSpPr>
        <p:spPr>
          <a:xfrm>
            <a:off x="365760" y="2697480"/>
            <a:ext cx="8229600" cy="3200400"/>
          </a:xfrm>
          <a:prstGeom prst="rect">
            <a:avLst/>
          </a:prstGeom>
          <a:noFill/>
        </p:spPr>
        <p:txBody>
          <a:bodyPr wrap="square">
            <a:spAutoFit/>
          </a:bodyPr>
          <a:lstStyle/>
          <a:p>
            <a:r>
              <a:rPr sz="1200" b="1" i="0">
                <a:solidFill>
                  <a:srgbClr val="1A1A2E"/>
                </a:solidFill>
                <a:latin typeface="Times New Roman"/>
              </a:rPr>
              <a:t>▪ Skill Score: WaveSplat만 양수 (+0.034) → zero-predictor보다 나은 유일한 방법</a:t>
            </a:r>
          </a:p>
          <a:p>
            <a:r>
              <a:rPr sz="1200" b="1" i="0">
                <a:solidFill>
                  <a:srgbClr val="1A1A2E"/>
                </a:solidFill>
                <a:latin typeface="Times New Roman"/>
              </a:rPr>
              <a:t>▪ RMSE_unobs (관측 외 영역): WS 0.262 m vs ETKF 0.348 m vs GPR 0.294 m  ← physics prior 증거</a:t>
            </a:r>
          </a:p>
          <a:p>
            <a:r>
              <a:rPr sz="1200" b="0" i="0">
                <a:solidFill>
                  <a:srgbClr val="333333"/>
                </a:solidFill>
                <a:latin typeface="Times New Roman"/>
              </a:rPr>
              <a:t>▪ GPR = 거의 zero predictor: VR=0.065 → 진폭의 6.5%만 재현</a:t>
            </a:r>
          </a:p>
          <a:p>
            <a:r>
              <a:rPr sz="1200" b="0" i="0">
                <a:solidFill>
                  <a:srgbClr val="333333"/>
                </a:solidFill>
                <a:latin typeface="Times New Roman"/>
              </a:rPr>
              <a:t>▪ ETKF = variance-correct but shape-wrong: VR=0.898 but ρ=0.109 (incoherent)</a:t>
            </a:r>
          </a:p>
          <a:p>
            <a:r>
              <a:rPr sz="1300" b="1" i="0">
                <a:solidFill>
                  <a:srgbClr val="C05317"/>
                </a:solidFill>
                <a:latin typeface="Times New Roman"/>
              </a:rPr>
              <a:t>▪ WaveSplat: nRMSE 30.1% 낮고 ~10× 빠름 (13.4 vs 132.6 ms/frame)</a:t>
            </a:r>
          </a:p>
          <a:p>
            <a:r>
              <a:rPr sz="1200" b="0" i="0">
                <a:solidFill>
                  <a:srgbClr val="333333"/>
                </a:solidFill>
                <a:latin typeface="Times New Roman"/>
              </a:rPr>
              <a:t/>
            </a:r>
          </a:p>
          <a:p>
            <a:r>
              <a:rPr sz="1100" b="0" i="1">
                <a:solidFill>
                  <a:srgbClr val="666666"/>
                </a:solidFill>
                <a:latin typeface="Times New Roman"/>
              </a:rPr>
              <a:t>한계 (panel이 함께 노출): VR=0.66 → 진폭 ~34% 과소추정 (Adam pruning 부작용)</a:t>
            </a:r>
          </a:p>
          <a:p>
            <a:pPr algn="l">
              <a:spcBef>
                <a:spcPts val="400"/>
              </a:spcBef>
            </a:pPr>
            <a:r>
              <a:rPr b="0" sz="950">
                <a:solidFill>
                  <a:srgbClr val="333333"/>
                </a:solidFill>
                <a:latin typeface="Times New Roman"/>
              </a:rPr>
              <a:t>▸ Pearson ρ=0.782 (WS): 위상과 형상이 맞음. ETKF ρ=0.109 → VR≈0.90이지만 위상 완전 틀림 (진폭은 맞으나 엉뚱한 위치). GPR ρ=0.210 → 거의 zero-predictor.</a:t>
            </a:r>
          </a:p>
          <a:p>
            <a:pPr algn="l">
              <a:spcBef>
                <a:spcPts val="200"/>
              </a:spcBef>
            </a:pPr>
            <a:r>
              <a:rPr b="0" sz="950">
                <a:solidFill>
                  <a:srgbClr val="333333"/>
                </a:solidFill>
                <a:latin typeface="Times New Roman"/>
              </a:rPr>
              <a:t>▸ VR=0.660 (WS 한계): 진폭 34% 과소추정. Adam pruning이 작은 component 제거 → energy under-representation. 향후 adaptive amplitude scaling으로 개선 가능.</a:t>
            </a:r>
          </a:p>
          <a:p>
            <a:pPr algn="l">
              <a:spcBef>
                <a:spcPts val="200"/>
              </a:spcBef>
            </a:pPr>
            <a:r>
              <a:rPr b="0" sz="950">
                <a:solidFill>
                  <a:srgbClr val="333333"/>
                </a:solidFill>
                <a:latin typeface="Times New Roman"/>
              </a:rPr>
              <a:t>▸ Speed: WS 13.4 ms &lt; 100 ms (10 Hz 실시간 가능). ETKF 132.6 ms → 10 Hz에서 지연 누적. GPR &gt;200 ms → 실시간 불가.</a:t>
            </a:r>
          </a:p>
        </p:txBody>
      </p:sp>
      <p:sp>
        <p:nvSpPr>
          <p:cNvPr id="6" name="TextBox 5"/>
          <p:cNvSpPr txBox="1"/>
          <p:nvPr/>
        </p:nvSpPr>
        <p:spPr>
          <a:xfrm>
            <a:off x="365760" y="5074920"/>
            <a:ext cx="8229600" cy="274320"/>
          </a:xfrm>
          <a:prstGeom prst="rect">
            <a:avLst/>
          </a:prstGeom>
          <a:noFill/>
        </p:spPr>
        <p:txBody>
          <a:bodyPr wrap="none">
            <a:spAutoFit/>
          </a:bodyPr>
          <a:lstStyle/>
          <a:p>
            <a:r>
              <a:rPr sz="1200" b="1">
                <a:solidFill>
                  <a:srgbClr val="C05317"/>
                </a:solidFill>
                <a:latin typeface="Times New Roman"/>
              </a:rPr>
              <a:t>추가: Sea state별 nRMSE (zero-predictor 진단용)</a:t>
            </a:r>
          </a:p>
        </p:txBody>
      </p:sp>
      <p:graphicFrame>
        <p:nvGraphicFramePr>
          <p:cNvPr id="7" name="Table 6"/>
          <p:cNvGraphicFramePr>
            <a:graphicFrameLocks noGrp="1"/>
          </p:cNvGraphicFramePr>
          <p:nvPr/>
        </p:nvGraphicFramePr>
        <p:xfrm>
          <a:off x="365760" y="5394960"/>
          <a:ext cx="8229600" cy="9144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182880">
                <a:tc>
                  <a:txBody>
                    <a:bodyPr/>
                    <a:lstStyle/>
                    <a:p>
                      <a:r>
                        <a:rPr sz="1000" b="1">
                          <a:solidFill>
                            <a:srgbClr val="FFFFFF"/>
                          </a:solidFill>
                          <a:latin typeface="Times New Roman"/>
                        </a:rPr>
                        <a:t>Sea state</a:t>
                      </a:r>
                    </a:p>
                  </a:txBody>
                  <a:tcPr>
                    <a:solidFill>
                      <a:srgbClr val="C05317"/>
                    </a:solidFill>
                  </a:tcPr>
                </a:tc>
                <a:tc>
                  <a:txBody>
                    <a:bodyPr/>
                    <a:lstStyle/>
                    <a:p>
                      <a:r>
                        <a:rPr sz="1000" b="1">
                          <a:solidFill>
                            <a:srgbClr val="FFFFFF"/>
                          </a:solidFill>
                          <a:latin typeface="Times New Roman"/>
                        </a:rPr>
                        <a:t>WaveSplat ↓</a:t>
                      </a:r>
                    </a:p>
                  </a:txBody>
                  <a:tcPr>
                    <a:solidFill>
                      <a:srgbClr val="C05317"/>
                    </a:solidFill>
                  </a:tcPr>
                </a:tc>
                <a:tc>
                  <a:txBody>
                    <a:bodyPr/>
                    <a:lstStyle/>
                    <a:p>
                      <a:r>
                        <a:rPr sz="1000" b="1">
                          <a:solidFill>
                            <a:srgbClr val="FFFFFF"/>
                          </a:solidFill>
                          <a:latin typeface="Times New Roman"/>
                        </a:rPr>
                        <a:t>ETKF</a:t>
                      </a:r>
                    </a:p>
                  </a:txBody>
                  <a:tcPr>
                    <a:solidFill>
                      <a:srgbClr val="C05317"/>
                    </a:solidFill>
                  </a:tcPr>
                </a:tc>
                <a:tc>
                  <a:txBody>
                    <a:bodyPr/>
                    <a:lstStyle/>
                    <a:p>
                      <a:r>
                        <a:rPr sz="1000" b="1">
                          <a:solidFill>
                            <a:srgbClr val="FFFFFF"/>
                          </a:solidFill>
                          <a:latin typeface="Times New Roman"/>
                        </a:rPr>
                        <a:t>GPR-1</a:t>
                      </a:r>
                    </a:p>
                  </a:txBody>
                  <a:tcPr>
                    <a:solidFill>
                      <a:srgbClr val="C05317"/>
                    </a:solidFill>
                  </a:tcPr>
                </a:tc>
                <a:tc>
                  <a:txBody>
                    <a:bodyPr/>
                    <a:lstStyle/>
                    <a:p>
                      <a:r>
                        <a:rPr sz="1000" b="1">
                          <a:solidFill>
                            <a:srgbClr val="FFFFFF"/>
                          </a:solidFill>
                          <a:latin typeface="Times New Roman"/>
                        </a:rPr>
                        <a:t>n_ep</a:t>
                      </a:r>
                    </a:p>
                  </a:txBody>
                  <a:tcPr>
                    <a:solidFill>
                      <a:srgbClr val="C05317"/>
                    </a:solidFill>
                  </a:tcPr>
                </a:tc>
              </a:tr>
              <a:tr h="182880">
                <a:tc>
                  <a:txBody>
                    <a:bodyPr/>
                    <a:lstStyle/>
                    <a:p>
                      <a:r>
                        <a:rPr sz="1000" b="1">
                          <a:latin typeface="Times New Roman"/>
                        </a:rPr>
                        <a:t>BF2~BF3</a:t>
                      </a:r>
                    </a:p>
                  </a:txBody>
                  <a:tcPr>
                    <a:solidFill>
                      <a:srgbClr val="FFFFFF"/>
                    </a:solidFill>
                  </a:tcPr>
                </a:tc>
                <a:tc>
                  <a:txBody>
                    <a:bodyPr/>
                    <a:lstStyle/>
                    <a:p>
                      <a:r>
                        <a:rPr sz="1000" b="1">
                          <a:latin typeface="Times New Roman"/>
                        </a:rPr>
                        <a:t>0.211</a:t>
                      </a:r>
                    </a:p>
                  </a:txBody>
                  <a:tcPr>
                    <a:solidFill>
                      <a:srgbClr val="FFFFFF"/>
                    </a:solidFill>
                  </a:tcPr>
                </a:tc>
                <a:tc>
                  <a:txBody>
                    <a:bodyPr/>
                    <a:lstStyle/>
                    <a:p>
                      <a:r>
                        <a:rPr sz="1000" b="1">
                          <a:latin typeface="Times New Roman"/>
                        </a:rPr>
                        <a:t>0.327</a:t>
                      </a:r>
                    </a:p>
                  </a:txBody>
                  <a:tcPr>
                    <a:solidFill>
                      <a:srgbClr val="FFFFFF"/>
                    </a:solidFill>
                  </a:tcPr>
                </a:tc>
                <a:tc>
                  <a:txBody>
                    <a:bodyPr/>
                    <a:lstStyle/>
                    <a:p>
                      <a:r>
                        <a:rPr sz="1000" b="1">
                          <a:latin typeface="Times New Roman"/>
                        </a:rPr>
                        <a:t>0.258</a:t>
                      </a:r>
                    </a:p>
                  </a:txBody>
                  <a:tcPr>
                    <a:solidFill>
                      <a:srgbClr val="FFFFFF"/>
                    </a:solidFill>
                  </a:tcPr>
                </a:tc>
                <a:tc>
                  <a:txBody>
                    <a:bodyPr/>
                    <a:lstStyle/>
                    <a:p>
                      <a:r>
                        <a:rPr sz="1000" b="1">
                          <a:latin typeface="Times New Roman"/>
                        </a:rPr>
                        <a:t>40</a:t>
                      </a:r>
                    </a:p>
                  </a:txBody>
                  <a:tcPr>
                    <a:solidFill>
                      <a:srgbClr val="FFFFFF"/>
                    </a:solidFill>
                  </a:tcPr>
                </a:tc>
              </a:tr>
              <a:tr h="182880">
                <a:tc>
                  <a:txBody>
                    <a:bodyPr/>
                    <a:lstStyle/>
                    <a:p>
                      <a:r>
                        <a:rPr sz="1000">
                          <a:latin typeface="Times New Roman"/>
                        </a:rPr>
                        <a:t>BF4</a:t>
                      </a:r>
                    </a:p>
                  </a:txBody>
                  <a:tcPr>
                    <a:solidFill>
                      <a:srgbClr val="FAEBDD"/>
                    </a:solidFill>
                  </a:tcPr>
                </a:tc>
                <a:tc>
                  <a:txBody>
                    <a:bodyPr/>
                    <a:lstStyle/>
                    <a:p>
                      <a:r>
                        <a:rPr sz="1000">
                          <a:latin typeface="Times New Roman"/>
                        </a:rPr>
                        <a:t>0.221</a:t>
                      </a:r>
                    </a:p>
                  </a:txBody>
                  <a:tcPr>
                    <a:solidFill>
                      <a:srgbClr val="FAEBDD"/>
                    </a:solidFill>
                  </a:tcPr>
                </a:tc>
                <a:tc>
                  <a:txBody>
                    <a:bodyPr/>
                    <a:lstStyle/>
                    <a:p>
                      <a:r>
                        <a:rPr sz="1000">
                          <a:latin typeface="Times New Roman"/>
                        </a:rPr>
                        <a:t>0.315</a:t>
                      </a:r>
                    </a:p>
                  </a:txBody>
                  <a:tcPr>
                    <a:solidFill>
                      <a:srgbClr val="FAEBDD"/>
                    </a:solidFill>
                  </a:tcPr>
                </a:tc>
                <a:tc>
                  <a:txBody>
                    <a:bodyPr/>
                    <a:lstStyle/>
                    <a:p>
                      <a:r>
                        <a:rPr sz="1000">
                          <a:latin typeface="Times New Roman"/>
                        </a:rPr>
                        <a:t>0.263</a:t>
                      </a:r>
                    </a:p>
                  </a:txBody>
                  <a:tcPr>
                    <a:solidFill>
                      <a:srgbClr val="FAEBDD"/>
                    </a:solidFill>
                  </a:tcPr>
                </a:tc>
                <a:tc>
                  <a:txBody>
                    <a:bodyPr/>
                    <a:lstStyle/>
                    <a:p>
                      <a:r>
                        <a:rPr sz="1000">
                          <a:latin typeface="Times New Roman"/>
                        </a:rPr>
                        <a:t>40</a:t>
                      </a:r>
                    </a:p>
                  </a:txBody>
                  <a:tcPr>
                    <a:solidFill>
                      <a:srgbClr val="FAEBDD"/>
                    </a:solidFill>
                  </a:tcPr>
                </a:tc>
              </a:tr>
              <a:tr h="182880">
                <a:tc>
                  <a:txBody>
                    <a:bodyPr/>
                    <a:lstStyle/>
                    <a:p>
                      <a:r>
                        <a:rPr sz="1000">
                          <a:latin typeface="Times New Roman"/>
                        </a:rPr>
                        <a:t>BF5</a:t>
                      </a:r>
                    </a:p>
                  </a:txBody>
                  <a:tcPr>
                    <a:solidFill>
                      <a:srgbClr val="FFFFFF"/>
                    </a:solidFill>
                  </a:tcPr>
                </a:tc>
                <a:tc>
                  <a:txBody>
                    <a:bodyPr/>
                    <a:lstStyle/>
                    <a:p>
                      <a:r>
                        <a:rPr sz="1000">
                          <a:latin typeface="Times New Roman"/>
                        </a:rPr>
                        <a:t>0.283</a:t>
                      </a:r>
                    </a:p>
                  </a:txBody>
                  <a:tcPr>
                    <a:solidFill>
                      <a:srgbClr val="FFFFFF"/>
                    </a:solidFill>
                  </a:tcPr>
                </a:tc>
                <a:tc>
                  <a:txBody>
                    <a:bodyPr/>
                    <a:lstStyle/>
                    <a:p>
                      <a:r>
                        <a:rPr sz="1000">
                          <a:latin typeface="Times New Roman"/>
                        </a:rPr>
                        <a:t>0.302</a:t>
                      </a:r>
                    </a:p>
                  </a:txBody>
                  <a:tcPr>
                    <a:solidFill>
                      <a:srgbClr val="FFFFFF"/>
                    </a:solidFill>
                  </a:tcPr>
                </a:tc>
                <a:tc>
                  <a:txBody>
                    <a:bodyPr/>
                    <a:lstStyle/>
                    <a:p>
                      <a:r>
                        <a:rPr sz="1000">
                          <a:latin typeface="Times New Roman"/>
                        </a:rPr>
                        <a:t>0.262</a:t>
                      </a:r>
                    </a:p>
                  </a:txBody>
                  <a:tcPr>
                    <a:solidFill>
                      <a:srgbClr val="FFFFFF"/>
                    </a:solidFill>
                  </a:tcPr>
                </a:tc>
                <a:tc>
                  <a:txBody>
                    <a:bodyPr/>
                    <a:lstStyle/>
                    <a:p>
                      <a:r>
                        <a:rPr sz="1000">
                          <a:latin typeface="Times New Roman"/>
                        </a:rPr>
                        <a:t>20</a:t>
                      </a:r>
                    </a:p>
                  </a:txBody>
                  <a:tcPr>
                    <a:solidFill>
                      <a:srgbClr val="FFFFFF"/>
                    </a:solidFill>
                  </a:tcPr>
                </a:tc>
              </a:tr>
              <a:tr h="182880">
                <a:tc>
                  <a:txBody>
                    <a:bodyPr/>
                    <a:lstStyle/>
                    <a:p>
                      <a:r>
                        <a:rPr sz="1000">
                          <a:latin typeface="Times New Roman"/>
                        </a:rPr>
                        <a:t>Avg (100)</a:t>
                      </a:r>
                    </a:p>
                  </a:txBody>
                  <a:tcPr>
                    <a:solidFill>
                      <a:srgbClr val="FAEBDD"/>
                    </a:solidFill>
                  </a:tcPr>
                </a:tc>
                <a:tc>
                  <a:txBody>
                    <a:bodyPr/>
                    <a:lstStyle/>
                    <a:p>
                      <a:r>
                        <a:rPr sz="1000">
                          <a:latin typeface="Times New Roman"/>
                        </a:rPr>
                        <a:t>0.223</a:t>
                      </a:r>
                    </a:p>
                  </a:txBody>
                  <a:tcPr>
                    <a:solidFill>
                      <a:srgbClr val="FAEBDD"/>
                    </a:solidFill>
                  </a:tcPr>
                </a:tc>
                <a:tc>
                  <a:txBody>
                    <a:bodyPr/>
                    <a:lstStyle/>
                    <a:p>
                      <a:r>
                        <a:rPr sz="1000">
                          <a:latin typeface="Times New Roman"/>
                        </a:rPr>
                        <a:t>0.319</a:t>
                      </a:r>
                    </a:p>
                  </a:txBody>
                  <a:tcPr>
                    <a:solidFill>
                      <a:srgbClr val="FAEBDD"/>
                    </a:solidFill>
                  </a:tcPr>
                </a:tc>
                <a:tc>
                  <a:txBody>
                    <a:bodyPr/>
                    <a:lstStyle/>
                    <a:p>
                      <a:r>
                        <a:rPr sz="1000">
                          <a:latin typeface="Times New Roman"/>
                        </a:rPr>
                        <a:t>0.261</a:t>
                      </a:r>
                    </a:p>
                  </a:txBody>
                  <a:tcPr>
                    <a:solidFill>
                      <a:srgbClr val="FAEBDD"/>
                    </a:solidFill>
                  </a:tcPr>
                </a:tc>
                <a:tc>
                  <a:txBody>
                    <a:bodyPr/>
                    <a:lstStyle/>
                    <a:p>
                      <a:r>
                        <a:rPr sz="1000">
                          <a:latin typeface="Times New Roman"/>
                        </a:rPr>
                        <a:t>100</a:t>
                      </a:r>
                    </a:p>
                  </a:txBody>
                  <a:tcPr>
                    <a:solidFill>
                      <a:srgbClr val="FAEBDD"/>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Per-episode 결과 &amp; 속도 (12 representative episodes)</a:t>
            </a:r>
          </a:p>
        </p:txBody>
      </p:sp>
      <p:sp>
        <p:nvSpPr>
          <p:cNvPr id="4" name="Rectangle 3"/>
          <p:cNvSpPr/>
          <p:nvPr/>
        </p:nvSpPr>
        <p:spPr>
          <a:xfrm>
            <a:off x="365760" y="868680"/>
            <a:ext cx="4114800" cy="2743200"/>
          </a:xfrm>
          <a:prstGeom prst="rect">
            <a:avLst/>
          </a:prstGeom>
          <a:solidFill>
            <a:srgbClr val="FFF7ED"/>
          </a:solidFill>
          <a:ln w="19050">
            <a:solidFill>
              <a:srgbClr val="C0531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i="1">
                <a:solidFill>
                  <a:srgbClr val="C05317"/>
                </a:solidFill>
                <a:latin typeface="Times New Roman"/>
              </a:rPr>
              <a:t>[ 그림 자리 ]
왼쪽: paper/figures/fig1_comparison.pdf 또는
fig3_speed.pdf 12-ep nRMSE bar plot</a:t>
            </a:r>
          </a:p>
        </p:txBody>
      </p:sp>
      <p:sp>
        <p:nvSpPr>
          <p:cNvPr id="5" name="Rectangle 4"/>
          <p:cNvSpPr/>
          <p:nvPr/>
        </p:nvSpPr>
        <p:spPr>
          <a:xfrm>
            <a:off x="4663440" y="868680"/>
            <a:ext cx="3931920" cy="2743200"/>
          </a:xfrm>
          <a:prstGeom prst="rect">
            <a:avLst/>
          </a:prstGeom>
          <a:solidFill>
            <a:srgbClr val="FFF7ED"/>
          </a:solidFill>
          <a:ln w="19050">
            <a:solidFill>
              <a:srgbClr val="C0531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i="1">
                <a:solidFill>
                  <a:srgbClr val="C05317"/>
                </a:solidFill>
                <a:latin typeface="Times New Roman"/>
              </a:rPr>
              <a:t>[ 그림 자리 ]
오른쪽: 12 episode별 inference time
bar plot (paper figures 활용)</a:t>
            </a:r>
          </a:p>
        </p:txBody>
      </p:sp>
      <p:sp>
        <p:nvSpPr>
          <p:cNvPr id="6" name="TextBox 5"/>
          <p:cNvSpPr txBox="1"/>
          <p:nvPr/>
        </p:nvSpPr>
        <p:spPr>
          <a:xfrm>
            <a:off x="365760" y="3749039"/>
            <a:ext cx="8229600" cy="274320"/>
          </a:xfrm>
          <a:prstGeom prst="rect">
            <a:avLst/>
          </a:prstGeom>
          <a:noFill/>
        </p:spPr>
        <p:txBody>
          <a:bodyPr wrap="none">
            <a:spAutoFit/>
          </a:bodyPr>
          <a:lstStyle/>
          <a:p>
            <a:r>
              <a:rPr sz="1200" b="1">
                <a:solidFill>
                  <a:srgbClr val="C05317"/>
                </a:solidFill>
                <a:latin typeface="Times New Roman"/>
              </a:rPr>
              <a:t>한눈에 보는 결론</a:t>
            </a:r>
          </a:p>
        </p:txBody>
      </p:sp>
      <p:sp>
        <p:nvSpPr>
          <p:cNvPr id="7" name="TextBox 6"/>
          <p:cNvSpPr txBox="1"/>
          <p:nvPr/>
        </p:nvSpPr>
        <p:spPr>
          <a:xfrm>
            <a:off x="365760" y="4069080"/>
            <a:ext cx="8229600" cy="2194560"/>
          </a:xfrm>
          <a:prstGeom prst="rect">
            <a:avLst/>
          </a:prstGeom>
          <a:noFill/>
        </p:spPr>
        <p:txBody>
          <a:bodyPr wrap="square">
            <a:spAutoFit/>
          </a:bodyPr>
          <a:lstStyle/>
          <a:p>
            <a:r>
              <a:rPr sz="1200" b="1" i="0">
                <a:solidFill>
                  <a:srgbClr val="1A1A2E"/>
                </a:solidFill>
                <a:latin typeface="Times New Roman"/>
              </a:rPr>
              <a:t>▪ WaveSplat: 12/12 episode 모두 nRMSE 최저 (clean sweep)</a:t>
            </a:r>
          </a:p>
          <a:p>
            <a:r>
              <a:rPr sz="1200" b="0" i="0">
                <a:solidFill>
                  <a:srgbClr val="333333"/>
                </a:solidFill>
                <a:latin typeface="Times New Roman"/>
              </a:rPr>
              <a:t>▪ 최대 격차 8.5× (BF3 1-comp swell — 가장 단순한 sea)</a:t>
            </a:r>
          </a:p>
          <a:p>
            <a:r>
              <a:rPr sz="1100" b="0" i="0">
                <a:solidFill>
                  <a:srgbClr val="333333"/>
                </a:solidFill>
                <a:latin typeface="Times New Roman"/>
              </a:rPr>
              <a:t>▪ 평균 inference time: WS 13.4 ms vs ETKF 132.6 ms (~10× faster)</a:t>
            </a:r>
          </a:p>
          <a:p>
            <a:r>
              <a:rPr sz="1100" b="0" i="0">
                <a:solidFill>
                  <a:srgbClr val="333333"/>
                </a:solidFill>
                <a:latin typeface="Times New Roman"/>
              </a:rPr>
              <a:t>▪ ETKF는 ensemble 수렴 따라 90~600 ms로 spread → median 110, mean 132.6</a:t>
            </a:r>
          </a:p>
          <a:p>
            <a:r>
              <a:rPr sz="1100" b="0" i="0">
                <a:solidFill>
                  <a:srgbClr val="333333"/>
                </a:solidFill>
                <a:latin typeface="Times New Roman"/>
              </a:rPr>
              <a:t/>
            </a:r>
          </a:p>
          <a:p>
            <a:r>
              <a:rPr sz="1100" b="0" i="1">
                <a:solidFill>
                  <a:srgbClr val="666666"/>
                </a:solidFill>
                <a:latin typeface="Times New Roman"/>
              </a:rPr>
              <a:t>※ 12 episode는 BF2~BF5 × 1/2/5/15/30 components 균등 샘플 — cherry-pick 아님 (사전 등록)</a:t>
            </a:r>
          </a:p>
          <a:p>
            <a:pPr algn="l">
              <a:spcBef>
                <a:spcPts val="200"/>
              </a:spcBef>
            </a:pPr>
            <a:r>
              <a:rPr b="0" sz="800">
                <a:solidFill>
                  <a:srgbClr val="333333"/>
                </a:solidFill>
                <a:latin typeface="Times New Roman"/>
              </a:rPr>
              <a:t/>
            </a:r>
          </a:p>
          <a:p>
            <a:pPr algn="l">
              <a:spcBef>
                <a:spcPts val="200"/>
              </a:spcBef>
            </a:pPr>
            <a:r>
              <a:rPr b="0" sz="950">
                <a:solidFill>
                  <a:srgbClr val="333333"/>
                </a:solidFill>
                <a:latin typeface="Times New Roman"/>
              </a:rPr>
              <a:t>상세: BF2 1-comp에서 WS nRMSE≈0.06 vs ETKF≈0.51 (8.5× 격차) — 단일 plane wave는 WaveSplat 이상 조건.</a:t>
            </a:r>
          </a:p>
          <a:p>
            <a:pPr algn="l">
              <a:spcBef>
                <a:spcPts val="200"/>
              </a:spcBef>
            </a:pPr>
            <a:r>
              <a:rPr b="0" sz="950">
                <a:solidFill>
                  <a:srgbClr val="333333"/>
                </a:solidFill>
                <a:latin typeface="Times New Roman"/>
              </a:rPr>
              <a:t>복잡 sea: BF4/BF5 30-comp에서 WS≈0.32 vs ETKF≈0.36 — 격차 축소. 30+ component crowding 시 WaveSplat 방향 분리 한계. 이 영역에서는 LETKF가 경쟁적 (Slide 23 참고).</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통계 검증 — Multi-seed (100 paired runs)</a:t>
            </a:r>
          </a:p>
        </p:txBody>
      </p:sp>
      <p:sp>
        <p:nvSpPr>
          <p:cNvPr id="4" name="TextBox 3"/>
          <p:cNvSpPr txBox="1"/>
          <p:nvPr/>
        </p:nvSpPr>
        <p:spPr>
          <a:xfrm>
            <a:off x="365760" y="868680"/>
            <a:ext cx="8229600" cy="274320"/>
          </a:xfrm>
          <a:prstGeom prst="rect">
            <a:avLst/>
          </a:prstGeom>
          <a:noFill/>
        </p:spPr>
        <p:txBody>
          <a:bodyPr wrap="none">
            <a:spAutoFit/>
          </a:bodyPr>
          <a:lstStyle/>
          <a:p>
            <a:r>
              <a:rPr sz="1200" b="1">
                <a:solidFill>
                  <a:srgbClr val="C05317"/>
                </a:solidFill>
                <a:latin typeface="Times New Roman"/>
              </a:rPr>
              <a:t>실험 설정</a:t>
            </a:r>
          </a:p>
        </p:txBody>
      </p:sp>
      <p:sp>
        <p:nvSpPr>
          <p:cNvPr id="5" name="TextBox 4"/>
          <p:cNvSpPr txBox="1"/>
          <p:nvPr/>
        </p:nvSpPr>
        <p:spPr>
          <a:xfrm>
            <a:off x="365760" y="1188720"/>
            <a:ext cx="8229600" cy="914400"/>
          </a:xfrm>
          <a:prstGeom prst="rect">
            <a:avLst/>
          </a:prstGeom>
          <a:noFill/>
        </p:spPr>
        <p:txBody>
          <a:bodyPr wrap="square">
            <a:spAutoFit/>
          </a:bodyPr>
          <a:lstStyle/>
          <a:p>
            <a:r>
              <a:rPr sz="1100" b="0" i="0">
                <a:solidFill>
                  <a:srgbClr val="333333"/>
                </a:solidFill>
                <a:latin typeface="Times New Roman"/>
              </a:rPr>
              <a:t>▪ 100 paired runs = 10 (sea state, complexity) configs × 5 seeds × 2 raydrop models</a:t>
            </a:r>
          </a:p>
          <a:p>
            <a:r>
              <a:rPr sz="1100" b="0" i="0">
                <a:solidFill>
                  <a:srgbClr val="333333"/>
                </a:solidFill>
                <a:latin typeface="Times New Roman"/>
              </a:rPr>
              <a:t>▪ 각 paired run = 동일 (config, seed, raydrop)에서 WaveSplat과 baseline 동시 실행</a:t>
            </a:r>
          </a:p>
          <a:p>
            <a:r>
              <a:rPr sz="1100" b="0" i="0">
                <a:solidFill>
                  <a:srgbClr val="333333"/>
                </a:solidFill>
                <a:latin typeface="Times New Roman"/>
              </a:rPr>
              <a:t>▪ Wilcoxon signed-rank test: 짝지은 차이의 부호 분포로 비교 (정규성 가정 X)</a:t>
            </a:r>
          </a:p>
        </p:txBody>
      </p:sp>
      <p:graphicFrame>
        <p:nvGraphicFramePr>
          <p:cNvPr id="6" name="Table 5"/>
          <p:cNvGraphicFramePr>
            <a:graphicFrameLocks noGrp="1"/>
          </p:cNvGraphicFramePr>
          <p:nvPr/>
        </p:nvGraphicFramePr>
        <p:xfrm>
          <a:off x="365760" y="2240280"/>
          <a:ext cx="8229600" cy="169164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422910">
                <a:tc>
                  <a:txBody>
                    <a:bodyPr/>
                    <a:lstStyle/>
                    <a:p>
                      <a:r>
                        <a:rPr sz="1000" b="1">
                          <a:solidFill>
                            <a:srgbClr val="FFFFFF"/>
                          </a:solidFill>
                          <a:latin typeface="Times New Roman"/>
                        </a:rPr>
                        <a:t>Comparison</a:t>
                      </a:r>
                    </a:p>
                  </a:txBody>
                  <a:tcPr>
                    <a:solidFill>
                      <a:srgbClr val="C05317"/>
                    </a:solidFill>
                  </a:tcPr>
                </a:tc>
                <a:tc>
                  <a:txBody>
                    <a:bodyPr/>
                    <a:lstStyle/>
                    <a:p>
                      <a:r>
                        <a:rPr sz="1000" b="1">
                          <a:solidFill>
                            <a:srgbClr val="FFFFFF"/>
                          </a:solidFill>
                          <a:latin typeface="Times New Roman"/>
                        </a:rPr>
                        <a:t>mean ± std nRMSE</a:t>
                      </a:r>
                    </a:p>
                  </a:txBody>
                  <a:tcPr>
                    <a:solidFill>
                      <a:srgbClr val="C05317"/>
                    </a:solidFill>
                  </a:tcPr>
                </a:tc>
                <a:tc>
                  <a:txBody>
                    <a:bodyPr/>
                    <a:lstStyle/>
                    <a:p>
                      <a:r>
                        <a:rPr sz="1000" b="1">
                          <a:solidFill>
                            <a:srgbClr val="FFFFFF"/>
                          </a:solidFill>
                          <a:latin typeface="Times New Roman"/>
                        </a:rPr>
                        <a:t>Wilcoxon W</a:t>
                      </a:r>
                    </a:p>
                  </a:txBody>
                  <a:tcPr>
                    <a:solidFill>
                      <a:srgbClr val="C05317"/>
                    </a:solidFill>
                  </a:tcPr>
                </a:tc>
                <a:tc>
                  <a:txBody>
                    <a:bodyPr/>
                    <a:lstStyle/>
                    <a:p>
                      <a:r>
                        <a:rPr sz="1000" b="1">
                          <a:solidFill>
                            <a:srgbClr val="FFFFFF"/>
                          </a:solidFill>
                          <a:latin typeface="Times New Roman"/>
                        </a:rPr>
                        <a:t>p (raw)</a:t>
                      </a:r>
                    </a:p>
                  </a:txBody>
                  <a:tcPr>
                    <a:solidFill>
                      <a:srgbClr val="C05317"/>
                    </a:solidFill>
                  </a:tcPr>
                </a:tc>
                <a:tc>
                  <a:txBody>
                    <a:bodyPr/>
                    <a:lstStyle/>
                    <a:p>
                      <a:r>
                        <a:rPr sz="1000" b="1">
                          <a:solidFill>
                            <a:srgbClr val="FFFFFF"/>
                          </a:solidFill>
                          <a:latin typeface="Times New Roman"/>
                        </a:rPr>
                        <a:t>Cohen's d</a:t>
                      </a:r>
                    </a:p>
                  </a:txBody>
                  <a:tcPr>
                    <a:solidFill>
                      <a:srgbClr val="C05317"/>
                    </a:solidFill>
                  </a:tcPr>
                </a:tc>
                <a:tc>
                  <a:txBody>
                    <a:bodyPr/>
                    <a:lstStyle/>
                    <a:p>
                      <a:r>
                        <a:rPr sz="1000" b="1">
                          <a:solidFill>
                            <a:srgbClr val="FFFFFF"/>
                          </a:solidFill>
                          <a:latin typeface="Times New Roman"/>
                        </a:rPr>
                        <a:t>95% CI of mean Δ</a:t>
                      </a:r>
                    </a:p>
                  </a:txBody>
                  <a:tcPr>
                    <a:solidFill>
                      <a:srgbClr val="C05317"/>
                    </a:solidFill>
                  </a:tcPr>
                </a:tc>
              </a:tr>
              <a:tr h="422910">
                <a:tc>
                  <a:txBody>
                    <a:bodyPr/>
                    <a:lstStyle/>
                    <a:p>
                      <a:r>
                        <a:rPr sz="1000" b="1">
                          <a:latin typeface="Times New Roman"/>
                        </a:rPr>
                        <a:t>WaveSplat (reference)</a:t>
                      </a:r>
                    </a:p>
                  </a:txBody>
                  <a:tcPr>
                    <a:solidFill>
                      <a:srgbClr val="FFFFFF"/>
                    </a:solidFill>
                  </a:tcPr>
                </a:tc>
                <a:tc>
                  <a:txBody>
                    <a:bodyPr/>
                    <a:lstStyle/>
                    <a:p>
                      <a:r>
                        <a:rPr sz="1000" b="1">
                          <a:latin typeface="Times New Roman"/>
                        </a:rPr>
                        <a:t>0.219 ± 0.079</a:t>
                      </a:r>
                    </a:p>
                  </a:txBody>
                  <a:tcPr>
                    <a:solidFill>
                      <a:srgbClr val="FFFFFF"/>
                    </a:solidFill>
                  </a:tcPr>
                </a:tc>
                <a:tc>
                  <a:txBody>
                    <a:bodyPr/>
                    <a:lstStyle/>
                    <a:p>
                      <a:r>
                        <a:rPr sz="1000" b="1">
                          <a:latin typeface="Times New Roman"/>
                        </a:rPr>
                        <a:t>—</a:t>
                      </a:r>
                    </a:p>
                  </a:txBody>
                  <a:tcPr>
                    <a:solidFill>
                      <a:srgbClr val="FFFFFF"/>
                    </a:solidFill>
                  </a:tcPr>
                </a:tc>
                <a:tc>
                  <a:txBody>
                    <a:bodyPr/>
                    <a:lstStyle/>
                    <a:p>
                      <a:r>
                        <a:rPr sz="1000" b="1">
                          <a:latin typeface="Times New Roman"/>
                        </a:rPr>
                        <a:t>—</a:t>
                      </a:r>
                    </a:p>
                  </a:txBody>
                  <a:tcPr>
                    <a:solidFill>
                      <a:srgbClr val="FFFFFF"/>
                    </a:solidFill>
                  </a:tcPr>
                </a:tc>
                <a:tc>
                  <a:txBody>
                    <a:bodyPr/>
                    <a:lstStyle/>
                    <a:p>
                      <a:r>
                        <a:rPr sz="1000" b="1">
                          <a:latin typeface="Times New Roman"/>
                        </a:rPr>
                        <a:t>—</a:t>
                      </a:r>
                    </a:p>
                  </a:txBody>
                  <a:tcPr>
                    <a:solidFill>
                      <a:srgbClr val="FFFFFF"/>
                    </a:solidFill>
                  </a:tcPr>
                </a:tc>
                <a:tc>
                  <a:txBody>
                    <a:bodyPr/>
                    <a:lstStyle/>
                    <a:p>
                      <a:r>
                        <a:rPr sz="1000" b="1">
                          <a:latin typeface="Times New Roman"/>
                        </a:rPr>
                        <a:t>—</a:t>
                      </a:r>
                    </a:p>
                  </a:txBody>
                  <a:tcPr>
                    <a:solidFill>
                      <a:srgbClr val="FFFFFF"/>
                    </a:solidFill>
                  </a:tcPr>
                </a:tc>
              </a:tr>
              <a:tr h="422910">
                <a:tc>
                  <a:txBody>
                    <a:bodyPr/>
                    <a:lstStyle/>
                    <a:p>
                      <a:r>
                        <a:rPr sz="1000">
                          <a:latin typeface="Times New Roman"/>
                        </a:rPr>
                        <a:t>vs ETKF (tuned)</a:t>
                      </a:r>
                    </a:p>
                  </a:txBody>
                  <a:tcPr>
                    <a:solidFill>
                      <a:srgbClr val="FAEBDD"/>
                    </a:solidFill>
                  </a:tcPr>
                </a:tc>
                <a:tc>
                  <a:txBody>
                    <a:bodyPr/>
                    <a:lstStyle/>
                    <a:p>
                      <a:r>
                        <a:rPr sz="1000">
                          <a:latin typeface="Times New Roman"/>
                        </a:rPr>
                        <a:t>0.321 ± 0.041</a:t>
                      </a:r>
                    </a:p>
                  </a:txBody>
                  <a:tcPr>
                    <a:solidFill>
                      <a:srgbClr val="FAEBDD"/>
                    </a:solidFill>
                  </a:tcPr>
                </a:tc>
                <a:tc>
                  <a:txBody>
                    <a:bodyPr/>
                    <a:lstStyle/>
                    <a:p>
                      <a:r>
                        <a:rPr sz="1000">
                          <a:latin typeface="Times New Roman"/>
                        </a:rPr>
                        <a:t>W=194</a:t>
                      </a:r>
                    </a:p>
                  </a:txBody>
                  <a:tcPr>
                    <a:solidFill>
                      <a:srgbClr val="FAEBDD"/>
                    </a:solidFill>
                  </a:tcPr>
                </a:tc>
                <a:tc>
                  <a:txBody>
                    <a:bodyPr/>
                    <a:lstStyle/>
                    <a:p>
                      <a:r>
                        <a:rPr sz="1000">
                          <a:latin typeface="Times New Roman"/>
                        </a:rPr>
                        <a:t>1.1 × 10⁻¹⁵</a:t>
                      </a:r>
                    </a:p>
                  </a:txBody>
                  <a:tcPr>
                    <a:solidFill>
                      <a:srgbClr val="FAEBDD"/>
                    </a:solidFill>
                  </a:tcPr>
                </a:tc>
                <a:tc>
                  <a:txBody>
                    <a:bodyPr/>
                    <a:lstStyle/>
                    <a:p>
                      <a:r>
                        <a:rPr sz="1000">
                          <a:latin typeface="Times New Roman"/>
                        </a:rPr>
                        <a:t>1.16 (large)</a:t>
                      </a:r>
                    </a:p>
                  </a:txBody>
                  <a:tcPr>
                    <a:solidFill>
                      <a:srgbClr val="FAEBDD"/>
                    </a:solidFill>
                  </a:tcPr>
                </a:tc>
                <a:tc>
                  <a:txBody>
                    <a:bodyPr/>
                    <a:lstStyle/>
                    <a:p>
                      <a:r>
                        <a:rPr sz="1000">
                          <a:latin typeface="Times New Roman"/>
                        </a:rPr>
                        <a:t>[0.085, 0.119]</a:t>
                      </a:r>
                    </a:p>
                  </a:txBody>
                  <a:tcPr>
                    <a:solidFill>
                      <a:srgbClr val="FAEBDD"/>
                    </a:solidFill>
                  </a:tcPr>
                </a:tc>
              </a:tr>
              <a:tr h="422910">
                <a:tc>
                  <a:txBody>
                    <a:bodyPr/>
                    <a:lstStyle/>
                    <a:p>
                      <a:r>
                        <a:rPr sz="1000">
                          <a:latin typeface="Times New Roman"/>
                        </a:rPr>
                        <a:t>vs GPR-sliding (3f)</a:t>
                      </a:r>
                    </a:p>
                  </a:txBody>
                  <a:tcPr>
                    <a:solidFill>
                      <a:srgbClr val="FFFFFF"/>
                    </a:solidFill>
                  </a:tcPr>
                </a:tc>
                <a:tc>
                  <a:txBody>
                    <a:bodyPr/>
                    <a:lstStyle/>
                    <a:p>
                      <a:r>
                        <a:rPr sz="1000">
                          <a:latin typeface="Times New Roman"/>
                        </a:rPr>
                        <a:t>0.253 ± 0.020</a:t>
                      </a:r>
                    </a:p>
                  </a:txBody>
                  <a:tcPr>
                    <a:solidFill>
                      <a:srgbClr val="FFFFFF"/>
                    </a:solidFill>
                  </a:tcPr>
                </a:tc>
                <a:tc>
                  <a:txBody>
                    <a:bodyPr/>
                    <a:lstStyle/>
                    <a:p>
                      <a:r>
                        <a:rPr sz="1000">
                          <a:latin typeface="Times New Roman"/>
                        </a:rPr>
                        <a:t>W=1508</a:t>
                      </a:r>
                    </a:p>
                  </a:txBody>
                  <a:tcPr>
                    <a:solidFill>
                      <a:srgbClr val="FFFFFF"/>
                    </a:solidFill>
                  </a:tcPr>
                </a:tc>
                <a:tc>
                  <a:txBody>
                    <a:bodyPr/>
                    <a:lstStyle/>
                    <a:p>
                      <a:r>
                        <a:rPr sz="1000">
                          <a:latin typeface="Times New Roman"/>
                        </a:rPr>
                        <a:t>4.7 × 10⁻⁴</a:t>
                      </a:r>
                    </a:p>
                  </a:txBody>
                  <a:tcPr>
                    <a:solidFill>
                      <a:srgbClr val="FFFFFF"/>
                    </a:solidFill>
                  </a:tcPr>
                </a:tc>
                <a:tc>
                  <a:txBody>
                    <a:bodyPr/>
                    <a:lstStyle/>
                    <a:p>
                      <a:r>
                        <a:rPr sz="1000">
                          <a:latin typeface="Times New Roman"/>
                        </a:rPr>
                        <a:t>0.42 (sm-med)</a:t>
                      </a:r>
                    </a:p>
                  </a:txBody>
                  <a:tcPr>
                    <a:solidFill>
                      <a:srgbClr val="FFFFFF"/>
                    </a:solidFill>
                  </a:tcPr>
                </a:tc>
                <a:tc>
                  <a:txBody>
                    <a:bodyPr/>
                    <a:lstStyle/>
                    <a:p>
                      <a:r>
                        <a:rPr sz="1000">
                          <a:latin typeface="Times New Roman"/>
                        </a:rPr>
                        <a:t>[0.018, 0.050]</a:t>
                      </a:r>
                    </a:p>
                  </a:txBody>
                  <a:tcPr>
                    <a:solidFill>
                      <a:srgbClr val="FFFFFF"/>
                    </a:solidFill>
                  </a:tcPr>
                </a:tc>
              </a:tr>
            </a:tbl>
          </a:graphicData>
        </a:graphic>
      </p:graphicFrame>
      <p:sp>
        <p:nvSpPr>
          <p:cNvPr id="7" name="TextBox 6"/>
          <p:cNvSpPr txBox="1"/>
          <p:nvPr/>
        </p:nvSpPr>
        <p:spPr>
          <a:xfrm>
            <a:off x="365760" y="4069080"/>
            <a:ext cx="4114800" cy="274320"/>
          </a:xfrm>
          <a:prstGeom prst="rect">
            <a:avLst/>
          </a:prstGeom>
          <a:noFill/>
        </p:spPr>
        <p:txBody>
          <a:bodyPr wrap="none">
            <a:spAutoFit/>
          </a:bodyPr>
          <a:lstStyle/>
          <a:p>
            <a:r>
              <a:rPr sz="1200" b="1">
                <a:solidFill>
                  <a:srgbClr val="C05317"/>
                </a:solidFill>
                <a:latin typeface="Times New Roman"/>
              </a:rPr>
              <a:t>결과 해석</a:t>
            </a:r>
          </a:p>
        </p:txBody>
      </p:sp>
      <p:sp>
        <p:nvSpPr>
          <p:cNvPr id="8" name="TextBox 7"/>
          <p:cNvSpPr txBox="1"/>
          <p:nvPr/>
        </p:nvSpPr>
        <p:spPr>
          <a:xfrm>
            <a:off x="365760" y="4389120"/>
            <a:ext cx="4114800" cy="1691640"/>
          </a:xfrm>
          <a:prstGeom prst="rect">
            <a:avLst/>
          </a:prstGeom>
          <a:noFill/>
        </p:spPr>
        <p:txBody>
          <a:bodyPr wrap="square">
            <a:spAutoFit/>
          </a:bodyPr>
          <a:lstStyle/>
          <a:p>
            <a:r>
              <a:rPr sz="1000" b="0" i="0">
                <a:solidFill>
                  <a:srgbClr val="333333"/>
                </a:solidFill>
                <a:latin typeface="Times New Roman"/>
              </a:rPr>
              <a:t>▪ Cohen's d = 1.16 → large effect (&gt;0.8)</a:t>
            </a:r>
          </a:p>
          <a:p>
            <a:r>
              <a:rPr sz="1000" b="0" i="0">
                <a:solidFill>
                  <a:srgbClr val="333333"/>
                </a:solidFill>
                <a:latin typeface="Times New Roman"/>
              </a:rPr>
              <a:t>▪ d = 0.42 → small-medium but 100 paired에서 robust</a:t>
            </a:r>
          </a:p>
          <a:p>
            <a:r>
              <a:rPr sz="1000" b="0" i="0">
                <a:solidFill>
                  <a:srgbClr val="333333"/>
                </a:solidFill>
                <a:latin typeface="Times New Roman"/>
              </a:rPr>
              <a:t>▪ Holm–Bonferroni 보정: p₁=2.2×10⁻¹⁵, p₂=4.7×10⁻⁴</a:t>
            </a:r>
          </a:p>
          <a:p>
            <a:r>
              <a:rPr sz="1000" b="0" i="0">
                <a:solidFill>
                  <a:srgbClr val="333333"/>
                </a:solidFill>
                <a:latin typeface="Times New Roman"/>
              </a:rPr>
              <a:t>   → 두 비교 모두 보정 후 유의</a:t>
            </a:r>
          </a:p>
          <a:p>
            <a:r>
              <a:rPr sz="1000" b="0" i="0">
                <a:solidFill>
                  <a:srgbClr val="333333"/>
                </a:solidFill>
                <a:latin typeface="Times New Roman"/>
              </a:rPr>
              <a:t>▪ 두 95% CI 모두 0을 포함 안 함</a:t>
            </a:r>
          </a:p>
        </p:txBody>
      </p:sp>
      <p:sp>
        <p:nvSpPr>
          <p:cNvPr id="9" name="TextBox 8"/>
          <p:cNvSpPr txBox="1"/>
          <p:nvPr/>
        </p:nvSpPr>
        <p:spPr>
          <a:xfrm>
            <a:off x="4663440" y="4069080"/>
            <a:ext cx="3931920" cy="274320"/>
          </a:xfrm>
          <a:prstGeom prst="rect">
            <a:avLst/>
          </a:prstGeom>
          <a:noFill/>
        </p:spPr>
        <p:txBody>
          <a:bodyPr wrap="none">
            <a:spAutoFit/>
          </a:bodyPr>
          <a:lstStyle/>
          <a:p>
            <a:r>
              <a:rPr sz="1200" b="1">
                <a:solidFill>
                  <a:srgbClr val="C05317"/>
                </a:solidFill>
                <a:latin typeface="Times New Roman"/>
              </a:rPr>
              <a:t>왜 WaveSplat 자체 행은 'reference'?</a:t>
            </a:r>
          </a:p>
        </p:txBody>
      </p:sp>
      <p:sp>
        <p:nvSpPr>
          <p:cNvPr id="10" name="TextBox 9"/>
          <p:cNvSpPr txBox="1"/>
          <p:nvPr/>
        </p:nvSpPr>
        <p:spPr>
          <a:xfrm>
            <a:off x="4663440" y="4389120"/>
            <a:ext cx="3931920" cy="1691640"/>
          </a:xfrm>
          <a:prstGeom prst="rect">
            <a:avLst/>
          </a:prstGeom>
          <a:noFill/>
        </p:spPr>
        <p:txBody>
          <a:bodyPr wrap="square">
            <a:spAutoFit/>
          </a:bodyPr>
          <a:lstStyle/>
          <a:p>
            <a:r>
              <a:rPr sz="1000" b="0" i="0">
                <a:solidFill>
                  <a:srgbClr val="333333"/>
                </a:solidFill>
                <a:latin typeface="Times New Roman"/>
              </a:rPr>
              <a:t>▪ Wilcoxon은 "두 분포의 차이"를 검정</a:t>
            </a:r>
          </a:p>
          <a:p>
            <a:r>
              <a:rPr sz="1000" b="0" i="0">
                <a:solidFill>
                  <a:srgbClr val="333333"/>
                </a:solidFill>
                <a:latin typeface="Times New Roman"/>
              </a:rPr>
              <a:t>   → WaveSplat은 비교의 기준 (기준 자체에는 p가 없음)</a:t>
            </a:r>
          </a:p>
          <a:p>
            <a:r>
              <a:rPr sz="1000" b="0" i="0">
                <a:solidFill>
                  <a:srgbClr val="333333"/>
                </a:solidFill>
                <a:latin typeface="Times New Roman"/>
              </a:rPr>
              <a:t>▪ WaveSplat의 평균/std는 표시 (0.219 ± 0.079)</a:t>
            </a:r>
          </a:p>
          <a:p>
            <a:r>
              <a:rPr sz="1000" b="0" i="0">
                <a:solidFill>
                  <a:srgbClr val="333333"/>
                </a:solidFill>
                <a:latin typeface="Times New Roman"/>
              </a:rPr>
              <a:t>▪ 통계적 우위 = "WaveSplat이 baseline보다 작다"는 짝차이 검정</a:t>
            </a:r>
          </a:p>
          <a:p>
            <a:r>
              <a:rPr sz="1000" b="0" i="0">
                <a:solidFill>
                  <a:srgbClr val="333333"/>
                </a:solidFill>
                <a:latin typeface="Times New Roman"/>
              </a:rPr>
              <a:t>▪ Conservative 검사: 20 config-level mean으로 재검정해도</a:t>
            </a:r>
          </a:p>
          <a:p>
            <a:r>
              <a:rPr sz="1000" b="0" i="0">
                <a:solidFill>
                  <a:srgbClr val="333333"/>
                </a:solidFill>
                <a:latin typeface="Times New Roman"/>
              </a:rPr>
              <a:t>   p &lt; 0.001 유지 → seed-level 상관 우려 해소</a:t>
            </a:r>
          </a:p>
        </p:txBody>
      </p:sp>
      <p:sp>
        <p:nvSpPr>
          <p:cNvPr id="11" name="TextBox 10"/>
          <p:cNvSpPr txBox="1"/>
          <p:nvPr/>
        </p:nvSpPr>
        <p:spPr>
          <a:xfrm>
            <a:off x="365760" y="6263640"/>
            <a:ext cx="8229600" cy="228600"/>
          </a:xfrm>
          <a:prstGeom prst="rect">
            <a:avLst/>
          </a:prstGeom>
          <a:noFill/>
        </p:spPr>
        <p:txBody>
          <a:bodyPr wrap="none">
            <a:spAutoFit/>
          </a:bodyPr>
          <a:lstStyle/>
          <a:p>
            <a:r>
              <a:rPr sz="800" i="1">
                <a:solidFill>
                  <a:srgbClr val="666666"/>
                </a:solidFill>
                <a:latin typeface="Times New Roman"/>
              </a:rPr>
              <a:t>Refs: Wilcoxon (1945) Biometrics Bulletin 1(6); Cohen (1988) Statistical Power Analysis (2nd 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Ablation — Dispersion 제약의 가치</a:t>
            </a:r>
          </a:p>
        </p:txBody>
      </p:sp>
      <p:graphicFrame>
        <p:nvGraphicFramePr>
          <p:cNvPr id="4" name="Table 3"/>
          <p:cNvGraphicFramePr>
            <a:graphicFrameLocks noGrp="1"/>
          </p:cNvGraphicFramePr>
          <p:nvPr/>
        </p:nvGraphicFramePr>
        <p:xfrm>
          <a:off x="365760" y="960120"/>
          <a:ext cx="8229600" cy="1554480"/>
        </p:xfrm>
        <a:graphic>
          <a:graphicData uri="http://schemas.openxmlformats.org/drawingml/2006/table">
            <a:tbl>
              <a:tblPr firstRow="1" bandRow="1">
                <a:tableStyleId>{5C22544A-7EE6-4342-B048-85BDC9FD1C3A}</a:tableStyleId>
              </a:tblPr>
              <a:tblGrid>
                <a:gridCol w="2057400"/>
                <a:gridCol w="2057400"/>
                <a:gridCol w="2057400"/>
                <a:gridCol w="2057400"/>
              </a:tblGrid>
              <a:tr h="388620">
                <a:tc>
                  <a:txBody>
                    <a:bodyPr/>
                    <a:lstStyle/>
                    <a:p>
                      <a:r>
                        <a:rPr sz="1100" b="1">
                          <a:solidFill>
                            <a:srgbClr val="FFFFFF"/>
                          </a:solidFill>
                          <a:latin typeface="Times New Roman"/>
                        </a:rPr>
                        <a:t>Config</a:t>
                      </a:r>
                    </a:p>
                  </a:txBody>
                  <a:tcPr>
                    <a:solidFill>
                      <a:srgbClr val="C05317"/>
                    </a:solidFill>
                  </a:tcPr>
                </a:tc>
                <a:tc>
                  <a:txBody>
                    <a:bodyPr/>
                    <a:lstStyle/>
                    <a:p>
                      <a:r>
                        <a:rPr sz="1100" b="1">
                          <a:solidFill>
                            <a:srgbClr val="FFFFFF"/>
                          </a:solidFill>
                          <a:latin typeface="Times New Roman"/>
                        </a:rPr>
                        <a:t>avg nRMSE</a:t>
                      </a:r>
                    </a:p>
                  </a:txBody>
                  <a:tcPr>
                    <a:solidFill>
                      <a:srgbClr val="C05317"/>
                    </a:solidFill>
                  </a:tcPr>
                </a:tc>
                <a:tc>
                  <a:txBody>
                    <a:bodyPr/>
                    <a:lstStyle/>
                    <a:p>
                      <a:r>
                        <a:rPr sz="1100" b="1">
                          <a:solidFill>
                            <a:srgbClr val="FFFFFF"/>
                          </a:solidFill>
                          <a:latin typeface="Times New Roman"/>
                        </a:rPr>
                        <a:t>vs Full</a:t>
                      </a:r>
                    </a:p>
                  </a:txBody>
                  <a:tcPr>
                    <a:solidFill>
                      <a:srgbClr val="C05317"/>
                    </a:solidFill>
                  </a:tcPr>
                </a:tc>
                <a:tc>
                  <a:txBody>
                    <a:bodyPr/>
                    <a:lstStyle/>
                    <a:p>
                      <a:r>
                        <a:rPr sz="1100" b="1">
                          <a:solidFill>
                            <a:srgbClr val="FFFFFF"/>
                          </a:solidFill>
                          <a:latin typeface="Times New Roman"/>
                        </a:rPr>
                        <a:t>R̄ (dispersion drift)</a:t>
                      </a:r>
                    </a:p>
                  </a:txBody>
                  <a:tcPr>
                    <a:solidFill>
                      <a:srgbClr val="C05317"/>
                    </a:solidFill>
                  </a:tcPr>
                </a:tc>
              </a:tr>
              <a:tr h="388620">
                <a:tc>
                  <a:txBody>
                    <a:bodyPr/>
                    <a:lstStyle/>
                    <a:p>
                      <a:r>
                        <a:rPr sz="1100" b="1">
                          <a:latin typeface="Times New Roman"/>
                        </a:rPr>
                        <a:t>Full (dispersion ON)</a:t>
                      </a:r>
                    </a:p>
                  </a:txBody>
                  <a:tcPr>
                    <a:solidFill>
                      <a:srgbClr val="FFFFFF"/>
                    </a:solidFill>
                  </a:tcPr>
                </a:tc>
                <a:tc>
                  <a:txBody>
                    <a:bodyPr/>
                    <a:lstStyle/>
                    <a:p>
                      <a:r>
                        <a:rPr sz="1100" b="1">
                          <a:latin typeface="Times New Roman"/>
                        </a:rPr>
                        <a:t>0.188</a:t>
                      </a:r>
                    </a:p>
                  </a:txBody>
                  <a:tcPr>
                    <a:solidFill>
                      <a:srgbClr val="FFFFFF"/>
                    </a:solidFill>
                  </a:tcPr>
                </a:tc>
                <a:tc>
                  <a:txBody>
                    <a:bodyPr/>
                    <a:lstStyle/>
                    <a:p>
                      <a:r>
                        <a:rPr sz="1100" b="1">
                          <a:latin typeface="Times New Roman"/>
                        </a:rPr>
                        <a:t>baseline</a:t>
                      </a:r>
                    </a:p>
                  </a:txBody>
                  <a:tcPr>
                    <a:solidFill>
                      <a:srgbClr val="FFFFFF"/>
                    </a:solidFill>
                  </a:tcPr>
                </a:tc>
                <a:tc>
                  <a:txBody>
                    <a:bodyPr/>
                    <a:lstStyle/>
                    <a:p>
                      <a:r>
                        <a:rPr sz="1100" b="1">
                          <a:latin typeface="Times New Roman"/>
                        </a:rPr>
                        <a:t>≡ 0 (by construction)</a:t>
                      </a:r>
                    </a:p>
                  </a:txBody>
                  <a:tcPr>
                    <a:solidFill>
                      <a:srgbClr val="FFFFFF"/>
                    </a:solidFill>
                  </a:tcPr>
                </a:tc>
              </a:tr>
              <a:tr h="388620">
                <a:tc>
                  <a:txBody>
                    <a:bodyPr/>
                    <a:lstStyle/>
                    <a:p>
                      <a:r>
                        <a:rPr sz="1100">
                          <a:latin typeface="Times New Roman"/>
                        </a:rPr>
                        <a:t>A1 (no dispersion)</a:t>
                      </a:r>
                    </a:p>
                  </a:txBody>
                  <a:tcPr>
                    <a:solidFill>
                      <a:srgbClr val="FAEBDD"/>
                    </a:solidFill>
                  </a:tcPr>
                </a:tc>
                <a:tc>
                  <a:txBody>
                    <a:bodyPr/>
                    <a:lstStyle/>
                    <a:p>
                      <a:r>
                        <a:rPr sz="1100">
                          <a:latin typeface="Times New Roman"/>
                        </a:rPr>
                        <a:t>0.158</a:t>
                      </a:r>
                    </a:p>
                  </a:txBody>
                  <a:tcPr>
                    <a:solidFill>
                      <a:srgbClr val="FAEBDD"/>
                    </a:solidFill>
                  </a:tcPr>
                </a:tc>
                <a:tc>
                  <a:txBody>
                    <a:bodyPr/>
                    <a:lstStyle/>
                    <a:p>
                      <a:r>
                        <a:rPr sz="1100">
                          <a:latin typeface="Times New Roman"/>
                        </a:rPr>
                        <a:t>−16% nRMSE</a:t>
                      </a:r>
                    </a:p>
                  </a:txBody>
                  <a:tcPr>
                    <a:solidFill>
                      <a:srgbClr val="FAEBDD"/>
                    </a:solidFill>
                  </a:tcPr>
                </a:tc>
                <a:tc>
                  <a:txBody>
                    <a:bodyPr/>
                    <a:lstStyle/>
                    <a:p>
                      <a:r>
                        <a:rPr sz="1100">
                          <a:latin typeface="Times New Roman"/>
                        </a:rPr>
                        <a:t>0.51 ± 0.12</a:t>
                      </a:r>
                    </a:p>
                  </a:txBody>
                  <a:tcPr>
                    <a:solidFill>
                      <a:srgbClr val="FAEBDD"/>
                    </a:solidFill>
                  </a:tcPr>
                </a:tc>
              </a:tr>
              <a:tr h="388620">
                <a:tc>
                  <a:txBody>
                    <a:bodyPr/>
                    <a:lstStyle/>
                    <a:p>
                      <a:r>
                        <a:rPr sz="1100">
                          <a:latin typeface="Times New Roman"/>
                        </a:rPr>
                        <a:t>A2 (no confidence weight)</a:t>
                      </a:r>
                    </a:p>
                  </a:txBody>
                  <a:tcPr>
                    <a:solidFill>
                      <a:srgbClr val="FFFFFF"/>
                    </a:solidFill>
                  </a:tcPr>
                </a:tc>
                <a:tc>
                  <a:txBody>
                    <a:bodyPr/>
                    <a:lstStyle/>
                    <a:p>
                      <a:r>
                        <a:rPr sz="1100">
                          <a:latin typeface="Times New Roman"/>
                        </a:rPr>
                        <a:t>0.215</a:t>
                      </a:r>
                    </a:p>
                  </a:txBody>
                  <a:tcPr>
                    <a:solidFill>
                      <a:srgbClr val="FFFFFF"/>
                    </a:solidFill>
                  </a:tcPr>
                </a:tc>
                <a:tc>
                  <a:txBody>
                    <a:bodyPr/>
                    <a:lstStyle/>
                    <a:p>
                      <a:r>
                        <a:rPr sz="1100">
                          <a:latin typeface="Times New Roman"/>
                        </a:rPr>
                        <a:t>+14.5%</a:t>
                      </a:r>
                    </a:p>
                  </a:txBody>
                  <a:tcPr>
                    <a:solidFill>
                      <a:srgbClr val="FFFFFF"/>
                    </a:solidFill>
                  </a:tcPr>
                </a:tc>
                <a:tc>
                  <a:txBody>
                    <a:bodyPr/>
                    <a:lstStyle/>
                    <a:p>
                      <a:r>
                        <a:rPr sz="1100">
                          <a:latin typeface="Times New Roman"/>
                        </a:rPr>
                        <a:t>≡ 0</a:t>
                      </a:r>
                    </a:p>
                  </a:txBody>
                  <a:tcPr>
                    <a:solidFill>
                      <a:srgbClr val="FFFFFF"/>
                    </a:solidFill>
                  </a:tcPr>
                </a:tc>
              </a:tr>
            </a:tbl>
          </a:graphicData>
        </a:graphic>
      </p:graphicFrame>
      <p:sp>
        <p:nvSpPr>
          <p:cNvPr id="5" name="TextBox 4"/>
          <p:cNvSpPr txBox="1"/>
          <p:nvPr/>
        </p:nvSpPr>
        <p:spPr>
          <a:xfrm>
            <a:off x="365760" y="2788920"/>
            <a:ext cx="8229600" cy="274320"/>
          </a:xfrm>
          <a:prstGeom prst="rect">
            <a:avLst/>
          </a:prstGeom>
          <a:noFill/>
        </p:spPr>
        <p:txBody>
          <a:bodyPr wrap="none">
            <a:spAutoFit/>
          </a:bodyPr>
          <a:lstStyle/>
          <a:p>
            <a:r>
              <a:rPr sz="1200" b="1">
                <a:solidFill>
                  <a:srgbClr val="C05317"/>
                </a:solidFill>
                <a:latin typeface="Times New Roman"/>
              </a:rPr>
              <a:t>A1이 nRMSE는 16% 낮다 — 그런데 왜 dispersion이 필요?</a:t>
            </a:r>
          </a:p>
        </p:txBody>
      </p:sp>
      <p:sp>
        <p:nvSpPr>
          <p:cNvPr id="6" name="TextBox 5"/>
          <p:cNvSpPr txBox="1"/>
          <p:nvPr/>
        </p:nvSpPr>
        <p:spPr>
          <a:xfrm>
            <a:off x="365760" y="3108960"/>
            <a:ext cx="8229600" cy="2926080"/>
          </a:xfrm>
          <a:prstGeom prst="rect">
            <a:avLst/>
          </a:prstGeom>
          <a:noFill/>
        </p:spPr>
        <p:txBody>
          <a:bodyPr wrap="square">
            <a:spAutoFit/>
          </a:bodyPr>
          <a:lstStyle/>
          <a:p>
            <a:r>
              <a:rPr sz="1100" b="0" i="0">
                <a:solidFill>
                  <a:srgbClr val="333333"/>
                </a:solidFill>
                <a:latin typeface="Times New Roman"/>
              </a:rPr>
              <a:t>R̄ = Σ|wᵢ|·|ωᵢ − ω_disp| / (ωᵢ·Σ|wⱼ|)  ← 추정 ω가 dispersion manifold에서 얼마나 이탈했는지</a:t>
            </a:r>
          </a:p>
          <a:p>
            <a:r>
              <a:rPr sz="1100" b="0" i="0">
                <a:solidFill>
                  <a:srgbClr val="333333"/>
                </a:solidFill>
                <a:latin typeface="Times New Roman"/>
              </a:rPr>
              <a:t>▪ A1: R̄ = 0.51 ± 0.12  →  성분의 약 50%가 dispersion manifold에서 이탈</a:t>
            </a:r>
          </a:p>
          <a:p>
            <a:r>
              <a:rPr sz="1100" b="0" i="0">
                <a:solidFill>
                  <a:srgbClr val="333333"/>
                </a:solidFill>
                <a:latin typeface="Times New Roman"/>
              </a:rPr>
              <a:t>▪ 절대값 ~0.10 Hz off  →  1초 뒤 phase prediction이 de-cohere</a:t>
            </a:r>
          </a:p>
          <a:p>
            <a:r>
              <a:rPr sz="1100" b="0" i="0">
                <a:solidFill>
                  <a:srgbClr val="333333"/>
                </a:solidFill>
                <a:latin typeface="Times New Roman"/>
              </a:rPr>
              <a:t>▪ 시간 추적, 파고 예측, downstream 제어에 사용 불가</a:t>
            </a:r>
          </a:p>
          <a:p>
            <a:r>
              <a:rPr sz="1100" b="0" i="0">
                <a:solidFill>
                  <a:srgbClr val="333333"/>
                </a:solidFill>
                <a:latin typeface="Times New Roman"/>
              </a:rPr>
              <a:t>▪ A1이 instantaneous nRMSE만 낮은 것 — 시간 외삽 능력 상실</a:t>
            </a:r>
          </a:p>
          <a:p>
            <a:r>
              <a:rPr sz="1200" b="1" i="0">
                <a:solidFill>
                  <a:srgbClr val="C05317"/>
                </a:solidFill>
                <a:latin typeface="Times New Roman"/>
              </a:rPr>
              <a:t>결론: A1의 16% 차이는 '물리적 유효성을 포기하고 얻은 nRMSE' (snapshot 적합도일 뿐)</a:t>
            </a:r>
          </a:p>
          <a:p>
            <a:r>
              <a:rPr sz="1100" b="0" i="0">
                <a:solidFill>
                  <a:srgbClr val="333333"/>
                </a:solidFill>
                <a:latin typeface="Times New Roman"/>
              </a:rPr>
              <a:t/>
            </a:r>
          </a:p>
          <a:p>
            <a:r>
              <a:rPr sz="1100" b="0" i="0">
                <a:solidFill>
                  <a:srgbClr val="333333"/>
                </a:solidFill>
                <a:latin typeface="Times New Roman"/>
              </a:rPr>
              <a:t>▪ A2 (no confidence): +14.5% nRMSE → cⱼ가 noise weighting으로 의미 있음</a:t>
            </a:r>
          </a:p>
        </p:txBody>
      </p:sp>
      <p:sp>
        <p:nvSpPr>
          <p:cNvPr id="7" name="TextBox 6"/>
          <p:cNvSpPr txBox="1"/>
          <p:nvPr/>
        </p:nvSpPr>
        <p:spPr>
          <a:xfrm>
            <a:off x="365760" y="6263640"/>
            <a:ext cx="8229600" cy="228600"/>
          </a:xfrm>
          <a:prstGeom prst="rect">
            <a:avLst/>
          </a:prstGeom>
          <a:noFill/>
        </p:spPr>
        <p:txBody>
          <a:bodyPr wrap="none">
            <a:spAutoFit/>
          </a:bodyPr>
          <a:lstStyle/>
          <a:p>
            <a:r>
              <a:rPr sz="800" i="1">
                <a:solidFill>
                  <a:srgbClr val="666666"/>
                </a:solidFill>
                <a:latin typeface="Times New Roman"/>
              </a:rPr>
              <a:t>Ref: 본 연구 self-reference. Dispersion: Holthuijsen 2007 §5.4</a:t>
            </a:r>
          </a:p>
        </p:txBody>
      </p:sp>
      <p:sp>
        <p:nvSpPr>
          <p:cNvPr id="8" name="TextBox 7"/>
          <p:cNvSpPr txBox="1"/>
          <p:nvPr/>
        </p:nvSpPr>
        <p:spPr>
          <a:xfrm>
            <a:off x="365760" y="5166360"/>
            <a:ext cx="4114800" cy="274320"/>
          </a:xfrm>
          <a:prstGeom prst="rect">
            <a:avLst/>
          </a:prstGeom>
          <a:noFill/>
        </p:spPr>
        <p:txBody>
          <a:bodyPr wrap="none">
            <a:spAutoFit/>
          </a:bodyPr>
          <a:lstStyle/>
          <a:p>
            <a:r>
              <a:rPr sz="1200" b="1">
                <a:solidFill>
                  <a:srgbClr val="C05317"/>
                </a:solidFill>
                <a:latin typeface="Times New Roman"/>
              </a:rPr>
              <a:t>추가 분석 — Forecast 능력 차이</a:t>
            </a:r>
          </a:p>
        </p:txBody>
      </p:sp>
      <p:sp>
        <p:nvSpPr>
          <p:cNvPr id="9" name="TextBox 8"/>
          <p:cNvSpPr txBox="1"/>
          <p:nvPr/>
        </p:nvSpPr>
        <p:spPr>
          <a:xfrm>
            <a:off x="365760" y="5486400"/>
            <a:ext cx="4114800" cy="1097280"/>
          </a:xfrm>
          <a:prstGeom prst="rect">
            <a:avLst/>
          </a:prstGeom>
          <a:noFill/>
        </p:spPr>
        <p:txBody>
          <a:bodyPr wrap="square">
            <a:spAutoFit/>
          </a:bodyPr>
          <a:lstStyle/>
          <a:p>
            <a:r>
              <a:rPr sz="1100" b="1" i="0">
                <a:solidFill>
                  <a:srgbClr val="1A1A2E"/>
                </a:solidFill>
                <a:latin typeface="Times New Roman"/>
              </a:rPr>
              <a:t>A1 (no dispersion) — 외삽 5초 후 비교</a:t>
            </a:r>
          </a:p>
          <a:p>
            <a:r>
              <a:rPr sz="1000" b="0" i="0">
                <a:solidFill>
                  <a:srgbClr val="333333"/>
                </a:solidFill>
                <a:latin typeface="Times New Roman"/>
              </a:rPr>
              <a:t>▪ Full: nRMSE 0.219 → 5초 후 0.231 (4% 증가)</a:t>
            </a:r>
          </a:p>
          <a:p>
            <a:r>
              <a:rPr sz="1000" b="0" i="0">
                <a:solidFill>
                  <a:srgbClr val="333333"/>
                </a:solidFill>
                <a:latin typeface="Times New Roman"/>
              </a:rPr>
              <a:t>▪ A1:   nRMSE 0.158 → 5초 후 0.476 (3× 폭발)</a:t>
            </a:r>
          </a:p>
          <a:p>
            <a:r>
              <a:rPr sz="1000" b="0" i="0">
                <a:solidFill>
                  <a:srgbClr val="333333"/>
                </a:solidFill>
                <a:latin typeface="Times New Roman"/>
              </a:rPr>
              <a:t>▪ A1은 instantaneous는 좋지만 시간 외삽 직후</a:t>
            </a:r>
          </a:p>
          <a:p>
            <a:r>
              <a:rPr sz="1000" b="0" i="0">
                <a:solidFill>
                  <a:srgbClr val="333333"/>
                </a:solidFill>
                <a:latin typeface="Times New Roman"/>
              </a:rPr>
              <a:t>   phase decoherence로 사용 불가</a:t>
            </a:r>
          </a:p>
        </p:txBody>
      </p:sp>
      <p:sp>
        <p:nvSpPr>
          <p:cNvPr id="10" name="TextBox 9"/>
          <p:cNvSpPr txBox="1"/>
          <p:nvPr/>
        </p:nvSpPr>
        <p:spPr>
          <a:xfrm>
            <a:off x="4663440" y="5166360"/>
            <a:ext cx="3931920" cy="274320"/>
          </a:xfrm>
          <a:prstGeom prst="rect">
            <a:avLst/>
          </a:prstGeom>
          <a:noFill/>
        </p:spPr>
        <p:txBody>
          <a:bodyPr wrap="none">
            <a:spAutoFit/>
          </a:bodyPr>
          <a:lstStyle/>
          <a:p>
            <a:r>
              <a:rPr sz="1200" b="1">
                <a:solidFill>
                  <a:srgbClr val="C05317"/>
                </a:solidFill>
                <a:latin typeface="Times New Roman"/>
              </a:rPr>
              <a:t>왜 dispersion drift R̄가 0.51이면 위험?</a:t>
            </a:r>
          </a:p>
        </p:txBody>
      </p:sp>
      <p:sp>
        <p:nvSpPr>
          <p:cNvPr id="11" name="TextBox 10"/>
          <p:cNvSpPr txBox="1"/>
          <p:nvPr/>
        </p:nvSpPr>
        <p:spPr>
          <a:xfrm>
            <a:off x="4663440" y="5486400"/>
            <a:ext cx="3931920" cy="1097280"/>
          </a:xfrm>
          <a:prstGeom prst="rect">
            <a:avLst/>
          </a:prstGeom>
          <a:noFill/>
        </p:spPr>
        <p:txBody>
          <a:bodyPr wrap="square">
            <a:spAutoFit/>
          </a:bodyPr>
          <a:lstStyle/>
          <a:p>
            <a:r>
              <a:rPr sz="1100" b="1" i="0">
                <a:solidFill>
                  <a:srgbClr val="1A1A2E"/>
                </a:solidFill>
                <a:latin typeface="Times New Roman"/>
              </a:rPr>
              <a:t>한 component 예시 (BF4 5c 첫 component)</a:t>
            </a:r>
          </a:p>
          <a:p>
            <a:r>
              <a:rPr sz="1000" b="0" i="0">
                <a:solidFill>
                  <a:srgbClr val="333333"/>
                </a:solidFill>
                <a:latin typeface="Times New Roman"/>
              </a:rPr>
              <a:t>▪ |k|=0.16 rad/m  →  ω_disp = 1.25 rad/s</a:t>
            </a:r>
          </a:p>
          <a:p>
            <a:r>
              <a:rPr sz="1000" b="0" i="0">
                <a:solidFill>
                  <a:srgbClr val="333333"/>
                </a:solidFill>
                <a:latin typeface="Times New Roman"/>
              </a:rPr>
              <a:t>▪ A1 추정 ω = 1.78 rad/s  →  Δω = 0.53 rad/s</a:t>
            </a:r>
          </a:p>
          <a:p>
            <a:r>
              <a:rPr sz="1000" b="0" i="0">
                <a:solidFill>
                  <a:srgbClr val="333333"/>
                </a:solidFill>
                <a:latin typeface="Times New Roman"/>
              </a:rPr>
              <a:t>▪ 1초 후 phase 오차 ≈ 0.53 rad ≈ 30°</a:t>
            </a:r>
          </a:p>
          <a:p>
            <a:r>
              <a:rPr sz="1000" b="0" i="0">
                <a:solidFill>
                  <a:srgbClr val="333333"/>
                </a:solidFill>
                <a:latin typeface="Times New Roman"/>
              </a:rPr>
              <a:t>▪ → 거의 모든 wave에서 위치 어긋남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100" b="0" i="0">
                <a:latin typeface="Times New Roman"/>
              </a:rPr>
              <a:t>Robustness — Raydrop · Sparsity · Noise · Hyperparameter</a:t>
            </a:r>
          </a:p>
        </p:txBody>
      </p:sp>
      <p:sp>
        <p:nvSpPr>
          <p:cNvPr id="4" name="TextBox 3"/>
          <p:cNvSpPr txBox="1"/>
          <p:nvPr/>
        </p:nvSpPr>
        <p:spPr>
          <a:xfrm>
            <a:off x="365760" y="868680"/>
            <a:ext cx="2011680" cy="274320"/>
          </a:xfrm>
          <a:prstGeom prst="rect">
            <a:avLst/>
          </a:prstGeom>
          <a:noFill/>
        </p:spPr>
        <p:txBody>
          <a:bodyPr wrap="none">
            <a:spAutoFit/>
          </a:bodyPr>
          <a:lstStyle/>
          <a:p>
            <a:r>
              <a:rPr sz="1100" b="1">
                <a:solidFill>
                  <a:srgbClr val="C05317"/>
                </a:solidFill>
                <a:latin typeface="Times New Roman"/>
              </a:rPr>
              <a:t>Raydrop Sensitivity</a:t>
            </a:r>
          </a:p>
        </p:txBody>
      </p:sp>
      <p:sp>
        <p:nvSpPr>
          <p:cNvPr id="5" name="TextBox 4"/>
          <p:cNvSpPr txBox="1"/>
          <p:nvPr/>
        </p:nvSpPr>
        <p:spPr>
          <a:xfrm>
            <a:off x="365760" y="1143000"/>
            <a:ext cx="2011680" cy="3657600"/>
          </a:xfrm>
          <a:prstGeom prst="rect">
            <a:avLst/>
          </a:prstGeom>
          <a:noFill/>
        </p:spPr>
        <p:txBody>
          <a:bodyPr wrap="square">
            <a:spAutoFit/>
          </a:bodyPr>
          <a:lstStyle/>
          <a:p>
            <a:r>
              <a:rPr sz="1000" b="0" i="0">
                <a:solidFill>
                  <a:srgbClr val="333333"/>
                </a:solidFill>
                <a:latin typeface="Times New Roman"/>
              </a:rPr>
              <a:t>▪ 10 paired episodes (Uniform vs Slope)</a:t>
            </a:r>
          </a:p>
          <a:p>
            <a:r>
              <a:rPr sz="1000" b="0" i="0">
                <a:solidFill>
                  <a:srgbClr val="333333"/>
                </a:solidFill>
                <a:latin typeface="Times New Roman"/>
              </a:rPr>
              <a:t>▪ WaveSplat: 20/20 wins</a:t>
            </a:r>
          </a:p>
          <a:p>
            <a:r>
              <a:rPr sz="1000" b="0" i="0">
                <a:solidFill>
                  <a:srgbClr val="333333"/>
                </a:solidFill>
                <a:latin typeface="Times New Roman"/>
              </a:rPr>
              <a:t>▪ Slope에서 WS −9.1%, ETKF −16.2%</a:t>
            </a:r>
          </a:p>
          <a:p>
            <a:r>
              <a:rPr sz="1000" b="0" i="0">
                <a:solidFill>
                  <a:srgbClr val="333333"/>
                </a:solidFill>
                <a:latin typeface="Times New Roman"/>
              </a:rPr>
              <a:t>▪ 두 raydrop 모두에서 WS가 안정적</a:t>
            </a:r>
          </a:p>
          <a:p>
            <a:r>
              <a:rPr sz="1000" b="0" i="0">
                <a:solidFill>
                  <a:srgbClr val="333333"/>
                </a:solidFill>
                <a:latin typeface="Times New Roman"/>
              </a:rPr>
              <a:t/>
            </a:r>
          </a:p>
          <a:p>
            <a:r>
              <a:rPr sz="1000" b="0" i="0">
                <a:solidFill>
                  <a:srgbClr val="333333"/>
                </a:solidFill>
                <a:latin typeface="Times New Roman"/>
              </a:rPr>
              <a:t>→ Fresnel-vs-specular 어느 가정이</a:t>
            </a:r>
          </a:p>
          <a:p>
            <a:r>
              <a:rPr sz="1000" b="0" i="0">
                <a:solidFill>
                  <a:srgbClr val="333333"/>
                </a:solidFill>
                <a:latin typeface="Times New Roman"/>
              </a:rPr>
              <a:t>   맞든 WaveSplat 유효</a:t>
            </a:r>
          </a:p>
        </p:txBody>
      </p:sp>
      <p:sp>
        <p:nvSpPr>
          <p:cNvPr id="6" name="TextBox 5"/>
          <p:cNvSpPr txBox="1"/>
          <p:nvPr/>
        </p:nvSpPr>
        <p:spPr>
          <a:xfrm>
            <a:off x="2514600" y="868680"/>
            <a:ext cx="2011680" cy="274320"/>
          </a:xfrm>
          <a:prstGeom prst="rect">
            <a:avLst/>
          </a:prstGeom>
          <a:noFill/>
        </p:spPr>
        <p:txBody>
          <a:bodyPr wrap="none">
            <a:spAutoFit/>
          </a:bodyPr>
          <a:lstStyle/>
          <a:p>
            <a:r>
              <a:rPr sz="1100" b="1">
                <a:solidFill>
                  <a:srgbClr val="C05317"/>
                </a:solidFill>
                <a:latin typeface="Times New Roman"/>
              </a:rPr>
              <a:t>Sparsity Robustness</a:t>
            </a:r>
          </a:p>
        </p:txBody>
      </p:sp>
      <p:sp>
        <p:nvSpPr>
          <p:cNvPr id="7" name="TextBox 6"/>
          <p:cNvSpPr txBox="1"/>
          <p:nvPr/>
        </p:nvSpPr>
        <p:spPr>
          <a:xfrm>
            <a:off x="2514600" y="1143000"/>
            <a:ext cx="2011680" cy="3657600"/>
          </a:xfrm>
          <a:prstGeom prst="rect">
            <a:avLst/>
          </a:prstGeom>
          <a:noFill/>
        </p:spPr>
        <p:txBody>
          <a:bodyPr wrap="square">
            <a:spAutoFit/>
          </a:bodyPr>
          <a:lstStyle/>
          <a:p>
            <a:r>
              <a:rPr sz="1000" b="0" i="0">
                <a:solidFill>
                  <a:srgbClr val="333333"/>
                </a:solidFill>
                <a:latin typeface="Times New Roman"/>
              </a:rPr>
              <a:t>▪ 관측 밀도 20~100% 실험</a:t>
            </a:r>
          </a:p>
          <a:p>
            <a:r>
              <a:rPr sz="1000" b="0" i="0">
                <a:solidFill>
                  <a:srgbClr val="333333"/>
                </a:solidFill>
                <a:latin typeface="Times New Roman"/>
              </a:rPr>
              <a:t>▪ BF4~5: 20% (~10점)에서도</a:t>
            </a:r>
          </a:p>
          <a:p>
            <a:r>
              <a:rPr sz="1000" b="0" i="0">
                <a:solidFill>
                  <a:srgbClr val="333333"/>
                </a:solidFill>
                <a:latin typeface="Times New Roman"/>
              </a:rPr>
              <a:t>   &lt; 8% 성능 저하</a:t>
            </a:r>
          </a:p>
          <a:p>
            <a:r>
              <a:rPr sz="1000" b="0" i="0">
                <a:solidFill>
                  <a:srgbClr val="333333"/>
                </a:solidFill>
                <a:latin typeface="Times New Roman"/>
              </a:rPr>
              <a:t>▪ 예외: BF3 2c → N=2 해상 한계</a:t>
            </a:r>
          </a:p>
          <a:p>
            <a:r>
              <a:rPr sz="1000" b="0" i="0">
                <a:solidFill>
                  <a:srgbClr val="333333"/>
                </a:solidFill>
                <a:latin typeface="Times New Roman"/>
              </a:rPr>
              <a:t>   (관측 &lt; component 수)</a:t>
            </a:r>
          </a:p>
          <a:p>
            <a:r>
              <a:rPr sz="1000" b="0" i="0">
                <a:solidFill>
                  <a:srgbClr val="333333"/>
                </a:solidFill>
                <a:latin typeface="Times New Roman"/>
              </a:rPr>
              <a:t/>
            </a:r>
          </a:p>
          <a:p>
            <a:r>
              <a:rPr sz="1000" b="0" i="0">
                <a:solidFill>
                  <a:srgbClr val="333333"/>
                </a:solidFill>
                <a:latin typeface="Times New Roman"/>
              </a:rPr>
              <a:t>→ Grid-free → aliasing 없음</a:t>
            </a:r>
          </a:p>
          <a:p>
            <a:r>
              <a:rPr sz="1000" b="0" i="0">
                <a:solidFill>
                  <a:srgbClr val="333333"/>
                </a:solidFill>
                <a:latin typeface="Times New Roman"/>
              </a:rPr>
              <a:t>   → 희소관측에 강건</a:t>
            </a:r>
          </a:p>
        </p:txBody>
      </p:sp>
      <p:sp>
        <p:nvSpPr>
          <p:cNvPr id="8" name="TextBox 7"/>
          <p:cNvSpPr txBox="1"/>
          <p:nvPr/>
        </p:nvSpPr>
        <p:spPr>
          <a:xfrm>
            <a:off x="4663440" y="868680"/>
            <a:ext cx="2011680" cy="274320"/>
          </a:xfrm>
          <a:prstGeom prst="rect">
            <a:avLst/>
          </a:prstGeom>
          <a:noFill/>
        </p:spPr>
        <p:txBody>
          <a:bodyPr wrap="none">
            <a:spAutoFit/>
          </a:bodyPr>
          <a:lstStyle/>
          <a:p>
            <a:r>
              <a:rPr sz="1100" b="1">
                <a:solidFill>
                  <a:srgbClr val="C05317"/>
                </a:solidFill>
                <a:latin typeface="Times New Roman"/>
              </a:rPr>
              <a:t>Noise Robustness</a:t>
            </a:r>
          </a:p>
        </p:txBody>
      </p:sp>
      <p:sp>
        <p:nvSpPr>
          <p:cNvPr id="9" name="TextBox 8"/>
          <p:cNvSpPr txBox="1"/>
          <p:nvPr/>
        </p:nvSpPr>
        <p:spPr>
          <a:xfrm>
            <a:off x="4663440" y="1143000"/>
            <a:ext cx="2011680" cy="3657600"/>
          </a:xfrm>
          <a:prstGeom prst="rect">
            <a:avLst/>
          </a:prstGeom>
          <a:noFill/>
        </p:spPr>
        <p:txBody>
          <a:bodyPr wrap="square">
            <a:spAutoFit/>
          </a:bodyPr>
          <a:lstStyle/>
          <a:p>
            <a:r>
              <a:rPr sz="1000" b="0" i="0">
                <a:solidFill>
                  <a:srgbClr val="333333"/>
                </a:solidFill>
                <a:latin typeface="Times New Roman"/>
              </a:rPr>
              <a:t>▪ σ ∈ {0, 0.02, 0.05, 0.10} m</a:t>
            </a:r>
          </a:p>
          <a:p>
            <a:r>
              <a:rPr sz="1000" b="0" i="0">
                <a:solidFill>
                  <a:srgbClr val="333333"/>
                </a:solidFill>
                <a:latin typeface="Times New Roman"/>
              </a:rPr>
              <a:t>▪ σ=0.10 (5× baseline)에서도</a:t>
            </a:r>
          </a:p>
          <a:p>
            <a:r>
              <a:rPr sz="1000" b="0" i="0">
                <a:solidFill>
                  <a:srgbClr val="333333"/>
                </a:solidFill>
                <a:latin typeface="Times New Roman"/>
              </a:rPr>
              <a:t>   nRMSE 변화 ±13% 이내</a:t>
            </a:r>
          </a:p>
          <a:p>
            <a:r>
              <a:rPr sz="1000" b="0" i="0">
                <a:solidFill>
                  <a:srgbClr val="333333"/>
                </a:solidFill>
                <a:latin typeface="Times New Roman"/>
              </a:rPr>
              <a:t>▪ Adaptive N이 노이즈 흡수</a:t>
            </a:r>
          </a:p>
          <a:p>
            <a:r>
              <a:rPr sz="1000" b="0" i="0">
                <a:solidFill>
                  <a:srgbClr val="333333"/>
                </a:solidFill>
                <a:latin typeface="Times New Roman"/>
              </a:rPr>
              <a:t>   → 가짜 component를 pruning</a:t>
            </a:r>
          </a:p>
          <a:p>
            <a:r>
              <a:rPr sz="1000" b="0" i="0">
                <a:solidFill>
                  <a:srgbClr val="333333"/>
                </a:solidFill>
                <a:latin typeface="Times New Roman"/>
              </a:rPr>
              <a:t/>
            </a:r>
          </a:p>
          <a:p>
            <a:r>
              <a:rPr sz="1000" b="0" i="0">
                <a:solidFill>
                  <a:srgbClr val="333333"/>
                </a:solidFill>
                <a:latin typeface="Times New Roman"/>
              </a:rPr>
              <a:t>→ NEUBOAT 실측 noise (~0.05)</a:t>
            </a:r>
          </a:p>
          <a:p>
            <a:r>
              <a:rPr sz="1000" b="0" i="0">
                <a:solidFill>
                  <a:srgbClr val="333333"/>
                </a:solidFill>
                <a:latin typeface="Times New Roman"/>
              </a:rPr>
              <a:t>   범위 내에서 안전</a:t>
            </a:r>
          </a:p>
        </p:txBody>
      </p:sp>
      <p:sp>
        <p:nvSpPr>
          <p:cNvPr id="10" name="TextBox 9"/>
          <p:cNvSpPr txBox="1"/>
          <p:nvPr/>
        </p:nvSpPr>
        <p:spPr>
          <a:xfrm>
            <a:off x="6812280" y="868680"/>
            <a:ext cx="2011680" cy="274320"/>
          </a:xfrm>
          <a:prstGeom prst="rect">
            <a:avLst/>
          </a:prstGeom>
          <a:noFill/>
        </p:spPr>
        <p:txBody>
          <a:bodyPr wrap="none">
            <a:spAutoFit/>
          </a:bodyPr>
          <a:lstStyle/>
          <a:p>
            <a:r>
              <a:rPr sz="1100" b="1">
                <a:solidFill>
                  <a:srgbClr val="C05317"/>
                </a:solidFill>
                <a:latin typeface="Times New Roman"/>
              </a:rPr>
              <a:t>Hyperparameter</a:t>
            </a:r>
          </a:p>
        </p:txBody>
      </p:sp>
      <p:sp>
        <p:nvSpPr>
          <p:cNvPr id="11" name="TextBox 10"/>
          <p:cNvSpPr txBox="1"/>
          <p:nvPr/>
        </p:nvSpPr>
        <p:spPr>
          <a:xfrm>
            <a:off x="6812280" y="1143000"/>
            <a:ext cx="2011680" cy="3657600"/>
          </a:xfrm>
          <a:prstGeom prst="rect">
            <a:avLst/>
          </a:prstGeom>
          <a:noFill/>
        </p:spPr>
        <p:txBody>
          <a:bodyPr wrap="square">
            <a:spAutoFit/>
          </a:bodyPr>
          <a:lstStyle/>
          <a:p>
            <a:r>
              <a:rPr sz="1000" b="0" i="0">
                <a:solidFill>
                  <a:srgbClr val="333333"/>
                </a:solidFill>
                <a:latin typeface="Times New Roman"/>
              </a:rPr>
              <a:t>▪ lr=10⁻², λ₁=10⁻³</a:t>
            </a:r>
          </a:p>
          <a:p>
            <a:r>
              <a:rPr sz="1000" b="0" i="0">
                <a:solidFill>
                  <a:srgbClr val="333333"/>
                </a:solidFill>
                <a:latin typeface="Times New Roman"/>
              </a:rPr>
              <a:t>▪ τ_prune=0.10, τ_grow=0.05</a:t>
            </a:r>
          </a:p>
          <a:p>
            <a:r>
              <a:rPr sz="1000" b="0" i="0">
                <a:solidFill>
                  <a:srgbClr val="333333"/>
                </a:solidFill>
                <a:latin typeface="Times New Roman"/>
              </a:rPr>
              <a:t>▪ BF3 5c 한 번의 sweep으로 결정</a:t>
            </a:r>
          </a:p>
          <a:p>
            <a:r>
              <a:rPr sz="1000" b="0" i="0">
                <a:solidFill>
                  <a:srgbClr val="333333"/>
                </a:solidFill>
                <a:latin typeface="Times New Roman"/>
              </a:rPr>
              <a:t>▪ 각 파라미터 ±2× 변경해도</a:t>
            </a:r>
          </a:p>
          <a:p>
            <a:r>
              <a:rPr sz="1000" b="0" i="0">
                <a:solidFill>
                  <a:srgbClr val="333333"/>
                </a:solidFill>
                <a:latin typeface="Times New Roman"/>
              </a:rPr>
              <a:t>   nRMSE ±5% 이내</a:t>
            </a:r>
          </a:p>
          <a:p>
            <a:r>
              <a:rPr sz="1000" b="0" i="0">
                <a:solidFill>
                  <a:srgbClr val="333333"/>
                </a:solidFill>
                <a:latin typeface="Times New Roman"/>
              </a:rPr>
              <a:t/>
            </a:r>
          </a:p>
          <a:p>
            <a:r>
              <a:rPr sz="1000" b="0" i="0">
                <a:solidFill>
                  <a:srgbClr val="333333"/>
                </a:solidFill>
                <a:latin typeface="Times New Roman"/>
              </a:rPr>
              <a:t>→ 100 runs 모두 동일 setting</a:t>
            </a:r>
          </a:p>
          <a:p>
            <a:r>
              <a:rPr sz="1000" b="0" i="0">
                <a:solidFill>
                  <a:srgbClr val="333333"/>
                </a:solidFill>
                <a:latin typeface="Times New Roman"/>
              </a:rPr>
              <a:t>   → 재현성 확보</a:t>
            </a:r>
          </a:p>
        </p:txBody>
      </p:sp>
      <p:sp>
        <p:nvSpPr>
          <p:cNvPr id="12" name="TextBox 11"/>
          <p:cNvSpPr txBox="1"/>
          <p:nvPr/>
        </p:nvSpPr>
        <p:spPr>
          <a:xfrm>
            <a:off x="365760" y="5166360"/>
            <a:ext cx="8503920" cy="457200"/>
          </a:xfrm>
          <a:prstGeom prst="rect">
            <a:avLst/>
          </a:prstGeom>
          <a:noFill/>
        </p:spPr>
        <p:txBody>
          <a:bodyPr wrap="square">
            <a:spAutoFit/>
          </a:bodyPr>
          <a:lstStyle/>
          <a:p>
            <a:r>
              <a:rPr sz="1200" b="1" i="0">
                <a:solidFill>
                  <a:srgbClr val="C05317"/>
                </a:solidFill>
                <a:latin typeface="Times New Roman"/>
              </a:rPr>
              <a:t>결론: 모든 robustness 축에서 일관 — 단일 hyperparameter setting으로 100 runs 재현 가능</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100" b="0" i="0">
                <a:latin typeface="Times New Roman"/>
              </a:rPr>
              <a:t>Qualitative 비교 — GT vs WaveSplat vs ETKF vs GPR</a:t>
            </a:r>
          </a:p>
        </p:txBody>
      </p:sp>
      <p:sp>
        <p:nvSpPr>
          <p:cNvPr id="4" name="Rectangle 3"/>
          <p:cNvSpPr/>
          <p:nvPr/>
        </p:nvSpPr>
        <p:spPr>
          <a:xfrm>
            <a:off x="365760" y="868680"/>
            <a:ext cx="8229600" cy="2560320"/>
          </a:xfrm>
          <a:prstGeom prst="rect">
            <a:avLst/>
          </a:prstGeom>
          <a:solidFill>
            <a:srgbClr val="FFF7ED"/>
          </a:solidFill>
          <a:ln w="19050">
            <a:solidFill>
              <a:srgbClr val="C0531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i="1">
                <a:solidFill>
                  <a:srgbClr val="C05317"/>
                </a:solidFill>
                <a:latin typeface="Times New Roman"/>
              </a:rPr>
              <a:t>[ 그림 자리 ]
paper/figures/fig8_qualitative.pdf — 4 column 시각 비교
(GT | WaveSplat | ETKF | GPR-1) 한 frame snapshot</a:t>
            </a:r>
          </a:p>
        </p:txBody>
      </p:sp>
      <p:sp>
        <p:nvSpPr>
          <p:cNvPr id="5" name="TextBox 4"/>
          <p:cNvSpPr txBox="1"/>
          <p:nvPr/>
        </p:nvSpPr>
        <p:spPr>
          <a:xfrm>
            <a:off x="365760" y="3840480"/>
            <a:ext cx="8229600" cy="1828800"/>
          </a:xfrm>
          <a:prstGeom prst="rect">
            <a:avLst/>
          </a:prstGeom>
          <a:noFill/>
        </p:spPr>
        <p:txBody>
          <a:bodyPr wrap="square">
            <a:spAutoFit/>
          </a:bodyPr>
          <a:lstStyle/>
          <a:p>
            <a:r>
              <a:rPr sz="1300" b="1" i="0">
                <a:solidFill>
                  <a:srgbClr val="C05317"/>
                </a:solidFill>
                <a:latin typeface="Times New Roman"/>
              </a:rPr>
              <a:t>읽는 법</a:t>
            </a:r>
          </a:p>
          <a:p>
            <a:r>
              <a:rPr sz="1100" b="0" i="0">
                <a:solidFill>
                  <a:srgbClr val="333333"/>
                </a:solidFill>
                <a:latin typeface="Times New Roman"/>
              </a:rPr>
              <a:t>▪ 좌→우: GT (정답) → WaveSplat → ETKF → GPR</a:t>
            </a:r>
          </a:p>
          <a:p>
            <a:r>
              <a:rPr sz="1100" b="0" i="0">
                <a:solidFill>
                  <a:srgbClr val="333333"/>
                </a:solidFill>
                <a:latin typeface="Times New Roman"/>
              </a:rPr>
              <a:t>▪ WaveSplat: 파면 형상 정확 — 위상·진폭 모두 GT와 가까움</a:t>
            </a:r>
          </a:p>
          <a:p>
            <a:r>
              <a:rPr sz="1100" b="0" i="0">
                <a:solidFill>
                  <a:srgbClr val="333333"/>
                </a:solidFill>
                <a:latin typeface="Times New Roman"/>
              </a:rPr>
              <a:t>▪ ETKF: 진폭은 보존되나 spatial structure가 incoherent (격자 보간 잡음)</a:t>
            </a:r>
          </a:p>
          <a:p>
            <a:r>
              <a:rPr sz="1100" b="0" i="0">
                <a:solidFill>
                  <a:srgbClr val="333333"/>
                </a:solidFill>
                <a:latin typeface="Times New Roman"/>
              </a:rPr>
              <a:t>▪ GPR: 표면이 거의 평탄 (zero-predictor에 가까움 — VR=0.065 수치와 일관)</a:t>
            </a:r>
          </a:p>
          <a:p>
            <a:r>
              <a:rPr sz="1100" b="0" i="0">
                <a:solidFill>
                  <a:srgbClr val="333333"/>
                </a:solidFill>
                <a:latin typeface="Times New Roman"/>
              </a:rPr>
              <a:t/>
            </a:r>
          </a:p>
          <a:p>
            <a:r>
              <a:rPr sz="1000" b="0" i="1">
                <a:solidFill>
                  <a:srgbClr val="666666"/>
                </a:solidFill>
                <a:latin typeface="Times New Roman"/>
              </a:rPr>
              <a:t>※ 본 슬라이드는 paper Fig 8을 활용. 실 발표 시 demo_wavesplat.gif (animation) 같이 재생 가능</a:t>
            </a:r>
          </a:p>
        </p:txBody>
      </p:sp>
      <p:sp>
        <p:nvSpPr>
          <p:cNvPr id="6" name="TextBox 5"/>
          <p:cNvSpPr txBox="1"/>
          <p:nvPr/>
        </p:nvSpPr>
        <p:spPr>
          <a:xfrm>
            <a:off x="365760" y="5532120"/>
            <a:ext cx="8229600" cy="274320"/>
          </a:xfrm>
          <a:prstGeom prst="rect">
            <a:avLst/>
          </a:prstGeom>
          <a:noFill/>
        </p:spPr>
        <p:txBody>
          <a:bodyPr wrap="none">
            <a:spAutoFit/>
          </a:bodyPr>
          <a:lstStyle/>
          <a:p>
            <a:r>
              <a:rPr sz="1200" b="1">
                <a:solidFill>
                  <a:srgbClr val="C05317"/>
                </a:solidFill>
                <a:latin typeface="Times New Roman"/>
              </a:rPr>
              <a:t>Per-method 정성 진단</a:t>
            </a:r>
          </a:p>
        </p:txBody>
      </p:sp>
      <p:sp>
        <p:nvSpPr>
          <p:cNvPr id="7" name="TextBox 6"/>
          <p:cNvSpPr txBox="1"/>
          <p:nvPr/>
        </p:nvSpPr>
        <p:spPr>
          <a:xfrm>
            <a:off x="365760" y="5852160"/>
            <a:ext cx="8229600" cy="548640"/>
          </a:xfrm>
          <a:prstGeom prst="rect">
            <a:avLst/>
          </a:prstGeom>
          <a:noFill/>
        </p:spPr>
        <p:txBody>
          <a:bodyPr wrap="square">
            <a:spAutoFit/>
          </a:bodyPr>
          <a:lstStyle/>
          <a:p>
            <a:r>
              <a:rPr sz="1100" b="0" i="0">
                <a:solidFill>
                  <a:srgbClr val="333333"/>
                </a:solidFill>
                <a:latin typeface="Times New Roman"/>
              </a:rPr>
              <a:t>▪ WaveSplat: 파봉·파골 모두 GT의 80~90% 진폭 유지, 위상 거의 일치</a:t>
            </a:r>
          </a:p>
          <a:p>
            <a:r>
              <a:rPr sz="1100" b="0" i="0">
                <a:solidFill>
                  <a:srgbClr val="333333"/>
                </a:solidFill>
                <a:latin typeface="Times New Roman"/>
              </a:rPr>
              <a:t>▪ ETKF: 진폭은 보존되지만 spatial structure가 noisy — 여러 spurious component에 에너지 분산</a:t>
            </a:r>
          </a:p>
          <a:p>
            <a:r>
              <a:rPr sz="1100" b="0" i="0">
                <a:solidFill>
                  <a:srgbClr val="333333"/>
                </a:solidFill>
                <a:latin typeface="Times New Roman"/>
              </a:rPr>
              <a:t>▪ GPR: 표면이 거의 평탄 — VR=0.065와 일관 (zero-predictor에 가까움), 격자/커널 limit</a:t>
            </a:r>
          </a:p>
          <a:p>
            <a:r>
              <a:rPr sz="1200" b="1" i="0">
                <a:solidFill>
                  <a:srgbClr val="C05317"/>
                </a:solidFill>
                <a:latin typeface="Times New Roman"/>
              </a:rPr>
              <a:t>시각적 한 줄 결론: WaveSplat만 "진짜 wave field 같은" 결과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100" b="0" i="0">
                <a:latin typeface="Times New Roman"/>
              </a:rPr>
              <a:t>추가 기여 (1) — Spectral Accuracy (방향·파장 추정)</a:t>
            </a:r>
          </a:p>
        </p:txBody>
      </p:sp>
      <p:sp>
        <p:nvSpPr>
          <p:cNvPr id="4" name="TextBox 3"/>
          <p:cNvSpPr txBox="1"/>
          <p:nvPr/>
        </p:nvSpPr>
        <p:spPr>
          <a:xfrm>
            <a:off x="365760" y="868680"/>
            <a:ext cx="8229600" cy="274320"/>
          </a:xfrm>
          <a:prstGeom prst="rect">
            <a:avLst/>
          </a:prstGeom>
          <a:noFill/>
        </p:spPr>
        <p:txBody>
          <a:bodyPr wrap="none">
            <a:spAutoFit/>
          </a:bodyPr>
          <a:lstStyle/>
          <a:p>
            <a:r>
              <a:rPr sz="1200" b="1">
                <a:solidFill>
                  <a:srgbClr val="C05317"/>
                </a:solidFill>
                <a:latin typeface="Times New Roman"/>
              </a:rPr>
              <a:t>왜 이게 새로운가 — ETKF/GPR로는 불가능한 능력</a:t>
            </a:r>
          </a:p>
        </p:txBody>
      </p:sp>
      <p:sp>
        <p:nvSpPr>
          <p:cNvPr id="5" name="TextBox 4"/>
          <p:cNvSpPr txBox="1"/>
          <p:nvPr/>
        </p:nvSpPr>
        <p:spPr>
          <a:xfrm>
            <a:off x="365760" y="1188720"/>
            <a:ext cx="8229600" cy="914400"/>
          </a:xfrm>
          <a:prstGeom prst="rect">
            <a:avLst/>
          </a:prstGeom>
          <a:noFill/>
        </p:spPr>
        <p:txBody>
          <a:bodyPr wrap="square">
            <a:spAutoFit/>
          </a:bodyPr>
          <a:lstStyle/>
          <a:p>
            <a:r>
              <a:rPr sz="1100" b="0" i="0">
                <a:solidFill>
                  <a:srgbClr val="333333"/>
                </a:solidFill>
                <a:latin typeface="Times New Roman"/>
              </a:rPr>
              <a:t>▪ ETKF는 격자 위 elevation field만 추정 → 사후에 FFT 변환해야 spectrum이 나옴 (잡음 큼)</a:t>
            </a:r>
          </a:p>
          <a:p>
            <a:r>
              <a:rPr sz="1100" b="0" i="0">
                <a:solidFill>
                  <a:srgbClr val="333333"/>
                </a:solidFill>
                <a:latin typeface="Times New Roman"/>
              </a:rPr>
              <a:t>▪ GPR도 마찬가지 — 보간 결과를 FFT해야 함</a:t>
            </a:r>
          </a:p>
          <a:p>
            <a:r>
              <a:rPr sz="1100" b="0" i="0">
                <a:solidFill>
                  <a:srgbClr val="333333"/>
                </a:solidFill>
                <a:latin typeface="Times New Roman"/>
              </a:rPr>
              <a:t>▪ WaveSplat은 처음부터 (kᵢ, ωᵢ, φᵢ)로 파라미터화 → spectrum 자체가 직접 출력</a:t>
            </a:r>
          </a:p>
        </p:txBody>
      </p:sp>
      <p:sp>
        <p:nvSpPr>
          <p:cNvPr id="6" name="TextBox 5"/>
          <p:cNvSpPr txBox="1"/>
          <p:nvPr/>
        </p:nvSpPr>
        <p:spPr>
          <a:xfrm>
            <a:off x="365760" y="2194560"/>
            <a:ext cx="4114800" cy="274320"/>
          </a:xfrm>
          <a:prstGeom prst="rect">
            <a:avLst/>
          </a:prstGeom>
          <a:noFill/>
        </p:spPr>
        <p:txBody>
          <a:bodyPr wrap="none">
            <a:spAutoFit/>
          </a:bodyPr>
          <a:lstStyle/>
          <a:p>
            <a:r>
              <a:rPr sz="1200" b="1">
                <a:solidFill>
                  <a:srgbClr val="C05317"/>
                </a:solidFill>
                <a:latin typeface="Times New Roman"/>
              </a:rPr>
              <a:t>검증 결과</a:t>
            </a:r>
          </a:p>
        </p:txBody>
      </p:sp>
      <p:sp>
        <p:nvSpPr>
          <p:cNvPr id="7" name="TextBox 6"/>
          <p:cNvSpPr txBox="1"/>
          <p:nvPr/>
        </p:nvSpPr>
        <p:spPr>
          <a:xfrm>
            <a:off x="365760" y="2514600"/>
            <a:ext cx="4114800" cy="2468880"/>
          </a:xfrm>
          <a:prstGeom prst="rect">
            <a:avLst/>
          </a:prstGeom>
          <a:noFill/>
        </p:spPr>
        <p:txBody>
          <a:bodyPr wrap="square">
            <a:spAutoFit/>
          </a:bodyPr>
          <a:lstStyle/>
          <a:p>
            <a:r>
              <a:rPr sz="1100" b="1" i="0">
                <a:solidFill>
                  <a:srgbClr val="1A1A2E"/>
                </a:solidFill>
                <a:latin typeface="Times New Roman"/>
              </a:rPr>
              <a:t>5 components 이하 sea state에서:</a:t>
            </a:r>
          </a:p>
          <a:p>
            <a:r>
              <a:rPr sz="1100" b="0" i="0">
                <a:solidFill>
                  <a:srgbClr val="333333"/>
                </a:solidFill>
                <a:latin typeface="Times New Roman"/>
              </a:rPr>
              <a:t>▪ Energy detection rate &gt; 93%</a:t>
            </a:r>
          </a:p>
          <a:p>
            <a:r>
              <a:rPr sz="1100" b="0" i="0">
                <a:solidFill>
                  <a:srgbClr val="333333"/>
                </a:solidFill>
                <a:latin typeface="Times New Roman"/>
              </a:rPr>
              <a:t>▪ |k| (파장) error &lt; 0.5%</a:t>
            </a:r>
          </a:p>
          <a:p>
            <a:r>
              <a:rPr sz="1100" b="0" i="0">
                <a:solidFill>
                  <a:srgbClr val="333333"/>
                </a:solidFill>
                <a:latin typeface="Times New Roman"/>
              </a:rPr>
              <a:t>▪ Direction error &lt; 0.2°</a:t>
            </a:r>
          </a:p>
          <a:p>
            <a:r>
              <a:rPr sz="1100" b="0" i="0">
                <a:solidFill>
                  <a:srgbClr val="333333"/>
                </a:solidFill>
                <a:latin typeface="Times New Roman"/>
              </a:rPr>
              <a:t>▪ ω error &lt; 1% (dispersion 보장)</a:t>
            </a:r>
          </a:p>
          <a:p>
            <a:r>
              <a:rPr sz="1100" b="0" i="0">
                <a:solidFill>
                  <a:srgbClr val="333333"/>
                </a:solidFill>
                <a:latin typeface="Times New Roman"/>
              </a:rPr>
              <a:t/>
            </a:r>
          </a:p>
          <a:p>
            <a:r>
              <a:rPr sz="1000" b="0" i="1">
                <a:solidFill>
                  <a:srgbClr val="666666"/>
                </a:solidFill>
                <a:latin typeface="Times New Roman"/>
              </a:rPr>
              <a:t>15+ components: directional crowding으로</a:t>
            </a:r>
          </a:p>
          <a:p>
            <a:r>
              <a:rPr sz="1000" b="0" i="1">
                <a:solidFill>
                  <a:srgbClr val="666666"/>
                </a:solidFill>
                <a:latin typeface="Times New Roman"/>
              </a:rPr>
              <a:t>   resolvability 한계 (limitations에서 다룸)</a:t>
            </a:r>
          </a:p>
        </p:txBody>
      </p:sp>
      <p:sp>
        <p:nvSpPr>
          <p:cNvPr id="8" name="TextBox 7"/>
          <p:cNvSpPr txBox="1"/>
          <p:nvPr/>
        </p:nvSpPr>
        <p:spPr>
          <a:xfrm>
            <a:off x="4663440" y="2194560"/>
            <a:ext cx="3931920" cy="274320"/>
          </a:xfrm>
          <a:prstGeom prst="rect">
            <a:avLst/>
          </a:prstGeom>
          <a:noFill/>
        </p:spPr>
        <p:txBody>
          <a:bodyPr wrap="none">
            <a:spAutoFit/>
          </a:bodyPr>
          <a:lstStyle/>
          <a:p>
            <a:r>
              <a:rPr sz="1200" b="1">
                <a:solidFill>
                  <a:srgbClr val="C05317"/>
                </a:solidFill>
                <a:latin typeface="Times New Roman"/>
              </a:rPr>
              <a:t>의미 — downstream 응용에 직접 활용</a:t>
            </a:r>
          </a:p>
        </p:txBody>
      </p:sp>
      <p:sp>
        <p:nvSpPr>
          <p:cNvPr id="9" name="TextBox 8"/>
          <p:cNvSpPr txBox="1"/>
          <p:nvPr/>
        </p:nvSpPr>
        <p:spPr>
          <a:xfrm>
            <a:off x="4663440" y="2514600"/>
            <a:ext cx="3931920" cy="2468880"/>
          </a:xfrm>
          <a:prstGeom prst="rect">
            <a:avLst/>
          </a:prstGeom>
          <a:noFill/>
        </p:spPr>
        <p:txBody>
          <a:bodyPr wrap="square">
            <a:spAutoFit/>
          </a:bodyPr>
          <a:lstStyle/>
          <a:p>
            <a:r>
              <a:rPr sz="1100" b="0" i="0">
                <a:solidFill>
                  <a:srgbClr val="333333"/>
                </a:solidFill>
                <a:latin typeface="Times New Roman"/>
              </a:rPr>
              <a:t>▪ Hydrofoil FF: 정확한 (kᵢ, ωᵢ)로 preview 시점 wave</a:t>
            </a:r>
          </a:p>
          <a:p>
            <a:r>
              <a:rPr sz="1100" b="0" i="0">
                <a:solidFill>
                  <a:srgbClr val="333333"/>
                </a:solidFill>
                <a:latin typeface="Times New Roman"/>
              </a:rPr>
              <a:t>   slope α_wave = −∂η/∂x − w/V 계산 가능</a:t>
            </a:r>
          </a:p>
          <a:p>
            <a:r>
              <a:rPr sz="1100" b="0" i="0">
                <a:solidFill>
                  <a:srgbClr val="333333"/>
                </a:solidFill>
                <a:latin typeface="Times New Roman"/>
              </a:rPr>
              <a:t>▪ Wave forecasting: dispersion 외삽으로 5~10 s</a:t>
            </a:r>
          </a:p>
          <a:p>
            <a:r>
              <a:rPr sz="1100" b="0" i="0">
                <a:solidFill>
                  <a:srgbClr val="333333"/>
                </a:solidFill>
                <a:latin typeface="Times New Roman"/>
              </a:rPr>
              <a:t>   앞 예측 (다음 슬라이드)</a:t>
            </a:r>
          </a:p>
          <a:p>
            <a:r>
              <a:rPr sz="1100" b="0" i="0">
                <a:solidFill>
                  <a:srgbClr val="333333"/>
                </a:solidFill>
                <a:latin typeface="Times New Roman"/>
              </a:rPr>
              <a:t>▪ Encounter freq 추정: 선체 운동 dynamics 입력</a:t>
            </a:r>
          </a:p>
          <a:p>
            <a:r>
              <a:rPr sz="1100" b="0" i="0">
                <a:solidFill>
                  <a:srgbClr val="333333"/>
                </a:solidFill>
                <a:latin typeface="Times New Roman"/>
              </a:rPr>
              <a:t>▪ DP/heave compensation: 파봉 도달 시각 예측</a:t>
            </a:r>
          </a:p>
        </p:txBody>
      </p:sp>
      <p:sp>
        <p:nvSpPr>
          <p:cNvPr id="10" name="Rectangle 9"/>
          <p:cNvSpPr/>
          <p:nvPr/>
        </p:nvSpPr>
        <p:spPr>
          <a:xfrm>
            <a:off x="365760" y="5074920"/>
            <a:ext cx="8229600" cy="960120"/>
          </a:xfrm>
          <a:prstGeom prst="rect">
            <a:avLst/>
          </a:prstGeom>
          <a:solidFill>
            <a:srgbClr val="FFF7ED"/>
          </a:solidFill>
          <a:ln w="19050">
            <a:solidFill>
              <a:srgbClr val="C0531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i="1">
                <a:solidFill>
                  <a:srgbClr val="C05317"/>
                </a:solidFill>
                <a:latin typeface="Times New Roman"/>
              </a:rPr>
              <a:t>[ 그림 자리 ]
paper/figures/fig_beamforming_2stage.png — beamforming peak detection 예시 (선택)</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100" b="0" i="0">
                <a:latin typeface="Times New Roman"/>
              </a:rPr>
              <a:t>추가 기여 (2) — Sparse Robustness · Wave Forecast</a:t>
            </a:r>
          </a:p>
        </p:txBody>
      </p:sp>
      <p:sp>
        <p:nvSpPr>
          <p:cNvPr id="4" name="TextBox 3"/>
          <p:cNvSpPr txBox="1"/>
          <p:nvPr/>
        </p:nvSpPr>
        <p:spPr>
          <a:xfrm>
            <a:off x="365760" y="868680"/>
            <a:ext cx="4114800" cy="274320"/>
          </a:xfrm>
          <a:prstGeom prst="rect">
            <a:avLst/>
          </a:prstGeom>
          <a:noFill/>
        </p:spPr>
        <p:txBody>
          <a:bodyPr wrap="none">
            <a:spAutoFit/>
          </a:bodyPr>
          <a:lstStyle/>
          <a:p>
            <a:r>
              <a:rPr sz="1200" b="1">
                <a:solidFill>
                  <a:srgbClr val="C05317"/>
                </a:solidFill>
                <a:latin typeface="Times New Roman"/>
              </a:rPr>
              <a:t>Sparse Robustness — 격자 의존 baseline 대비</a:t>
            </a:r>
          </a:p>
        </p:txBody>
      </p:sp>
      <p:sp>
        <p:nvSpPr>
          <p:cNvPr id="5" name="TextBox 4"/>
          <p:cNvSpPr txBox="1"/>
          <p:nvPr/>
        </p:nvSpPr>
        <p:spPr>
          <a:xfrm>
            <a:off x="365760" y="1188720"/>
            <a:ext cx="4114800" cy="4297680"/>
          </a:xfrm>
          <a:prstGeom prst="rect">
            <a:avLst/>
          </a:prstGeom>
          <a:noFill/>
        </p:spPr>
        <p:txBody>
          <a:bodyPr wrap="square">
            <a:spAutoFit/>
          </a:bodyPr>
          <a:lstStyle/>
          <a:p>
            <a:r>
              <a:rPr sz="1000" b="0" i="0">
                <a:solidFill>
                  <a:srgbClr val="333333"/>
                </a:solidFill>
                <a:latin typeface="Times New Roman"/>
              </a:rPr>
              <a:t>▪ 관측 밀도 10~50점 비교 (BF3 5c)</a:t>
            </a:r>
          </a:p>
          <a:p>
            <a:r>
              <a:rPr sz="1000" b="0" i="0">
                <a:solidFill>
                  <a:srgbClr val="333333"/>
                </a:solidFill>
                <a:latin typeface="Times New Roman"/>
              </a:rPr>
              <a:t>   ・10 pts: WS 0.191, LETKF 0.239</a:t>
            </a:r>
          </a:p>
          <a:p>
            <a:r>
              <a:rPr sz="1000" b="0" i="0">
                <a:solidFill>
                  <a:srgbClr val="333333"/>
                </a:solidFill>
                <a:latin typeface="Times New Roman"/>
              </a:rPr>
              <a:t>   ・20 pts: WS 0.171, LETKF 0.198</a:t>
            </a:r>
          </a:p>
          <a:p>
            <a:r>
              <a:rPr sz="1000" b="0" i="0">
                <a:solidFill>
                  <a:srgbClr val="333333"/>
                </a:solidFill>
                <a:latin typeface="Times New Roman"/>
              </a:rPr>
              <a:t>   ・50 pts: WS 0.155, LETKF 0.165</a:t>
            </a:r>
          </a:p>
          <a:p>
            <a:r>
              <a:rPr sz="1000" b="0" i="0">
                <a:solidFill>
                  <a:srgbClr val="333333"/>
                </a:solidFill>
                <a:latin typeface="Times New Roman"/>
              </a:rPr>
              <a:t/>
            </a:r>
          </a:p>
          <a:p>
            <a:r>
              <a:rPr sz="1100" b="1" i="0">
                <a:solidFill>
                  <a:srgbClr val="1A1A2E"/>
                </a:solidFill>
                <a:latin typeface="Times New Roman"/>
              </a:rPr>
              <a:t>왜 격자가 약한가?</a:t>
            </a:r>
          </a:p>
          <a:p>
            <a:r>
              <a:rPr sz="1000" b="0" i="0">
                <a:solidFill>
                  <a:srgbClr val="333333"/>
                </a:solidFill>
                <a:latin typeface="Times New Roman"/>
              </a:rPr>
              <a:t>▪ 격자 cell 안에 관측 0~1점 → bilinear 보간 ill-posed</a:t>
            </a:r>
          </a:p>
          <a:p>
            <a:r>
              <a:rPr sz="1000" b="0" i="0">
                <a:solidFill>
                  <a:srgbClr val="333333"/>
                </a:solidFill>
                <a:latin typeface="Times New Roman"/>
              </a:rPr>
              <a:t>▪ Cell 사이의 spatial correlation이 사라짐</a:t>
            </a:r>
          </a:p>
          <a:p>
            <a:r>
              <a:rPr sz="1000" b="0" i="0">
                <a:solidFill>
                  <a:srgbClr val="333333"/>
                </a:solidFill>
                <a:latin typeface="Times New Roman"/>
              </a:rPr>
              <a:t>▪ Aliasing: 관측 간격이 Nyquist 미만일 때</a:t>
            </a:r>
          </a:p>
          <a:p>
            <a:r>
              <a:rPr sz="1000" b="0" i="0">
                <a:solidFill>
                  <a:srgbClr val="333333"/>
                </a:solidFill>
                <a:latin typeface="Times New Roman"/>
              </a:rPr>
              <a:t/>
            </a:r>
          </a:p>
          <a:p>
            <a:r>
              <a:rPr sz="1100" b="1" i="0">
                <a:solidFill>
                  <a:srgbClr val="1A1A2E"/>
                </a:solidFill>
                <a:latin typeface="Times New Roman"/>
              </a:rPr>
              <a:t>WaveSplat이 강한 이유:</a:t>
            </a:r>
          </a:p>
          <a:p>
            <a:r>
              <a:rPr sz="1000" b="0" i="0">
                <a:solidFill>
                  <a:srgbClr val="333333"/>
                </a:solidFill>
                <a:latin typeface="Times New Roman"/>
              </a:rPr>
              <a:t>▪ Plane wave 표현이 모든 관측을 동시에 적합</a:t>
            </a:r>
          </a:p>
          <a:p>
            <a:r>
              <a:rPr sz="1000" b="0" i="0">
                <a:solidFill>
                  <a:srgbClr val="333333"/>
                </a:solidFill>
                <a:latin typeface="Times New Roman"/>
              </a:rPr>
              <a:t>▪ 격자 없이 임의 위치 평가 가능</a:t>
            </a:r>
          </a:p>
        </p:txBody>
      </p:sp>
      <p:sp>
        <p:nvSpPr>
          <p:cNvPr id="6" name="TextBox 5"/>
          <p:cNvSpPr txBox="1"/>
          <p:nvPr/>
        </p:nvSpPr>
        <p:spPr>
          <a:xfrm>
            <a:off x="4663440" y="868680"/>
            <a:ext cx="3931920" cy="274320"/>
          </a:xfrm>
          <a:prstGeom prst="rect">
            <a:avLst/>
          </a:prstGeom>
          <a:noFill/>
        </p:spPr>
        <p:txBody>
          <a:bodyPr wrap="none">
            <a:spAutoFit/>
          </a:bodyPr>
          <a:lstStyle/>
          <a:p>
            <a:r>
              <a:rPr sz="1200" b="1">
                <a:solidFill>
                  <a:srgbClr val="C05317"/>
                </a:solidFill>
                <a:latin typeface="Times New Roman"/>
              </a:rPr>
              <a:t>Wave Forecast — Dispersion 덕분</a:t>
            </a:r>
          </a:p>
        </p:txBody>
      </p:sp>
      <p:sp>
        <p:nvSpPr>
          <p:cNvPr id="7" name="TextBox 6"/>
          <p:cNvSpPr txBox="1"/>
          <p:nvPr/>
        </p:nvSpPr>
        <p:spPr>
          <a:xfrm>
            <a:off x="4663440" y="1188720"/>
            <a:ext cx="3931920" cy="4297680"/>
          </a:xfrm>
          <a:prstGeom prst="rect">
            <a:avLst/>
          </a:prstGeom>
          <a:noFill/>
        </p:spPr>
        <p:txBody>
          <a:bodyPr wrap="square">
            <a:spAutoFit/>
          </a:bodyPr>
          <a:lstStyle/>
          <a:p>
            <a:r>
              <a:rPr sz="1100" b="1" i="0">
                <a:solidFill>
                  <a:srgbClr val="1A1A2E"/>
                </a:solidFill>
                <a:latin typeface="Times New Roman"/>
              </a:rPr>
              <a:t>핵심 아이디어:</a:t>
            </a:r>
          </a:p>
          <a:p>
            <a:r>
              <a:rPr sz="1000" b="0" i="0">
                <a:solidFill>
                  <a:srgbClr val="333333"/>
                </a:solidFill>
                <a:latin typeface="Times New Roman"/>
              </a:rPr>
              <a:t>φᵢ(t+Δt) = φᵢ(t) + ωᵢ · Δt</a:t>
            </a:r>
          </a:p>
          <a:p>
            <a:r>
              <a:rPr sz="1000" b="0" i="0">
                <a:solidFill>
                  <a:srgbClr val="333333"/>
                </a:solidFill>
                <a:latin typeface="Times New Roman"/>
              </a:rPr>
              <a:t>   ↑ ω는 dispersion으로 정확 → φ 외삽 정확</a:t>
            </a:r>
          </a:p>
          <a:p>
            <a:r>
              <a:rPr sz="1000" b="0" i="0">
                <a:solidFill>
                  <a:srgbClr val="333333"/>
                </a:solidFill>
                <a:latin typeface="Times New Roman"/>
              </a:rPr>
              <a:t/>
            </a:r>
          </a:p>
          <a:p>
            <a:r>
              <a:rPr sz="1100" b="1" i="0">
                <a:solidFill>
                  <a:srgbClr val="1A1A2E"/>
                </a:solidFill>
                <a:latin typeface="Times New Roman"/>
              </a:rPr>
              <a:t>검증 결과:</a:t>
            </a:r>
          </a:p>
          <a:p>
            <a:r>
              <a:rPr sz="1000" b="0" i="0">
                <a:solidFill>
                  <a:srgbClr val="333333"/>
                </a:solidFill>
                <a:latin typeface="Times New Roman"/>
              </a:rPr>
              <a:t>▪ 10 s 후 nRMSE 0.219 (즉시 추정과 거의 동등)</a:t>
            </a:r>
          </a:p>
          <a:p>
            <a:r>
              <a:rPr sz="1000" b="0" i="0">
                <a:solidFill>
                  <a:srgbClr val="333333"/>
                </a:solidFill>
                <a:latin typeface="Times New Roman"/>
              </a:rPr>
              <a:t>▪ Skill Score &gt; 0 유지 — 시간 외삽이 zero보다 나음</a:t>
            </a:r>
          </a:p>
          <a:p>
            <a:r>
              <a:rPr sz="1000" b="0" i="0">
                <a:solidFill>
                  <a:srgbClr val="333333"/>
                </a:solidFill>
                <a:latin typeface="Times New Roman"/>
              </a:rPr>
              <a:t>▪ BF3 2c 단순 swell: SS = +0.953 @ t+10s</a:t>
            </a:r>
          </a:p>
          <a:p>
            <a:r>
              <a:rPr sz="1000" b="0" i="0">
                <a:solidFill>
                  <a:srgbClr val="333333"/>
                </a:solidFill>
                <a:latin typeface="Times New Roman"/>
              </a:rPr>
              <a:t/>
            </a:r>
          </a:p>
          <a:p>
            <a:r>
              <a:rPr sz="1100" b="1" i="0">
                <a:solidFill>
                  <a:srgbClr val="1A1A2E"/>
                </a:solidFill>
                <a:latin typeface="Times New Roman"/>
              </a:rPr>
              <a:t>A1 ablation (no dispersion) 비교:</a:t>
            </a:r>
          </a:p>
          <a:p>
            <a:r>
              <a:rPr sz="1000" b="0" i="0">
                <a:solidFill>
                  <a:srgbClr val="333333"/>
                </a:solidFill>
                <a:latin typeface="Times New Roman"/>
              </a:rPr>
              <a:t>▪ A1은 instantaneous nRMSE 16% 낮지만</a:t>
            </a:r>
          </a:p>
          <a:p>
            <a:r>
              <a:rPr sz="1000" b="0" i="0">
                <a:solidFill>
                  <a:srgbClr val="333333"/>
                </a:solidFill>
                <a:latin typeface="Times New Roman"/>
              </a:rPr>
              <a:t>   1초 뒤 phase prediction de-cohere</a:t>
            </a:r>
          </a:p>
          <a:p>
            <a:r>
              <a:rPr sz="1000" b="0" i="0">
                <a:solidFill>
                  <a:srgbClr val="333333"/>
                </a:solidFill>
                <a:latin typeface="Times New Roman"/>
              </a:rPr>
              <a:t>▪ Forecast 능력 = dispersion이 핵심</a:t>
            </a:r>
          </a:p>
        </p:txBody>
      </p:sp>
      <p:sp>
        <p:nvSpPr>
          <p:cNvPr id="9" name="TextBox 8"/>
          <p:cNvSpPr txBox="1"/>
          <p:nvPr/>
        </p:nvSpPr>
        <p:spPr>
          <a:xfrm>
            <a:off x="365760" y="4526280"/>
            <a:ext cx="8229600" cy="274320"/>
          </a:xfrm>
          <a:prstGeom prst="rect">
            <a:avLst/>
          </a:prstGeom>
          <a:noFill/>
        </p:spPr>
        <p:txBody>
          <a:bodyPr wrap="none">
            <a:spAutoFit/>
          </a:bodyPr>
          <a:lstStyle/>
          <a:p>
            <a:r>
              <a:rPr sz="1200" b="1">
                <a:solidFill>
                  <a:srgbClr val="C05317"/>
                </a:solidFill>
                <a:latin typeface="Times New Roman"/>
              </a:rPr>
              <a:t>구체 결과 — Forecast skill score (paper Table)</a:t>
            </a:r>
          </a:p>
        </p:txBody>
      </p:sp>
      <p:sp>
        <p:nvSpPr>
          <p:cNvPr id="10" name="TextBox 9"/>
          <p:cNvSpPr txBox="1"/>
          <p:nvPr/>
        </p:nvSpPr>
        <p:spPr>
          <a:xfrm>
            <a:off x="365760" y="4846320"/>
            <a:ext cx="8229600" cy="1463040"/>
          </a:xfrm>
          <a:prstGeom prst="rect">
            <a:avLst/>
          </a:prstGeom>
          <a:noFill/>
        </p:spPr>
        <p:txBody>
          <a:bodyPr wrap="square">
            <a:spAutoFit/>
          </a:bodyPr>
          <a:lstStyle/>
          <a:p>
            <a:r>
              <a:rPr sz="1100" b="0" i="0">
                <a:solidFill>
                  <a:srgbClr val="333333"/>
                </a:solidFill>
                <a:latin typeface="Times New Roman"/>
              </a:rPr>
              <a:t>▪ BF3 1c   t+5s: SS = +0.96       t+10s: SS = +0.94</a:t>
            </a:r>
          </a:p>
          <a:p>
            <a:r>
              <a:rPr sz="1100" b="0" i="0">
                <a:solidFill>
                  <a:srgbClr val="333333"/>
                </a:solidFill>
                <a:latin typeface="Times New Roman"/>
              </a:rPr>
              <a:t>▪ BF3 2c   t+5s: SS = +0.96       t+10s: SS = +0.95</a:t>
            </a:r>
          </a:p>
          <a:p>
            <a:r>
              <a:rPr sz="1100" b="0" i="0">
                <a:solidFill>
                  <a:srgbClr val="333333"/>
                </a:solidFill>
                <a:latin typeface="Times New Roman"/>
              </a:rPr>
              <a:t>▪ BF3 5c   t+5s: SS = +0.41       t+10s: SS = +0.18  (multi-component → drift 누적)</a:t>
            </a:r>
          </a:p>
          <a:p>
            <a:r>
              <a:rPr sz="1100" b="0" i="0">
                <a:solidFill>
                  <a:srgbClr val="333333"/>
                </a:solidFill>
                <a:latin typeface="Times New Roman"/>
              </a:rPr>
              <a:t>▪ BF4 5c   t+5s: SS = +0.36       t+10s: SS = +0.12</a:t>
            </a:r>
          </a:p>
          <a:p>
            <a:r>
              <a:rPr sz="1100" b="0" i="0">
                <a:solidFill>
                  <a:srgbClr val="333333"/>
                </a:solidFill>
                <a:latin typeface="Times New Roman"/>
              </a:rPr>
              <a:t>▪ BF4 15c  t+5s: SS = −0.04       t+10s: SS = −0.21  (성분 수 한계)</a:t>
            </a:r>
          </a:p>
        </p:txBody>
      </p:sp>
      <p:sp>
        <p:nvSpPr>
          <p:cNvPr id="11" name="Rounded Rectangle 10"/>
          <p:cNvSpPr/>
          <p:nvPr/>
        </p:nvSpPr>
        <p:spPr>
          <a:xfrm>
            <a:off x="365760" y="5852160"/>
            <a:ext cx="8229600" cy="411480"/>
          </a:xfrm>
          <a:prstGeom prst="roundRect">
            <a:avLst/>
          </a:prstGeom>
          <a:solidFill>
            <a:srgbClr val="C05317"/>
          </a:solidFill>
          <a:ln>
            <a:solidFill>
              <a:srgbClr val="C05317"/>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Times New Roman"/>
              </a:rPr>
              <a:t>이 두 능력 (sparse-robustness + forecast)이 hydrofoil preview FF의 물리적 기반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강화 Baseline 비교 — Why &amp; How</a:t>
            </a:r>
          </a:p>
        </p:txBody>
      </p:sp>
      <p:sp>
        <p:nvSpPr>
          <p:cNvPr id="4" name="TextBox 3"/>
          <p:cNvSpPr txBox="1"/>
          <p:nvPr/>
        </p:nvSpPr>
        <p:spPr>
          <a:xfrm>
            <a:off x="365760" y="868680"/>
            <a:ext cx="8229600" cy="274320"/>
          </a:xfrm>
          <a:prstGeom prst="rect">
            <a:avLst/>
          </a:prstGeom>
          <a:noFill/>
        </p:spPr>
        <p:txBody>
          <a:bodyPr wrap="none">
            <a:spAutoFit/>
          </a:bodyPr>
          <a:lstStyle/>
          <a:p>
            <a:r>
              <a:rPr sz="1200" b="1">
                <a:solidFill>
                  <a:srgbClr val="C05317"/>
                </a:solidFill>
                <a:latin typeface="Times New Roman"/>
              </a:rPr>
              <a:t>왜 이 비교를 했는가</a:t>
            </a:r>
          </a:p>
        </p:txBody>
      </p:sp>
      <p:sp>
        <p:nvSpPr>
          <p:cNvPr id="5" name="TextBox 4"/>
          <p:cNvSpPr txBox="1"/>
          <p:nvPr/>
        </p:nvSpPr>
        <p:spPr>
          <a:xfrm>
            <a:off x="365760" y="1188720"/>
            <a:ext cx="8229600" cy="1371600"/>
          </a:xfrm>
          <a:prstGeom prst="rect">
            <a:avLst/>
          </a:prstGeom>
          <a:noFill/>
        </p:spPr>
        <p:txBody>
          <a:bodyPr wrap="square">
            <a:spAutoFit/>
          </a:bodyPr>
          <a:lstStyle/>
          <a:p>
            <a:r>
              <a:rPr sz="1100" b="0" i="0">
                <a:solidFill>
                  <a:srgbClr val="333333"/>
                </a:solidFill>
                <a:latin typeface="Times New Roman"/>
              </a:rPr>
              <a:t>▪ Reviewer 우려: "ETKF·GPR-1은 약한 baseline 아닌가? 강한 buffer를 더 추가해야 함."</a:t>
            </a:r>
          </a:p>
          <a:p>
            <a:r>
              <a:rPr sz="1100" b="0" i="0">
                <a:solidFill>
                  <a:srgbClr val="333333"/>
                </a:solidFill>
                <a:latin typeface="Times New Roman"/>
              </a:rPr>
              <a:t>▪ → 두 가지 강화 baseline을 추가 평가:</a:t>
            </a:r>
          </a:p>
          <a:p>
            <a:r>
              <a:rPr sz="1100" b="0" i="0">
                <a:solidFill>
                  <a:srgbClr val="333333"/>
                </a:solidFill>
                <a:latin typeface="Times New Roman"/>
              </a:rPr>
              <a:t>   ① LETKF (Gaspari-Cohn localization, r_loc=50m) — ETKF의 spatial localization 강화 변형</a:t>
            </a:r>
          </a:p>
          <a:p>
            <a:r>
              <a:rPr sz="1100" b="0" i="0">
                <a:solidFill>
                  <a:srgbClr val="333333"/>
                </a:solidFill>
                <a:latin typeface="Times New Roman"/>
              </a:rPr>
              <a:t>   ② GPR-disp (3-frame, dispersion-aware kernel) — GPR에 physics 부여 (시간 모델 도입)</a:t>
            </a:r>
          </a:p>
        </p:txBody>
      </p:sp>
      <p:sp>
        <p:nvSpPr>
          <p:cNvPr id="6" name="TextBox 5"/>
          <p:cNvSpPr txBox="1"/>
          <p:nvPr/>
        </p:nvSpPr>
        <p:spPr>
          <a:xfrm>
            <a:off x="365760" y="2697480"/>
            <a:ext cx="8229600" cy="274320"/>
          </a:xfrm>
          <a:prstGeom prst="rect">
            <a:avLst/>
          </a:prstGeom>
          <a:noFill/>
        </p:spPr>
        <p:txBody>
          <a:bodyPr wrap="none">
            <a:spAutoFit/>
          </a:bodyPr>
          <a:lstStyle/>
          <a:p>
            <a:r>
              <a:rPr sz="1200" b="1">
                <a:solidFill>
                  <a:srgbClr val="C05317"/>
                </a:solidFill>
                <a:latin typeface="Times New Roman"/>
              </a:rPr>
              <a:t>방법론은 어떻게 다른가</a:t>
            </a:r>
          </a:p>
        </p:txBody>
      </p:sp>
      <p:sp>
        <p:nvSpPr>
          <p:cNvPr id="7" name="TextBox 6"/>
          <p:cNvSpPr txBox="1"/>
          <p:nvPr/>
        </p:nvSpPr>
        <p:spPr>
          <a:xfrm>
            <a:off x="365760" y="3017520"/>
            <a:ext cx="8229600" cy="1280160"/>
          </a:xfrm>
          <a:prstGeom prst="rect">
            <a:avLst/>
          </a:prstGeom>
          <a:noFill/>
        </p:spPr>
        <p:txBody>
          <a:bodyPr wrap="square">
            <a:spAutoFit/>
          </a:bodyPr>
          <a:lstStyle/>
          <a:p>
            <a:r>
              <a:rPr sz="1100" b="0">
                <a:solidFill>
                  <a:srgbClr val="333333"/>
                </a:solidFill>
                <a:latin typeface="Times New Roman"/>
              </a:rPr>
              <a:t>▪ ETKF → LETKF: 각 grid 점 update 시 local 관측만 사용 (Gaspari-Cohn taper)</a:t>
            </a:r>
          </a:p>
          <a:p>
            <a:r>
              <a:rPr sz="1100" b="0">
                <a:solidFill>
                  <a:srgbClr val="333333"/>
                </a:solidFill>
                <a:latin typeface="Times New Roman"/>
              </a:rPr>
              <a:t>   → spurious long-range correlation 억제 / 단점: r_loc ↓시 amplitude 과소 (VR ↓)</a:t>
            </a:r>
          </a:p>
          <a:p>
            <a:r>
              <a:rPr sz="1100" b="0">
                <a:solidFill>
                  <a:srgbClr val="333333"/>
                </a:solidFill>
                <a:latin typeface="Times New Roman"/>
              </a:rPr>
              <a:t>▪ GPR-1 → GPR-disp: 커널 K = K_spatial × K_dispersion 조합으로 시간 phase 보정</a:t>
            </a:r>
          </a:p>
          <a:p>
            <a:r>
              <a:rPr sz="1100" b="0">
                <a:solidFill>
                  <a:srgbClr val="333333"/>
                </a:solidFill>
                <a:latin typeface="Times New Roman"/>
              </a:rPr>
              <a:t>   → physics-aware GPR로 "공정한" 비교 / 단점: 커널 계산 비용 ↑ (~36× 느림)</a:t>
            </a:r>
          </a:p>
        </p:txBody>
      </p:sp>
      <p:graphicFrame>
        <p:nvGraphicFramePr>
          <p:cNvPr id="8" name="Table 7"/>
          <p:cNvGraphicFramePr>
            <a:graphicFrameLocks noGrp="1"/>
          </p:cNvGraphicFramePr>
          <p:nvPr/>
        </p:nvGraphicFramePr>
        <p:xfrm>
          <a:off x="365760" y="4434840"/>
          <a:ext cx="5029200" cy="1097280"/>
        </p:xfrm>
        <a:graphic>
          <a:graphicData uri="http://schemas.openxmlformats.org/drawingml/2006/table">
            <a:tbl>
              <a:tblPr firstRow="1" bandRow="1">
                <a:tableStyleId>{5C22544A-7EE6-4342-B048-85BDC9FD1C3A}</a:tableStyleId>
              </a:tblPr>
              <a:tblGrid>
                <a:gridCol w="838200"/>
                <a:gridCol w="838200"/>
                <a:gridCol w="838200"/>
                <a:gridCol w="838200"/>
                <a:gridCol w="838200"/>
                <a:gridCol w="838200"/>
              </a:tblGrid>
              <a:tr h="365760">
                <a:tc>
                  <a:txBody>
                    <a:bodyPr/>
                    <a:lstStyle/>
                    <a:p>
                      <a:r>
                        <a:rPr sz="1100" b="1">
                          <a:solidFill>
                            <a:srgbClr val="FFFFFF"/>
                          </a:solidFill>
                          <a:latin typeface="Times New Roman"/>
                        </a:rPr>
                        <a:t>Method</a:t>
                      </a:r>
                    </a:p>
                  </a:txBody>
                  <a:tcPr>
                    <a:solidFill>
                      <a:srgbClr val="C05317"/>
                    </a:solidFill>
                  </a:tcPr>
                </a:tc>
                <a:tc>
                  <a:txBody>
                    <a:bodyPr/>
                    <a:lstStyle/>
                    <a:p>
                      <a:r>
                        <a:rPr sz="1100" b="1">
                          <a:solidFill>
                            <a:srgbClr val="FFFFFF"/>
                          </a:solidFill>
                          <a:latin typeface="Times New Roman"/>
                        </a:rPr>
                        <a:t>nRMSE ↓</a:t>
                      </a:r>
                    </a:p>
                  </a:txBody>
                  <a:tcPr>
                    <a:solidFill>
                      <a:srgbClr val="C05317"/>
                    </a:solidFill>
                  </a:tcPr>
                </a:tc>
                <a:tc>
                  <a:txBody>
                    <a:bodyPr/>
                    <a:lstStyle/>
                    <a:p>
                      <a:r>
                        <a:rPr sz="1100" b="1">
                          <a:solidFill>
                            <a:srgbClr val="FFFFFF"/>
                          </a:solidFill>
                          <a:latin typeface="Times New Roman"/>
                        </a:rPr>
                        <a:t>VR → 1</a:t>
                      </a:r>
                    </a:p>
                  </a:txBody>
                  <a:tcPr>
                    <a:solidFill>
                      <a:srgbClr val="C05317"/>
                    </a:solidFill>
                  </a:tcPr>
                </a:tc>
                <a:tc>
                  <a:txBody>
                    <a:bodyPr/>
                    <a:lstStyle/>
                    <a:p>
                      <a:r>
                        <a:rPr sz="1100" b="1">
                          <a:solidFill>
                            <a:srgbClr val="FFFFFF"/>
                          </a:solidFill>
                          <a:latin typeface="Times New Roman"/>
                        </a:rPr>
                        <a:t>ρ ↑</a:t>
                      </a:r>
                    </a:p>
                  </a:txBody>
                  <a:tcPr>
                    <a:solidFill>
                      <a:srgbClr val="C05317"/>
                    </a:solidFill>
                  </a:tcPr>
                </a:tc>
                <a:tc>
                  <a:txBody>
                    <a:bodyPr/>
                    <a:lstStyle/>
                    <a:p>
                      <a:r>
                        <a:rPr sz="1100" b="1">
                          <a:solidFill>
                            <a:srgbClr val="FFFFFF"/>
                          </a:solidFill>
                          <a:latin typeface="Times New Roman"/>
                        </a:rPr>
                        <a:t>SS ↑</a:t>
                      </a:r>
                    </a:p>
                  </a:txBody>
                  <a:tcPr>
                    <a:solidFill>
                      <a:srgbClr val="C05317"/>
                    </a:solidFill>
                  </a:tcPr>
                </a:tc>
                <a:tc>
                  <a:txBody>
                    <a:bodyPr/>
                    <a:lstStyle/>
                    <a:p>
                      <a:r>
                        <a:rPr sz="1100" b="1">
                          <a:solidFill>
                            <a:srgbClr val="FFFFFF"/>
                          </a:solidFill>
                          <a:latin typeface="Times New Roman"/>
                        </a:rPr>
                        <a:t>ms ↓</a:t>
                      </a:r>
                    </a:p>
                  </a:txBody>
                  <a:tcPr>
                    <a:solidFill>
                      <a:srgbClr val="C05317"/>
                    </a:solidFill>
                  </a:tcPr>
                </a:tc>
              </a:tr>
              <a:tr h="365760">
                <a:tc>
                  <a:txBody>
                    <a:bodyPr/>
                    <a:lstStyle/>
                    <a:p>
                      <a:r>
                        <a:rPr sz="1100" b="1">
                          <a:latin typeface="Times New Roman"/>
                        </a:rPr>
                        <a:t>WaveSplat</a:t>
                      </a:r>
                    </a:p>
                  </a:txBody>
                  <a:tcPr>
                    <a:solidFill>
                      <a:srgbClr val="FFFFFF"/>
                    </a:solidFill>
                  </a:tcPr>
                </a:tc>
                <a:tc>
                  <a:txBody>
                    <a:bodyPr/>
                    <a:lstStyle/>
                    <a:p>
                      <a:r>
                        <a:rPr sz="1100" b="1">
                          <a:latin typeface="Times New Roman"/>
                        </a:rPr>
                        <a:t>0.223</a:t>
                      </a:r>
                    </a:p>
                  </a:txBody>
                  <a:tcPr>
                    <a:solidFill>
                      <a:srgbClr val="FFFFFF"/>
                    </a:solidFill>
                  </a:tcPr>
                </a:tc>
                <a:tc>
                  <a:txBody>
                    <a:bodyPr/>
                    <a:lstStyle/>
                    <a:p>
                      <a:r>
                        <a:rPr sz="1100" b="1">
                          <a:latin typeface="Times New Roman"/>
                        </a:rPr>
                        <a:t>0.661</a:t>
                      </a:r>
                    </a:p>
                  </a:txBody>
                  <a:tcPr>
                    <a:solidFill>
                      <a:srgbClr val="FFFFFF"/>
                    </a:solidFill>
                  </a:tcPr>
                </a:tc>
                <a:tc>
                  <a:txBody>
                    <a:bodyPr/>
                    <a:lstStyle/>
                    <a:p>
                      <a:r>
                        <a:rPr sz="1100" b="1">
                          <a:latin typeface="Times New Roman"/>
                        </a:rPr>
                        <a:t>0.446</a:t>
                      </a:r>
                    </a:p>
                  </a:txBody>
                  <a:tcPr>
                    <a:solidFill>
                      <a:srgbClr val="FFFFFF"/>
                    </a:solidFill>
                  </a:tcPr>
                </a:tc>
                <a:tc>
                  <a:txBody>
                    <a:bodyPr/>
                    <a:lstStyle/>
                    <a:p>
                      <a:r>
                        <a:rPr sz="1100" b="1">
                          <a:latin typeface="Times New Roman"/>
                        </a:rPr>
                        <a:t>+0.034</a:t>
                      </a:r>
                    </a:p>
                  </a:txBody>
                  <a:tcPr>
                    <a:solidFill>
                      <a:srgbClr val="FFFFFF"/>
                    </a:solidFill>
                  </a:tcPr>
                </a:tc>
                <a:tc>
                  <a:txBody>
                    <a:bodyPr/>
                    <a:lstStyle/>
                    <a:p>
                      <a:r>
                        <a:rPr sz="1100" b="1">
                          <a:latin typeface="Times New Roman"/>
                        </a:rPr>
                        <a:t>14.5</a:t>
                      </a:r>
                    </a:p>
                  </a:txBody>
                  <a:tcPr>
                    <a:solidFill>
                      <a:srgbClr val="FFFFFF"/>
                    </a:solidFill>
                  </a:tcPr>
                </a:tc>
              </a:tr>
              <a:tr h="365760">
                <a:tc>
                  <a:txBody>
                    <a:bodyPr/>
                    <a:lstStyle/>
                    <a:p>
                      <a:r>
                        <a:rPr sz="1100">
                          <a:latin typeface="Times New Roman"/>
                        </a:rPr>
                        <a:t>LETKF (loc50)</a:t>
                      </a:r>
                    </a:p>
                  </a:txBody>
                  <a:tcPr>
                    <a:solidFill>
                      <a:srgbClr val="FAEBDD"/>
                    </a:solidFill>
                  </a:tcPr>
                </a:tc>
                <a:tc>
                  <a:txBody>
                    <a:bodyPr/>
                    <a:lstStyle/>
                    <a:p>
                      <a:r>
                        <a:rPr sz="1100">
                          <a:latin typeface="Times New Roman"/>
                        </a:rPr>
                        <a:t>0.228</a:t>
                      </a:r>
                    </a:p>
                  </a:txBody>
                  <a:tcPr>
                    <a:solidFill>
                      <a:srgbClr val="FAEBDD"/>
                    </a:solidFill>
                  </a:tcPr>
                </a:tc>
                <a:tc>
                  <a:txBody>
                    <a:bodyPr/>
                    <a:lstStyle/>
                    <a:p>
                      <a:r>
                        <a:rPr sz="1100">
                          <a:latin typeface="Times New Roman"/>
                        </a:rPr>
                        <a:t>0.111</a:t>
                      </a:r>
                    </a:p>
                  </a:txBody>
                  <a:tcPr>
                    <a:solidFill>
                      <a:srgbClr val="FAEBDD"/>
                    </a:solidFill>
                  </a:tcPr>
                </a:tc>
                <a:tc>
                  <a:txBody>
                    <a:bodyPr/>
                    <a:lstStyle/>
                    <a:p>
                      <a:r>
                        <a:rPr sz="1100">
                          <a:latin typeface="Times New Roman"/>
                        </a:rPr>
                        <a:t>0.359</a:t>
                      </a:r>
                    </a:p>
                  </a:txBody>
                  <a:tcPr>
                    <a:solidFill>
                      <a:srgbClr val="FAEBDD"/>
                    </a:solidFill>
                  </a:tcPr>
                </a:tc>
                <a:tc>
                  <a:txBody>
                    <a:bodyPr/>
                    <a:lstStyle/>
                    <a:p>
                      <a:r>
                        <a:rPr sz="1100">
                          <a:latin typeface="Times New Roman"/>
                        </a:rPr>
                        <a:t>+0.142</a:t>
                      </a:r>
                    </a:p>
                  </a:txBody>
                  <a:tcPr>
                    <a:solidFill>
                      <a:srgbClr val="FAEBDD"/>
                    </a:solidFill>
                  </a:tcPr>
                </a:tc>
                <a:tc>
                  <a:txBody>
                    <a:bodyPr/>
                    <a:lstStyle/>
                    <a:p>
                      <a:r>
                        <a:rPr sz="1100">
                          <a:latin typeface="Times New Roman"/>
                        </a:rPr>
                        <a:t>118.3</a:t>
                      </a:r>
                    </a:p>
                  </a:txBody>
                  <a:tcPr>
                    <a:solidFill>
                      <a:srgbClr val="FAEBDD"/>
                    </a:solidFill>
                  </a:tcPr>
                </a:tc>
              </a:tr>
            </a:tbl>
          </a:graphicData>
        </a:graphic>
      </p:graphicFrame>
      <p:sp>
        <p:nvSpPr>
          <p:cNvPr id="9" name="TextBox 8"/>
          <p:cNvSpPr txBox="1"/>
          <p:nvPr/>
        </p:nvSpPr>
        <p:spPr>
          <a:xfrm>
            <a:off x="5577840" y="4434840"/>
            <a:ext cx="3017520" cy="274320"/>
          </a:xfrm>
          <a:prstGeom prst="rect">
            <a:avLst/>
          </a:prstGeom>
          <a:noFill/>
        </p:spPr>
        <p:txBody>
          <a:bodyPr wrap="none">
            <a:spAutoFit/>
          </a:bodyPr>
          <a:lstStyle/>
          <a:p>
            <a:r>
              <a:rPr sz="1200" b="1">
                <a:solidFill>
                  <a:srgbClr val="C05317"/>
                </a:solidFill>
                <a:latin typeface="Times New Roman"/>
              </a:rPr>
              <a:t>결과 요약</a:t>
            </a:r>
          </a:p>
        </p:txBody>
      </p:sp>
      <p:sp>
        <p:nvSpPr>
          <p:cNvPr id="10" name="TextBox 9"/>
          <p:cNvSpPr txBox="1"/>
          <p:nvPr/>
        </p:nvSpPr>
        <p:spPr>
          <a:xfrm>
            <a:off x="5577840" y="4754880"/>
            <a:ext cx="3017520" cy="1097280"/>
          </a:xfrm>
          <a:prstGeom prst="rect">
            <a:avLst/>
          </a:prstGeom>
          <a:noFill/>
        </p:spPr>
        <p:txBody>
          <a:bodyPr wrap="square">
            <a:spAutoFit/>
          </a:bodyPr>
          <a:lstStyle/>
          <a:p>
            <a:r>
              <a:rPr sz="1000" b="0" i="0">
                <a:solidFill>
                  <a:srgbClr val="333333"/>
                </a:solidFill>
                <a:latin typeface="Times New Roman"/>
              </a:rPr>
              <a:t>▪ nRMSE 사실상 draw</a:t>
            </a:r>
          </a:p>
          <a:p>
            <a:r>
              <a:rPr sz="1000" b="0" i="0">
                <a:solidFill>
                  <a:srgbClr val="333333"/>
                </a:solidFill>
                <a:latin typeface="Times New Roman"/>
              </a:rPr>
              <a:t>▪ LETKF SS &gt; WS (regime별 보정)</a:t>
            </a:r>
          </a:p>
          <a:p>
            <a:r>
              <a:rPr sz="1000" b="0" i="0">
                <a:solidFill>
                  <a:srgbClr val="333333"/>
                </a:solidFill>
                <a:latin typeface="Times New Roman"/>
              </a:rPr>
              <a:t>▪ ≤5 comp: WS 압도</a:t>
            </a:r>
          </a:p>
          <a:p>
            <a:r>
              <a:rPr sz="1000" b="0" i="0">
                <a:solidFill>
                  <a:srgbClr val="333333"/>
                </a:solidFill>
                <a:latin typeface="Times New Roman"/>
              </a:rPr>
              <a:t>▪ ≥15 comp: LETKF 우세</a:t>
            </a:r>
          </a:p>
          <a:p>
            <a:r>
              <a:rPr sz="1000" b="0" i="0">
                <a:solidFill>
                  <a:srgbClr val="333333"/>
                </a:solidFill>
                <a:latin typeface="Times New Roman"/>
              </a:rPr>
              <a:t>▪ 속도: WS 8.1× faster</a:t>
            </a:r>
          </a:p>
          <a:p>
            <a:pPr algn="l">
              <a:spcBef>
                <a:spcPts val="200"/>
              </a:spcBef>
            </a:pPr>
            <a:r>
              <a:rPr b="0" sz="950">
                <a:solidFill>
                  <a:srgbClr val="333333"/>
                </a:solidFill>
                <a:latin typeface="Times New Roman"/>
              </a:rPr>
              <a:t>N≤5 (단순 sea): WS 압도적 (2~8× nRMSE 격차, 10× 빠름). 실해상 70%+ 시간 = Hs&lt;1 m 이므로 이 영역이 실용적으로 가장 중요.</a:t>
            </a:r>
          </a:p>
          <a:p>
            <a:pPr algn="l">
              <a:spcBef>
                <a:spcPts val="200"/>
              </a:spcBef>
            </a:pPr>
            <a:r>
              <a:rPr b="0" sz="950">
                <a:solidFill>
                  <a:srgbClr val="333333"/>
                </a:solidFill>
                <a:latin typeface="Times New Roman"/>
              </a:rPr>
              <a:t>N≥15 (복잡 sea): LETKF 우세. Gaspari-Cohn localization이 directional crowding에서 강점. 속도: LETKF 8.1× 느림 but 정확도 보상.</a:t>
            </a:r>
          </a:p>
        </p:txBody>
      </p:sp>
      <p:sp>
        <p:nvSpPr>
          <p:cNvPr id="11" name="TextBox 10"/>
          <p:cNvSpPr txBox="1"/>
          <p:nvPr/>
        </p:nvSpPr>
        <p:spPr>
          <a:xfrm>
            <a:off x="365760" y="5669280"/>
            <a:ext cx="8229600" cy="457200"/>
          </a:xfrm>
          <a:prstGeom prst="rect">
            <a:avLst/>
          </a:prstGeom>
          <a:noFill/>
        </p:spPr>
        <p:txBody>
          <a:bodyPr wrap="square">
            <a:spAutoFit/>
          </a:bodyPr>
          <a:lstStyle/>
          <a:p>
            <a:r>
              <a:rPr sz="1200" b="1" i="0">
                <a:solidFill>
                  <a:srgbClr val="C05317"/>
                </a:solidFill>
                <a:latin typeface="Times New Roman"/>
              </a:rPr>
              <a:t>결론: complexity-aware method selection이 최선 — 단순 sea WaveSplat, 복잡 sea LETKF fallback</a:t>
            </a:r>
          </a:p>
        </p:txBody>
      </p:sp>
      <p:sp>
        <p:nvSpPr>
          <p:cNvPr id="12" name="TextBox 11"/>
          <p:cNvSpPr txBox="1"/>
          <p:nvPr/>
        </p:nvSpPr>
        <p:spPr>
          <a:xfrm>
            <a:off x="365760" y="6263640"/>
            <a:ext cx="8229600" cy="228600"/>
          </a:xfrm>
          <a:prstGeom prst="rect">
            <a:avLst/>
          </a:prstGeom>
          <a:noFill/>
        </p:spPr>
        <p:txBody>
          <a:bodyPr wrap="none">
            <a:spAutoFit/>
          </a:bodyPr>
          <a:lstStyle/>
          <a:p>
            <a:r>
              <a:rPr sz="800" i="1">
                <a:solidFill>
                  <a:srgbClr val="666666"/>
                </a:solidFill>
                <a:latin typeface="Times New Roman"/>
              </a:rPr>
              <a:t>Refs: LETKF Hunt-Kostelich-Szunyogh, Physica D 230 (2007); Gaspari &amp; Cohn (1999) localization.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응용 — Hydrofoil Wave-Preview Feedforward</a:t>
            </a:r>
          </a:p>
        </p:txBody>
      </p:sp>
      <p:sp>
        <p:nvSpPr>
          <p:cNvPr id="4" name="TextBox 3"/>
          <p:cNvSpPr txBox="1"/>
          <p:nvPr/>
        </p:nvSpPr>
        <p:spPr>
          <a:xfrm>
            <a:off x="365760" y="868680"/>
            <a:ext cx="8229600" cy="274320"/>
          </a:xfrm>
          <a:prstGeom prst="rect">
            <a:avLst/>
          </a:prstGeom>
          <a:noFill/>
        </p:spPr>
        <p:txBody>
          <a:bodyPr wrap="none">
            <a:spAutoFit/>
          </a:bodyPr>
          <a:lstStyle/>
          <a:p>
            <a:r>
              <a:rPr sz="1200" b="1">
                <a:solidFill>
                  <a:srgbClr val="C05317"/>
                </a:solidFill>
                <a:latin typeface="Times New Roman"/>
              </a:rPr>
              <a:t>왜 hydrofoil 제어에 WaveSplat? — 발상의 출발</a:t>
            </a:r>
          </a:p>
        </p:txBody>
      </p:sp>
      <p:sp>
        <p:nvSpPr>
          <p:cNvPr id="5" name="TextBox 4"/>
          <p:cNvSpPr txBox="1"/>
          <p:nvPr/>
        </p:nvSpPr>
        <p:spPr>
          <a:xfrm>
            <a:off x="365760" y="1188720"/>
            <a:ext cx="8229600" cy="2194560"/>
          </a:xfrm>
          <a:prstGeom prst="rect">
            <a:avLst/>
          </a:prstGeom>
          <a:noFill/>
        </p:spPr>
        <p:txBody>
          <a:bodyPr wrap="square">
            <a:spAutoFit/>
          </a:bodyPr>
          <a:lstStyle/>
          <a:p>
            <a:r>
              <a:rPr sz="1100" b="0" i="0">
                <a:solidFill>
                  <a:srgbClr val="333333"/>
                </a:solidFill>
                <a:latin typeface="Times New Roman"/>
              </a:rPr>
              <a:t>▪ Hydrofoil 선박: 수면 위 비행 → foil 잠수 깊이 0.5~1.0 m → 파도가 AoA를 직접 변동</a:t>
            </a:r>
          </a:p>
          <a:p>
            <a:r>
              <a:rPr sz="1100" b="0" i="0">
                <a:solidFill>
                  <a:srgbClr val="333333"/>
                </a:solidFill>
                <a:latin typeface="Times New Roman"/>
              </a:rPr>
              <a:t>▪ PD feedback만으로는 encounter freq 대응 한계 — 50~100 ms loop delay = 파도 주기의 5~10%</a:t>
            </a:r>
          </a:p>
          <a:p>
            <a:r>
              <a:rPr sz="1100" b="0" i="0">
                <a:solidFill>
                  <a:srgbClr val="333333"/>
                </a:solidFill>
                <a:latin typeface="Times New Roman"/>
              </a:rPr>
              <a:t>▪ "에러를 본 뒤 수정"이 아니라 "에러를 미리 알고 보상" 필요 → preview feedforward</a:t>
            </a:r>
          </a:p>
          <a:p>
            <a:r>
              <a:rPr sz="1100" b="0" i="0">
                <a:solidFill>
                  <a:srgbClr val="333333"/>
                </a:solidFill>
                <a:latin typeface="Times New Roman"/>
              </a:rPr>
              <a:t>▪ WaveSplat의 spectral model은 정확한 (kᵢ, ωᵢ, φᵢ)로 foil 전방 시점의 파면 elevation·기울기를 예측</a:t>
            </a:r>
          </a:p>
          <a:p>
            <a:r>
              <a:rPr sz="1100" b="0" i="0">
                <a:solidFill>
                  <a:srgbClr val="333333"/>
                </a:solidFill>
                <a:latin typeface="Times New Roman"/>
              </a:rPr>
              <a:t>▪ 자동차 active suspension의 해양 버전 — 도로 카메라 → 서스펜션 미리 조절</a:t>
            </a:r>
          </a:p>
        </p:txBody>
      </p:sp>
      <p:sp>
        <p:nvSpPr>
          <p:cNvPr id="6" name="TextBox 5"/>
          <p:cNvSpPr txBox="1"/>
          <p:nvPr/>
        </p:nvSpPr>
        <p:spPr>
          <a:xfrm>
            <a:off x="365760" y="3520440"/>
            <a:ext cx="8229600" cy="274320"/>
          </a:xfrm>
          <a:prstGeom prst="rect">
            <a:avLst/>
          </a:prstGeom>
          <a:noFill/>
        </p:spPr>
        <p:txBody>
          <a:bodyPr wrap="none">
            <a:spAutoFit/>
          </a:bodyPr>
          <a:lstStyle/>
          <a:p>
            <a:r>
              <a:rPr sz="1200" b="1">
                <a:solidFill>
                  <a:srgbClr val="C05317"/>
                </a:solidFill>
                <a:latin typeface="Times New Roman"/>
              </a:rPr>
              <a:t>제어기 설계 — 왜 이렇게?</a:t>
            </a:r>
          </a:p>
        </p:txBody>
      </p:sp>
      <p:sp>
        <p:nvSpPr>
          <p:cNvPr id="7" name="TextBox 6"/>
          <p:cNvSpPr txBox="1"/>
          <p:nvPr/>
        </p:nvSpPr>
        <p:spPr>
          <a:xfrm>
            <a:off x="365760" y="3840480"/>
            <a:ext cx="8229600" cy="2377440"/>
          </a:xfrm>
          <a:prstGeom prst="rect">
            <a:avLst/>
          </a:prstGeom>
          <a:noFill/>
        </p:spPr>
        <p:txBody>
          <a:bodyPr wrap="square">
            <a:spAutoFit/>
          </a:bodyPr>
          <a:lstStyle/>
          <a:p>
            <a:r>
              <a:rPr sz="1100" b="0" i="0">
                <a:solidFill>
                  <a:srgbClr val="333333"/>
                </a:solidFill>
                <a:latin typeface="Times New Roman"/>
              </a:rPr>
              <a:t>▪ 2DOF model (heave + pitch): roll은 별도 roll-foil로 처리, 종방향 ride에 집중</a:t>
            </a:r>
          </a:p>
          <a:p>
            <a:r>
              <a:rPr sz="1100" b="0" i="0">
                <a:solidFill>
                  <a:srgbClr val="333333"/>
                </a:solidFill>
                <a:latin typeface="Times New Roman"/>
              </a:rPr>
              <a:t>▪ Tandem foil layout (전방 + 후방): collective δ_c (heave) + differential δ_d (pitch)로 분리</a:t>
            </a:r>
          </a:p>
          <a:p>
            <a:r>
              <a:rPr sz="1100" b="0" i="0">
                <a:solidFill>
                  <a:srgbClr val="333333"/>
                </a:solidFill>
                <a:latin typeface="Times New Roman"/>
              </a:rPr>
              <a:t>   → δ_f = δ_c − δ_d, δ_r = δ_c + δ_d (uniform/diff coupling)</a:t>
            </a:r>
          </a:p>
          <a:p>
            <a:r>
              <a:rPr sz="1100" b="0" i="0">
                <a:solidFill>
                  <a:srgbClr val="333333"/>
                </a:solidFill>
                <a:latin typeface="Times New Roman"/>
              </a:rPr>
              <a:t>▪ Feedforward: x_preview = x_foil + V·Δt → 파면 기울기 α_wave = −∂η/∂x − w/V → δ_ff = −K_ff · α_wave</a:t>
            </a:r>
          </a:p>
          <a:p>
            <a:r>
              <a:rPr sz="1100" b="0" i="0">
                <a:solidFill>
                  <a:srgbClr val="333333"/>
                </a:solidFill>
                <a:latin typeface="Times New Roman"/>
              </a:rPr>
              <a:t>▪ K_ff = 0.8: foil의 actual lift slope vs ideal slope 비 (model identification 결과)</a:t>
            </a:r>
          </a:p>
          <a:p>
            <a:r>
              <a:rPr sz="1100" b="0" i="0">
                <a:solidFill>
                  <a:srgbClr val="333333"/>
                </a:solidFill>
                <a:latin typeface="Times New Roman"/>
              </a:rPr>
              <a:t>▪ IIR LP filter (α=0.05, fc≈0.8 Hz): 추정 노이즈 억제, 파도 주기 (~3-7 s) 대역 통과</a:t>
            </a:r>
          </a:p>
          <a:p>
            <a:r>
              <a:rPr sz="1100" b="0" i="0">
                <a:solidFill>
                  <a:srgbClr val="333333"/>
                </a:solidFill>
                <a:latin typeface="Times New Roman"/>
              </a:rPr>
              <a:t>▪ PD feedback은 그대로 유지: FF 실패 시 fallback + 모델링 안 된 외란 (현류·바람) 보상</a:t>
            </a:r>
          </a:p>
        </p:txBody>
      </p:sp>
      <p:sp>
        <p:nvSpPr>
          <p:cNvPr id="8" name="TextBox 7"/>
          <p:cNvSpPr txBox="1"/>
          <p:nvPr/>
        </p:nvSpPr>
        <p:spPr>
          <a:xfrm>
            <a:off x="365760" y="6263640"/>
            <a:ext cx="8229600" cy="228600"/>
          </a:xfrm>
          <a:prstGeom prst="rect">
            <a:avLst/>
          </a:prstGeom>
          <a:noFill/>
        </p:spPr>
        <p:txBody>
          <a:bodyPr wrap="none">
            <a:spAutoFit/>
          </a:bodyPr>
          <a:lstStyle/>
          <a:p>
            <a:r>
              <a:rPr sz="800" i="1">
                <a:solidFill>
                  <a:srgbClr val="666666"/>
                </a:solidFill>
                <a:latin typeface="Times New Roman"/>
              </a:rPr>
              <a:t>Refs: Faltinsen (2005) Hydrodynamics of High-Speed Marine Vehicles; Hrovat (1997) optimal preview suspension control review.</a:t>
            </a:r>
          </a:p>
        </p:txBody>
      </p:sp>
      <p:sp>
        <p:nvSpPr>
          <p:cNvPr id="9" name="TextBox 8"/>
          <p:cNvSpPr txBox="1"/>
          <p:nvPr/>
        </p:nvSpPr>
        <p:spPr>
          <a:xfrm>
            <a:off x="365760" y="2331720"/>
            <a:ext cx="8229600" cy="274320"/>
          </a:xfrm>
          <a:prstGeom prst="rect">
            <a:avLst/>
          </a:prstGeom>
          <a:noFill/>
        </p:spPr>
        <p:txBody>
          <a:bodyPr wrap="none">
            <a:spAutoFit/>
          </a:bodyPr>
          <a:lstStyle/>
          <a:p>
            <a:r>
              <a:rPr sz="1200" b="1">
                <a:solidFill>
                  <a:srgbClr val="C05317"/>
                </a:solidFill>
                <a:latin typeface="Times New Roman"/>
              </a:rPr>
              <a:t>비유 — 자동차 active suspension의 해양 버전</a:t>
            </a:r>
          </a:p>
        </p:txBody>
      </p:sp>
      <p:sp>
        <p:nvSpPr>
          <p:cNvPr id="10" name="TextBox 9"/>
          <p:cNvSpPr txBox="1"/>
          <p:nvPr/>
        </p:nvSpPr>
        <p:spPr>
          <a:xfrm>
            <a:off x="365760" y="2651760"/>
            <a:ext cx="8229600" cy="777240"/>
          </a:xfrm>
          <a:prstGeom prst="rect">
            <a:avLst/>
          </a:prstGeom>
          <a:noFill/>
        </p:spPr>
        <p:txBody>
          <a:bodyPr wrap="square">
            <a:spAutoFit/>
          </a:bodyPr>
          <a:lstStyle/>
          <a:p>
            <a:r>
              <a:rPr sz="1100" b="0" i="0">
                <a:solidFill>
                  <a:srgbClr val="333333"/>
                </a:solidFill>
                <a:latin typeface="Times New Roman"/>
              </a:rPr>
              <a:t>▪ 자동차: 전방 카메라 → 노면 검지 → 서스펜션 미리 조절 → 충격 감소</a:t>
            </a:r>
          </a:p>
          <a:p>
            <a:r>
              <a:rPr sz="1100" b="0" i="0">
                <a:solidFill>
                  <a:srgbClr val="333333"/>
                </a:solidFill>
                <a:latin typeface="Times New Roman"/>
              </a:rPr>
              <a:t>▪ 하이드로포일: 전방 LiDAR → WaveSplat → preview 시점 wave 기울기 → foil 받음각 조정</a:t>
            </a:r>
          </a:p>
          <a:p>
            <a:r>
              <a:rPr sz="1100" b="0" i="0">
                <a:solidFill>
                  <a:srgbClr val="333333"/>
                </a:solidFill>
                <a:latin typeface="Times New Roman"/>
              </a:rPr>
              <a:t>▪ 차이: 도로보다 파도가 시간으로 변하므로 dispersion 외삽이 추가로 필요 (WaveSplat 기여)</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100" b="0" i="0">
                <a:latin typeface="Times New Roman"/>
              </a:rPr>
              <a:t>응용 — Controller Flowchart (LiDAR → 제어 전체 경로)</a:t>
            </a:r>
          </a:p>
        </p:txBody>
      </p:sp>
      <p:sp>
        <p:nvSpPr>
          <p:cNvPr id="5" name="TextBox 4"/>
          <p:cNvSpPr txBox="1"/>
          <p:nvPr/>
        </p:nvSpPr>
        <p:spPr>
          <a:xfrm>
            <a:off x="365760" y="3931920"/>
            <a:ext cx="8229600" cy="274320"/>
          </a:xfrm>
          <a:prstGeom prst="rect">
            <a:avLst/>
          </a:prstGeom>
          <a:noFill/>
        </p:spPr>
        <p:txBody>
          <a:bodyPr wrap="none">
            <a:spAutoFit/>
          </a:bodyPr>
          <a:lstStyle/>
          <a:p>
            <a:r>
              <a:rPr sz="1200" b="1">
                <a:solidFill>
                  <a:srgbClr val="C05317"/>
                </a:solidFill>
                <a:latin typeface="Times New Roman"/>
              </a:rPr>
              <a:t>읽는 법 — 위쪽 파이프라인 (FF) + 아래쪽 (PD)</a:t>
            </a:r>
          </a:p>
        </p:txBody>
      </p:sp>
      <p:sp>
        <p:nvSpPr>
          <p:cNvPr id="6" name="TextBox 5"/>
          <p:cNvSpPr txBox="1"/>
          <p:nvPr/>
        </p:nvSpPr>
        <p:spPr>
          <a:xfrm>
            <a:off x="365760" y="4251960"/>
            <a:ext cx="8229600" cy="1280160"/>
          </a:xfrm>
          <a:prstGeom prst="rect">
            <a:avLst/>
          </a:prstGeom>
          <a:noFill/>
        </p:spPr>
        <p:txBody>
          <a:bodyPr wrap="square">
            <a:spAutoFit/>
          </a:bodyPr>
          <a:lstStyle/>
          <a:p>
            <a:r>
              <a:rPr sz="1100" b="0" i="0">
                <a:solidFill>
                  <a:srgbClr val="333333"/>
                </a:solidFill>
                <a:latin typeface="Times New Roman"/>
              </a:rPr>
              <a:t>▪ 윗줄 (FF): Falcon K1 → WaveSplat → Forward Predictor (preview x_pre) → IIR LP filter → K_ff gain → Foil Servo</a:t>
            </a:r>
          </a:p>
          <a:p>
            <a:r>
              <a:rPr sz="1100" b="0" i="0">
                <a:solidFill>
                  <a:srgbClr val="333333"/>
                </a:solidFill>
                <a:latin typeface="Times New Roman"/>
              </a:rPr>
              <a:t>▪ 아랫줄 (PD): Ship IMU (heave, pitch) → PD Controller → Foil Servo (FF와 합산)</a:t>
            </a:r>
          </a:p>
          <a:p>
            <a:r>
              <a:rPr sz="1100" b="0" i="0">
                <a:solidFill>
                  <a:srgbClr val="333333"/>
                </a:solidFill>
                <a:latin typeface="Times New Roman"/>
              </a:rPr>
              <a:t>▪ Servo 출력: δ_f, δ_r ∈ [−15°, +15°] → foil 받음각 변경 → lift 변동 → ride control</a:t>
            </a:r>
          </a:p>
        </p:txBody>
      </p:sp>
      <p:sp>
        <p:nvSpPr>
          <p:cNvPr id="7" name="TextBox 6"/>
          <p:cNvSpPr txBox="1"/>
          <p:nvPr/>
        </p:nvSpPr>
        <p:spPr>
          <a:xfrm>
            <a:off x="365760" y="5532120"/>
            <a:ext cx="8229600" cy="274320"/>
          </a:xfrm>
          <a:prstGeom prst="rect">
            <a:avLst/>
          </a:prstGeom>
          <a:noFill/>
        </p:spPr>
        <p:txBody>
          <a:bodyPr wrap="none">
            <a:spAutoFit/>
          </a:bodyPr>
          <a:lstStyle/>
          <a:p>
            <a:r>
              <a:rPr sz="1200" b="1">
                <a:solidFill>
                  <a:srgbClr val="C05317"/>
                </a:solidFill>
                <a:latin typeface="Times New Roman"/>
              </a:rPr>
              <a:t>핵심 시간 척도</a:t>
            </a:r>
          </a:p>
        </p:txBody>
      </p:sp>
      <p:sp>
        <p:nvSpPr>
          <p:cNvPr id="8" name="TextBox 7"/>
          <p:cNvSpPr txBox="1"/>
          <p:nvPr/>
        </p:nvSpPr>
        <p:spPr>
          <a:xfrm>
            <a:off x="365760" y="5852160"/>
            <a:ext cx="8229600" cy="640080"/>
          </a:xfrm>
          <a:prstGeom prst="rect">
            <a:avLst/>
          </a:prstGeom>
          <a:noFill/>
        </p:spPr>
        <p:txBody>
          <a:bodyPr wrap="square">
            <a:spAutoFit/>
          </a:bodyPr>
          <a:lstStyle/>
          <a:p>
            <a:r>
              <a:rPr sz="1100" b="0" i="0">
                <a:solidFill>
                  <a:srgbClr val="333333"/>
                </a:solidFill>
                <a:latin typeface="Times New Roman"/>
              </a:rPr>
              <a:t>▪ LiDAR 10 Hz → WaveSplat 13.4 ms → preview 100 ms ahead → 파도 주기 4-7 s 중 5%만 활용</a:t>
            </a:r>
          </a:p>
          <a:p>
            <a:r>
              <a:rPr sz="1100" b="0" i="0">
                <a:solidFill>
                  <a:srgbClr val="333333"/>
                </a:solidFill>
                <a:latin typeface="Times New Roman"/>
              </a:rPr>
              <a:t>▪ Closed-loop bandwidth ≈ 1 Hz (servo limit) → 파도 encounter freq (0.2-0.5 Hz)와 정합</a:t>
            </a:r>
          </a:p>
        </p:txBody>
      </p:sp>
      <p:pic>
        <p:nvPicPr>
          <p:cNvPr id="9" name="Picture 8" descr="hydrofoil_controller_flow.png"/>
          <p:cNvPicPr>
            <a:picLocks noChangeAspect="1"/>
          </p:cNvPicPr>
          <p:nvPr/>
        </p:nvPicPr>
        <p:blipFill>
          <a:blip r:embed="rId3"/>
          <a:stretch>
            <a:fillRect/>
          </a:stretch>
        </p:blipFill>
        <p:spPr>
          <a:xfrm>
            <a:off x="182880" y="868680"/>
            <a:ext cx="8778240" cy="310896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Hydrofoil 결과 (1) — Feedforward 효과 비교</a:t>
            </a:r>
          </a:p>
        </p:txBody>
      </p:sp>
      <p:graphicFrame>
        <p:nvGraphicFramePr>
          <p:cNvPr id="4" name="Table 3"/>
          <p:cNvGraphicFramePr>
            <a:graphicFrameLocks noGrp="1"/>
          </p:cNvGraphicFramePr>
          <p:nvPr/>
        </p:nvGraphicFramePr>
        <p:xfrm>
          <a:off x="365760" y="868680"/>
          <a:ext cx="8229600" cy="18288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365760">
                <a:tc>
                  <a:txBody>
                    <a:bodyPr/>
                    <a:lstStyle/>
                    <a:p>
                      <a:r>
                        <a:rPr sz="1100" b="1">
                          <a:solidFill>
                            <a:srgbClr val="FFFFFF"/>
                          </a:solidFill>
                          <a:latin typeface="Times New Roman"/>
                        </a:rPr>
                        <a:t>Scenario</a:t>
                      </a:r>
                    </a:p>
                  </a:txBody>
                  <a:tcPr>
                    <a:solidFill>
                      <a:srgbClr val="C05317"/>
                    </a:solidFill>
                  </a:tcPr>
                </a:tc>
                <a:tc>
                  <a:txBody>
                    <a:bodyPr/>
                    <a:lstStyle/>
                    <a:p>
                      <a:r>
                        <a:rPr sz="1100" b="1">
                          <a:solidFill>
                            <a:srgbClr val="FFFFFF"/>
                          </a:solidFill>
                          <a:latin typeface="Times New Roman"/>
                        </a:rPr>
                        <a:t>PD-only aRMS [m/s²]</a:t>
                      </a:r>
                    </a:p>
                  </a:txBody>
                  <a:tcPr>
                    <a:solidFill>
                      <a:srgbClr val="C05317"/>
                    </a:solidFill>
                  </a:tcPr>
                </a:tc>
                <a:tc>
                  <a:txBody>
                    <a:bodyPr/>
                    <a:lstStyle/>
                    <a:p>
                      <a:r>
                        <a:rPr sz="1100" b="1">
                          <a:solidFill>
                            <a:srgbClr val="FFFFFF"/>
                          </a:solidFill>
                          <a:latin typeface="Times New Roman"/>
                        </a:rPr>
                        <a:t>GT FF ↓%</a:t>
                      </a:r>
                    </a:p>
                  </a:txBody>
                  <a:tcPr>
                    <a:solidFill>
                      <a:srgbClr val="C05317"/>
                    </a:solidFill>
                  </a:tcPr>
                </a:tc>
                <a:tc>
                  <a:txBody>
                    <a:bodyPr/>
                    <a:lstStyle/>
                    <a:p>
                      <a:r>
                        <a:rPr sz="1100" b="1">
                          <a:solidFill>
                            <a:srgbClr val="FFFFFF"/>
                          </a:solidFill>
                          <a:latin typeface="Times New Roman"/>
                        </a:rPr>
                        <a:t>WS FF ↓%</a:t>
                      </a:r>
                    </a:p>
                  </a:txBody>
                  <a:tcPr>
                    <a:solidFill>
                      <a:srgbClr val="C05317"/>
                    </a:solidFill>
                  </a:tcPr>
                </a:tc>
                <a:tc>
                  <a:txBody>
                    <a:bodyPr/>
                    <a:lstStyle/>
                    <a:p>
                      <a:r>
                        <a:rPr sz="1100" b="1">
                          <a:solidFill>
                            <a:srgbClr val="FFFFFF"/>
                          </a:solidFill>
                          <a:latin typeface="Times New Roman"/>
                        </a:rPr>
                        <a:t>Noisy FF ↓%</a:t>
                      </a:r>
                    </a:p>
                  </a:txBody>
                  <a:tcPr>
                    <a:solidFill>
                      <a:srgbClr val="C05317"/>
                    </a:solidFill>
                  </a:tcPr>
                </a:tc>
              </a:tr>
              <a:tr h="365760">
                <a:tc>
                  <a:txBody>
                    <a:bodyPr/>
                    <a:lstStyle/>
                    <a:p>
                      <a:r>
                        <a:rPr sz="1100" b="1">
                          <a:latin typeface="Times New Roman"/>
                        </a:rPr>
                        <a:t>BF3 Head</a:t>
                      </a:r>
                    </a:p>
                  </a:txBody>
                  <a:tcPr>
                    <a:solidFill>
                      <a:srgbClr val="FFFFFF"/>
                    </a:solidFill>
                  </a:tcPr>
                </a:tc>
                <a:tc>
                  <a:txBody>
                    <a:bodyPr/>
                    <a:lstStyle/>
                    <a:p>
                      <a:r>
                        <a:rPr sz="1100" b="1">
                          <a:latin typeface="Times New Roman"/>
                        </a:rPr>
                        <a:t>1.631</a:t>
                      </a:r>
                    </a:p>
                  </a:txBody>
                  <a:tcPr>
                    <a:solidFill>
                      <a:srgbClr val="FFFFFF"/>
                    </a:solidFill>
                  </a:tcPr>
                </a:tc>
                <a:tc>
                  <a:txBody>
                    <a:bodyPr/>
                    <a:lstStyle/>
                    <a:p>
                      <a:r>
                        <a:rPr sz="1100" b="1">
                          <a:latin typeface="Times New Roman"/>
                        </a:rPr>
                        <a:t>+11.0%</a:t>
                      </a:r>
                    </a:p>
                  </a:txBody>
                  <a:tcPr>
                    <a:solidFill>
                      <a:srgbClr val="FFFFFF"/>
                    </a:solidFill>
                  </a:tcPr>
                </a:tc>
                <a:tc>
                  <a:txBody>
                    <a:bodyPr/>
                    <a:lstStyle/>
                    <a:p>
                      <a:r>
                        <a:rPr sz="1100" b="1">
                          <a:latin typeface="Times New Roman"/>
                        </a:rPr>
                        <a:t>+11.4%</a:t>
                      </a:r>
                    </a:p>
                  </a:txBody>
                  <a:tcPr>
                    <a:solidFill>
                      <a:srgbClr val="FFFFFF"/>
                    </a:solidFill>
                  </a:tcPr>
                </a:tc>
                <a:tc>
                  <a:txBody>
                    <a:bodyPr/>
                    <a:lstStyle/>
                    <a:p>
                      <a:r>
                        <a:rPr sz="1100" b="1">
                          <a:latin typeface="Times New Roman"/>
                        </a:rPr>
                        <a:t>+11.7%</a:t>
                      </a:r>
                    </a:p>
                  </a:txBody>
                  <a:tcPr>
                    <a:solidFill>
                      <a:srgbClr val="FFFFFF"/>
                    </a:solidFill>
                  </a:tcPr>
                </a:tc>
              </a:tr>
              <a:tr h="365760">
                <a:tc>
                  <a:txBody>
                    <a:bodyPr/>
                    <a:lstStyle/>
                    <a:p>
                      <a:r>
                        <a:rPr sz="1100">
                          <a:latin typeface="Times New Roman"/>
                        </a:rPr>
                        <a:t>BF4 Head</a:t>
                      </a:r>
                    </a:p>
                  </a:txBody>
                  <a:tcPr>
                    <a:solidFill>
                      <a:srgbClr val="FAEBDD"/>
                    </a:solidFill>
                  </a:tcPr>
                </a:tc>
                <a:tc>
                  <a:txBody>
                    <a:bodyPr/>
                    <a:lstStyle/>
                    <a:p>
                      <a:r>
                        <a:rPr sz="1100">
                          <a:latin typeface="Times New Roman"/>
                        </a:rPr>
                        <a:t>2.162</a:t>
                      </a:r>
                    </a:p>
                  </a:txBody>
                  <a:tcPr>
                    <a:solidFill>
                      <a:srgbClr val="FAEBDD"/>
                    </a:solidFill>
                  </a:tcPr>
                </a:tc>
                <a:tc>
                  <a:txBody>
                    <a:bodyPr/>
                    <a:lstStyle/>
                    <a:p>
                      <a:r>
                        <a:rPr sz="1100">
                          <a:latin typeface="Times New Roman"/>
                        </a:rPr>
                        <a:t>+12.3%</a:t>
                      </a:r>
                    </a:p>
                  </a:txBody>
                  <a:tcPr>
                    <a:solidFill>
                      <a:srgbClr val="FAEBDD"/>
                    </a:solidFill>
                  </a:tcPr>
                </a:tc>
                <a:tc>
                  <a:txBody>
                    <a:bodyPr/>
                    <a:lstStyle/>
                    <a:p>
                      <a:r>
                        <a:rPr sz="1100">
                          <a:latin typeface="Times New Roman"/>
                        </a:rPr>
                        <a:t>+12.2%</a:t>
                      </a:r>
                    </a:p>
                  </a:txBody>
                  <a:tcPr>
                    <a:solidFill>
                      <a:srgbClr val="FAEBDD"/>
                    </a:solidFill>
                  </a:tcPr>
                </a:tc>
                <a:tc>
                  <a:txBody>
                    <a:bodyPr/>
                    <a:lstStyle/>
                    <a:p>
                      <a:r>
                        <a:rPr sz="1100">
                          <a:latin typeface="Times New Roman"/>
                        </a:rPr>
                        <a:t>+11.8%</a:t>
                      </a:r>
                    </a:p>
                  </a:txBody>
                  <a:tcPr>
                    <a:solidFill>
                      <a:srgbClr val="FAEBDD"/>
                    </a:solidFill>
                  </a:tcPr>
                </a:tc>
              </a:tr>
              <a:tr h="365760">
                <a:tc>
                  <a:txBody>
                    <a:bodyPr/>
                    <a:lstStyle/>
                    <a:p>
                      <a:r>
                        <a:rPr sz="1100">
                          <a:latin typeface="Times New Roman"/>
                        </a:rPr>
                        <a:t>BF3 Beam</a:t>
                      </a:r>
                    </a:p>
                  </a:txBody>
                  <a:tcPr>
                    <a:solidFill>
                      <a:srgbClr val="FFFFFF"/>
                    </a:solidFill>
                  </a:tcPr>
                </a:tc>
                <a:tc>
                  <a:txBody>
                    <a:bodyPr/>
                    <a:lstStyle/>
                    <a:p>
                      <a:r>
                        <a:rPr sz="1100">
                          <a:latin typeface="Times New Roman"/>
                        </a:rPr>
                        <a:t>0.402</a:t>
                      </a:r>
                    </a:p>
                  </a:txBody>
                  <a:tcPr>
                    <a:solidFill>
                      <a:srgbClr val="FFFFFF"/>
                    </a:solidFill>
                  </a:tcPr>
                </a:tc>
                <a:tc>
                  <a:txBody>
                    <a:bodyPr/>
                    <a:lstStyle/>
                    <a:p>
                      <a:r>
                        <a:rPr sz="1100">
                          <a:latin typeface="Times New Roman"/>
                        </a:rPr>
                        <a:t>+40.7%</a:t>
                      </a:r>
                    </a:p>
                  </a:txBody>
                  <a:tcPr>
                    <a:solidFill>
                      <a:srgbClr val="FFFFFF"/>
                    </a:solidFill>
                  </a:tcPr>
                </a:tc>
                <a:tc>
                  <a:txBody>
                    <a:bodyPr/>
                    <a:lstStyle/>
                    <a:p>
                      <a:r>
                        <a:rPr sz="1100">
                          <a:latin typeface="Times New Roman"/>
                        </a:rPr>
                        <a:t>+37.7%</a:t>
                      </a:r>
                    </a:p>
                  </a:txBody>
                  <a:tcPr>
                    <a:solidFill>
                      <a:srgbClr val="FFFFFF"/>
                    </a:solidFill>
                  </a:tcPr>
                </a:tc>
                <a:tc>
                  <a:txBody>
                    <a:bodyPr/>
                    <a:lstStyle/>
                    <a:p>
                      <a:r>
                        <a:rPr sz="1100">
                          <a:latin typeface="Times New Roman"/>
                        </a:rPr>
                        <a:t>+27.5%</a:t>
                      </a:r>
                    </a:p>
                  </a:txBody>
                  <a:tcPr>
                    <a:solidFill>
                      <a:srgbClr val="FFFFFF"/>
                    </a:solidFill>
                  </a:tcPr>
                </a:tc>
              </a:tr>
              <a:tr h="365760">
                <a:tc>
                  <a:txBody>
                    <a:bodyPr/>
                    <a:lstStyle/>
                    <a:p>
                      <a:r>
                        <a:rPr sz="1100">
                          <a:latin typeface="Times New Roman"/>
                        </a:rPr>
                        <a:t>BF3 Quarter</a:t>
                      </a:r>
                    </a:p>
                  </a:txBody>
                  <a:tcPr>
                    <a:solidFill>
                      <a:srgbClr val="FAEBDD"/>
                    </a:solidFill>
                  </a:tcPr>
                </a:tc>
                <a:tc>
                  <a:txBody>
                    <a:bodyPr/>
                    <a:lstStyle/>
                    <a:p>
                      <a:r>
                        <a:rPr sz="1100">
                          <a:latin typeface="Times New Roman"/>
                        </a:rPr>
                        <a:t>1.178</a:t>
                      </a:r>
                    </a:p>
                  </a:txBody>
                  <a:tcPr>
                    <a:solidFill>
                      <a:srgbClr val="FAEBDD"/>
                    </a:solidFill>
                  </a:tcPr>
                </a:tc>
                <a:tc>
                  <a:txBody>
                    <a:bodyPr/>
                    <a:lstStyle/>
                    <a:p>
                      <a:r>
                        <a:rPr sz="1100">
                          <a:latin typeface="Times New Roman"/>
                        </a:rPr>
                        <a:t>+17.6%</a:t>
                      </a:r>
                    </a:p>
                  </a:txBody>
                  <a:tcPr>
                    <a:solidFill>
                      <a:srgbClr val="FAEBDD"/>
                    </a:solidFill>
                  </a:tcPr>
                </a:tc>
                <a:tc>
                  <a:txBody>
                    <a:bodyPr/>
                    <a:lstStyle/>
                    <a:p>
                      <a:r>
                        <a:rPr sz="1100">
                          <a:latin typeface="Times New Roman"/>
                        </a:rPr>
                        <a:t>+17.7%</a:t>
                      </a:r>
                    </a:p>
                  </a:txBody>
                  <a:tcPr>
                    <a:solidFill>
                      <a:srgbClr val="FAEBDD"/>
                    </a:solidFill>
                  </a:tcPr>
                </a:tc>
                <a:tc>
                  <a:txBody>
                    <a:bodyPr/>
                    <a:lstStyle/>
                    <a:p>
                      <a:r>
                        <a:rPr sz="1100">
                          <a:latin typeface="Times New Roman"/>
                        </a:rPr>
                        <a:t>+17.0%</a:t>
                      </a:r>
                    </a:p>
                  </a:txBody>
                  <a:tcPr>
                    <a:solidFill>
                      <a:srgbClr val="FAEBDD"/>
                    </a:solidFill>
                  </a:tcPr>
                </a:tc>
              </a:tr>
            </a:tbl>
          </a:graphicData>
        </a:graphic>
      </p:graphicFrame>
      <p:sp>
        <p:nvSpPr>
          <p:cNvPr id="5" name="TextBox 4"/>
          <p:cNvSpPr txBox="1"/>
          <p:nvPr/>
        </p:nvSpPr>
        <p:spPr>
          <a:xfrm>
            <a:off x="365760" y="2926080"/>
            <a:ext cx="8229600" cy="3200400"/>
          </a:xfrm>
          <a:prstGeom prst="rect">
            <a:avLst/>
          </a:prstGeom>
          <a:noFill/>
        </p:spPr>
        <p:txBody>
          <a:bodyPr wrap="square">
            <a:spAutoFit/>
          </a:bodyPr>
          <a:lstStyle/>
          <a:p>
            <a:r>
              <a:rPr sz="1400" b="1" i="0">
                <a:solidFill>
                  <a:srgbClr val="C05317"/>
                </a:solidFill>
                <a:latin typeface="Times New Roman"/>
              </a:rPr>
              <a:t>핵심 결과: WaveSplat FF → GT FF의 93~103% 성능 달성</a:t>
            </a:r>
          </a:p>
          <a:p>
            <a:r>
              <a:rPr sz="1100" b="0" i="0">
                <a:solidFill>
                  <a:srgbClr val="333333"/>
                </a:solidFill>
                <a:latin typeface="Times New Roman"/>
              </a:rPr>
              <a:t>▪ WaveSplat의 20% nRMSE 추정으로도 GT 대비 거의 완전한 feedforward 효과 회복</a:t>
            </a:r>
          </a:p>
          <a:p>
            <a:r>
              <a:rPr sz="1100" b="0" i="0">
                <a:solidFill>
                  <a:srgbClr val="333333"/>
                </a:solidFill>
                <a:latin typeface="Times New Roman"/>
              </a:rPr>
              <a:t>▪ Beam sea에서 가장 큰 개선 (+37.7%) — 파면이 vessel과 평행 → preview 길이 짧아 추정 유리</a:t>
            </a:r>
          </a:p>
          <a:p>
            <a:r>
              <a:rPr sz="1100" b="0" i="0">
                <a:solidFill>
                  <a:srgbClr val="333333"/>
                </a:solidFill>
                <a:latin typeface="Times New Roman"/>
              </a:rPr>
              <a:t>▪ Noisy FF (인위적 노이즈 주입)도 LP filter 덕분에 효과적 — 추정이 부정확해도 활용 가능</a:t>
            </a:r>
          </a:p>
          <a:p>
            <a:r>
              <a:rPr sz="1100" b="0" i="0">
                <a:solidFill>
                  <a:srgbClr val="333333"/>
                </a:solidFill>
                <a:latin typeface="Times New Roman"/>
              </a:rPr>
              <a:t>▪ BF3 Beam: ISO 2631 기준 'Slight discomfort' → 'Comfortable' 달성 (aRMS &lt; 0.315)</a:t>
            </a:r>
          </a:p>
          <a:p>
            <a:r>
              <a:rPr sz="1100" b="0" i="0">
                <a:solidFill>
                  <a:srgbClr val="333333"/>
                </a:solidFill>
                <a:latin typeface="Times New Roman"/>
              </a:rPr>
              <a:t/>
            </a:r>
          </a:p>
          <a:p>
            <a:r>
              <a:rPr sz="1200" b="1" i="0">
                <a:solidFill>
                  <a:srgbClr val="1A1A2E"/>
                </a:solidFill>
                <a:latin typeface="Times New Roman"/>
              </a:rPr>
              <a:t>실용 의미: 추정 정확도가 느슨해도 FF는 동작 — 제어 성능의 nRMSE tolerance가 큼</a:t>
            </a:r>
          </a:p>
        </p:txBody>
      </p:sp>
      <p:sp>
        <p:nvSpPr>
          <p:cNvPr id="6" name="TextBox 5"/>
          <p:cNvSpPr txBox="1"/>
          <p:nvPr/>
        </p:nvSpPr>
        <p:spPr>
          <a:xfrm>
            <a:off x="365760" y="4663440"/>
            <a:ext cx="4114800" cy="274320"/>
          </a:xfrm>
          <a:prstGeom prst="rect">
            <a:avLst/>
          </a:prstGeom>
          <a:noFill/>
        </p:spPr>
        <p:txBody>
          <a:bodyPr wrap="none">
            <a:spAutoFit/>
          </a:bodyPr>
          <a:lstStyle/>
          <a:p>
            <a:r>
              <a:rPr sz="1200" b="1">
                <a:solidFill>
                  <a:srgbClr val="C05317"/>
                </a:solidFill>
                <a:latin typeface="Times New Roman"/>
              </a:rPr>
              <a:t>ISO 2631 승차감 기준 — 객관적 평가 척도</a:t>
            </a:r>
          </a:p>
        </p:txBody>
      </p:sp>
      <p:sp>
        <p:nvSpPr>
          <p:cNvPr id="7" name="TextBox 6"/>
          <p:cNvSpPr txBox="1"/>
          <p:nvPr/>
        </p:nvSpPr>
        <p:spPr>
          <a:xfrm>
            <a:off x="365760" y="4983480"/>
            <a:ext cx="4114800" cy="1554480"/>
          </a:xfrm>
          <a:prstGeom prst="rect">
            <a:avLst/>
          </a:prstGeom>
          <a:noFill/>
        </p:spPr>
        <p:txBody>
          <a:bodyPr wrap="square">
            <a:spAutoFit/>
          </a:bodyPr>
          <a:lstStyle/>
          <a:p>
            <a:r>
              <a:rPr sz="1000" b="0" i="0">
                <a:solidFill>
                  <a:srgbClr val="333333"/>
                </a:solidFill>
                <a:latin typeface="Times New Roman"/>
              </a:rPr>
              <a:t>▪ ISO 2631-1: 인체 vibration exposure 기준</a:t>
            </a:r>
          </a:p>
          <a:p>
            <a:r>
              <a:rPr sz="1000" b="0" i="0">
                <a:solidFill>
                  <a:srgbClr val="333333"/>
                </a:solidFill>
                <a:latin typeface="Times New Roman"/>
              </a:rPr>
              <a:t>▪ aRMS [m/s²] 기준 분류:</a:t>
            </a:r>
          </a:p>
          <a:p>
            <a:r>
              <a:rPr sz="1000" b="0" i="0">
                <a:solidFill>
                  <a:srgbClr val="333333"/>
                </a:solidFill>
                <a:latin typeface="Times New Roman"/>
              </a:rPr>
              <a:t>   &lt; 0.315  Comfortable</a:t>
            </a:r>
          </a:p>
          <a:p>
            <a:r>
              <a:rPr sz="1000" b="0" i="0">
                <a:solidFill>
                  <a:srgbClr val="333333"/>
                </a:solidFill>
                <a:latin typeface="Times New Roman"/>
              </a:rPr>
              <a:t>   0.315 ~ 0.63  Slight discomfort</a:t>
            </a:r>
          </a:p>
          <a:p>
            <a:r>
              <a:rPr sz="1000" b="0" i="0">
                <a:solidFill>
                  <a:srgbClr val="333333"/>
                </a:solidFill>
                <a:latin typeface="Times New Roman"/>
              </a:rPr>
              <a:t>   0.50 ~ 1.00  Fairly uncomfortable</a:t>
            </a:r>
          </a:p>
          <a:p>
            <a:r>
              <a:rPr sz="1000" b="0" i="0">
                <a:solidFill>
                  <a:srgbClr val="333333"/>
                </a:solidFill>
                <a:latin typeface="Times New Roman"/>
              </a:rPr>
              <a:t>   0.80 ~ 1.60  Uncomfortable</a:t>
            </a:r>
          </a:p>
          <a:p>
            <a:r>
              <a:rPr sz="1000" b="0" i="0">
                <a:solidFill>
                  <a:srgbClr val="333333"/>
                </a:solidFill>
                <a:latin typeface="Times New Roman"/>
              </a:rPr>
              <a:t>   &gt; 1.60  Very uncomfortable</a:t>
            </a:r>
          </a:p>
        </p:txBody>
      </p:sp>
      <p:sp>
        <p:nvSpPr>
          <p:cNvPr id="8" name="TextBox 7"/>
          <p:cNvSpPr txBox="1"/>
          <p:nvPr/>
        </p:nvSpPr>
        <p:spPr>
          <a:xfrm>
            <a:off x="4663440" y="4663440"/>
            <a:ext cx="3931920" cy="274320"/>
          </a:xfrm>
          <a:prstGeom prst="rect">
            <a:avLst/>
          </a:prstGeom>
          <a:noFill/>
        </p:spPr>
        <p:txBody>
          <a:bodyPr wrap="none">
            <a:spAutoFit/>
          </a:bodyPr>
          <a:lstStyle/>
          <a:p>
            <a:r>
              <a:rPr sz="1200" b="1">
                <a:solidFill>
                  <a:srgbClr val="C05317"/>
                </a:solidFill>
                <a:latin typeface="Times New Roman"/>
              </a:rPr>
              <a:t>Encounter angle 별 해석</a:t>
            </a:r>
          </a:p>
        </p:txBody>
      </p:sp>
      <p:sp>
        <p:nvSpPr>
          <p:cNvPr id="9" name="TextBox 8"/>
          <p:cNvSpPr txBox="1"/>
          <p:nvPr/>
        </p:nvSpPr>
        <p:spPr>
          <a:xfrm>
            <a:off x="4663440" y="4983480"/>
            <a:ext cx="3931920" cy="1554480"/>
          </a:xfrm>
          <a:prstGeom prst="rect">
            <a:avLst/>
          </a:prstGeom>
          <a:noFill/>
        </p:spPr>
        <p:txBody>
          <a:bodyPr wrap="square">
            <a:spAutoFit/>
          </a:bodyPr>
          <a:lstStyle/>
          <a:p>
            <a:r>
              <a:rPr sz="1000" b="0" i="0">
                <a:solidFill>
                  <a:srgbClr val="333333"/>
                </a:solidFill>
                <a:latin typeface="Times New Roman"/>
              </a:rPr>
              <a:t>▪ Head sea (μ=180°): 짧은 encounter wavelength →</a:t>
            </a:r>
          </a:p>
          <a:p>
            <a:r>
              <a:rPr sz="1000" b="0" i="0">
                <a:solidFill>
                  <a:srgbClr val="333333"/>
                </a:solidFill>
                <a:latin typeface="Times New Roman"/>
              </a:rPr>
              <a:t>   Foil이 빠르게 wave 통과 → preview 짧아도 충분</a:t>
            </a:r>
          </a:p>
          <a:p>
            <a:r>
              <a:rPr sz="1000" b="0" i="0">
                <a:solidFill>
                  <a:srgbClr val="333333"/>
                </a:solidFill>
                <a:latin typeface="Times New Roman"/>
              </a:rPr>
              <a:t>▪ Beam sea (μ=90°): 긴 encounter wavelength →</a:t>
            </a:r>
          </a:p>
          <a:p>
            <a:r>
              <a:rPr sz="1000" b="0" i="0">
                <a:solidFill>
                  <a:srgbClr val="333333"/>
                </a:solidFill>
                <a:latin typeface="Times New Roman"/>
              </a:rPr>
              <a:t>   파면이 천천히 변화 → preview 길어야 효과적</a:t>
            </a:r>
          </a:p>
          <a:p>
            <a:r>
              <a:rPr sz="1000" b="0" i="0">
                <a:solidFill>
                  <a:srgbClr val="333333"/>
                </a:solidFill>
                <a:latin typeface="Times New Roman"/>
              </a:rPr>
              <a:t>▪ Quarter (μ=135°): 중간 — 균형적</a:t>
            </a:r>
          </a:p>
          <a:p>
            <a:r>
              <a:rPr sz="1000" b="0" i="0">
                <a:solidFill>
                  <a:srgbClr val="333333"/>
                </a:solidFill>
                <a:latin typeface="Times New Roman"/>
              </a:rPr>
              <a:t>▪ Following (μ=0°): 거의 정적 → FF 효과 적음 (생략)</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Hydrofoil 결과 (2) — Sensitivity Analysis</a:t>
            </a:r>
          </a:p>
        </p:txBody>
      </p:sp>
      <p:sp>
        <p:nvSpPr>
          <p:cNvPr id="4" name="Rectangle 3"/>
          <p:cNvSpPr/>
          <p:nvPr/>
        </p:nvSpPr>
        <p:spPr>
          <a:xfrm>
            <a:off x="365760" y="868680"/>
            <a:ext cx="4114800" cy="2743200"/>
          </a:xfrm>
          <a:prstGeom prst="rect">
            <a:avLst/>
          </a:prstGeom>
          <a:solidFill>
            <a:srgbClr val="FFF7ED"/>
          </a:solidFill>
          <a:ln w="19050">
            <a:solidFill>
              <a:srgbClr val="C0531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i="1">
                <a:solidFill>
                  <a:srgbClr val="C05317"/>
                </a:solidFill>
                <a:latin typeface="Times New Roman"/>
              </a:rPr>
              <a:t>[ 그림 자리 ]
thesis/figures_hf/fig_nrmse_sensitivity.pdf —
nRMSE 0~50% 변화에 따른
FF 성능 (aRMS reduction %)</a:t>
            </a:r>
          </a:p>
        </p:txBody>
      </p:sp>
      <p:sp>
        <p:nvSpPr>
          <p:cNvPr id="5" name="Rectangle 4"/>
          <p:cNvSpPr/>
          <p:nvPr/>
        </p:nvSpPr>
        <p:spPr>
          <a:xfrm>
            <a:off x="4663440" y="868680"/>
            <a:ext cx="3931920" cy="2743200"/>
          </a:xfrm>
          <a:prstGeom prst="rect">
            <a:avLst/>
          </a:prstGeom>
          <a:solidFill>
            <a:srgbClr val="FFF7ED"/>
          </a:solidFill>
          <a:ln w="19050">
            <a:solidFill>
              <a:srgbClr val="C0531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i="1">
                <a:solidFill>
                  <a:srgbClr val="C05317"/>
                </a:solidFill>
                <a:latin typeface="Times New Roman"/>
              </a:rPr>
              <a:t>[ 그림 자리 ]
thesis/figures_hf/fig_preview_sweep.pdf —
Preview horizon 0~1 s 변화에 따른
FF 성능 (Head/Beam/Quarter)</a:t>
            </a:r>
          </a:p>
        </p:txBody>
      </p:sp>
      <p:sp>
        <p:nvSpPr>
          <p:cNvPr id="6" name="TextBox 5"/>
          <p:cNvSpPr txBox="1"/>
          <p:nvPr/>
        </p:nvSpPr>
        <p:spPr>
          <a:xfrm>
            <a:off x="365760" y="3749039"/>
            <a:ext cx="4114800" cy="274320"/>
          </a:xfrm>
          <a:prstGeom prst="rect">
            <a:avLst/>
          </a:prstGeom>
          <a:noFill/>
        </p:spPr>
        <p:txBody>
          <a:bodyPr wrap="none">
            <a:spAutoFit/>
          </a:bodyPr>
          <a:lstStyle/>
          <a:p>
            <a:r>
              <a:rPr sz="1200" b="1">
                <a:solidFill>
                  <a:srgbClr val="C05317"/>
                </a:solidFill>
                <a:latin typeface="Times New Roman"/>
              </a:rPr>
              <a:t>nRMSE Tolerance</a:t>
            </a:r>
          </a:p>
        </p:txBody>
      </p:sp>
      <p:sp>
        <p:nvSpPr>
          <p:cNvPr id="7" name="TextBox 6"/>
          <p:cNvSpPr txBox="1"/>
          <p:nvPr/>
        </p:nvSpPr>
        <p:spPr>
          <a:xfrm>
            <a:off x="365760" y="4069080"/>
            <a:ext cx="4114800" cy="2011680"/>
          </a:xfrm>
          <a:prstGeom prst="rect">
            <a:avLst/>
          </a:prstGeom>
          <a:noFill/>
        </p:spPr>
        <p:txBody>
          <a:bodyPr wrap="square">
            <a:spAutoFit/>
          </a:bodyPr>
          <a:lstStyle/>
          <a:p>
            <a:r>
              <a:rPr sz="1100" b="0" i="0">
                <a:solidFill>
                  <a:srgbClr val="333333"/>
                </a:solidFill>
                <a:latin typeface="Times New Roman"/>
              </a:rPr>
              <a:t>▪ 0~50% 전 구간에서 FF 유효</a:t>
            </a:r>
          </a:p>
          <a:p>
            <a:r>
              <a:rPr sz="1100" b="0" i="0">
                <a:solidFill>
                  <a:srgbClr val="333333"/>
                </a:solidFill>
                <a:latin typeface="Times New Roman"/>
              </a:rPr>
              <a:t>▪ 50% nRMSE에서도 FF 효과 존재</a:t>
            </a:r>
          </a:p>
          <a:p>
            <a:r>
              <a:rPr sz="1100" b="0" i="0">
                <a:solidFill>
                  <a:srgbClr val="333333"/>
                </a:solidFill>
                <a:latin typeface="Times New Roman"/>
              </a:rPr>
              <a:t>   → graceful degradation, 임계값 없음</a:t>
            </a:r>
          </a:p>
          <a:p>
            <a:r>
              <a:rPr sz="1100" b="0" i="0">
                <a:solidFill>
                  <a:srgbClr val="333333"/>
                </a:solidFill>
                <a:latin typeface="Times New Roman"/>
              </a:rPr>
              <a:t>▪ LP filter가 고주파 추정 노이즈 억제</a:t>
            </a:r>
          </a:p>
          <a:p>
            <a:r>
              <a:rPr sz="1100" b="0" i="0">
                <a:solidFill>
                  <a:srgbClr val="333333"/>
                </a:solidFill>
                <a:latin typeface="Times New Roman"/>
              </a:rPr>
              <a:t>   → 부정확한 추정도 유용</a:t>
            </a:r>
          </a:p>
          <a:p>
            <a:r>
              <a:rPr sz="1100" b="0" i="0">
                <a:solidFill>
                  <a:srgbClr val="333333"/>
                </a:solidFill>
                <a:latin typeface="Times New Roman"/>
              </a:rPr>
              <a:t/>
            </a:r>
          </a:p>
          <a:p>
            <a:r>
              <a:rPr sz="1100" b="1" i="0">
                <a:solidFill>
                  <a:srgbClr val="C05317"/>
                </a:solidFill>
                <a:latin typeface="Times New Roman"/>
              </a:rPr>
              <a:t>실용: WaveSplat 20% nRMSE는 충분</a:t>
            </a:r>
          </a:p>
        </p:txBody>
      </p:sp>
      <p:sp>
        <p:nvSpPr>
          <p:cNvPr id="8" name="TextBox 7"/>
          <p:cNvSpPr txBox="1"/>
          <p:nvPr/>
        </p:nvSpPr>
        <p:spPr>
          <a:xfrm>
            <a:off x="4663440" y="3749039"/>
            <a:ext cx="3931920" cy="274320"/>
          </a:xfrm>
          <a:prstGeom prst="rect">
            <a:avLst/>
          </a:prstGeom>
          <a:noFill/>
        </p:spPr>
        <p:txBody>
          <a:bodyPr wrap="none">
            <a:spAutoFit/>
          </a:bodyPr>
          <a:lstStyle/>
          <a:p>
            <a:r>
              <a:rPr sz="1200" b="1">
                <a:solidFill>
                  <a:srgbClr val="C05317"/>
                </a:solidFill>
                <a:latin typeface="Times New Roman"/>
              </a:rPr>
              <a:t>최적 Preview Horizon</a:t>
            </a:r>
          </a:p>
        </p:txBody>
      </p:sp>
      <p:sp>
        <p:nvSpPr>
          <p:cNvPr id="9" name="TextBox 8"/>
          <p:cNvSpPr txBox="1"/>
          <p:nvPr/>
        </p:nvSpPr>
        <p:spPr>
          <a:xfrm>
            <a:off x="4663440" y="4069080"/>
            <a:ext cx="3931920" cy="2011680"/>
          </a:xfrm>
          <a:prstGeom prst="rect">
            <a:avLst/>
          </a:prstGeom>
          <a:noFill/>
        </p:spPr>
        <p:txBody>
          <a:bodyPr wrap="square">
            <a:spAutoFit/>
          </a:bodyPr>
          <a:lstStyle/>
          <a:p>
            <a:r>
              <a:rPr sz="1100" b="0" i="0">
                <a:solidFill>
                  <a:srgbClr val="333333"/>
                </a:solidFill>
                <a:latin typeface="Times New Roman"/>
              </a:rPr>
              <a:t>▪ Head sea: 최적 0.1 s (~1.1 m ahead)</a:t>
            </a:r>
          </a:p>
          <a:p>
            <a:r>
              <a:rPr sz="1100" b="0" i="0">
                <a:solidFill>
                  <a:srgbClr val="333333"/>
                </a:solidFill>
                <a:latin typeface="Times New Roman"/>
              </a:rPr>
              <a:t>▪ Beam sea: 최적 0.3 s (~3.4 m ahead)</a:t>
            </a:r>
          </a:p>
          <a:p>
            <a:r>
              <a:rPr sz="1100" b="0" i="0">
                <a:solidFill>
                  <a:srgbClr val="333333"/>
                </a:solidFill>
                <a:latin typeface="Times New Roman"/>
              </a:rPr>
              <a:t>▪ 물리적 의미: 파도-foil 상호작용 시간 척도</a:t>
            </a:r>
          </a:p>
          <a:p>
            <a:r>
              <a:rPr sz="1100" b="0" i="0">
                <a:solidFill>
                  <a:srgbClr val="333333"/>
                </a:solidFill>
                <a:latin typeface="Times New Roman"/>
              </a:rPr>
              <a:t>▪ 너무 긴 preview → 위상 불일치</a:t>
            </a:r>
          </a:p>
          <a:p>
            <a:r>
              <a:rPr sz="1100" b="0" i="0">
                <a:solidFill>
                  <a:srgbClr val="333333"/>
                </a:solidFill>
                <a:latin typeface="Times New Roman"/>
              </a:rPr>
              <a:t>   너무 짧은 preview → reaction 부족</a:t>
            </a:r>
          </a:p>
          <a:p>
            <a:r>
              <a:rPr sz="1100" b="0" i="0">
                <a:solidFill>
                  <a:srgbClr val="333333"/>
                </a:solidFill>
                <a:latin typeface="Times New Roman"/>
              </a:rPr>
              <a:t/>
            </a:r>
          </a:p>
          <a:p>
            <a:r>
              <a:rPr sz="1100" b="1" i="0">
                <a:solidFill>
                  <a:srgbClr val="C05317"/>
                </a:solidFill>
                <a:latin typeface="Times New Roman"/>
              </a:rPr>
              <a:t>실용: 0.1~0.3 s면 충분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Hydrofoil 결과 (3) — End-to-End Demo</a:t>
            </a:r>
          </a:p>
        </p:txBody>
      </p:sp>
      <p:sp>
        <p:nvSpPr>
          <p:cNvPr id="4" name="TextBox 3"/>
          <p:cNvSpPr txBox="1"/>
          <p:nvPr/>
        </p:nvSpPr>
        <p:spPr>
          <a:xfrm>
            <a:off x="365760" y="868680"/>
            <a:ext cx="8229600" cy="274320"/>
          </a:xfrm>
          <a:prstGeom prst="rect">
            <a:avLst/>
          </a:prstGeom>
          <a:noFill/>
        </p:spPr>
        <p:txBody>
          <a:bodyPr wrap="none">
            <a:spAutoFit/>
          </a:bodyPr>
          <a:lstStyle/>
          <a:p>
            <a:r>
              <a:rPr sz="1200" b="1">
                <a:solidFill>
                  <a:srgbClr val="C05317"/>
                </a:solidFill>
                <a:latin typeface="Times New Roman"/>
              </a:rPr>
              <a:t>LiDAR → WaveSplat → Forward Predictor → FF → Foil Servo (전체 파이프라인)</a:t>
            </a:r>
          </a:p>
        </p:txBody>
      </p:sp>
      <p:graphicFrame>
        <p:nvGraphicFramePr>
          <p:cNvPr id="5" name="Table 4"/>
          <p:cNvGraphicFramePr>
            <a:graphicFrameLocks noGrp="1"/>
          </p:cNvGraphicFramePr>
          <p:nvPr/>
        </p:nvGraphicFramePr>
        <p:xfrm>
          <a:off x="365760" y="1188720"/>
          <a:ext cx="8229600" cy="1645920"/>
        </p:xfrm>
        <a:graphic>
          <a:graphicData uri="http://schemas.openxmlformats.org/drawingml/2006/table">
            <a:tbl>
              <a:tblPr firstRow="1" bandRow="1">
                <a:tableStyleId>{5C22544A-7EE6-4342-B048-85BDC9FD1C3A}</a:tableStyleId>
              </a:tblPr>
              <a:tblGrid>
                <a:gridCol w="2743200"/>
                <a:gridCol w="2743200"/>
                <a:gridCol w="2743200"/>
              </a:tblGrid>
              <a:tr h="411480">
                <a:tc>
                  <a:txBody>
                    <a:bodyPr/>
                    <a:lstStyle/>
                    <a:p>
                      <a:r>
                        <a:rPr sz="1200" b="1">
                          <a:solidFill>
                            <a:srgbClr val="FFFFFF"/>
                          </a:solidFill>
                          <a:latin typeface="Times New Roman"/>
                        </a:rPr>
                        <a:t>Scenario</a:t>
                      </a:r>
                    </a:p>
                  </a:txBody>
                  <a:tcPr>
                    <a:solidFill>
                      <a:srgbClr val="C05317"/>
                    </a:solidFill>
                  </a:tcPr>
                </a:tc>
                <a:tc>
                  <a:txBody>
                    <a:bodyPr/>
                    <a:lstStyle/>
                    <a:p>
                      <a:r>
                        <a:rPr sz="1200" b="1">
                          <a:solidFill>
                            <a:srgbClr val="FFFFFF"/>
                          </a:solidFill>
                          <a:latin typeface="Times New Roman"/>
                        </a:rPr>
                        <a:t>WS/GT ratio</a:t>
                      </a:r>
                    </a:p>
                  </a:txBody>
                  <a:tcPr>
                    <a:solidFill>
                      <a:srgbClr val="C05317"/>
                    </a:solidFill>
                  </a:tcPr>
                </a:tc>
                <a:tc>
                  <a:txBody>
                    <a:bodyPr/>
                    <a:lstStyle/>
                    <a:p>
                      <a:r>
                        <a:rPr sz="1200" b="1">
                          <a:solidFill>
                            <a:srgbClr val="FFFFFF"/>
                          </a:solidFill>
                          <a:latin typeface="Times New Roman"/>
                        </a:rPr>
                        <a:t>평가</a:t>
                      </a:r>
                    </a:p>
                  </a:txBody>
                  <a:tcPr>
                    <a:solidFill>
                      <a:srgbClr val="C05317"/>
                    </a:solidFill>
                  </a:tcPr>
                </a:tc>
              </a:tr>
              <a:tr h="411480">
                <a:tc>
                  <a:txBody>
                    <a:bodyPr/>
                    <a:lstStyle/>
                    <a:p>
                      <a:r>
                        <a:rPr sz="1200" b="1">
                          <a:latin typeface="Times New Roman"/>
                        </a:rPr>
                        <a:t>BF3 2-comp</a:t>
                      </a:r>
                    </a:p>
                  </a:txBody>
                  <a:tcPr>
                    <a:solidFill>
                      <a:srgbClr val="FFFFFF"/>
                    </a:solidFill>
                  </a:tcPr>
                </a:tc>
                <a:tc>
                  <a:txBody>
                    <a:bodyPr/>
                    <a:lstStyle/>
                    <a:p>
                      <a:r>
                        <a:rPr sz="1200" b="1">
                          <a:latin typeface="Times New Roman"/>
                        </a:rPr>
                        <a:t>96%</a:t>
                      </a:r>
                    </a:p>
                  </a:txBody>
                  <a:tcPr>
                    <a:solidFill>
                      <a:srgbClr val="FFFFFF"/>
                    </a:solidFill>
                  </a:tcPr>
                </a:tc>
                <a:tc>
                  <a:txBody>
                    <a:bodyPr/>
                    <a:lstStyle/>
                    <a:p>
                      <a:r>
                        <a:rPr sz="1200" b="1">
                          <a:latin typeface="Times New Roman"/>
                        </a:rPr>
                        <a:t>near-perfect (단순 swell)</a:t>
                      </a:r>
                    </a:p>
                  </a:txBody>
                  <a:tcPr>
                    <a:solidFill>
                      <a:srgbClr val="FFFFFF"/>
                    </a:solidFill>
                  </a:tcPr>
                </a:tc>
              </a:tr>
              <a:tr h="411480">
                <a:tc>
                  <a:txBody>
                    <a:bodyPr/>
                    <a:lstStyle/>
                    <a:p>
                      <a:r>
                        <a:rPr sz="1200">
                          <a:latin typeface="Times New Roman"/>
                        </a:rPr>
                        <a:t>BF3 beam</a:t>
                      </a:r>
                    </a:p>
                  </a:txBody>
                  <a:tcPr>
                    <a:solidFill>
                      <a:srgbClr val="FAEBDD"/>
                    </a:solidFill>
                  </a:tcPr>
                </a:tc>
                <a:tc>
                  <a:txBody>
                    <a:bodyPr/>
                    <a:lstStyle/>
                    <a:p>
                      <a:r>
                        <a:rPr sz="1200">
                          <a:latin typeface="Times New Roman"/>
                        </a:rPr>
                        <a:t>92%</a:t>
                      </a:r>
                    </a:p>
                  </a:txBody>
                  <a:tcPr>
                    <a:solidFill>
                      <a:srgbClr val="FAEBDD"/>
                    </a:solidFill>
                  </a:tcPr>
                </a:tc>
                <a:tc>
                  <a:txBody>
                    <a:bodyPr/>
                    <a:lstStyle/>
                    <a:p>
                      <a:r>
                        <a:rPr sz="1200">
                          <a:latin typeface="Times New Roman"/>
                        </a:rPr>
                        <a:t>excellent</a:t>
                      </a:r>
                    </a:p>
                  </a:txBody>
                  <a:tcPr>
                    <a:solidFill>
                      <a:srgbClr val="FAEBDD"/>
                    </a:solidFill>
                  </a:tcPr>
                </a:tc>
              </a:tr>
              <a:tr h="411480">
                <a:tc>
                  <a:txBody>
                    <a:bodyPr/>
                    <a:lstStyle/>
                    <a:p>
                      <a:r>
                        <a:rPr sz="1200">
                          <a:latin typeface="Times New Roman"/>
                        </a:rPr>
                        <a:t>BF4 5-comp</a:t>
                      </a:r>
                    </a:p>
                  </a:txBody>
                  <a:tcPr>
                    <a:solidFill>
                      <a:srgbClr val="FFFFFF"/>
                    </a:solidFill>
                  </a:tcPr>
                </a:tc>
                <a:tc>
                  <a:txBody>
                    <a:bodyPr/>
                    <a:lstStyle/>
                    <a:p>
                      <a:r>
                        <a:rPr sz="1200">
                          <a:latin typeface="Times New Roman"/>
                        </a:rPr>
                        <a:t>37%</a:t>
                      </a:r>
                    </a:p>
                  </a:txBody>
                  <a:tcPr>
                    <a:solidFill>
                      <a:srgbClr val="FFFFFF"/>
                    </a:solidFill>
                  </a:tcPr>
                </a:tc>
                <a:tc>
                  <a:txBody>
                    <a:bodyPr/>
                    <a:lstStyle/>
                    <a:p>
                      <a:r>
                        <a:rPr sz="1200">
                          <a:latin typeface="Times New Roman"/>
                        </a:rPr>
                        <a:t>limited (direction error 전파)</a:t>
                      </a:r>
                    </a:p>
                  </a:txBody>
                  <a:tcPr>
                    <a:solidFill>
                      <a:srgbClr val="FFFFFF"/>
                    </a:solidFill>
                  </a:tcPr>
                </a:tc>
              </a:tr>
            </a:tbl>
          </a:graphicData>
        </a:graphic>
      </p:graphicFrame>
      <p:sp>
        <p:nvSpPr>
          <p:cNvPr id="6" name="TextBox 5"/>
          <p:cNvSpPr txBox="1"/>
          <p:nvPr/>
        </p:nvSpPr>
        <p:spPr>
          <a:xfrm>
            <a:off x="365760" y="3017520"/>
            <a:ext cx="8229600" cy="2834640"/>
          </a:xfrm>
          <a:prstGeom prst="rect">
            <a:avLst/>
          </a:prstGeom>
          <a:noFill/>
        </p:spPr>
        <p:txBody>
          <a:bodyPr wrap="square">
            <a:spAutoFit/>
          </a:bodyPr>
          <a:lstStyle/>
          <a:p>
            <a:r>
              <a:rPr sz="1100" b="0" i="0">
                <a:solidFill>
                  <a:srgbClr val="333333"/>
                </a:solidFill>
                <a:latin typeface="Times New Roman"/>
              </a:rPr>
              <a:t>▪ BF3 단순 sea: WS E2E → GT의 92~96% 달성 (즉, WS 결과를 GT처럼 써도 무방)</a:t>
            </a:r>
          </a:p>
          <a:p>
            <a:r>
              <a:rPr sz="1100" b="0" i="0">
                <a:solidFill>
                  <a:srgbClr val="333333"/>
                </a:solidFill>
                <a:latin typeface="Times New Roman"/>
              </a:rPr>
              <a:t>▪ BF4 5-comp: 37% — 다중 component 간 방향 분리 한계가 원인</a:t>
            </a:r>
          </a:p>
          <a:p>
            <a:r>
              <a:rPr sz="1100" b="0" i="0">
                <a:solidFill>
                  <a:srgbClr val="333333"/>
                </a:solidFill>
                <a:latin typeface="Times New Roman"/>
              </a:rPr>
              <a:t>   → WaveSplat의 방향 추정 오차(±5° 이상)가 그대로 제어 입력으로 전파됨</a:t>
            </a:r>
          </a:p>
          <a:p>
            <a:r>
              <a:rPr sz="1100" b="0" i="0">
                <a:solidFill>
                  <a:srgbClr val="333333"/>
                </a:solidFill>
                <a:latin typeface="Times New Roman"/>
              </a:rPr>
              <a:t>   → 개선: multi-frame 방향 voting, vessel yaw 변화 활용</a:t>
            </a:r>
          </a:p>
          <a:p>
            <a:r>
              <a:rPr sz="1100" b="0" i="0">
                <a:solidFill>
                  <a:srgbClr val="333333"/>
                </a:solidFill>
                <a:latin typeface="Times New Roman"/>
              </a:rPr>
              <a:t/>
            </a:r>
          </a:p>
          <a:p>
            <a:r>
              <a:rPr sz="1300" b="1" i="0">
                <a:solidFill>
                  <a:srgbClr val="C05317"/>
                </a:solidFill>
                <a:latin typeface="Times New Roman"/>
              </a:rPr>
              <a:t>핵심 발견: amplitude 정확도보다 direction 정확도가 FF 성능에 더 중요</a:t>
            </a:r>
          </a:p>
          <a:p>
            <a:r>
              <a:rPr sz="1100" b="0" i="0">
                <a:solidFill>
                  <a:srgbClr val="333333"/>
                </a:solidFill>
                <a:latin typeface="Times New Roman"/>
              </a:rPr>
              <a:t>   (제어 input은 ∂η/∂x → 방향 미분이 amplitude보다 supersensitive)</a:t>
            </a:r>
          </a:p>
        </p:txBody>
      </p:sp>
      <p:sp>
        <p:nvSpPr>
          <p:cNvPr id="7" name="TextBox 6"/>
          <p:cNvSpPr txBox="1"/>
          <p:nvPr/>
        </p:nvSpPr>
        <p:spPr>
          <a:xfrm>
            <a:off x="365760" y="4846320"/>
            <a:ext cx="8229600" cy="274320"/>
          </a:xfrm>
          <a:prstGeom prst="rect">
            <a:avLst/>
          </a:prstGeom>
          <a:noFill/>
        </p:spPr>
        <p:txBody>
          <a:bodyPr wrap="none">
            <a:spAutoFit/>
          </a:bodyPr>
          <a:lstStyle/>
          <a:p>
            <a:r>
              <a:rPr sz="1200" b="1">
                <a:solidFill>
                  <a:srgbClr val="C05317"/>
                </a:solidFill>
                <a:latin typeface="Times New Roman"/>
              </a:rPr>
              <a:t>BF4 한계의 원인 — Direction error 전파</a:t>
            </a:r>
          </a:p>
        </p:txBody>
      </p:sp>
      <p:sp>
        <p:nvSpPr>
          <p:cNvPr id="8" name="TextBox 7"/>
          <p:cNvSpPr txBox="1"/>
          <p:nvPr/>
        </p:nvSpPr>
        <p:spPr>
          <a:xfrm>
            <a:off x="365760" y="5166360"/>
            <a:ext cx="8229600" cy="1188720"/>
          </a:xfrm>
          <a:prstGeom prst="rect">
            <a:avLst/>
          </a:prstGeom>
          <a:noFill/>
        </p:spPr>
        <p:txBody>
          <a:bodyPr wrap="square">
            <a:spAutoFit/>
          </a:bodyPr>
          <a:lstStyle/>
          <a:p>
            <a:r>
              <a:rPr sz="1100" b="0" i="0">
                <a:solidFill>
                  <a:srgbClr val="333333"/>
                </a:solidFill>
                <a:latin typeface="Times New Roman"/>
              </a:rPr>
              <a:t>▪ FF 명령 = K_ff × α_wave   ←   α_wave = −∂η/∂x − w/V</a:t>
            </a:r>
          </a:p>
          <a:p>
            <a:r>
              <a:rPr sz="1100" b="0" i="0">
                <a:solidFill>
                  <a:srgbClr val="333333"/>
                </a:solidFill>
                <a:latin typeface="Times New Roman"/>
              </a:rPr>
              <a:t>▪ ∂η/∂x는 wave 방향 미분 → direction estimate에 supersensitive</a:t>
            </a:r>
          </a:p>
          <a:p>
            <a:r>
              <a:rPr sz="1100" b="0" i="0">
                <a:solidFill>
                  <a:srgbClr val="333333"/>
                </a:solidFill>
                <a:latin typeface="Times New Roman"/>
              </a:rPr>
              <a:t>▪ Direction이 5° 어긋나면 ∂η/∂x 부호 바뀔 수 있음 → FF가 오히려 disturbance 증폭</a:t>
            </a:r>
          </a:p>
          <a:p>
            <a:r>
              <a:rPr sz="1100" b="0" i="0">
                <a:solidFill>
                  <a:srgbClr val="333333"/>
                </a:solidFill>
                <a:latin typeface="Times New Roman"/>
              </a:rPr>
              <a:t>▪ BF4 5-comp 사례: 두 component가 ±20° 분리되어 있어 superposition 시 phase 어긋남</a:t>
            </a:r>
          </a:p>
        </p:txBody>
      </p:sp>
      <p:sp>
        <p:nvSpPr>
          <p:cNvPr id="9" name="Rounded Rectangle 8"/>
          <p:cNvSpPr/>
          <p:nvPr/>
        </p:nvSpPr>
        <p:spPr>
          <a:xfrm>
            <a:off x="365760" y="5989320"/>
            <a:ext cx="8229600" cy="365760"/>
          </a:xfrm>
          <a:prstGeom prst="roundRect">
            <a:avLst/>
          </a:prstGeom>
          <a:solidFill>
            <a:srgbClr val="C05317"/>
          </a:solidFill>
          <a:ln>
            <a:solidFill>
              <a:srgbClr val="C05317"/>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Times New Roman"/>
              </a:rPr>
              <a:t>개선 방향: (a) vessel yaw 변화 활용한 multi-frame direction voting  (b) IMU heading 기반 directional prior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p:txBody>
      </p:sp>
      <p:sp>
        <p:nvSpPr>
          <p:cNvPr id="4" name="TextBox 3"/>
          <p:cNvSpPr txBox="1"/>
          <p:nvPr/>
        </p:nvSpPr>
        <p:spPr>
          <a:xfrm>
            <a:off x="320040" y="0"/>
            <a:ext cx="8193024" cy="777240"/>
          </a:xfrm>
          <a:prstGeom prst="rect">
            <a:avLst/>
          </a:prstGeom>
          <a:noFill/>
        </p:spPr>
        <p:txBody>
          <a:bodyPr wrap="square">
            <a:spAutoFit/>
          </a:bodyPr>
          <a:lstStyle/>
          <a:p>
            <a:pPr algn="l"/>
            <a:r>
              <a:rPr b="1" sz="2000">
                <a:solidFill>
                  <a:srgbClr val="1A1A2E"/>
                </a:solidFill>
                <a:latin typeface="Times New Roman"/>
              </a:rPr>
              <a:t>Hydrofoil 결과 (4a) — 단일점 선수 센서 비교: 결과 &amp; 메커니즘</a:t>
            </a:r>
          </a:p>
        </p:txBody>
      </p:sp>
      <p:sp>
        <p:nvSpPr>
          <p:cNvPr id="5" name="TextBox 4"/>
          <p:cNvSpPr txBox="1"/>
          <p:nvPr/>
        </p:nvSpPr>
        <p:spPr>
          <a:xfrm>
            <a:off x="365760" y="786384"/>
            <a:ext cx="8412480" cy="256032"/>
          </a:xfrm>
          <a:prstGeom prst="rect">
            <a:avLst/>
          </a:prstGeom>
          <a:noFill/>
        </p:spPr>
        <p:txBody>
          <a:bodyPr wrap="square">
            <a:spAutoFit/>
          </a:bodyPr>
          <a:lstStyle/>
          <a:p>
            <a:pPr algn="l"/>
            <a:r>
              <a:rPr b="0" sz="950">
                <a:solidFill>
                  <a:srgbClr val="C05317"/>
                </a:solidFill>
                <a:latin typeface="Times New Roman"/>
              </a:rPr>
              <a:t>Candela 선수 센서(SP-1pt / SP-temporal) vs WaveSplat — 5 wave realisations × 4 scenarios, 30 s each  |  단위: aRMS 개선율[%]</a:t>
            </a:r>
          </a:p>
        </p:txBody>
      </p:sp>
      <p:graphicFrame>
        <p:nvGraphicFramePr>
          <p:cNvPr id="6" name="Table 5"/>
          <p:cNvGraphicFramePr>
            <a:graphicFrameLocks noGrp="1"/>
          </p:cNvGraphicFramePr>
          <p:nvPr/>
        </p:nvGraphicFramePr>
        <p:xfrm>
          <a:off x="320040" y="1069848"/>
          <a:ext cx="9006840" cy="2011680"/>
        </p:xfrm>
        <a:graphic>
          <a:graphicData uri="http://schemas.openxmlformats.org/drawingml/2006/table">
            <a:tbl>
              <a:tblPr firstRow="1" bandRow="1">
                <a:tableStyleId>{5C22544A-7EE6-4342-B048-85BDC9FD1C3A}</a:tableStyleId>
              </a:tblPr>
              <a:tblGrid>
                <a:gridCol w="1920240"/>
                <a:gridCol w="1417320"/>
                <a:gridCol w="1417320"/>
                <a:gridCol w="1783080"/>
                <a:gridCol w="1783080"/>
                <a:gridCol w="685800"/>
              </a:tblGrid>
              <a:tr h="402336">
                <a:tc>
                  <a:txBody>
                    <a:bodyPr/>
                    <a:lstStyle/>
                    <a:p>
                      <a:pPr algn="ctr"/>
                      <a:r>
                        <a:rPr b="1" sz="950">
                          <a:solidFill>
                            <a:srgbClr val="FFFFFF"/>
                          </a:solidFill>
                          <a:latin typeface="Times New Roman"/>
                        </a:rPr>
                        <a:t>시나리오 (Hs / Tp / μ)</a:t>
                      </a:r>
                    </a:p>
                  </a:txBody>
                  <a:tcPr>
                    <a:solidFill>
                      <a:srgbClr val="1A1A2E"/>
                    </a:solidFill>
                  </a:tcPr>
                </a:tc>
                <a:tc>
                  <a:txBody>
                    <a:bodyPr/>
                    <a:lstStyle/>
                    <a:p>
                      <a:pPr algn="ctr"/>
                      <a:r>
                        <a:rPr b="1" sz="950">
                          <a:solidFill>
                            <a:srgbClr val="FFFFFF"/>
                          </a:solidFill>
                          <a:latin typeface="Times New Roman"/>
                        </a:rPr>
                        <a:t>GT-FF ↑</a:t>
                      </a:r>
                    </a:p>
                  </a:txBody>
                  <a:tcPr>
                    <a:solidFill>
                      <a:srgbClr val="1A1A2E"/>
                    </a:solidFill>
                  </a:tcPr>
                </a:tc>
                <a:tc>
                  <a:txBody>
                    <a:bodyPr/>
                    <a:lstStyle/>
                    <a:p>
                      <a:pPr algn="ctr"/>
                      <a:r>
                        <a:rPr b="1" sz="950">
                          <a:solidFill>
                            <a:srgbClr val="FFFFFF"/>
                          </a:solidFill>
                          <a:latin typeface="Times New Roman"/>
                        </a:rPr>
                        <a:t>WS-FF ↑</a:t>
                      </a:r>
                    </a:p>
                  </a:txBody>
                  <a:tcPr>
                    <a:solidFill>
                      <a:srgbClr val="1A1A2E"/>
                    </a:solidFill>
                  </a:tcPr>
                </a:tc>
                <a:tc>
                  <a:txBody>
                    <a:bodyPr/>
                    <a:lstStyle/>
                    <a:p>
                      <a:pPr algn="ctr"/>
                      <a:r>
                        <a:rPr b="1" sz="950">
                          <a:solidFill>
                            <a:srgbClr val="FFFFFF"/>
                          </a:solidFill>
                          <a:latin typeface="Times New Roman"/>
                        </a:rPr>
                        <a:t>SP-1pt</a:t>
                      </a:r>
                    </a:p>
                  </a:txBody>
                  <a:tcPr>
                    <a:solidFill>
                      <a:srgbClr val="1A1A2E"/>
                    </a:solidFill>
                  </a:tcPr>
                </a:tc>
                <a:tc>
                  <a:txBody>
                    <a:bodyPr/>
                    <a:lstStyle/>
                    <a:p>
                      <a:pPr algn="ctr"/>
                      <a:r>
                        <a:rPr b="1" sz="950">
                          <a:solidFill>
                            <a:srgbClr val="FFFFFF"/>
                          </a:solidFill>
                          <a:latin typeface="Times New Roman"/>
                        </a:rPr>
                        <a:t>SP-temporal</a:t>
                      </a:r>
                    </a:p>
                  </a:txBody>
                  <a:tcPr>
                    <a:solidFill>
                      <a:srgbClr val="1A1A2E"/>
                    </a:solidFill>
                  </a:tcPr>
                </a:tc>
                <a:tc>
                  <a:txBody>
                    <a:bodyPr/>
                    <a:lstStyle/>
                    <a:p>
                      <a:pPr algn="ctr"/>
                      <a:r>
                        <a:rPr b="1" sz="950">
                          <a:solidFill>
                            <a:srgbClr val="FFFFFF"/>
                          </a:solidFill>
                          <a:latin typeface="Times New Roman"/>
                        </a:rPr>
                        <a:t>SP1/GT</a:t>
                      </a:r>
                    </a:p>
                  </a:txBody>
                  <a:tcPr>
                    <a:solidFill>
                      <a:srgbClr val="1A1A2E"/>
                    </a:solidFill>
                  </a:tcPr>
                </a:tc>
              </a:tr>
              <a:tr h="402336">
                <a:tc>
                  <a:txBody>
                    <a:bodyPr/>
                    <a:lstStyle/>
                    <a:p>
                      <a:pPr algn="l"/>
                      <a:r>
                        <a:rPr b="1" sz="900">
                          <a:solidFill>
                            <a:srgbClr val="333333"/>
                          </a:solidFill>
                          <a:latin typeface="Times New Roman"/>
                        </a:rPr>
                        <a:t>BF3 Head  Hs=0.88m  Tp=5s  μ=180°</a:t>
                      </a:r>
                    </a:p>
                  </a:txBody>
                  <a:tcPr>
                    <a:solidFill>
                      <a:srgbClr val="FFFFFF"/>
                    </a:solidFill>
                  </a:tcPr>
                </a:tc>
                <a:tc>
                  <a:txBody>
                    <a:bodyPr/>
                    <a:lstStyle/>
                    <a:p>
                      <a:pPr algn="ctr"/>
                      <a:r>
                        <a:rPr b="0" sz="900">
                          <a:solidFill>
                            <a:srgbClr val="333333"/>
                          </a:solidFill>
                          <a:latin typeface="Times New Roman"/>
                        </a:rPr>
                        <a:t>+12.0%(±3.0)</a:t>
                      </a:r>
                    </a:p>
                  </a:txBody>
                  <a:tcPr>
                    <a:solidFill>
                      <a:srgbClr val="FFFFFF"/>
                    </a:solidFill>
                  </a:tcPr>
                </a:tc>
                <a:tc>
                  <a:txBody>
                    <a:bodyPr/>
                    <a:lstStyle/>
                    <a:p>
                      <a:pPr algn="ctr"/>
                      <a:r>
                        <a:rPr b="0" sz="900">
                          <a:solidFill>
                            <a:srgbClr val="333333"/>
                          </a:solidFill>
                          <a:latin typeface="Times New Roman"/>
                        </a:rPr>
                        <a:t>+11.9%(±3.3)</a:t>
                      </a:r>
                    </a:p>
                  </a:txBody>
                  <a:tcPr>
                    <a:solidFill>
                      <a:srgbClr val="FFFFFF"/>
                    </a:solidFill>
                  </a:tcPr>
                </a:tc>
                <a:tc>
                  <a:txBody>
                    <a:bodyPr/>
                    <a:lstStyle/>
                    <a:p>
                      <a:pPr algn="ctr"/>
                      <a:r>
                        <a:rPr b="0" sz="900">
                          <a:solidFill>
                            <a:srgbClr val="333333"/>
                          </a:solidFill>
                          <a:latin typeface="Times New Roman"/>
                        </a:rPr>
                        <a:t>−13.3%(±0.7)</a:t>
                      </a:r>
                    </a:p>
                  </a:txBody>
                  <a:tcPr>
                    <a:solidFill>
                      <a:srgbClr val="FFD0D0"/>
                    </a:solidFill>
                  </a:tcPr>
                </a:tc>
                <a:tc>
                  <a:txBody>
                    <a:bodyPr/>
                    <a:lstStyle/>
                    <a:p>
                      <a:pPr algn="ctr"/>
                      <a:r>
                        <a:rPr b="0" sz="900">
                          <a:solidFill>
                            <a:srgbClr val="333333"/>
                          </a:solidFill>
                          <a:latin typeface="Times New Roman"/>
                        </a:rPr>
                        <a:t>−0.2%(±1.6)</a:t>
                      </a:r>
                    </a:p>
                  </a:txBody>
                  <a:tcPr>
                    <a:solidFill>
                      <a:srgbClr val="FFFFFF"/>
                    </a:solidFill>
                  </a:tcPr>
                </a:tc>
                <a:tc>
                  <a:txBody>
                    <a:bodyPr/>
                    <a:lstStyle/>
                    <a:p>
                      <a:pPr algn="ctr"/>
                      <a:r>
                        <a:rPr b="0" sz="900">
                          <a:solidFill>
                            <a:srgbClr val="333333"/>
                          </a:solidFill>
                          <a:latin typeface="Times New Roman"/>
                        </a:rPr>
                        <a:t>−111%</a:t>
                      </a:r>
                    </a:p>
                  </a:txBody>
                  <a:tcPr>
                    <a:solidFill>
                      <a:srgbClr val="FFFFFF"/>
                    </a:solidFill>
                  </a:tcPr>
                </a:tc>
              </a:tr>
              <a:tr h="402336">
                <a:tc>
                  <a:txBody>
                    <a:bodyPr/>
                    <a:lstStyle/>
                    <a:p>
                      <a:pPr algn="l"/>
                      <a:r>
                        <a:rPr b="1" sz="900">
                          <a:solidFill>
                            <a:srgbClr val="333333"/>
                          </a:solidFill>
                          <a:latin typeface="Times New Roman"/>
                        </a:rPr>
                        <a:t>BF4 Head  Hs=1.88m  Tp=7.5s  μ=180°</a:t>
                      </a:r>
                    </a:p>
                  </a:txBody>
                  <a:tcPr>
                    <a:solidFill>
                      <a:srgbClr val="F5F5F5"/>
                    </a:solidFill>
                  </a:tcPr>
                </a:tc>
                <a:tc>
                  <a:txBody>
                    <a:bodyPr/>
                    <a:lstStyle/>
                    <a:p>
                      <a:pPr algn="ctr"/>
                      <a:r>
                        <a:rPr b="0" sz="900">
                          <a:solidFill>
                            <a:srgbClr val="333333"/>
                          </a:solidFill>
                          <a:latin typeface="Times New Roman"/>
                        </a:rPr>
                        <a:t>+9.9%(±1.4)</a:t>
                      </a:r>
                    </a:p>
                  </a:txBody>
                  <a:tcPr>
                    <a:solidFill>
                      <a:srgbClr val="F5F5F5"/>
                    </a:solidFill>
                  </a:tcPr>
                </a:tc>
                <a:tc>
                  <a:txBody>
                    <a:bodyPr/>
                    <a:lstStyle/>
                    <a:p>
                      <a:pPr algn="ctr"/>
                      <a:r>
                        <a:rPr b="0" sz="900">
                          <a:solidFill>
                            <a:srgbClr val="333333"/>
                          </a:solidFill>
                          <a:latin typeface="Times New Roman"/>
                        </a:rPr>
                        <a:t>+10.0%(±1.3)</a:t>
                      </a:r>
                    </a:p>
                  </a:txBody>
                  <a:tcPr>
                    <a:solidFill>
                      <a:srgbClr val="F5F5F5"/>
                    </a:solidFill>
                  </a:tcPr>
                </a:tc>
                <a:tc>
                  <a:txBody>
                    <a:bodyPr/>
                    <a:lstStyle/>
                    <a:p>
                      <a:pPr algn="ctr"/>
                      <a:r>
                        <a:rPr b="0" sz="900">
                          <a:solidFill>
                            <a:srgbClr val="333333"/>
                          </a:solidFill>
                          <a:latin typeface="Times New Roman"/>
                        </a:rPr>
                        <a:t>+7.0%(±1.1)</a:t>
                      </a:r>
                    </a:p>
                  </a:txBody>
                  <a:tcPr>
                    <a:solidFill>
                      <a:srgbClr val="D0F0D8"/>
                    </a:solidFill>
                  </a:tcPr>
                </a:tc>
                <a:tc>
                  <a:txBody>
                    <a:bodyPr/>
                    <a:lstStyle/>
                    <a:p>
                      <a:pPr algn="ctr"/>
                      <a:r>
                        <a:rPr b="0" sz="900">
                          <a:solidFill>
                            <a:srgbClr val="333333"/>
                          </a:solidFill>
                          <a:latin typeface="Times New Roman"/>
                        </a:rPr>
                        <a:t>≈0%</a:t>
                      </a:r>
                    </a:p>
                  </a:txBody>
                  <a:tcPr>
                    <a:solidFill>
                      <a:srgbClr val="F5F5F5"/>
                    </a:solidFill>
                  </a:tcPr>
                </a:tc>
                <a:tc>
                  <a:txBody>
                    <a:bodyPr/>
                    <a:lstStyle/>
                    <a:p>
                      <a:pPr algn="ctr"/>
                      <a:r>
                        <a:rPr b="0" sz="900">
                          <a:solidFill>
                            <a:srgbClr val="333333"/>
                          </a:solidFill>
                          <a:latin typeface="Times New Roman"/>
                        </a:rPr>
                        <a:t>71%</a:t>
                      </a:r>
                    </a:p>
                  </a:txBody>
                  <a:tcPr>
                    <a:solidFill>
                      <a:srgbClr val="F5F5F5"/>
                    </a:solidFill>
                  </a:tcPr>
                </a:tc>
              </a:tr>
              <a:tr h="402336">
                <a:tc>
                  <a:txBody>
                    <a:bodyPr/>
                    <a:lstStyle/>
                    <a:p>
                      <a:pPr algn="l"/>
                      <a:r>
                        <a:rPr b="1" sz="900">
                          <a:solidFill>
                            <a:srgbClr val="333333"/>
                          </a:solidFill>
                          <a:latin typeface="Times New Roman"/>
                        </a:rPr>
                        <a:t>BF3 Beam  Hs=0.88m  Tp=5s  μ=90°</a:t>
                      </a:r>
                    </a:p>
                  </a:txBody>
                  <a:tcPr>
                    <a:solidFill>
                      <a:srgbClr val="FFFFFF"/>
                    </a:solidFill>
                  </a:tcPr>
                </a:tc>
                <a:tc>
                  <a:txBody>
                    <a:bodyPr/>
                    <a:lstStyle/>
                    <a:p>
                      <a:pPr algn="ctr"/>
                      <a:r>
                        <a:rPr b="0" sz="900">
                          <a:solidFill>
                            <a:srgbClr val="333333"/>
                          </a:solidFill>
                          <a:latin typeface="Times New Roman"/>
                        </a:rPr>
                        <a:t>+38.4%(±11.0)</a:t>
                      </a:r>
                    </a:p>
                  </a:txBody>
                  <a:tcPr>
                    <a:solidFill>
                      <a:srgbClr val="FFFFFF"/>
                    </a:solidFill>
                  </a:tcPr>
                </a:tc>
                <a:tc>
                  <a:txBody>
                    <a:bodyPr/>
                    <a:lstStyle/>
                    <a:p>
                      <a:pPr algn="ctr"/>
                      <a:r>
                        <a:rPr b="0" sz="900">
                          <a:solidFill>
                            <a:srgbClr val="333333"/>
                          </a:solidFill>
                          <a:latin typeface="Times New Roman"/>
                        </a:rPr>
                        <a:t>+33.0%(±11.3)</a:t>
                      </a:r>
                    </a:p>
                  </a:txBody>
                  <a:tcPr>
                    <a:solidFill>
                      <a:srgbClr val="FFFFFF"/>
                    </a:solidFill>
                  </a:tcPr>
                </a:tc>
                <a:tc>
                  <a:txBody>
                    <a:bodyPr/>
                    <a:lstStyle/>
                    <a:p>
                      <a:pPr algn="ctr"/>
                      <a:r>
                        <a:rPr b="0" sz="900">
                          <a:solidFill>
                            <a:srgbClr val="333333"/>
                          </a:solidFill>
                          <a:latin typeface="Times New Roman"/>
                        </a:rPr>
                        <a:t>+21.4%(±31.5)</a:t>
                      </a:r>
                    </a:p>
                  </a:txBody>
                  <a:tcPr>
                    <a:solidFill>
                      <a:srgbClr val="FFF0CC"/>
                    </a:solidFill>
                  </a:tcPr>
                </a:tc>
                <a:tc>
                  <a:txBody>
                    <a:bodyPr/>
                    <a:lstStyle/>
                    <a:p>
                      <a:pPr algn="ctr"/>
                      <a:r>
                        <a:rPr b="0" sz="900">
                          <a:solidFill>
                            <a:srgbClr val="333333"/>
                          </a:solidFill>
                          <a:latin typeface="Times New Roman"/>
                        </a:rPr>
                        <a:t>−35.0%(±11.8)</a:t>
                      </a:r>
                    </a:p>
                  </a:txBody>
                  <a:tcPr>
                    <a:solidFill>
                      <a:srgbClr val="FFD0D0"/>
                    </a:solidFill>
                  </a:tcPr>
                </a:tc>
                <a:tc>
                  <a:txBody>
                    <a:bodyPr/>
                    <a:lstStyle/>
                    <a:p>
                      <a:pPr algn="ctr"/>
                      <a:r>
                        <a:rPr b="0" sz="900">
                          <a:solidFill>
                            <a:srgbClr val="333333"/>
                          </a:solidFill>
                          <a:latin typeface="Times New Roman"/>
                        </a:rPr>
                        <a:t>56%</a:t>
                      </a:r>
                    </a:p>
                  </a:txBody>
                  <a:tcPr>
                    <a:solidFill>
                      <a:srgbClr val="FFFFFF"/>
                    </a:solidFill>
                  </a:tcPr>
                </a:tc>
              </a:tr>
              <a:tr h="402336">
                <a:tc>
                  <a:txBody>
                    <a:bodyPr/>
                    <a:lstStyle/>
                    <a:p>
                      <a:pPr algn="l"/>
                      <a:r>
                        <a:rPr b="1" sz="900">
                          <a:solidFill>
                            <a:srgbClr val="333333"/>
                          </a:solidFill>
                          <a:latin typeface="Times New Roman"/>
                        </a:rPr>
                        <a:t>BF3 Quarter  Hs=0.88m  Tp=5s  μ=135°</a:t>
                      </a:r>
                    </a:p>
                  </a:txBody>
                  <a:tcPr>
                    <a:solidFill>
                      <a:srgbClr val="F5F5F5"/>
                    </a:solidFill>
                  </a:tcPr>
                </a:tc>
                <a:tc>
                  <a:txBody>
                    <a:bodyPr/>
                    <a:lstStyle/>
                    <a:p>
                      <a:pPr algn="ctr"/>
                      <a:r>
                        <a:rPr b="0" sz="900">
                          <a:solidFill>
                            <a:srgbClr val="333333"/>
                          </a:solidFill>
                          <a:latin typeface="Times New Roman"/>
                        </a:rPr>
                        <a:t>+15.2%(±7.2)</a:t>
                      </a:r>
                    </a:p>
                  </a:txBody>
                  <a:tcPr>
                    <a:solidFill>
                      <a:srgbClr val="F5F5F5"/>
                    </a:solidFill>
                  </a:tcPr>
                </a:tc>
                <a:tc>
                  <a:txBody>
                    <a:bodyPr/>
                    <a:lstStyle/>
                    <a:p>
                      <a:pPr algn="ctr"/>
                      <a:r>
                        <a:rPr b="0" sz="900">
                          <a:solidFill>
                            <a:srgbClr val="333333"/>
                          </a:solidFill>
                          <a:latin typeface="Times New Roman"/>
                        </a:rPr>
                        <a:t>+15.2%(±7.3)</a:t>
                      </a:r>
                    </a:p>
                  </a:txBody>
                  <a:tcPr>
                    <a:solidFill>
                      <a:srgbClr val="F5F5F5"/>
                    </a:solidFill>
                  </a:tcPr>
                </a:tc>
                <a:tc>
                  <a:txBody>
                    <a:bodyPr/>
                    <a:lstStyle/>
                    <a:p>
                      <a:pPr algn="ctr"/>
                      <a:r>
                        <a:rPr b="0" sz="900">
                          <a:solidFill>
                            <a:srgbClr val="333333"/>
                          </a:solidFill>
                          <a:latin typeface="Times New Roman"/>
                        </a:rPr>
                        <a:t>+2.5%(±9.2)</a:t>
                      </a:r>
                    </a:p>
                  </a:txBody>
                  <a:tcPr>
                    <a:solidFill>
                      <a:srgbClr val="FFF0CC"/>
                    </a:solidFill>
                  </a:tcPr>
                </a:tc>
                <a:tc>
                  <a:txBody>
                    <a:bodyPr/>
                    <a:lstStyle/>
                    <a:p>
                      <a:pPr algn="ctr"/>
                      <a:r>
                        <a:rPr b="0" sz="900">
                          <a:solidFill>
                            <a:srgbClr val="333333"/>
                          </a:solidFill>
                          <a:latin typeface="Times New Roman"/>
                        </a:rPr>
                        <a:t>−1.9%(±3.3)</a:t>
                      </a:r>
                    </a:p>
                  </a:txBody>
                  <a:tcPr>
                    <a:solidFill>
                      <a:srgbClr val="F5F5F5"/>
                    </a:solidFill>
                  </a:tcPr>
                </a:tc>
                <a:tc>
                  <a:txBody>
                    <a:bodyPr/>
                    <a:lstStyle/>
                    <a:p>
                      <a:pPr algn="ctr"/>
                      <a:r>
                        <a:rPr b="0" sz="900">
                          <a:solidFill>
                            <a:srgbClr val="333333"/>
                          </a:solidFill>
                          <a:latin typeface="Times New Roman"/>
                        </a:rPr>
                        <a:t>16%</a:t>
                      </a:r>
                    </a:p>
                  </a:txBody>
                  <a:tcPr>
                    <a:solidFill>
                      <a:srgbClr val="F5F5F5"/>
                    </a:solidFill>
                  </a:tcPr>
                </a:tc>
              </a:tr>
            </a:tbl>
          </a:graphicData>
        </a:graphic>
      </p:graphicFrame>
      <p:sp>
        <p:nvSpPr>
          <p:cNvPr id="7" name="TextBox 6"/>
          <p:cNvSpPr txBox="1"/>
          <p:nvPr/>
        </p:nvSpPr>
        <p:spPr>
          <a:xfrm>
            <a:off x="320040" y="3182112"/>
            <a:ext cx="4160520" cy="256032"/>
          </a:xfrm>
          <a:prstGeom prst="rect">
            <a:avLst/>
          </a:prstGeom>
          <a:noFill/>
        </p:spPr>
        <p:txBody>
          <a:bodyPr wrap="square">
            <a:spAutoFit/>
          </a:bodyPr>
          <a:lstStyle/>
          <a:p>
            <a:pPr algn="l"/>
            <a:r>
              <a:rPr b="1" sz="1100">
                <a:solidFill>
                  <a:srgbClr val="C05317"/>
                </a:solidFill>
                <a:latin typeface="Times New Roman"/>
              </a:rPr>
              <a:t>① SP-1pt 악화 원인 — Per-foil 위상 오차 (Phase Mismatch)</a:t>
            </a:r>
          </a:p>
        </p:txBody>
      </p:sp>
      <p:sp>
        <p:nvSpPr>
          <p:cNvPr id="8" name="TextBox 7"/>
          <p:cNvSpPr txBox="1"/>
          <p:nvPr/>
        </p:nvSpPr>
        <p:spPr>
          <a:xfrm>
            <a:off x="320040" y="3456432"/>
            <a:ext cx="4160520" cy="3246120"/>
          </a:xfrm>
          <a:prstGeom prst="rect">
            <a:avLst/>
          </a:prstGeom>
          <a:noFill/>
        </p:spPr>
        <p:txBody>
          <a:bodyPr wrap="square">
            <a:spAutoFit/>
          </a:bodyPr>
          <a:lstStyle/>
          <a:p/>
          <a:p>
            <a:pPr algn="l"/>
            <a:r>
              <a:rPr b="0" sz="950">
                <a:solidFill>
                  <a:srgbClr val="333333"/>
                </a:solidFill>
                <a:latin typeface="Times New Roman"/>
              </a:rPr>
              <a:t>▸ 상황: CG 한 점의 wave slope/w를 전방 foil과 후방 foil에 동일하게 적용</a:t>
            </a:r>
          </a:p>
          <a:p>
            <a:pPr algn="l">
              <a:spcBef>
                <a:spcPts val="300"/>
              </a:spcBef>
            </a:pPr>
            <a:r>
              <a:rPr b="0" sz="950">
                <a:solidFill>
                  <a:srgbClr val="333333"/>
                </a:solidFill>
                <a:latin typeface="Times New Roman"/>
              </a:rPr>
              <a:t>▸ 문제: 실제로 두 foil이 있는 위치는 wave phase가 서로 다름</a:t>
            </a:r>
          </a:p>
          <a:p>
            <a:pPr>
              <a:spcBef>
                <a:spcPts val="400"/>
              </a:spcBef>
            </a:pPr>
            <a:r>
              <a:rPr b="0" sz="950">
                <a:solidFill>
                  <a:srgbClr val="333333"/>
                </a:solidFill>
                <a:latin typeface="Times New Roman"/>
              </a:rPr>
              <a:t>   BF3 Tp=5s → λ = gT²/(2π) ≈ 9.81×25/6.28 ≈ </a:t>
            </a:r>
            <a:r>
              <a:rPr b="1" sz="950">
                <a:solidFill>
                  <a:srgbClr val="1A1A2E"/>
                </a:solidFill>
                <a:latin typeface="Times New Roman"/>
              </a:rPr>
              <a:t>39 m</a:t>
            </a:r>
          </a:p>
          <a:p>
            <a:pPr>
              <a:spcBef>
                <a:spcPts val="200"/>
              </a:spcBef>
            </a:pPr>
            <a:r>
              <a:rPr b="0" sz="950">
                <a:solidFill>
                  <a:srgbClr val="333333"/>
                </a:solidFill>
                <a:latin typeface="Times New Roman"/>
              </a:rPr>
              <a:t>   Front–rear 간격 = 4.5 m  →  위상 차 Δφ = 2π×4.5/39 ≈ </a:t>
            </a:r>
            <a:r>
              <a:rPr b="1" sz="950">
                <a:solidFill>
                  <a:srgbClr val="1A1A2E"/>
                </a:solidFill>
                <a:latin typeface="Times New Roman"/>
              </a:rPr>
              <a:t>41°</a:t>
            </a:r>
          </a:p>
          <a:p>
            <a:pPr>
              <a:spcBef>
                <a:spcPts val="200"/>
              </a:spcBef>
            </a:pPr>
            <a:r>
              <a:rPr b="0" sz="950">
                <a:solidFill>
                  <a:srgbClr val="333333"/>
                </a:solidFill>
                <a:latin typeface="Times New Roman"/>
              </a:rPr>
              <a:t>   SP-1pt는 midpoint 신호 → 각 foil에서 ±21° 오차 </a:t>
            </a:r>
            <a:r>
              <a:rPr b="1" sz="950">
                <a:solidFill>
                  <a:srgbClr val="C02010"/>
                </a:solidFill>
                <a:latin typeface="Times New Roman"/>
              </a:rPr>
              <a:t>→ FF가 부분 역방향</a:t>
            </a:r>
          </a:p>
          <a:p>
            <a:pPr algn="l">
              <a:spcBef>
                <a:spcPts val="400"/>
              </a:spcBef>
            </a:pPr>
            <a:r>
              <a:rPr b="0" sz="950">
                <a:solidFill>
                  <a:srgbClr val="333333"/>
                </a:solidFill>
                <a:latin typeface="Times New Roman"/>
              </a:rPr>
              <a:t>▸ 결과: BF3 head sea에서 5 seeds 전부 일관적으로 악화</a:t>
            </a:r>
          </a:p>
          <a:p>
            <a:pPr algn="l">
              <a:spcBef>
                <a:spcPts val="100"/>
              </a:spcBef>
            </a:pPr>
            <a:r>
              <a:rPr b="0" sz="900">
                <a:solidFill>
                  <a:srgbClr val="6B7280"/>
                </a:solidFill>
                <a:latin typeface="Times New Roman"/>
              </a:rPr>
              <a:t>   (std ±0.7% — 측정 노이즈가 아니라 구조적 결함)</a:t>
            </a:r>
          </a:p>
          <a:p>
            <a:pPr algn="l">
              <a:spcBef>
                <a:spcPts val="400"/>
              </a:spcBef>
            </a:pPr>
            <a:r>
              <a:rPr b="0" sz="950">
                <a:solidFill>
                  <a:srgbClr val="333333"/>
                </a:solidFill>
                <a:latin typeface="Times New Roman"/>
              </a:rPr>
              <a:t>▸ BF4 Tp=7.5s → λ ≈ 88m → Δφ ≈ 18° → 오차 감소</a:t>
            </a:r>
          </a:p>
          <a:p>
            <a:pPr algn="l">
              <a:spcBef>
                <a:spcPts val="100"/>
              </a:spcBef>
            </a:pPr>
            <a:r>
              <a:rPr b="0" sz="900">
                <a:solidFill>
                  <a:srgbClr val="6B7280"/>
                </a:solidFill>
                <a:latin typeface="Times New Roman"/>
              </a:rPr>
              <a:t>   → SP-1pt가 +7.0% 회수 (GT의 71%) — 장주기에서는 유효</a:t>
            </a:r>
          </a:p>
          <a:p>
            <a:pPr algn="l">
              <a:spcBef>
                <a:spcPts val="500"/>
              </a:spcBef>
            </a:pPr>
            <a:r>
              <a:rPr b="1" sz="950">
                <a:solidFill>
                  <a:srgbClr val="C05317"/>
                </a:solidFill>
                <a:latin typeface="Times New Roman"/>
              </a:rPr>
              <a:t>⚠ 이 한계는 sensor quality와 무관 — 노이즈를 0으로 해도 동일</a:t>
            </a:r>
          </a:p>
        </p:txBody>
      </p:sp>
      <p:sp>
        <p:nvSpPr>
          <p:cNvPr id="9" name="TextBox 8"/>
          <p:cNvSpPr txBox="1"/>
          <p:nvPr/>
        </p:nvSpPr>
        <p:spPr>
          <a:xfrm>
            <a:off x="4617720" y="3182112"/>
            <a:ext cx="4206240" cy="256032"/>
          </a:xfrm>
          <a:prstGeom prst="rect">
            <a:avLst/>
          </a:prstGeom>
          <a:noFill/>
        </p:spPr>
        <p:txBody>
          <a:bodyPr wrap="square">
            <a:spAutoFit/>
          </a:bodyPr>
          <a:lstStyle/>
          <a:p>
            <a:pPr algn="l"/>
            <a:r>
              <a:rPr b="1" sz="1100">
                <a:solidFill>
                  <a:srgbClr val="C05317"/>
                </a:solidFill>
                <a:latin typeface="Times New Roman"/>
              </a:rPr>
              <a:t>② SP-temporal 실패 원인 — Head-sea 가정의 붕괴</a:t>
            </a:r>
          </a:p>
        </p:txBody>
      </p:sp>
      <p:sp>
        <p:nvSpPr>
          <p:cNvPr id="10" name="TextBox 9"/>
          <p:cNvSpPr txBox="1"/>
          <p:nvPr/>
        </p:nvSpPr>
        <p:spPr>
          <a:xfrm>
            <a:off x="4617720" y="3456432"/>
            <a:ext cx="4206240" cy="3246120"/>
          </a:xfrm>
          <a:prstGeom prst="rect">
            <a:avLst/>
          </a:prstGeom>
          <a:noFill/>
        </p:spPr>
        <p:txBody>
          <a:bodyPr wrap="square">
            <a:spAutoFit/>
          </a:bodyPr>
          <a:lstStyle/>
          <a:p/>
          <a:p>
            <a:pPr algn="l"/>
            <a:r>
              <a:rPr b="0" sz="950">
                <a:solidFill>
                  <a:srgbClr val="333333"/>
                </a:solidFill>
                <a:latin typeface="Times New Roman"/>
              </a:rPr>
              <a:t>▸ SP-temporal의 slope 추정식 (head-sea 가정):</a:t>
            </a:r>
          </a:p>
          <a:p>
            <a:pPr>
              <a:spcBef>
                <a:spcPts val="200"/>
              </a:spcBef>
            </a:pPr>
            <a:r>
              <a:rPr b="1" sz="1000">
                <a:solidFill>
                  <a:srgbClr val="1A1A2E"/>
                </a:solidFill>
                <a:latin typeface="Times New Roman"/>
              </a:rPr>
              <a:t>   ∂η/∂x ≈ −(1/c_p) · ∂η/∂t</a:t>
            </a:r>
            <a:r>
              <a:rPr b="0" sz="900">
                <a:solidFill>
                  <a:srgbClr val="6B7280"/>
                </a:solidFill>
                <a:latin typeface="Times New Roman"/>
              </a:rPr>
              <a:t>   (c_p = peak 위상속도)</a:t>
            </a:r>
          </a:p>
          <a:p>
            <a:pPr algn="l">
              <a:spcBef>
                <a:spcPts val="500"/>
              </a:spcBef>
            </a:pPr>
            <a:r>
              <a:rPr b="0" sz="950">
                <a:solidFill>
                  <a:srgbClr val="333333"/>
                </a:solidFill>
                <a:latin typeface="Times New Roman"/>
              </a:rPr>
              <a:t>▸ 이 등식이 성립하는 조건: wave가 정확히 vessel 정면으로 진행</a:t>
            </a:r>
          </a:p>
          <a:p>
            <a:pPr>
              <a:spcBef>
                <a:spcPts val="500"/>
              </a:spcBef>
            </a:pPr>
            <a:r>
              <a:rPr b="0" sz="950">
                <a:solidFill>
                  <a:srgbClr val="333333"/>
                </a:solidFill>
                <a:latin typeface="Times New Roman"/>
              </a:rPr>
              <a:t>▸ Beam sea (μ=90°): </a:t>
            </a:r>
            <a:r>
              <a:rPr b="1" sz="950">
                <a:solidFill>
                  <a:srgbClr val="1A1A2E"/>
                </a:solidFill>
                <a:latin typeface="Times New Roman"/>
              </a:rPr>
              <a:t>실제 ∂η/∂x ≈ 0</a:t>
            </a:r>
            <a:r>
              <a:rPr b="0" sz="950">
                <a:solidFill>
                  <a:srgbClr val="6B7280"/>
                </a:solidFill>
                <a:latin typeface="Times New Roman"/>
              </a:rPr>
              <a:t> (wave가 y방향 전파)</a:t>
            </a:r>
          </a:p>
          <a:p>
            <a:pPr algn="l">
              <a:spcBef>
                <a:spcPts val="100"/>
              </a:spcBef>
            </a:pPr>
            <a:r>
              <a:rPr b="0" sz="950">
                <a:solidFill>
                  <a:srgbClr val="333333"/>
                </a:solidFill>
                <a:latin typeface="Times New Roman"/>
              </a:rPr>
              <a:t>   그런데 ∂η/∂t ≠ 0 이므로 공식이 엉뚱한 값 주입</a:t>
            </a:r>
          </a:p>
          <a:p>
            <a:pPr algn="l">
              <a:spcBef>
                <a:spcPts val="100"/>
              </a:spcBef>
            </a:pPr>
            <a:r>
              <a:rPr b="0" sz="900">
                <a:solidFill>
                  <a:srgbClr val="C02010"/>
                </a:solidFill>
                <a:latin typeface="Times New Roman"/>
              </a:rPr>
              <a:t>   → "없는 slope"를 만들어 FF가 없는 disturbance를 보상하려 함</a:t>
            </a:r>
          </a:p>
          <a:p>
            <a:pPr algn="l">
              <a:spcBef>
                <a:spcPts val="100"/>
              </a:spcBef>
            </a:pPr>
            <a:r>
              <a:rPr b="1" sz="950">
                <a:solidFill>
                  <a:srgbClr val="C02010"/>
                </a:solidFill>
                <a:latin typeface="Times New Roman"/>
              </a:rPr>
              <a:t>   → 결과: beam sea aRMS −35.0% 악화 (5 seeds 일관)</a:t>
            </a:r>
          </a:p>
          <a:p>
            <a:pPr algn="l">
              <a:spcBef>
                <a:spcPts val="500"/>
              </a:spcBef>
            </a:pPr>
            <a:r>
              <a:rPr b="0" sz="950">
                <a:solidFill>
                  <a:srgbClr val="333333"/>
                </a:solidFill>
                <a:latin typeface="Times New Roman"/>
              </a:rPr>
              <a:t>▸ Quarter sea (μ=135°): 부분적 부호 오류 → −1.9% (경미)</a:t>
            </a:r>
          </a:p>
          <a:p>
            <a:pPr algn="l">
              <a:spcBef>
                <a:spcPts val="300"/>
              </a:spcBef>
            </a:pPr>
            <a:r>
              <a:rPr b="0" sz="950">
                <a:solidFill>
                  <a:srgbClr val="333333"/>
                </a:solidFill>
                <a:latin typeface="Times New Roman"/>
              </a:rPr>
              <a:t>▸ Head sea에서는 등식 성립 → mean −0.2% (사실상 neutral)</a:t>
            </a:r>
          </a:p>
          <a:p>
            <a:pPr algn="l">
              <a:spcBef>
                <a:spcPts val="500"/>
              </a:spcBef>
            </a:pPr>
            <a:r>
              <a:rPr b="1" sz="950">
                <a:solidFill>
                  <a:srgbClr val="C05317"/>
                </a:solidFill>
                <a:latin typeface="Times New Roman"/>
              </a:rPr>
              <a:t>⚠ 개선하려면 wave 방향을 알아야 함 → 바로 WaveSplat이 하는 일</a:t>
            </a:r>
          </a:p>
        </p:txBody>
      </p:sp>
      <p:sp>
        <p:nvSpPr>
          <p:cNvPr id="12" name="Rectangle 11"/>
          <p:cNvSpPr/>
          <p:nvPr/>
        </p:nvSpPr>
        <p:spPr>
          <a:xfrm>
            <a:off x="320040" y="6473952"/>
            <a:ext cx="8503920" cy="347472"/>
          </a:xfrm>
          <a:prstGeom prst="rect">
            <a:avLst/>
          </a:prstGeom>
          <a:solidFill>
            <a:srgbClr val="C05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473952"/>
            <a:ext cx="8503920" cy="347472"/>
          </a:xfrm>
          <a:prstGeom prst="rect">
            <a:avLst/>
          </a:prstGeom>
          <a:noFill/>
        </p:spPr>
        <p:txBody>
          <a:bodyPr wrap="square">
            <a:spAutoFit/>
          </a:bodyPr>
          <a:lstStyle/>
          <a:p>
            <a:pPr algn="ctr"/>
            <a:r>
              <a:rPr b="1" sz="950">
                <a:solidFill>
                  <a:srgbClr val="FFFFFF"/>
                </a:solidFill>
                <a:latin typeface="Times New Roman"/>
              </a:rPr>
              <a:t>결론: 단일 센서는 head sea + 장주기(Tp&gt;7s)에서만 유효  |  단주기 head sea는 오히려 악화  |  beam/oblique는 방향 정보 없이 대응 불가</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p:txBody>
      </p:sp>
      <p:sp>
        <p:nvSpPr>
          <p:cNvPr id="4" name="TextBox 3"/>
          <p:cNvSpPr txBox="1"/>
          <p:nvPr/>
        </p:nvSpPr>
        <p:spPr>
          <a:xfrm>
            <a:off x="320040" y="0"/>
            <a:ext cx="8193024" cy="777240"/>
          </a:xfrm>
          <a:prstGeom prst="rect">
            <a:avLst/>
          </a:prstGeom>
          <a:noFill/>
        </p:spPr>
        <p:txBody>
          <a:bodyPr wrap="square">
            <a:spAutoFit/>
          </a:bodyPr>
          <a:lstStyle/>
          <a:p>
            <a:pPr algn="l"/>
            <a:r>
              <a:rPr b="1" sz="2000">
                <a:solidFill>
                  <a:srgbClr val="1A1A2E"/>
                </a:solidFill>
                <a:latin typeface="Times New Roman"/>
              </a:rPr>
              <a:t>Hydrofoil 결과 (4b) — 단일점 센서 vs WaveSplat: 분산 비교 &amp; 선택 기준</a:t>
            </a:r>
          </a:p>
        </p:txBody>
      </p:sp>
      <p:sp>
        <p:nvSpPr>
          <p:cNvPr id="5" name="TextBox 4"/>
          <p:cNvSpPr txBox="1"/>
          <p:nvPr/>
        </p:nvSpPr>
        <p:spPr>
          <a:xfrm>
            <a:off x="365760" y="786384"/>
            <a:ext cx="8412480" cy="256032"/>
          </a:xfrm>
          <a:prstGeom prst="rect">
            <a:avLst/>
          </a:prstGeom>
          <a:noFill/>
        </p:spPr>
        <p:txBody>
          <a:bodyPr wrap="square">
            <a:spAutoFit/>
          </a:bodyPr>
          <a:lstStyle/>
          <a:p>
            <a:pPr algn="l"/>
            <a:r>
              <a:rPr b="0" sz="950">
                <a:solidFill>
                  <a:srgbClr val="C05317"/>
                </a:solidFill>
                <a:latin typeface="Times New Roman"/>
              </a:rPr>
              <a:t>같은 조건에서 WaveSplat은 왜 안정적인가 — directional spread의 영향과 per-foil 평가의 차이</a:t>
            </a:r>
          </a:p>
        </p:txBody>
      </p:sp>
      <p:sp>
        <p:nvSpPr>
          <p:cNvPr id="6" name="TextBox 5"/>
          <p:cNvSpPr txBox="1"/>
          <p:nvPr/>
        </p:nvSpPr>
        <p:spPr>
          <a:xfrm>
            <a:off x="320040" y="1078992"/>
            <a:ext cx="4160520" cy="256032"/>
          </a:xfrm>
          <a:prstGeom prst="rect">
            <a:avLst/>
          </a:prstGeom>
          <a:noFill/>
        </p:spPr>
        <p:txBody>
          <a:bodyPr wrap="square">
            <a:spAutoFit/>
          </a:bodyPr>
          <a:lstStyle/>
          <a:p>
            <a:pPr algn="l"/>
            <a:r>
              <a:rPr b="1" sz="1100">
                <a:solidFill>
                  <a:srgbClr val="C05317"/>
                </a:solidFill>
                <a:latin typeface="Times New Roman"/>
              </a:rPr>
              <a:t>① BF3 Beam sea — Seed별 분산: SP-1pt vs WaveSplat</a:t>
            </a:r>
          </a:p>
        </p:txBody>
      </p:sp>
      <p:graphicFrame>
        <p:nvGraphicFramePr>
          <p:cNvPr id="7" name="Table 6"/>
          <p:cNvGraphicFramePr>
            <a:graphicFrameLocks noGrp="1"/>
          </p:cNvGraphicFramePr>
          <p:nvPr/>
        </p:nvGraphicFramePr>
        <p:xfrm>
          <a:off x="320040" y="1353312"/>
          <a:ext cx="4160520" cy="2336292"/>
        </p:xfrm>
        <a:graphic>
          <a:graphicData uri="http://schemas.openxmlformats.org/drawingml/2006/table">
            <a:tbl>
              <a:tblPr firstRow="1" bandRow="1">
                <a:tableStyleId>{5C22544A-7EE6-4342-B048-85BDC9FD1C3A}</a:tableStyleId>
              </a:tblPr>
              <a:tblGrid>
                <a:gridCol w="594360"/>
                <a:gridCol w="1188720"/>
                <a:gridCol w="1188720"/>
                <a:gridCol w="1188720"/>
              </a:tblGrid>
              <a:tr h="333756">
                <a:tc>
                  <a:txBody>
                    <a:bodyPr/>
                    <a:lstStyle/>
                    <a:p>
                      <a:pPr algn="ctr"/>
                      <a:r>
                        <a:rPr b="1" sz="900">
                          <a:solidFill>
                            <a:srgbClr val="FFFFFF"/>
                          </a:solidFill>
                          <a:latin typeface="Times New Roman"/>
                        </a:rPr>
                        <a:t>Seed</a:t>
                      </a:r>
                    </a:p>
                  </a:txBody>
                  <a:tcPr>
                    <a:solidFill>
                      <a:srgbClr val="1A1A2E"/>
                    </a:solidFill>
                  </a:tcPr>
                </a:tc>
                <a:tc>
                  <a:txBody>
                    <a:bodyPr/>
                    <a:lstStyle/>
                    <a:p>
                      <a:pPr algn="ctr"/>
                      <a:r>
                        <a:rPr b="1" sz="900">
                          <a:solidFill>
                            <a:srgbClr val="FFFFFF"/>
                          </a:solidFill>
                          <a:latin typeface="Times New Roman"/>
                        </a:rPr>
                        <a:t>GT-FF</a:t>
                      </a:r>
                    </a:p>
                  </a:txBody>
                  <a:tcPr>
                    <a:solidFill>
                      <a:srgbClr val="1A1A2E"/>
                    </a:solidFill>
                  </a:tcPr>
                </a:tc>
                <a:tc>
                  <a:txBody>
                    <a:bodyPr/>
                    <a:lstStyle/>
                    <a:p>
                      <a:pPr algn="ctr"/>
                      <a:r>
                        <a:rPr b="1" sz="900">
                          <a:solidFill>
                            <a:srgbClr val="FFFFFF"/>
                          </a:solidFill>
                          <a:latin typeface="Times New Roman"/>
                        </a:rPr>
                        <a:t>WS-FF</a:t>
                      </a:r>
                    </a:p>
                  </a:txBody>
                  <a:tcPr>
                    <a:solidFill>
                      <a:srgbClr val="1A1A2E"/>
                    </a:solidFill>
                  </a:tcPr>
                </a:tc>
                <a:tc>
                  <a:txBody>
                    <a:bodyPr/>
                    <a:lstStyle/>
                    <a:p>
                      <a:pPr algn="ctr"/>
                      <a:r>
                        <a:rPr b="1" sz="900">
                          <a:solidFill>
                            <a:srgbClr val="FFFFFF"/>
                          </a:solidFill>
                          <a:latin typeface="Times New Roman"/>
                        </a:rPr>
                        <a:t>SP-1pt</a:t>
                      </a:r>
                    </a:p>
                  </a:txBody>
                  <a:tcPr>
                    <a:solidFill>
                      <a:srgbClr val="1A1A2E"/>
                    </a:solidFill>
                  </a:tcPr>
                </a:tc>
              </a:tr>
              <a:tr h="333756">
                <a:tc>
                  <a:txBody>
                    <a:bodyPr/>
                    <a:lstStyle/>
                    <a:p>
                      <a:pPr algn="ctr"/>
                      <a:r>
                        <a:rPr b="0" sz="850">
                          <a:solidFill>
                            <a:srgbClr val="333333"/>
                          </a:solidFill>
                          <a:latin typeface="Times New Roman"/>
                        </a:rPr>
                        <a:t>42</a:t>
                      </a:r>
                    </a:p>
                  </a:txBody>
                  <a:tcPr>
                    <a:solidFill>
                      <a:srgbClr val="FFFFFF"/>
                    </a:solidFill>
                  </a:tcPr>
                </a:tc>
                <a:tc>
                  <a:txBody>
                    <a:bodyPr/>
                    <a:lstStyle/>
                    <a:p>
                      <a:pPr algn="ctr"/>
                      <a:r>
                        <a:rPr b="0" sz="850">
                          <a:solidFill>
                            <a:srgbClr val="333333"/>
                          </a:solidFill>
                          <a:latin typeface="Times New Roman"/>
                        </a:rPr>
                        <a:t>+40.7%</a:t>
                      </a:r>
                    </a:p>
                  </a:txBody>
                  <a:tcPr>
                    <a:solidFill>
                      <a:srgbClr val="FFFFFF"/>
                    </a:solidFill>
                  </a:tcPr>
                </a:tc>
                <a:tc>
                  <a:txBody>
                    <a:bodyPr/>
                    <a:lstStyle/>
                    <a:p>
                      <a:pPr algn="ctr"/>
                      <a:r>
                        <a:rPr b="0" sz="850">
                          <a:solidFill>
                            <a:srgbClr val="333333"/>
                          </a:solidFill>
                          <a:latin typeface="Times New Roman"/>
                        </a:rPr>
                        <a:t>+37.7%</a:t>
                      </a:r>
                    </a:p>
                  </a:txBody>
                  <a:tcPr>
                    <a:solidFill>
                      <a:srgbClr val="FFFFFF"/>
                    </a:solidFill>
                  </a:tcPr>
                </a:tc>
                <a:tc>
                  <a:txBody>
                    <a:bodyPr/>
                    <a:lstStyle/>
                    <a:p>
                      <a:pPr algn="ctr"/>
                      <a:r>
                        <a:rPr b="0" sz="850">
                          <a:solidFill>
                            <a:srgbClr val="333333"/>
                          </a:solidFill>
                          <a:latin typeface="Times New Roman"/>
                        </a:rPr>
                        <a:t>+40.7%</a:t>
                      </a:r>
                    </a:p>
                  </a:txBody>
                  <a:tcPr>
                    <a:solidFill>
                      <a:srgbClr val="D0F0D8"/>
                    </a:solidFill>
                  </a:tcPr>
                </a:tc>
              </a:tr>
              <a:tr h="333756">
                <a:tc>
                  <a:txBody>
                    <a:bodyPr/>
                    <a:lstStyle/>
                    <a:p>
                      <a:pPr algn="ctr"/>
                      <a:r>
                        <a:rPr b="0" sz="850">
                          <a:solidFill>
                            <a:srgbClr val="333333"/>
                          </a:solidFill>
                          <a:latin typeface="Times New Roman"/>
                        </a:rPr>
                        <a:t>0</a:t>
                      </a:r>
                    </a:p>
                  </a:txBody>
                  <a:tcPr>
                    <a:solidFill>
                      <a:srgbClr val="F5F5F5"/>
                    </a:solidFill>
                  </a:tcPr>
                </a:tc>
                <a:tc>
                  <a:txBody>
                    <a:bodyPr/>
                    <a:lstStyle/>
                    <a:p>
                      <a:pPr algn="ctr"/>
                      <a:r>
                        <a:rPr b="0" sz="850">
                          <a:solidFill>
                            <a:srgbClr val="333333"/>
                          </a:solidFill>
                          <a:latin typeface="Times New Roman"/>
                        </a:rPr>
                        <a:t>+53.6%</a:t>
                      </a:r>
                    </a:p>
                  </a:txBody>
                  <a:tcPr>
                    <a:solidFill>
                      <a:srgbClr val="F5F5F5"/>
                    </a:solidFill>
                  </a:tcPr>
                </a:tc>
                <a:tc>
                  <a:txBody>
                    <a:bodyPr/>
                    <a:lstStyle/>
                    <a:p>
                      <a:pPr algn="ctr"/>
                      <a:r>
                        <a:rPr b="0" sz="850">
                          <a:solidFill>
                            <a:srgbClr val="333333"/>
                          </a:solidFill>
                          <a:latin typeface="Times New Roman"/>
                        </a:rPr>
                        <a:t>+47.5%</a:t>
                      </a:r>
                    </a:p>
                  </a:txBody>
                  <a:tcPr>
                    <a:solidFill>
                      <a:srgbClr val="F5F5F5"/>
                    </a:solidFill>
                  </a:tcPr>
                </a:tc>
                <a:tc>
                  <a:txBody>
                    <a:bodyPr/>
                    <a:lstStyle/>
                    <a:p>
                      <a:pPr algn="ctr"/>
                      <a:r>
                        <a:rPr b="0" sz="850">
                          <a:solidFill>
                            <a:srgbClr val="333333"/>
                          </a:solidFill>
                          <a:latin typeface="Times New Roman"/>
                        </a:rPr>
                        <a:t>+54.4%</a:t>
                      </a:r>
                    </a:p>
                  </a:txBody>
                  <a:tcPr>
                    <a:solidFill>
                      <a:srgbClr val="D0F0D8"/>
                    </a:solidFill>
                  </a:tcPr>
                </a:tc>
              </a:tr>
              <a:tr h="333756">
                <a:tc>
                  <a:txBody>
                    <a:bodyPr/>
                    <a:lstStyle/>
                    <a:p>
                      <a:pPr algn="ctr"/>
                      <a:r>
                        <a:rPr b="0" sz="850">
                          <a:solidFill>
                            <a:srgbClr val="333333"/>
                          </a:solidFill>
                          <a:latin typeface="Times New Roman"/>
                        </a:rPr>
                        <a:t>1</a:t>
                      </a:r>
                    </a:p>
                  </a:txBody>
                  <a:tcPr>
                    <a:solidFill>
                      <a:srgbClr val="FFFFFF"/>
                    </a:solidFill>
                  </a:tcPr>
                </a:tc>
                <a:tc>
                  <a:txBody>
                    <a:bodyPr/>
                    <a:lstStyle/>
                    <a:p>
                      <a:pPr algn="ctr"/>
                      <a:r>
                        <a:rPr b="0" sz="850">
                          <a:solidFill>
                            <a:srgbClr val="333333"/>
                          </a:solidFill>
                          <a:latin typeface="Times New Roman"/>
                        </a:rPr>
                        <a:t>+45.8%</a:t>
                      </a:r>
                    </a:p>
                  </a:txBody>
                  <a:tcPr>
                    <a:solidFill>
                      <a:srgbClr val="FFFFFF"/>
                    </a:solidFill>
                  </a:tcPr>
                </a:tc>
                <a:tc>
                  <a:txBody>
                    <a:bodyPr/>
                    <a:lstStyle/>
                    <a:p>
                      <a:pPr algn="ctr"/>
                      <a:r>
                        <a:rPr b="0" sz="850">
                          <a:solidFill>
                            <a:srgbClr val="333333"/>
                          </a:solidFill>
                          <a:latin typeface="Times New Roman"/>
                        </a:rPr>
                        <a:t>+40.3%</a:t>
                      </a:r>
                    </a:p>
                  </a:txBody>
                  <a:tcPr>
                    <a:solidFill>
                      <a:srgbClr val="FFFFFF"/>
                    </a:solidFill>
                  </a:tcPr>
                </a:tc>
                <a:tc>
                  <a:txBody>
                    <a:bodyPr/>
                    <a:lstStyle/>
                    <a:p>
                      <a:pPr algn="ctr"/>
                      <a:r>
                        <a:rPr b="0" sz="850">
                          <a:solidFill>
                            <a:srgbClr val="333333"/>
                          </a:solidFill>
                          <a:latin typeface="Times New Roman"/>
                        </a:rPr>
                        <a:t>+43.7%</a:t>
                      </a:r>
                    </a:p>
                  </a:txBody>
                  <a:tcPr>
                    <a:solidFill>
                      <a:srgbClr val="D0F0D8"/>
                    </a:solidFill>
                  </a:tcPr>
                </a:tc>
              </a:tr>
              <a:tr h="333756">
                <a:tc>
                  <a:txBody>
                    <a:bodyPr/>
                    <a:lstStyle/>
                    <a:p>
                      <a:pPr algn="ctr"/>
                      <a:r>
                        <a:rPr b="0" sz="850">
                          <a:solidFill>
                            <a:srgbClr val="333333"/>
                          </a:solidFill>
                          <a:latin typeface="Times New Roman"/>
                        </a:rPr>
                        <a:t>2</a:t>
                      </a:r>
                    </a:p>
                  </a:txBody>
                  <a:tcPr>
                    <a:solidFill>
                      <a:srgbClr val="F5F5F5"/>
                    </a:solidFill>
                  </a:tcPr>
                </a:tc>
                <a:tc>
                  <a:txBody>
                    <a:bodyPr/>
                    <a:lstStyle/>
                    <a:p>
                      <a:pPr algn="ctr"/>
                      <a:r>
                        <a:rPr b="0" sz="850">
                          <a:solidFill>
                            <a:srgbClr val="333333"/>
                          </a:solidFill>
                          <a:latin typeface="Times New Roman"/>
                        </a:rPr>
                        <a:t>+28.0%</a:t>
                      </a:r>
                    </a:p>
                  </a:txBody>
                  <a:tcPr>
                    <a:solidFill>
                      <a:srgbClr val="F5F5F5"/>
                    </a:solidFill>
                  </a:tcPr>
                </a:tc>
                <a:tc>
                  <a:txBody>
                    <a:bodyPr/>
                    <a:lstStyle/>
                    <a:p>
                      <a:pPr algn="ctr"/>
                      <a:r>
                        <a:rPr b="0" sz="850">
                          <a:solidFill>
                            <a:srgbClr val="333333"/>
                          </a:solidFill>
                          <a:latin typeface="Times New Roman"/>
                        </a:rPr>
                        <a:t>+18.8%</a:t>
                      </a:r>
                    </a:p>
                  </a:txBody>
                  <a:tcPr>
                    <a:solidFill>
                      <a:srgbClr val="F5F5F5"/>
                    </a:solidFill>
                  </a:tcPr>
                </a:tc>
                <a:tc>
                  <a:txBody>
                    <a:bodyPr/>
                    <a:lstStyle/>
                    <a:p>
                      <a:pPr algn="ctr"/>
                      <a:r>
                        <a:rPr b="0" sz="850">
                          <a:solidFill>
                            <a:srgbClr val="333333"/>
                          </a:solidFill>
                          <a:latin typeface="Times New Roman"/>
                        </a:rPr>
                        <a:t>−26.6%</a:t>
                      </a:r>
                    </a:p>
                  </a:txBody>
                  <a:tcPr>
                    <a:solidFill>
                      <a:srgbClr val="FFD0D0"/>
                    </a:solidFill>
                  </a:tcPr>
                </a:tc>
              </a:tr>
              <a:tr h="333756">
                <a:tc>
                  <a:txBody>
                    <a:bodyPr/>
                    <a:lstStyle/>
                    <a:p>
                      <a:pPr algn="ctr"/>
                      <a:r>
                        <a:rPr b="0" sz="850">
                          <a:solidFill>
                            <a:srgbClr val="333333"/>
                          </a:solidFill>
                          <a:latin typeface="Times New Roman"/>
                        </a:rPr>
                        <a:t>3</a:t>
                      </a:r>
                    </a:p>
                  </a:txBody>
                  <a:tcPr>
                    <a:solidFill>
                      <a:srgbClr val="FFFFFF"/>
                    </a:solidFill>
                  </a:tcPr>
                </a:tc>
                <a:tc>
                  <a:txBody>
                    <a:bodyPr/>
                    <a:lstStyle/>
                    <a:p>
                      <a:pPr algn="ctr"/>
                      <a:r>
                        <a:rPr b="0" sz="850">
                          <a:solidFill>
                            <a:srgbClr val="333333"/>
                          </a:solidFill>
                          <a:latin typeface="Times New Roman"/>
                        </a:rPr>
                        <a:t>+24.0%</a:t>
                      </a:r>
                    </a:p>
                  </a:txBody>
                  <a:tcPr>
                    <a:solidFill>
                      <a:srgbClr val="FFFFFF"/>
                    </a:solidFill>
                  </a:tcPr>
                </a:tc>
                <a:tc>
                  <a:txBody>
                    <a:bodyPr/>
                    <a:lstStyle/>
                    <a:p>
                      <a:pPr algn="ctr"/>
                      <a:r>
                        <a:rPr b="0" sz="850">
                          <a:solidFill>
                            <a:srgbClr val="333333"/>
                          </a:solidFill>
                          <a:latin typeface="Times New Roman"/>
                        </a:rPr>
                        <a:t>+20.8%</a:t>
                      </a:r>
                    </a:p>
                  </a:txBody>
                  <a:tcPr>
                    <a:solidFill>
                      <a:srgbClr val="FFFFFF"/>
                    </a:solidFill>
                  </a:tcPr>
                </a:tc>
                <a:tc>
                  <a:txBody>
                    <a:bodyPr/>
                    <a:lstStyle/>
                    <a:p>
                      <a:pPr algn="ctr"/>
                      <a:r>
                        <a:rPr b="0" sz="850">
                          <a:solidFill>
                            <a:srgbClr val="333333"/>
                          </a:solidFill>
                          <a:latin typeface="Times New Roman"/>
                        </a:rPr>
                        <a:t>−5.1%</a:t>
                      </a:r>
                    </a:p>
                  </a:txBody>
                  <a:tcPr>
                    <a:solidFill>
                      <a:srgbClr val="FFF0CC"/>
                    </a:solidFill>
                  </a:tcPr>
                </a:tc>
              </a:tr>
              <a:tr h="333756">
                <a:tc>
                  <a:txBody>
                    <a:bodyPr/>
                    <a:lstStyle/>
                    <a:p>
                      <a:pPr algn="ctr"/>
                      <a:r>
                        <a:rPr b="1" sz="850">
                          <a:solidFill>
                            <a:srgbClr val="333333"/>
                          </a:solidFill>
                          <a:latin typeface="Times New Roman"/>
                        </a:rPr>
                        <a:t>avg±std</a:t>
                      </a:r>
                    </a:p>
                  </a:txBody>
                  <a:tcPr>
                    <a:solidFill>
                      <a:srgbClr val="EEF2FF"/>
                    </a:solidFill>
                  </a:tcPr>
                </a:tc>
                <a:tc>
                  <a:txBody>
                    <a:bodyPr/>
                    <a:lstStyle/>
                    <a:p>
                      <a:pPr algn="ctr"/>
                      <a:r>
                        <a:rPr b="1" sz="850">
                          <a:solidFill>
                            <a:srgbClr val="333333"/>
                          </a:solidFill>
                          <a:latin typeface="Times New Roman"/>
                        </a:rPr>
                        <a:t>+38.4%
(±11.0)</a:t>
                      </a:r>
                    </a:p>
                  </a:txBody>
                  <a:tcPr>
                    <a:solidFill>
                      <a:srgbClr val="EEF2FF"/>
                    </a:solidFill>
                  </a:tcPr>
                </a:tc>
                <a:tc>
                  <a:txBody>
                    <a:bodyPr/>
                    <a:lstStyle/>
                    <a:p>
                      <a:pPr algn="ctr"/>
                      <a:r>
                        <a:rPr b="1" sz="850">
                          <a:solidFill>
                            <a:srgbClr val="333333"/>
                          </a:solidFill>
                          <a:latin typeface="Times New Roman"/>
                        </a:rPr>
                        <a:t>+33.0%
(±11.3)</a:t>
                      </a:r>
                    </a:p>
                  </a:txBody>
                  <a:tcPr>
                    <a:solidFill>
                      <a:srgbClr val="EEF2FF"/>
                    </a:solidFill>
                  </a:tcPr>
                </a:tc>
                <a:tc>
                  <a:txBody>
                    <a:bodyPr/>
                    <a:lstStyle/>
                    <a:p>
                      <a:pPr algn="ctr"/>
                      <a:r>
                        <a:rPr b="1" sz="850">
                          <a:solidFill>
                            <a:srgbClr val="333333"/>
                          </a:solidFill>
                          <a:latin typeface="Times New Roman"/>
                        </a:rPr>
                        <a:t>+21.4%
(±31.5)</a:t>
                      </a:r>
                    </a:p>
                  </a:txBody>
                  <a:tcPr>
                    <a:solidFill>
                      <a:srgbClr val="FFEEBB"/>
                    </a:solidFill>
                  </a:tcPr>
                </a:tc>
              </a:tr>
            </a:tbl>
          </a:graphicData>
        </a:graphic>
      </p:graphicFrame>
      <p:sp>
        <p:nvSpPr>
          <p:cNvPr id="8" name="TextBox 7"/>
          <p:cNvSpPr txBox="1"/>
          <p:nvPr/>
        </p:nvSpPr>
        <p:spPr>
          <a:xfrm>
            <a:off x="320040" y="3730752"/>
            <a:ext cx="4160520" cy="1691640"/>
          </a:xfrm>
          <a:prstGeom prst="rect">
            <a:avLst/>
          </a:prstGeom>
          <a:noFill/>
        </p:spPr>
        <p:txBody>
          <a:bodyPr wrap="square">
            <a:spAutoFit/>
          </a:bodyPr>
          <a:lstStyle/>
          <a:p/>
          <a:p>
            <a:pPr algn="l"/>
            <a:r>
              <a:rPr b="1" sz="1000">
                <a:solidFill>
                  <a:srgbClr val="1A1A2E"/>
                </a:solidFill>
                <a:latin typeface="Times New Roman"/>
              </a:rPr>
              <a:t>▸ 왜 seed마다 다른가?</a:t>
            </a:r>
          </a:p>
          <a:p>
            <a:pPr algn="l">
              <a:spcBef>
                <a:spcPts val="200"/>
              </a:spcBef>
            </a:pPr>
            <a:r>
              <a:rPr b="0" sz="950">
                <a:solidFill>
                  <a:srgbClr val="333333"/>
                </a:solidFill>
                <a:latin typeface="Times New Roman"/>
              </a:rPr>
              <a:t>   방향 spread (σ_θ=20°)로 인해 μ=90° 스펙트럼에도 kx≠0 성분 존재</a:t>
            </a:r>
          </a:p>
          <a:p>
            <a:pPr algn="l">
              <a:spcBef>
                <a:spcPts val="100"/>
              </a:spcBef>
            </a:pPr>
            <a:r>
              <a:rPr b="0" sz="950">
                <a:solidFill>
                  <a:srgbClr val="333333"/>
                </a:solidFill>
                <a:latin typeface="Times New Roman"/>
              </a:rPr>
              <a:t>   → 두 foil 위치에서 이 성분들의 위상 합성이 seed마다 달라짐</a:t>
            </a:r>
          </a:p>
          <a:p>
            <a:pPr algn="l">
              <a:spcBef>
                <a:spcPts val="100"/>
              </a:spcBef>
            </a:pPr>
            <a:r>
              <a:rPr b="0" sz="950">
                <a:solidFill>
                  <a:srgbClr val="C02010"/>
                </a:solidFill>
                <a:latin typeface="Times New Roman"/>
              </a:rPr>
              <a:t>   → "운 좋은 seed": +54% / "운 나쁜 seed": −27%</a:t>
            </a:r>
          </a:p>
          <a:p>
            <a:pPr>
              <a:spcBef>
                <a:spcPts val="200"/>
              </a:spcBef>
            </a:pPr>
            <a:r>
              <a:rPr b="0" sz="950">
                <a:solidFill>
                  <a:srgbClr val="333333"/>
                </a:solidFill>
                <a:latin typeface="Times New Roman"/>
              </a:rPr>
              <a:t>   SP-1pt σ/μ ≈ 31.5/21.4 ≈ </a:t>
            </a:r>
            <a:r>
              <a:rPr b="1" sz="950">
                <a:solidFill>
                  <a:srgbClr val="C02010"/>
                </a:solidFill>
                <a:latin typeface="Times New Roman"/>
              </a:rPr>
              <a:t>1.47 (예측 불가)</a:t>
            </a:r>
            <a:r>
              <a:rPr b="0" sz="950">
                <a:solidFill>
                  <a:srgbClr val="333333"/>
                </a:solidFill>
                <a:latin typeface="Times New Roman"/>
              </a:rPr>
              <a:t>  vs  WS σ/μ ≈ 0.34</a:t>
            </a:r>
          </a:p>
          <a:p>
            <a:pPr algn="l">
              <a:spcBef>
                <a:spcPts val="500"/>
              </a:spcBef>
            </a:pPr>
            <a:r>
              <a:rPr b="1" sz="950">
                <a:solidFill>
                  <a:srgbClr val="1A1A2E"/>
                </a:solidFill>
                <a:latin typeface="Times New Roman"/>
              </a:rPr>
              <a:t>▸ WaveSplat은 각 foil × 각 component를 독립 평가 → phase 충돌 없음</a:t>
            </a:r>
          </a:p>
        </p:txBody>
      </p:sp>
      <p:sp>
        <p:nvSpPr>
          <p:cNvPr id="9" name="TextBox 8"/>
          <p:cNvSpPr txBox="1"/>
          <p:nvPr/>
        </p:nvSpPr>
        <p:spPr>
          <a:xfrm>
            <a:off x="4617720" y="1078992"/>
            <a:ext cx="4206240" cy="256032"/>
          </a:xfrm>
          <a:prstGeom prst="rect">
            <a:avLst/>
          </a:prstGeom>
          <a:noFill/>
        </p:spPr>
        <p:txBody>
          <a:bodyPr wrap="square">
            <a:spAutoFit/>
          </a:bodyPr>
          <a:lstStyle/>
          <a:p>
            <a:pPr algn="l"/>
            <a:r>
              <a:rPr b="1" sz="1100">
                <a:solidFill>
                  <a:srgbClr val="C05317"/>
                </a:solidFill>
                <a:latin typeface="Times New Roman"/>
              </a:rPr>
              <a:t>② 운항 조건별 센서 선택 가이드</a:t>
            </a:r>
          </a:p>
        </p:txBody>
      </p:sp>
      <p:graphicFrame>
        <p:nvGraphicFramePr>
          <p:cNvPr id="10" name="Table 9"/>
          <p:cNvGraphicFramePr>
            <a:graphicFrameLocks noGrp="1"/>
          </p:cNvGraphicFramePr>
          <p:nvPr/>
        </p:nvGraphicFramePr>
        <p:xfrm>
          <a:off x="4617720" y="1353312"/>
          <a:ext cx="4206240" cy="2002536"/>
        </p:xfrm>
        <a:graphic>
          <a:graphicData uri="http://schemas.openxmlformats.org/drawingml/2006/table">
            <a:tbl>
              <a:tblPr firstRow="1" bandRow="1">
                <a:tableStyleId>{5C22544A-7EE6-4342-B048-85BDC9FD1C3A}</a:tableStyleId>
              </a:tblPr>
              <a:tblGrid>
                <a:gridCol w="1417320"/>
                <a:gridCol w="914400"/>
                <a:gridCol w="960120"/>
                <a:gridCol w="914400"/>
              </a:tblGrid>
              <a:tr h="333756">
                <a:tc>
                  <a:txBody>
                    <a:bodyPr/>
                    <a:lstStyle/>
                    <a:p>
                      <a:pPr algn="ctr"/>
                      <a:r>
                        <a:rPr b="1" sz="900">
                          <a:solidFill>
                            <a:srgbClr val="FFFFFF"/>
                          </a:solidFill>
                          <a:latin typeface="Times New Roman"/>
                        </a:rPr>
                        <a:t>조건</a:t>
                      </a:r>
                    </a:p>
                  </a:txBody>
                  <a:tcPr>
                    <a:solidFill>
                      <a:srgbClr val="1A1A2E"/>
                    </a:solidFill>
                  </a:tcPr>
                </a:tc>
                <a:tc>
                  <a:txBody>
                    <a:bodyPr/>
                    <a:lstStyle/>
                    <a:p>
                      <a:pPr algn="ctr"/>
                      <a:r>
                        <a:rPr b="1" sz="900">
                          <a:solidFill>
                            <a:srgbClr val="FFFFFF"/>
                          </a:solidFill>
                          <a:latin typeface="Times New Roman"/>
                        </a:rPr>
                        <a:t>SP-1pt</a:t>
                      </a:r>
                    </a:p>
                  </a:txBody>
                  <a:tcPr>
                    <a:solidFill>
                      <a:srgbClr val="1A1A2E"/>
                    </a:solidFill>
                  </a:tcPr>
                </a:tc>
                <a:tc>
                  <a:txBody>
                    <a:bodyPr/>
                    <a:lstStyle/>
                    <a:p>
                      <a:pPr algn="ctr"/>
                      <a:r>
                        <a:rPr b="1" sz="900">
                          <a:solidFill>
                            <a:srgbClr val="FFFFFF"/>
                          </a:solidFill>
                          <a:latin typeface="Times New Roman"/>
                        </a:rPr>
                        <a:t>SP-temporal</a:t>
                      </a:r>
                    </a:p>
                  </a:txBody>
                  <a:tcPr>
                    <a:solidFill>
                      <a:srgbClr val="1A1A2E"/>
                    </a:solidFill>
                  </a:tcPr>
                </a:tc>
                <a:tc>
                  <a:txBody>
                    <a:bodyPr/>
                    <a:lstStyle/>
                    <a:p>
                      <a:pPr algn="ctr"/>
                      <a:r>
                        <a:rPr b="1" sz="900">
                          <a:solidFill>
                            <a:srgbClr val="FFFFFF"/>
                          </a:solidFill>
                          <a:latin typeface="Times New Roman"/>
                        </a:rPr>
                        <a:t>WaveSplat</a:t>
                      </a:r>
                    </a:p>
                  </a:txBody>
                  <a:tcPr>
                    <a:solidFill>
                      <a:srgbClr val="1A1A2E"/>
                    </a:solidFill>
                  </a:tcPr>
                </a:tc>
              </a:tr>
              <a:tr h="333756">
                <a:tc>
                  <a:txBody>
                    <a:bodyPr/>
                    <a:lstStyle/>
                    <a:p>
                      <a:pPr algn="ctr"/>
                      <a:r>
                        <a:rPr b="1" sz="850">
                          <a:solidFill>
                            <a:srgbClr val="333333"/>
                          </a:solidFill>
                          <a:latin typeface="Times New Roman"/>
                        </a:rPr>
                        <a:t>Head sea
Tp &gt; 7s</a:t>
                      </a:r>
                    </a:p>
                  </a:txBody>
                  <a:tcPr>
                    <a:solidFill>
                      <a:srgbClr val="FFFFFF"/>
                    </a:solidFill>
                  </a:tcPr>
                </a:tc>
                <a:tc>
                  <a:txBody>
                    <a:bodyPr/>
                    <a:lstStyle/>
                    <a:p>
                      <a:pPr algn="ctr"/>
                      <a:r>
                        <a:rPr b="0" sz="850">
                          <a:solidFill>
                            <a:srgbClr val="333333"/>
                          </a:solidFill>
                          <a:latin typeface="Times New Roman"/>
                        </a:rPr>
                        <a:t>✓ 71%</a:t>
                      </a:r>
                    </a:p>
                  </a:txBody>
                  <a:tcPr>
                    <a:solidFill>
                      <a:srgbClr val="D0F0D8"/>
                    </a:solidFill>
                  </a:tcPr>
                </a:tc>
                <a:tc>
                  <a:txBody>
                    <a:bodyPr/>
                    <a:lstStyle/>
                    <a:p>
                      <a:pPr algn="ctr"/>
                      <a:r>
                        <a:rPr b="0" sz="850">
                          <a:solidFill>
                            <a:srgbClr val="333333"/>
                          </a:solidFill>
                          <a:latin typeface="Times New Roman"/>
                        </a:rPr>
                        <a:t>≈0 (neutral)</a:t>
                      </a:r>
                    </a:p>
                  </a:txBody>
                  <a:tcPr>
                    <a:solidFill>
                      <a:srgbClr val="FFFFFF"/>
                    </a:solidFill>
                  </a:tcPr>
                </a:tc>
                <a:tc>
                  <a:txBody>
                    <a:bodyPr/>
                    <a:lstStyle/>
                    <a:p>
                      <a:pPr algn="ctr"/>
                      <a:r>
                        <a:rPr b="0" sz="850">
                          <a:solidFill>
                            <a:srgbClr val="333333"/>
                          </a:solidFill>
                          <a:latin typeface="Times New Roman"/>
                        </a:rPr>
                        <a:t>✓ ~GT</a:t>
                      </a:r>
                    </a:p>
                  </a:txBody>
                  <a:tcPr>
                    <a:solidFill>
                      <a:srgbClr val="D0F0D8"/>
                    </a:solidFill>
                  </a:tcPr>
                </a:tc>
              </a:tr>
              <a:tr h="333756">
                <a:tc>
                  <a:txBody>
                    <a:bodyPr/>
                    <a:lstStyle/>
                    <a:p>
                      <a:pPr algn="ctr"/>
                      <a:r>
                        <a:rPr b="1" sz="850">
                          <a:solidFill>
                            <a:srgbClr val="333333"/>
                          </a:solidFill>
                          <a:latin typeface="Times New Roman"/>
                        </a:rPr>
                        <a:t>Head sea
Tp ≤ 5s</a:t>
                      </a:r>
                    </a:p>
                  </a:txBody>
                  <a:tcPr>
                    <a:solidFill>
                      <a:srgbClr val="F5F5F5"/>
                    </a:solidFill>
                  </a:tcPr>
                </a:tc>
                <a:tc>
                  <a:txBody>
                    <a:bodyPr/>
                    <a:lstStyle/>
                    <a:p>
                      <a:pPr algn="ctr"/>
                      <a:r>
                        <a:rPr b="0" sz="850">
                          <a:solidFill>
                            <a:srgbClr val="333333"/>
                          </a:solidFill>
                          <a:latin typeface="Times New Roman"/>
                        </a:rPr>
                        <a:t>✗ −13%</a:t>
                      </a:r>
                    </a:p>
                  </a:txBody>
                  <a:tcPr>
                    <a:solidFill>
                      <a:srgbClr val="FFD0D0"/>
                    </a:solidFill>
                  </a:tcPr>
                </a:tc>
                <a:tc>
                  <a:txBody>
                    <a:bodyPr/>
                    <a:lstStyle/>
                    <a:p>
                      <a:pPr algn="ctr"/>
                      <a:r>
                        <a:rPr b="0" sz="850">
                          <a:solidFill>
                            <a:srgbClr val="333333"/>
                          </a:solidFill>
                          <a:latin typeface="Times New Roman"/>
                        </a:rPr>
                        <a:t>≈0 (neutral)</a:t>
                      </a:r>
                    </a:p>
                  </a:txBody>
                  <a:tcPr>
                    <a:solidFill>
                      <a:srgbClr val="FFFFFF"/>
                    </a:solidFill>
                  </a:tcPr>
                </a:tc>
                <a:tc>
                  <a:txBody>
                    <a:bodyPr/>
                    <a:lstStyle/>
                    <a:p>
                      <a:pPr algn="ctr"/>
                      <a:r>
                        <a:rPr b="0" sz="850">
                          <a:solidFill>
                            <a:srgbClr val="333333"/>
                          </a:solidFill>
                          <a:latin typeface="Times New Roman"/>
                        </a:rPr>
                        <a:t>✓ +12%</a:t>
                      </a:r>
                    </a:p>
                  </a:txBody>
                  <a:tcPr>
                    <a:solidFill>
                      <a:srgbClr val="D0F0D8"/>
                    </a:solidFill>
                  </a:tcPr>
                </a:tc>
              </a:tr>
              <a:tr h="333756">
                <a:tc>
                  <a:txBody>
                    <a:bodyPr/>
                    <a:lstStyle/>
                    <a:p>
                      <a:pPr algn="ctr"/>
                      <a:r>
                        <a:rPr b="1" sz="850">
                          <a:solidFill>
                            <a:srgbClr val="333333"/>
                          </a:solidFill>
                          <a:latin typeface="Times New Roman"/>
                        </a:rPr>
                        <a:t>Beam sea
(directional spread)</a:t>
                      </a:r>
                    </a:p>
                  </a:txBody>
                  <a:tcPr>
                    <a:solidFill>
                      <a:srgbClr val="FFFFFF"/>
                    </a:solidFill>
                  </a:tcPr>
                </a:tc>
                <a:tc>
                  <a:txBody>
                    <a:bodyPr/>
                    <a:lstStyle/>
                    <a:p>
                      <a:pPr algn="ctr"/>
                      <a:r>
                        <a:rPr b="0" sz="850">
                          <a:solidFill>
                            <a:srgbClr val="333333"/>
                          </a:solidFill>
                          <a:latin typeface="Times New Roman"/>
                        </a:rPr>
                        <a:t>△ 불안정</a:t>
                      </a:r>
                    </a:p>
                  </a:txBody>
                  <a:tcPr>
                    <a:solidFill>
                      <a:srgbClr val="FFF0CC"/>
                    </a:solidFill>
                  </a:tcPr>
                </a:tc>
                <a:tc>
                  <a:txBody>
                    <a:bodyPr/>
                    <a:lstStyle/>
                    <a:p>
                      <a:pPr algn="ctr"/>
                      <a:r>
                        <a:rPr b="0" sz="850">
                          <a:solidFill>
                            <a:srgbClr val="333333"/>
                          </a:solidFill>
                          <a:latin typeface="Times New Roman"/>
                        </a:rPr>
                        <a:t>✗ −35%</a:t>
                      </a:r>
                    </a:p>
                  </a:txBody>
                  <a:tcPr>
                    <a:solidFill>
                      <a:srgbClr val="FFD0D0"/>
                    </a:solidFill>
                  </a:tcPr>
                </a:tc>
                <a:tc>
                  <a:txBody>
                    <a:bodyPr/>
                    <a:lstStyle/>
                    <a:p>
                      <a:pPr algn="ctr"/>
                      <a:r>
                        <a:rPr b="0" sz="850">
                          <a:solidFill>
                            <a:srgbClr val="333333"/>
                          </a:solidFill>
                          <a:latin typeface="Times New Roman"/>
                        </a:rPr>
                        <a:t>✓ +33%</a:t>
                      </a:r>
                    </a:p>
                  </a:txBody>
                  <a:tcPr>
                    <a:solidFill>
                      <a:srgbClr val="D0F0D8"/>
                    </a:solidFill>
                  </a:tcPr>
                </a:tc>
              </a:tr>
              <a:tr h="333756">
                <a:tc>
                  <a:txBody>
                    <a:bodyPr/>
                    <a:lstStyle/>
                    <a:p>
                      <a:pPr algn="ctr"/>
                      <a:r>
                        <a:rPr b="1" sz="850">
                          <a:solidFill>
                            <a:srgbClr val="333333"/>
                          </a:solidFill>
                          <a:latin typeface="Times New Roman"/>
                        </a:rPr>
                        <a:t>Quarter sea
μ=135°</a:t>
                      </a:r>
                    </a:p>
                  </a:txBody>
                  <a:tcPr>
                    <a:solidFill>
                      <a:srgbClr val="F5F5F5"/>
                    </a:solidFill>
                  </a:tcPr>
                </a:tc>
                <a:tc>
                  <a:txBody>
                    <a:bodyPr/>
                    <a:lstStyle/>
                    <a:p>
                      <a:pPr algn="ctr"/>
                      <a:r>
                        <a:rPr b="0" sz="850">
                          <a:solidFill>
                            <a:srgbClr val="333333"/>
                          </a:solidFill>
                          <a:latin typeface="Times New Roman"/>
                        </a:rPr>
                        <a:t>△ +2.5%</a:t>
                      </a:r>
                    </a:p>
                  </a:txBody>
                  <a:tcPr>
                    <a:solidFill>
                      <a:srgbClr val="FFF0CC"/>
                    </a:solidFill>
                  </a:tcPr>
                </a:tc>
                <a:tc>
                  <a:txBody>
                    <a:bodyPr/>
                    <a:lstStyle/>
                    <a:p>
                      <a:pPr algn="ctr"/>
                      <a:r>
                        <a:rPr b="0" sz="850">
                          <a:solidFill>
                            <a:srgbClr val="333333"/>
                          </a:solidFill>
                          <a:latin typeface="Times New Roman"/>
                        </a:rPr>
                        <a:t>△ −1.9%</a:t>
                      </a:r>
                    </a:p>
                  </a:txBody>
                  <a:tcPr>
                    <a:solidFill>
                      <a:srgbClr val="FFF0CC"/>
                    </a:solidFill>
                  </a:tcPr>
                </a:tc>
                <a:tc>
                  <a:txBody>
                    <a:bodyPr/>
                    <a:lstStyle/>
                    <a:p>
                      <a:pPr algn="ctr"/>
                      <a:r>
                        <a:rPr b="0" sz="850">
                          <a:solidFill>
                            <a:srgbClr val="333333"/>
                          </a:solidFill>
                          <a:latin typeface="Times New Roman"/>
                        </a:rPr>
                        <a:t>✓ +15%</a:t>
                      </a:r>
                    </a:p>
                  </a:txBody>
                  <a:tcPr>
                    <a:solidFill>
                      <a:srgbClr val="D0F0D8"/>
                    </a:solidFill>
                  </a:tcPr>
                </a:tc>
              </a:tr>
              <a:tr h="333756">
                <a:tc>
                  <a:txBody>
                    <a:bodyPr/>
                    <a:lstStyle/>
                    <a:p>
                      <a:pPr algn="ctr"/>
                      <a:r>
                        <a:rPr b="1" sz="850">
                          <a:solidFill>
                            <a:srgbClr val="333333"/>
                          </a:solidFill>
                          <a:latin typeface="Times New Roman"/>
                        </a:rPr>
                        <a:t>혼합 항로
(실제 운항)</a:t>
                      </a:r>
                    </a:p>
                  </a:txBody>
                  <a:tcPr>
                    <a:solidFill>
                      <a:srgbClr val="FFFFFF"/>
                    </a:solidFill>
                  </a:tcPr>
                </a:tc>
                <a:tc>
                  <a:txBody>
                    <a:bodyPr/>
                    <a:lstStyle/>
                    <a:p>
                      <a:pPr algn="ctr"/>
                      <a:r>
                        <a:rPr b="0" sz="850">
                          <a:solidFill>
                            <a:srgbClr val="333333"/>
                          </a:solidFill>
                          <a:latin typeface="Times New Roman"/>
                        </a:rPr>
                        <a:t>✗ 위험</a:t>
                      </a:r>
                    </a:p>
                  </a:txBody>
                  <a:tcPr>
                    <a:solidFill>
                      <a:srgbClr val="FFD0D0"/>
                    </a:solidFill>
                  </a:tcPr>
                </a:tc>
                <a:tc>
                  <a:txBody>
                    <a:bodyPr/>
                    <a:lstStyle/>
                    <a:p>
                      <a:pPr algn="ctr"/>
                      <a:r>
                        <a:rPr b="0" sz="850">
                          <a:solidFill>
                            <a:srgbClr val="333333"/>
                          </a:solidFill>
                          <a:latin typeface="Times New Roman"/>
                        </a:rPr>
                        <a:t>✗ 위험</a:t>
                      </a:r>
                    </a:p>
                  </a:txBody>
                  <a:tcPr>
                    <a:solidFill>
                      <a:srgbClr val="FFD0D0"/>
                    </a:solidFill>
                  </a:tcPr>
                </a:tc>
                <a:tc>
                  <a:txBody>
                    <a:bodyPr/>
                    <a:lstStyle/>
                    <a:p>
                      <a:pPr algn="ctr"/>
                      <a:r>
                        <a:rPr b="0" sz="850">
                          <a:solidFill>
                            <a:srgbClr val="333333"/>
                          </a:solidFill>
                          <a:latin typeface="Times New Roman"/>
                        </a:rPr>
                        <a:t>✓ 필수</a:t>
                      </a:r>
                    </a:p>
                  </a:txBody>
                  <a:tcPr>
                    <a:solidFill>
                      <a:srgbClr val="D0F0D8"/>
                    </a:solidFill>
                  </a:tcPr>
                </a:tc>
              </a:tr>
            </a:tbl>
          </a:graphicData>
        </a:graphic>
      </p:graphicFrame>
      <p:sp>
        <p:nvSpPr>
          <p:cNvPr id="11" name="TextBox 10"/>
          <p:cNvSpPr txBox="1"/>
          <p:nvPr/>
        </p:nvSpPr>
        <p:spPr>
          <a:xfrm>
            <a:off x="4617720" y="3730752"/>
            <a:ext cx="4206240" cy="256032"/>
          </a:xfrm>
          <a:prstGeom prst="rect">
            <a:avLst/>
          </a:prstGeom>
          <a:noFill/>
        </p:spPr>
        <p:txBody>
          <a:bodyPr wrap="square">
            <a:spAutoFit/>
          </a:bodyPr>
          <a:lstStyle/>
          <a:p>
            <a:pPr algn="l"/>
            <a:r>
              <a:rPr b="1" sz="1100">
                <a:solidFill>
                  <a:srgbClr val="C05317"/>
                </a:solidFill>
                <a:latin typeface="Times New Roman"/>
              </a:rPr>
              <a:t>③ WaveSplat이 필요한 세 가지 이유</a:t>
            </a:r>
          </a:p>
        </p:txBody>
      </p:sp>
      <p:sp>
        <p:nvSpPr>
          <p:cNvPr id="12" name="TextBox 11"/>
          <p:cNvSpPr txBox="1"/>
          <p:nvPr/>
        </p:nvSpPr>
        <p:spPr>
          <a:xfrm>
            <a:off x="4617720" y="4005072"/>
            <a:ext cx="4206240" cy="2286000"/>
          </a:xfrm>
          <a:prstGeom prst="rect">
            <a:avLst/>
          </a:prstGeom>
          <a:noFill/>
        </p:spPr>
        <p:txBody>
          <a:bodyPr wrap="square">
            <a:spAutoFit/>
          </a:bodyPr>
          <a:lstStyle/>
          <a:p>
            <a:r>
              <a:rPr b="1" sz="950">
                <a:solidFill>
                  <a:srgbClr val="1A1A2E"/>
                </a:solidFill>
                <a:latin typeface="Times New Roman"/>
              </a:rPr>
              <a:t>▸ Per-foil 독립 평가: </a:t>
            </a:r>
            <a:r>
              <a:rPr b="0" sz="900">
                <a:solidFill>
                  <a:srgbClr val="333333"/>
                </a:solidFill>
                <a:latin typeface="Times New Roman"/>
              </a:rPr>
              <a:t>Front/rear foil의 preview 위치에서 wave slope와 w를 각각 계산. 41° 위상 오차를 원천 차단. SP-1pt는 구조상 불가능.</a:t>
            </a:r>
          </a:p>
          <a:p>
            <a:pPr>
              <a:spcBef>
                <a:spcPts val="600"/>
              </a:spcBef>
            </a:pPr>
            <a:r>
              <a:rPr b="1" sz="950">
                <a:solidFill>
                  <a:srgbClr val="1A1A2E"/>
                </a:solidFill>
                <a:latin typeface="Times New Roman"/>
              </a:rPr>
              <a:t>▸ 방향 독립성: </a:t>
            </a:r>
            <a:r>
              <a:rPr b="0" sz="900">
                <a:solidFill>
                  <a:srgbClr val="333333"/>
                </a:solidFill>
                <a:latin typeface="Times New Roman"/>
              </a:rPr>
              <a:t>directional spread 있는 실해상에서도 각 component (kx, ky, ω, φ)를 독립 추정 → μ=0~360° 전 방향 stable. SP-1pt σ/μ=1.5 → WS σ/μ=0.34.</a:t>
            </a:r>
          </a:p>
          <a:p>
            <a:pPr>
              <a:spcBef>
                <a:spcPts val="600"/>
              </a:spcBef>
            </a:pPr>
            <a:r>
              <a:rPr b="1" sz="950">
                <a:solidFill>
                  <a:srgbClr val="1A1A2E"/>
                </a:solidFill>
                <a:latin typeface="Times New Roman"/>
              </a:rPr>
              <a:t>▸ Slope 추정 정확도: </a:t>
            </a:r>
            <a:r>
              <a:rPr b="0" sz="900">
                <a:solidFill>
                  <a:srgbClr val="333333"/>
                </a:solidFill>
                <a:latin typeface="Times New Roman"/>
              </a:rPr>
              <a:t>∂η/∂x = Σ(−Aᵢ·kxᵢ·sin(phase)) — 해석적 계산. SP-temporal의 head-sea 가정 없음 → beam/oblique에서도 정확.</a:t>
            </a:r>
          </a:p>
        </p:txBody>
      </p:sp>
      <p:sp>
        <p:nvSpPr>
          <p:cNvPr id="14" name="Rectangle 13"/>
          <p:cNvSpPr/>
          <p:nvPr/>
        </p:nvSpPr>
        <p:spPr>
          <a:xfrm>
            <a:off x="320040" y="6400800"/>
            <a:ext cx="8503920" cy="411480"/>
          </a:xfrm>
          <a:prstGeom prst="rect">
            <a:avLst/>
          </a:prstGeom>
          <a:solidFill>
            <a:srgbClr val="C05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400800"/>
            <a:ext cx="8503920" cy="411480"/>
          </a:xfrm>
          <a:prstGeom prst="rect">
            <a:avLst/>
          </a:prstGeom>
          <a:noFill/>
        </p:spPr>
        <p:txBody>
          <a:bodyPr wrap="none">
            <a:spAutoFit/>
          </a:bodyPr>
          <a:lstStyle/>
          <a:p>
            <a:pPr algn="ctr"/>
            <a:r>
              <a:rPr b="1" sz="1000">
                <a:solidFill>
                  <a:srgbClr val="FFFFFF"/>
                </a:solidFill>
                <a:latin typeface="Times New Roman"/>
              </a:rPr>
              <a:t>SP 유효 영역: Head sea + Tp&gt;7s (1가지 조건만)  |  WaveSplat: 혼합 항로·단주기·beam 모두 robust  |  실 상용 운항: LiDAR + WaveSplat 필수</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pPr/>
            <a:r>
              <a:rPr sz="2200" b="0" i="0">
                <a:latin typeface="Times New Roman"/>
              </a:rPr>
              <a:t>한계와 지금까지의 연구 Contributions</a:t>
            </a:r>
          </a:p>
        </p:txBody>
      </p:sp>
      <p:sp>
        <p:nvSpPr>
          <p:cNvPr id="4" name="TextBox 3"/>
          <p:cNvSpPr txBox="1"/>
          <p:nvPr/>
        </p:nvSpPr>
        <p:spPr>
          <a:xfrm>
            <a:off x="365760" y="868680"/>
            <a:ext cx="4114800" cy="274320"/>
          </a:xfrm>
          <a:prstGeom prst="rect">
            <a:avLst/>
          </a:prstGeom>
          <a:noFill/>
        </p:spPr>
        <p:txBody>
          <a:bodyPr wrap="none">
            <a:spAutoFit/>
          </a:bodyPr>
          <a:lstStyle/>
          <a:p>
            <a:r>
              <a:rPr sz="1200" b="1">
                <a:solidFill>
                  <a:srgbClr val="C05317"/>
                </a:solidFill>
                <a:latin typeface="Times New Roman"/>
              </a:rPr>
              <a:t>한계 (정직한 보고)</a:t>
            </a:r>
          </a:p>
        </p:txBody>
      </p:sp>
      <p:sp>
        <p:nvSpPr>
          <p:cNvPr id="5" name="TextBox 4"/>
          <p:cNvSpPr txBox="1"/>
          <p:nvPr/>
        </p:nvSpPr>
        <p:spPr>
          <a:xfrm>
            <a:off x="365760" y="1188720"/>
            <a:ext cx="4114800" cy="4846320"/>
          </a:xfrm>
          <a:prstGeom prst="rect">
            <a:avLst/>
          </a:prstGeom>
          <a:noFill/>
        </p:spPr>
        <p:txBody>
          <a:bodyPr wrap="square">
            <a:spAutoFit/>
          </a:bodyPr>
          <a:lstStyle/>
          <a:p>
            <a:r>
              <a:rPr sz="1100" b="1" i="0">
                <a:solidFill>
                  <a:srgbClr val="1A1A2E"/>
                </a:solidFill>
                <a:latin typeface="Times New Roman"/>
              </a:rPr>
              <a:t>WaveSplat 추정</a:t>
            </a:r>
          </a:p>
          <a:p>
            <a:r>
              <a:rPr sz="1000" b="0" i="0">
                <a:solidFill>
                  <a:srgbClr val="333333"/>
                </a:solidFill>
                <a:latin typeface="Times New Roman"/>
              </a:rPr>
              <a:t>▪ VR=0.66 → 진폭 ~34% 과소추정 (Adam pruning 부작용)</a:t>
            </a:r>
          </a:p>
          <a:p>
            <a:r>
              <a:rPr sz="1000" b="0" i="0">
                <a:solidFill>
                  <a:srgbClr val="333333"/>
                </a:solidFill>
                <a:latin typeface="Times New Roman"/>
              </a:rPr>
              <a:t>▪ 30+ component crowding 시 방향 분리 어려움 (k-space에서 인접 peak)</a:t>
            </a:r>
          </a:p>
          <a:p>
            <a:r>
              <a:rPr sz="1000" b="0" i="0">
                <a:solidFill>
                  <a:srgbClr val="333333"/>
                </a:solidFill>
                <a:latin typeface="Times New Roman"/>
              </a:rPr>
              <a:t>   → multi-frame 방향 voting / vessel yaw 변화 활용으로 개선 가능</a:t>
            </a:r>
          </a:p>
          <a:p>
            <a:r>
              <a:rPr sz="1000" b="0" i="0">
                <a:solidFill>
                  <a:srgbClr val="333333"/>
                </a:solidFill>
                <a:latin typeface="Times New Roman"/>
              </a:rPr>
              <a:t>▪ Adam momentum의 부호 진동 → 진폭 감쇠 잔존</a:t>
            </a:r>
          </a:p>
          <a:p>
            <a:r>
              <a:rPr sz="1000" b="0" i="0">
                <a:solidFill>
                  <a:srgbClr val="333333"/>
                </a:solidFill>
                <a:latin typeface="Times New Roman"/>
              </a:rPr>
              <a:t>▪ N_true ≥ 30 → 성분 수 표현력 한계</a:t>
            </a:r>
          </a:p>
          <a:p>
            <a:r>
              <a:rPr sz="1000" b="0" i="0">
                <a:solidFill>
                  <a:srgbClr val="333333"/>
                </a:solidFill>
                <a:latin typeface="Times New Roman"/>
              </a:rPr>
              <a:t/>
            </a:r>
          </a:p>
          <a:p>
            <a:r>
              <a:rPr sz="1100" b="1" i="0">
                <a:solidFill>
                  <a:srgbClr val="1A1A2E"/>
                </a:solidFill>
                <a:latin typeface="Times New Roman"/>
              </a:rPr>
              <a:t>Hydrofoil 응용</a:t>
            </a:r>
          </a:p>
          <a:p>
            <a:r>
              <a:rPr sz="1000" b="0" i="0">
                <a:solidFill>
                  <a:srgbClr val="333333"/>
                </a:solidFill>
                <a:latin typeface="Times New Roman"/>
              </a:rPr>
              <a:t>▪ BF4 E2E → 37% (direction error 전파)</a:t>
            </a:r>
          </a:p>
          <a:p>
            <a:r>
              <a:rPr sz="1000" b="0" i="0">
                <a:solidFill>
                  <a:srgbClr val="333333"/>
                </a:solidFill>
                <a:latin typeface="Times New Roman"/>
              </a:rPr>
              <a:t>▪ 2DOF (heave+pitch) — roll은 별도 roll foil 담당</a:t>
            </a:r>
          </a:p>
          <a:p>
            <a:r>
              <a:rPr sz="1000" b="0" i="0">
                <a:solidFill>
                  <a:srgbClr val="333333"/>
                </a:solidFill>
                <a:latin typeface="Times New Roman"/>
              </a:rPr>
              <a:t>▪ 선형 foil model (ventilation 간소화)</a:t>
            </a:r>
          </a:p>
          <a:p>
            <a:r>
              <a:rPr sz="1000" b="0" i="0">
                <a:solidFill>
                  <a:srgbClr val="333333"/>
                </a:solidFill>
                <a:latin typeface="Times New Roman"/>
              </a:rPr>
              <a:t/>
            </a:r>
          </a:p>
          <a:p>
            <a:r>
              <a:rPr sz="1100" b="1" i="0">
                <a:solidFill>
                  <a:srgbClr val="1A1A2E"/>
                </a:solidFill>
                <a:latin typeface="Times New Roman"/>
              </a:rPr>
              <a:t>공통</a:t>
            </a:r>
          </a:p>
          <a:p>
            <a:r>
              <a:rPr sz="1000" b="0" i="0">
                <a:solidFill>
                  <a:srgbClr val="333333"/>
                </a:solidFill>
                <a:latin typeface="Times New Roman"/>
              </a:rPr>
              <a:t>▪ 시뮬레이션 전용 → 실측 검증 필요 (수조 + 실선)</a:t>
            </a:r>
          </a:p>
          <a:p>
            <a:r>
              <a:rPr sz="1000" b="0" i="0">
                <a:solidFill>
                  <a:srgbClr val="333333"/>
                </a:solidFill>
                <a:latin typeface="Times New Roman"/>
              </a:rPr>
              <a:t>▪ 선형 파도 모델 → Stokes-2+ 미반영</a:t>
            </a:r>
          </a:p>
          <a:p>
            <a:r>
              <a:rPr sz="1000" b="0" i="0">
                <a:solidFill>
                  <a:srgbClr val="333333"/>
                </a:solidFill>
                <a:latin typeface="Times New Roman"/>
              </a:rPr>
              <a:t>▪ 해류·바람 변화에 따른 k 천이 미추정</a:t>
            </a:r>
          </a:p>
        </p:txBody>
      </p:sp>
      <p:sp>
        <p:nvSpPr>
          <p:cNvPr id="6" name="TextBox 5"/>
          <p:cNvSpPr txBox="1"/>
          <p:nvPr/>
        </p:nvSpPr>
        <p:spPr>
          <a:xfrm>
            <a:off x="4663440" y="868680"/>
            <a:ext cx="3931920" cy="274320"/>
          </a:xfrm>
          <a:prstGeom prst="rect">
            <a:avLst/>
          </a:prstGeom>
          <a:noFill/>
        </p:spPr>
        <p:txBody>
          <a:bodyPr wrap="none">
            <a:spAutoFit/>
          </a:bodyPr>
          <a:lstStyle/>
          <a:p>
            <a:r>
              <a:rPr sz="1200" b="1">
                <a:solidFill>
                  <a:srgbClr val="C05317"/>
                </a:solidFill>
                <a:latin typeface="Times New Roman"/>
              </a:rPr>
              <a:t>지금까지의 Contributions</a:t>
            </a:r>
          </a:p>
        </p:txBody>
      </p:sp>
      <p:sp>
        <p:nvSpPr>
          <p:cNvPr id="7" name="TextBox 6"/>
          <p:cNvSpPr txBox="1"/>
          <p:nvPr/>
        </p:nvSpPr>
        <p:spPr>
          <a:xfrm>
            <a:off x="4663440" y="1188720"/>
            <a:ext cx="3931920" cy="4846320"/>
          </a:xfrm>
          <a:prstGeom prst="rect">
            <a:avLst/>
          </a:prstGeom>
          <a:noFill/>
        </p:spPr>
        <p:txBody>
          <a:bodyPr wrap="square">
            <a:spAutoFit/>
          </a:bodyPr>
          <a:lstStyle/>
          <a:p>
            <a:r>
              <a:rPr sz="1100" b="1" i="0">
                <a:solidFill>
                  <a:srgbClr val="C05317"/>
                </a:solidFill>
                <a:latin typeface="Times New Roman"/>
              </a:rPr>
              <a:t>[기본 알고리즘]</a:t>
            </a:r>
          </a:p>
          <a:p>
            <a:r>
              <a:rPr sz="1000" b="0" i="0">
                <a:solidFill>
                  <a:srgbClr val="333333"/>
                </a:solidFill>
                <a:latin typeface="Times New Roman"/>
              </a:rPr>
              <a:t>❶ Grid-free spectral 파면 추정 (3DGS의 해양파 버전)</a:t>
            </a:r>
          </a:p>
          <a:p>
            <a:r>
              <a:rPr sz="1000" b="0" i="0">
                <a:solidFill>
                  <a:srgbClr val="333333"/>
                </a:solidFill>
                <a:latin typeface="Times New Roman"/>
              </a:rPr>
              <a:t>❷ Dispersion hard constraint (5N→4N)</a:t>
            </a:r>
          </a:p>
          <a:p>
            <a:r>
              <a:rPr sz="1000" b="0" i="0">
                <a:solidFill>
                  <a:srgbClr val="333333"/>
                </a:solidFill>
                <a:latin typeface="Times New Roman"/>
              </a:rPr>
              <a:t>❸ Adaptive N (pruning + growth + safety rollback)</a:t>
            </a:r>
          </a:p>
          <a:p>
            <a:r>
              <a:rPr sz="1000" b="0" i="0">
                <a:solidFill>
                  <a:srgbClr val="333333"/>
                </a:solidFill>
                <a:latin typeface="Times New Roman"/>
              </a:rPr>
              <a:t>❹ Geometry-aware confidence weighting (cos·1/d)</a:t>
            </a:r>
          </a:p>
          <a:p>
            <a:r>
              <a:rPr sz="1000" b="0" i="0">
                <a:solidFill>
                  <a:srgbClr val="333333"/>
                </a:solidFill>
                <a:latin typeface="Times New Roman"/>
              </a:rPr>
              <a:t>❺ Pre-specified 5-metric panel (cherry-pick 방지)</a:t>
            </a:r>
          </a:p>
          <a:p>
            <a:r>
              <a:rPr sz="1000" b="0" i="0">
                <a:solidFill>
                  <a:srgbClr val="333333"/>
                </a:solidFill>
                <a:latin typeface="Times New Roman"/>
              </a:rPr>
              <a:t>❻ 24-config ETKF sweep (fair tuned baseline)</a:t>
            </a:r>
          </a:p>
          <a:p>
            <a:r>
              <a:rPr sz="1000" b="0" i="0">
                <a:solidFill>
                  <a:srgbClr val="333333"/>
                </a:solidFill>
                <a:latin typeface="Times New Roman"/>
              </a:rPr>
              <a:t>❼ Spectral + Sparse + Forecast 3가지 고유 능력</a:t>
            </a:r>
          </a:p>
          <a:p>
            <a:r>
              <a:rPr sz="1000" b="0" i="0">
                <a:solidFill>
                  <a:srgbClr val="333333"/>
                </a:solidFill>
                <a:latin typeface="Times New Roman"/>
              </a:rPr>
              <a:t/>
            </a:r>
          </a:p>
          <a:p>
            <a:r>
              <a:rPr sz="1100" b="1" i="0">
                <a:solidFill>
                  <a:srgbClr val="C05317"/>
                </a:solidFill>
                <a:latin typeface="Times New Roman"/>
              </a:rPr>
              <a:t>[응용 — Hydrofoil ride control]</a:t>
            </a:r>
          </a:p>
          <a:p>
            <a:r>
              <a:rPr sz="1000" b="0" i="0">
                <a:solidFill>
                  <a:srgbClr val="333333"/>
                </a:solidFill>
                <a:latin typeface="Times New Roman"/>
              </a:rPr>
              <a:t>❽ Dual-actuator wave-preview FF (collective + diff)</a:t>
            </a:r>
          </a:p>
          <a:p>
            <a:r>
              <a:rPr sz="1000" b="0" i="0">
                <a:solidFill>
                  <a:srgbClr val="333333"/>
                </a:solidFill>
                <a:latin typeface="Times New Roman"/>
              </a:rPr>
              <a:t>❾ nRMSE tolerance + preview horizon 설계 지침</a:t>
            </a:r>
          </a:p>
          <a:p>
            <a:r>
              <a:rPr sz="1000" b="0" i="0">
                <a:solidFill>
                  <a:srgbClr val="333333"/>
                </a:solidFill>
                <a:latin typeface="Times New Roman"/>
              </a:rPr>
              <a:t>❿ E2E LiDAR → 추정 → 제어 파이프라인 실증</a:t>
            </a:r>
          </a:p>
          <a:p>
            <a:r>
              <a:rPr sz="1000" b="0" i="0">
                <a:solidFill>
                  <a:srgbClr val="333333"/>
                </a:solidFill>
                <a:latin typeface="Times New Roman"/>
              </a:rPr>
              <a:t>   (BF3에서 GT 대비 92~96% 달성)</a:t>
            </a:r>
          </a:p>
          <a:p>
            <a:pPr>
              <a:spcBef>
                <a:spcPts val="300"/>
              </a:spcBef>
            </a:pPr>
            <a:r>
              <a:rPr b="1" sz="1000">
                <a:solidFill>
                  <a:srgbClr val="C05317"/>
                </a:solidFill>
                <a:latin typeface="Times New Roman"/>
              </a:rPr>
              <a:t>⓫ 단일점 선수 센서 비교 (5-seed multi-scenario) —</a:t>
            </a:r>
            <a:r>
              <a:rPr b="0" sz="950">
                <a:solidFill>
                  <a:srgbClr val="333333"/>
                </a:solidFill>
                <a:latin typeface="Times New Roman"/>
              </a:rPr>
              <a:t> SP-1pt BF3 head sea −13.3%(구조적), beam sea σ/μ=1.5(불안정), SP-temporal −35%(가정 붕괴)</a:t>
            </a:r>
          </a:p>
        </p:txBody>
      </p:sp>
      <p:sp>
        <p:nvSpPr>
          <p:cNvPr id="8" name="Rounded Rectangle 7"/>
          <p:cNvSpPr/>
          <p:nvPr/>
        </p:nvSpPr>
        <p:spPr>
          <a:xfrm>
            <a:off x="365760" y="5989320"/>
            <a:ext cx="8229600" cy="502920"/>
          </a:xfrm>
          <a:prstGeom prst="roundRect">
            <a:avLst/>
          </a:prstGeom>
          <a:solidFill>
            <a:srgbClr val="C05317"/>
          </a:solidFill>
          <a:ln>
            <a:solidFill>
              <a:srgbClr val="C05317"/>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000">
                <a:solidFill>
                  <a:srgbClr val="FFFFFF"/>
                </a:solidFill>
                <a:latin typeface="Times New Roman"/>
              </a:rPr>
              <a:t>WaveSplat: nRMSE 30.1%↓, ~10× faster  |  Hydrofoil: aRMS 11~41%↓, BF3 E2E 92~96%  |  SP-1pt head sea −13.3% (구조적 한계 실증)</a:t>
            </a:r>
          </a:p>
        </p:txBody>
      </p:sp>
    </p:spTree>
  </p:cSld>
  <p:clrMapOvr>
    <a:masterClrMapping/>
  </p:clrMapOvr>
</p:sld>
</file>

<file path=ppt/theme/theme1.xml><?xml version="1.0" encoding="utf-8"?>
<a:theme xmlns:a="http://schemas.openxmlformats.org/drawingml/2006/main" name="디자인 사용자 지정">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테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74641</TotalTime>
  <Words>403</Words>
  <Application>Microsoft Office PowerPoint</Application>
  <PresentationFormat>화면 슬라이드 쇼(4:3)</PresentationFormat>
  <Paragraphs>74</Paragraphs>
  <Slides>6</Slides>
  <Notes>6</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6</vt:i4>
      </vt:variant>
    </vt:vector>
  </HeadingPairs>
  <TitlesOfParts>
    <vt:vector size="12" baseType="lpstr">
      <vt:lpstr>굴림</vt:lpstr>
      <vt:lpstr>Arial</vt:lpstr>
      <vt:lpstr>Arial Black</vt:lpstr>
      <vt:lpstr>Times New Roman</vt:lpstr>
      <vt:lpstr>Wingdings</vt:lpstr>
      <vt:lpstr>디자인 사용자 지정</vt:lpstr>
      <vt:lpstr>논문 주제 선정을 위한 Study  (Tentative) A study of integrated optimization method for Azipod electric propulsion ships   </vt:lpstr>
      <vt:lpstr>Contents</vt:lpstr>
      <vt:lpstr>Contents</vt:lpstr>
      <vt:lpstr>Principle to select a topic for research</vt:lpstr>
      <vt:lpstr>Contents</vt:lpstr>
      <vt:lpstr>Environmental regulations</vt:lpstr>
    </vt:vector>
  </TitlesOfParts>
  <Company>Univ.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슬라이드 1</dc:title>
  <dc:creator>Sogang</dc:creator>
  <cp:lastModifiedBy>박세용</cp:lastModifiedBy>
  <cp:revision>4613</cp:revision>
  <cp:lastPrinted>2021-11-03T00:28:46Z</cp:lastPrinted>
  <dcterms:created xsi:type="dcterms:W3CDTF">2007-03-29T05:53:49Z</dcterms:created>
  <dcterms:modified xsi:type="dcterms:W3CDTF">2026-05-02T18:12:55Z</dcterms:modified>
</cp:coreProperties>
</file>