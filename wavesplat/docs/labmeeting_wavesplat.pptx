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3"/>
    <p:sldId id="273" r:id="rId24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Gaussian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Gaussian (plane wave)으로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Pre-registered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k-grid (81×81, ±4.0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JONSWAP 스펙트럼 (Hasselmann et al. 1973)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Hs, Tₚ로 파라미터화, 해양공학 표준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Gerstner wave (1802): 2차 비선형 정확해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수평 orbital 운동 포함 (trochoid)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Q-constraint: ΣQᵢωᵢAᵢ ≤ 1 (입자 교차 방지)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분산관계: ω = √(g|k|tanh(|k|d))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Newton-Raphson 역변환, 오차 &lt; 10⁻⁶ rad/s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실제 스펙: 1550 nm, 152 ch, 120°×25° FOV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Ray-surface 교차: Möller-Trumbore 알고리즘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삼각형 메시 위 정확한 교차점 계산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프레임당 ~76,000 ray → raydrop → ~50점 반환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Fresnel 반사 (unpolarized, n=1.321 @1550nm):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R(0°) ≈ 2%, R(89°) &gt; 80%  — 수면 광학 정확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거리 noise: σ = 0.02 m (2 cm, 1550nm 표준)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각도 noise: σ = 0.05° (beam divergence)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두 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  <a:r>
              <a:t>Uniform (diffuse):  P = η · R_Fresnel(θ) · cos(θ) / (d/d_ref)²</a:t>
            </a:r>
            <a:br/>
            <a:r>
              <a:t>  → 확산 반사 + 역제곱 감쇠 + Lambertian 투영</a:t>
            </a:r>
            <a:br/>
            <a:br/>
            <a:r>
              <a:t>Slope (specular):  반사각 r = d − 2(d·n)n 에서</a:t>
            </a:r>
            <a:br/>
            <a:r>
              <a:t>  retroreflection 조건 r·(−d) ≥ cos(5°) 일 때만 반환</a:t>
            </a:r>
            <a:br/>
            <a:r>
              <a:t>  → 파면 기울기에 따라 반환점 분포가 달라짐 (물리적)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53035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분산관계 deep/shallow 극한 해석해 일치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Gerstner 단일파 RMSE &lt; 10⁻¹⁰ m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Fresnel R(0°) = ((n−1)/(n+1))² 정확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Q-constraint 위반 없음 (JONSWAP 전체)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파면 법선 항상 상향 (nz &gt; 0)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Raydrop 확률 ∈ [0,1], 단조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Pre-registered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조파수조 실험 검증 계획 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Gaussian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Pre-registered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수조 실험 검증 (조파수조 + LiDAR)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GT: 파고계/용량식 센서로 ground truth 확보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Sim-to-Real gap 정량화 (spray, multi-path 등)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τ_R Sensitivity — Residual Growth Threshold</a:t>
            </a:r>
          </a:p>
        </p:txBody>
      </p:sp>
      <p:pic>
        <p:nvPicPr>
          <p:cNvPr id="4" name="Picture 3" descr="fig_tau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315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• τ_R=0.05m이 최적 (avg nRMSE 0.2114)</a:t>
            </a:r>
          </a:p>
          <a:p>
            <a:pPr>
              <a:defRPr sz="1400"/>
            </a:pPr>
            <a:r>
              <a:t>• [0.05, 0.15]m 범위에서 차이 최대 1.6% → robust</a:t>
            </a:r>
          </a:p>
          <a:p>
            <a:pPr>
              <a:defRPr sz="1400"/>
            </a:pPr>
            <a:r>
              <a:t>• τ_R=0.02m: 과성장 (+3.3%, BF3 2comp에서 최대 75% 악화)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GPR + Confidence Ablation — C3 Novelty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질문: Confidence weighting은 WaveSplat 고유 효과인가, 범용 기법인가?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4-way 비교 (10 uniform episodes):</a:t>
            </a:r>
          </a:p>
          <a:p>
            <a:pPr>
              <a:defRPr sz="1400"/>
            </a:pPr>
            <a:r>
              <a:t>  • WaveSplat + confidence:    0.2325</a:t>
            </a:r>
          </a:p>
          <a:p>
            <a:pPr>
              <a:defRPr sz="1400"/>
            </a:pPr>
            <a:r>
              <a:t>  • WaveSplat − confidence:    0.2308  (−0.7%)</a:t>
            </a:r>
          </a:p>
          <a:p>
            <a:pPr>
              <a:defRPr sz="1400"/>
            </a:pPr>
            <a:r>
              <a:t>  • GPR (표준):                         0.2756</a:t>
            </a:r>
          </a:p>
          <a:p>
            <a:pPr>
              <a:defRPr sz="1400"/>
            </a:pPr>
            <a:r>
              <a:t>  • GPR + confidence:              0.2757  (&lt;0.01% 차이!)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결론:</a:t>
            </a:r>
          </a:p>
          <a:p>
            <a:pPr>
              <a:defRPr sz="1400"/>
            </a:pPr>
            <a:r>
              <a:t>  → GPR에 confidence 적용해도 효과 없음 (&lt;0.01%)</a:t>
            </a:r>
          </a:p>
          <a:p>
            <a:pPr>
              <a:defRPr sz="1400"/>
            </a:pPr>
            <a:r>
              <a:t>  → Confidence의 14.5% 효과는 spectral parameterization과의 상호작용</a:t>
            </a:r>
          </a:p>
          <a:p>
            <a:pPr>
              <a:defRPr sz="1400"/>
            </a:pPr>
            <a:r>
              <a:t>  → C3 (Fresnel confidence) novelty 유효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