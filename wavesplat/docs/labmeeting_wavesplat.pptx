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910" r:id="rId1"/>
  </p:sldMasterIdLst>
  <p:notesMasterIdLst>
    <p:notesMasterId r:id="rId8"/>
  </p:notesMasterIdLst>
  <p:handoutMasterIdLst>
    <p:handoutMasterId r:id="rId9"/>
  </p:handoutMasterIdLst>
  <p:sldIdLst>
    <p:sldId id="256" r:id="rId7"/>
    <p:sldId id="257" r:id="rId6"/>
    <p:sldId id="258" r:id="rId5"/>
    <p:sldId id="259" r:id="rId4"/>
    <p:sldId id="260" r:id="rId3"/>
    <p:sldId id="261" r:id="rId2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</p:sldIdLst>
  <p:sldSz cx="9144000" cy="6858000" type="screen4x3"/>
  <p:notesSz cx="9926638" cy="6797675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eo Jeonghwa" initials="SJ" lastIdx="13" clrIdx="0">
    <p:extLst>
      <p:ext uri="{19B8F6BF-5375-455C-9EA6-DF929625EA0E}">
        <p15:presenceInfo xmlns:p15="http://schemas.microsoft.com/office/powerpoint/2012/main" userId="9aa9fa2553afebd3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3366FF"/>
    <a:srgbClr val="FFFFFF"/>
    <a:srgbClr val="00B0F0"/>
    <a:srgbClr val="E7F9FF"/>
    <a:srgbClr val="C5F3FF"/>
    <a:srgbClr val="FFCCCC"/>
    <a:srgbClr val="FFCCFF"/>
    <a:srgbClr val="00CC66"/>
    <a:srgbClr val="F7F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799B23B-EC83-4686-B30A-512413B5E67A}" styleName="밝은 스타일 3 - 강조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327F97BB-C833-4FB7-BDE5-3F7075034690}" styleName="테마 스타일 2 - 강조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FD0F851-EC5A-4D38-B0AD-8093EC10F338}" styleName="밝은 스타일 1 - 강조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17292A2E-F333-43FB-9621-5CBBE7FDCDCB}" styleName="밝은 스타일 2 - 강조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9631B5-78F2-41C9-869B-9F39066F8104}" styleName="보통 스타일 3 - 강조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1E171933-4619-4E11-9A3F-F7608DF75F80}" styleName="보통 스타일 1 - 강조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보통 스타일 3 - 강조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518" autoAdjust="0"/>
    <p:restoredTop sz="75338" autoAdjust="0"/>
  </p:normalViewPr>
  <p:slideViewPr>
    <p:cSldViewPr showGuides="1">
      <p:cViewPr varScale="1">
        <p:scale>
          <a:sx n="62" d="100"/>
          <a:sy n="62" d="100"/>
        </p:scale>
        <p:origin x="2424" y="5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973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78" d="100"/>
          <a:sy n="78" d="100"/>
        </p:scale>
        <p:origin x="72" y="85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6.xml"/><Relationship Id="rId3" Type="http://schemas.openxmlformats.org/officeDocument/2006/relationships/slide" Target="slides/slide5.xml"/><Relationship Id="rId4" Type="http://schemas.openxmlformats.org/officeDocument/2006/relationships/slide" Target="slides/slide4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commentAuthors" Target="commentAuthors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302625" cy="3402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621696" y="0"/>
            <a:ext cx="4302625" cy="3402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17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6456324"/>
            <a:ext cx="4302625" cy="3402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717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621696" y="6456324"/>
            <a:ext cx="4302625" cy="3402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79659AD6-AE32-41CA-82A0-2598C3F3898A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28542345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302625" cy="3402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621696" y="0"/>
            <a:ext cx="4302625" cy="3402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09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235127" y="518517"/>
            <a:ext cx="3398838" cy="254952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92201" y="3228705"/>
            <a:ext cx="7942238" cy="30591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456324"/>
            <a:ext cx="4302625" cy="3402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621696" y="6456324"/>
            <a:ext cx="4302625" cy="3402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굴림" pitchFamily="50" charset="-127"/>
                <a:ea typeface="굴림" pitchFamily="50" charset="-127"/>
              </a:defRPr>
            </a:lvl1pPr>
          </a:lstStyle>
          <a:p>
            <a:pPr>
              <a:defRPr/>
            </a:pPr>
            <a:fld id="{7CF72608-E96E-40E0-AA36-7D967661FE69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2645129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4">
            <a:extLst>
              <a:ext uri="{FF2B5EF4-FFF2-40B4-BE49-F238E27FC236}">
                <a16:creationId xmlns:a16="http://schemas.microsoft.com/office/drawing/2014/main" id="{C07C8241-B47D-4265-B8DC-7A83560CC12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054225"/>
            <a:ext cx="9144000" cy="2232025"/>
          </a:xfrm>
          <a:prstGeom prst="rect">
            <a:avLst/>
          </a:prstGeom>
          <a:solidFill>
            <a:srgbClr val="B2B2B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72D8179D-E436-4C76-ADBD-8F3423C15BD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125663"/>
            <a:ext cx="9144000" cy="208915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eaLnBrk="1" hangingPunct="1"/>
            <a:endParaRPr lang="ko-KR" altLang="en-US"/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61D063F3-1108-4154-8347-0AB06E35DA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0" name="부제목 2">
            <a:extLst>
              <a:ext uri="{FF2B5EF4-FFF2-40B4-BE49-F238E27FC236}">
                <a16:creationId xmlns:a16="http://schemas.microsoft.com/office/drawing/2014/main" id="{DEB2E69D-3CDF-48CA-9224-6B58E03440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4293096"/>
            <a:ext cx="6400800" cy="1345704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6032723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675B215-C573-4168-B166-EB28B28A1A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28600" indent="-228600">
              <a:buFont typeface="Wingdings" panose="05000000000000000000" pitchFamily="2" charset="2"/>
              <a:buChar char="§"/>
              <a:defRPr/>
            </a:lvl1pPr>
            <a:lvl2pPr marL="685800" indent="-228600">
              <a:buFont typeface="Times New Roman" panose="02020603050405020304" pitchFamily="18" charset="0"/>
              <a:buChar char="-"/>
              <a:defRPr/>
            </a:lvl2pPr>
          </a:lstStyle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BB804C4-9697-471E-8BC1-E0A58D65DD2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37338"/>
            <a:ext cx="1403648" cy="242969"/>
          </a:xfrm>
        </p:spPr>
        <p:txBody>
          <a:bodyPr/>
          <a:lstStyle/>
          <a:p>
            <a:r>
              <a:rPr lang="en-US" altLang="ko-KR" dirty="0"/>
              <a:t>April xx, 2023</a:t>
            </a:r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64C737C-4C7F-4C5A-8F42-207CA8A31C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03648" y="6627244"/>
            <a:ext cx="5976664" cy="240018"/>
          </a:xfrm>
        </p:spPr>
        <p:txBody>
          <a:bodyPr/>
          <a:lstStyle>
            <a:lvl1pPr>
              <a:defRPr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8">
            <a:extLst>
              <a:ext uri="{FF2B5EF4-FFF2-40B4-BE49-F238E27FC236}">
                <a16:creationId xmlns:a16="http://schemas.microsoft.com/office/drawing/2014/main" id="{66223D9C-B720-4BD8-9066-5AAD180ABF23}"/>
              </a:ext>
            </a:extLst>
          </p:cNvPr>
          <p:cNvSpPr txBox="1">
            <a:spLocks/>
          </p:cNvSpPr>
          <p:nvPr userDrawn="1"/>
        </p:nvSpPr>
        <p:spPr>
          <a:xfrm>
            <a:off x="4067944" y="6376074"/>
            <a:ext cx="899592" cy="238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r" rtl="0" fontAlgn="base" latinLnBrk="1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chemeClr val="tx1">
                    <a:tint val="75000"/>
                  </a:schemeClr>
                </a:solidFill>
                <a:latin typeface="굴림" charset="-127"/>
                <a:ea typeface="굴림" charset="-127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굴림" charset="-127"/>
                <a:ea typeface="굴림" charset="-127"/>
                <a:cs typeface="+mn-cs"/>
              </a:defRPr>
            </a:lvl9pPr>
          </a:lstStyle>
          <a:p>
            <a:pPr>
              <a:defRPr/>
            </a:pPr>
            <a:r>
              <a:rPr lang="en-US" altLang="ko-KR" dirty="0"/>
              <a:t>-</a:t>
            </a:r>
            <a:fld id="{4B06D9A7-2E35-4533-98BA-70A08AF23C1B}" type="slidenum">
              <a:rPr lang="en-US" altLang="ko-KR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>
                <a:defRPr/>
              </a:pPr>
              <a:t>‹#›</a:t>
            </a:fld>
            <a:r>
              <a:rPr lang="en-US" altLang="ko-KR" dirty="0">
                <a:latin typeface="Times New Roman" panose="02020603050405020304" pitchFamily="18" charset="0"/>
                <a:cs typeface="Times New Roman" panose="02020603050405020304" pitchFamily="18" charset="0"/>
              </a:rPr>
              <a:t>/xx</a:t>
            </a:r>
            <a:r>
              <a:rPr lang="en-US" altLang="ko-KR" dirty="0"/>
              <a:t>-</a:t>
            </a:r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F186BCE-BF40-49B6-9640-B62E9209F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1256926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gi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1B40BB9-443F-4905-A0E2-B5F7F3628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8" y="1"/>
            <a:ext cx="8191822" cy="7816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72AD3A9-72B8-461E-95E0-A034CE0374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3528" y="980732"/>
            <a:ext cx="8191822" cy="51962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714FE15-D5B1-472D-8C03-1866CA6B95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637339"/>
            <a:ext cx="1403648" cy="2159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altLang="ko-KR" dirty="0"/>
              <a:t>April xx, 2023</a:t>
            </a:r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8D6D48-DE6D-44CE-A7CA-EE6525099E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03648" y="6627244"/>
            <a:ext cx="6212110" cy="24001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ko-KR" altLang="en-US" dirty="0"/>
          </a:p>
        </p:txBody>
      </p:sp>
      <p:sp>
        <p:nvSpPr>
          <p:cNvPr id="7" name="Line 17">
            <a:extLst>
              <a:ext uri="{FF2B5EF4-FFF2-40B4-BE49-F238E27FC236}">
                <a16:creationId xmlns:a16="http://schemas.microsoft.com/office/drawing/2014/main" id="{ACEA0B10-CC48-4B92-B94F-3F5D3EA26944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0" y="785813"/>
            <a:ext cx="9144000" cy="0"/>
          </a:xfrm>
          <a:prstGeom prst="line">
            <a:avLst/>
          </a:prstGeom>
          <a:noFill/>
          <a:ln w="38100">
            <a:solidFill>
              <a:srgbClr val="B2B2B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8" name="Line 18">
            <a:extLst>
              <a:ext uri="{FF2B5EF4-FFF2-40B4-BE49-F238E27FC236}">
                <a16:creationId xmlns:a16="http://schemas.microsoft.com/office/drawing/2014/main" id="{572C12F0-8479-479A-ABC0-316A3C83A05A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0" y="6623050"/>
            <a:ext cx="7380312" cy="0"/>
          </a:xfrm>
          <a:prstGeom prst="line">
            <a:avLst/>
          </a:prstGeom>
          <a:noFill/>
          <a:ln w="38100">
            <a:solidFill>
              <a:srgbClr val="B2B2B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9" name="Rectangle 19">
            <a:extLst>
              <a:ext uri="{FF2B5EF4-FFF2-40B4-BE49-F238E27FC236}">
                <a16:creationId xmlns:a16="http://schemas.microsoft.com/office/drawing/2014/main" id="{77CD4FEF-74D3-4DAE-AE4D-9E663E34AEF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0"/>
            <a:ext cx="179388" cy="208915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eaLnBrk="1" hangingPunct="1">
              <a:defRPr/>
            </a:pPr>
            <a:endParaRPr lang="ko-KR" altLang="en-US"/>
          </a:p>
        </p:txBody>
      </p:sp>
      <p:sp>
        <p:nvSpPr>
          <p:cNvPr id="10" name="Rectangle 20">
            <a:extLst>
              <a:ext uri="{FF2B5EF4-FFF2-40B4-BE49-F238E27FC236}">
                <a16:creationId xmlns:a16="http://schemas.microsoft.com/office/drawing/2014/main" id="{471CF3CB-1B69-427E-ACF8-3C89AC11B6F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1928813"/>
            <a:ext cx="69850" cy="467995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charset="-127"/>
                <a:ea typeface="굴림" charset="-127"/>
              </a:defRPr>
            </a:lvl9pPr>
          </a:lstStyle>
          <a:p>
            <a:pPr eaLnBrk="1" hangingPunct="1">
              <a:defRPr/>
            </a:pPr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7EFEB5F-9136-46CD-A7E7-DD92C8EE282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7409361" y="6320474"/>
            <a:ext cx="512878" cy="5328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8B6923D-4463-4616-B13E-2F75DC18C637}"/>
              </a:ext>
            </a:extLst>
          </p:cNvPr>
          <p:cNvSpPr txBox="1"/>
          <p:nvPr userDrawn="1"/>
        </p:nvSpPr>
        <p:spPr>
          <a:xfrm>
            <a:off x="7852389" y="6513991"/>
            <a:ext cx="1366080" cy="3513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100"/>
              </a:lnSpc>
            </a:pPr>
            <a:r>
              <a:rPr lang="en-US" altLang="ko-KR" sz="24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  <a:cs typeface="Times New Roman" panose="02020603050405020304" pitchFamily="18" charset="0"/>
              </a:rPr>
              <a:t>SNUTT</a:t>
            </a:r>
            <a:endParaRPr lang="en-US" altLang="ko-KR" sz="1600" b="1" dirty="0">
              <a:solidFill>
                <a:schemeClr val="accent1">
                  <a:lumMod val="75000"/>
                </a:schemeClr>
              </a:solidFill>
              <a:latin typeface="Arial Black" panose="020B0A04020102020204" pitchFamily="34" charset="0"/>
              <a:cs typeface="Times New Roman" panose="02020603050405020304" pitchFamily="18" charset="0"/>
            </a:endParaRPr>
          </a:p>
          <a:p>
            <a:pPr algn="ctr"/>
            <a:r>
              <a:rPr lang="en-US" altLang="ko-KR" sz="8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Seoul National University</a:t>
            </a:r>
          </a:p>
          <a:p>
            <a:pPr algn="ctr"/>
            <a:r>
              <a:rPr lang="en-US" altLang="ko-KR" sz="80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Towing Tank</a:t>
            </a:r>
            <a:endParaRPr lang="ko-KR" altLang="en-US" sz="800" dirty="0"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66288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1" r:id="rId1"/>
    <p:sldLayoutId id="2147483912" r:id="rId2"/>
  </p:sldLayoutIdLst>
  <p:hf sldNum="0" hd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sz="3600" b="1" i="0"/>
              <a:t>WaveSplat</a:t>
            </a:r>
          </a:p>
          <a:p>
            <a:pPr/>
            <a:r>
              <a:rPr sz="1800" b="0" i="0"/>
              <a:t>Grid-Free Spectral Wave Field Estimation from Sparse Shipboard LiDAR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sz="1800" b="1" i="0"/>
              <a:t>박세용 (Saeyong Park)</a:t>
            </a:r>
          </a:p>
          <a:p>
            <a:pPr/>
            <a:r>
              <a:rPr sz="1300" b="0" i="0"/>
              <a:t>Avikus · HD현대  |  서울대학교 조선해양공학과</a:t>
            </a:r>
          </a:p>
          <a:p>
            <a:pPr/>
            <a:r>
              <a:rPr sz="1200" b="0" i="1"/>
              <a:t>Lab Meeting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200" b="0" i="0"/>
              <a:t>Contents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80160" y="1188720"/>
            <a:ext cx="6583680" cy="658368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000" b="1">
                <a:solidFill>
                  <a:srgbClr val="FFFFFF"/>
                </a:solidFill>
              </a:rPr>
              <a:t>  I.    Introduction</a:t>
            </a:r>
          </a:p>
          <a:p>
            <a:r>
              <a:rPr sz="1200">
                <a:solidFill>
                  <a:srgbClr val="FFE5CC"/>
                </a:solidFill>
              </a:rPr>
              <a:t>        실선 LiDAR 관측 + 문제 정의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2011680"/>
            <a:ext cx="6583680" cy="658368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000" b="1">
                <a:solidFill>
                  <a:srgbClr val="FFFFFF"/>
                </a:solidFill>
              </a:rPr>
              <a:t>  II.    Methodology</a:t>
            </a:r>
          </a:p>
          <a:p>
            <a:r>
              <a:rPr sz="1200">
                <a:solidFill>
                  <a:srgbClr val="FFE5CC"/>
                </a:solidFill>
              </a:rPr>
              <a:t>        WaveSplat 알고리즘 + 시뮬레이션 신뢰성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80160" y="2834639"/>
            <a:ext cx="6583680" cy="658368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000" b="1">
                <a:solidFill>
                  <a:srgbClr val="FFFFFF"/>
                </a:solidFill>
              </a:rPr>
              <a:t>  III.    Results</a:t>
            </a:r>
          </a:p>
          <a:p>
            <a:r>
              <a:rPr sz="1200">
                <a:solidFill>
                  <a:srgbClr val="FFE5CC"/>
                </a:solidFill>
              </a:rPr>
              <a:t>        5-Metric 평가 + Ablation + 강화 baseline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0" y="3657600"/>
            <a:ext cx="6583680" cy="658368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2000" b="1">
                <a:solidFill>
                  <a:srgbClr val="FFFFFF"/>
                </a:solidFill>
              </a:rPr>
              <a:t>  IV.    Application</a:t>
            </a:r>
          </a:p>
          <a:p>
            <a:r>
              <a:rPr sz="1200">
                <a:solidFill>
                  <a:srgbClr val="FFE5CC"/>
                </a:solidFill>
              </a:rPr>
              <a:t>        Hydrofoil 응용 + 한계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 b="0" i="0"/>
              <a:t>Real Sea Trial — 실선 LiDAR 관측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05317"/>
                </a:solidFill>
              </a:rPr>
              <a:t>Falcon K1 LiDAR Live Recording — Florida Intracoastal</a:t>
            </a:r>
          </a:p>
        </p:txBody>
      </p:sp>
      <p:pic>
        <p:nvPicPr>
          <p:cNvPr id="5" name="Picture 4" descr="sea_trial_c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4297680" cy="2560320"/>
          </a:xfrm>
          <a:prstGeom prst="rect">
            <a:avLst/>
          </a:prstGeom>
        </p:spPr>
      </p:pic>
      <p:pic>
        <p:nvPicPr>
          <p:cNvPr id="6" name="Picture 5" descr="sea_trial_lid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371600"/>
            <a:ext cx="3657600" cy="2560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02336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</a:rPr>
              <a:t>선박 외부 카메라 (BF~2-3)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40233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</a:rPr>
              <a:t>Falcon K1 live point cloud (Rerun)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05317"/>
                </a:solidFill>
              </a:rPr>
              <a:t>관측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0"/>
            <a:ext cx="82296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33333"/>
                </a:solidFill>
              </a:rPr>
              <a:t>▪ LiDAR 점군이 매우 sparse — 수면 returns가 거리·각도에 따라 비균질 분포</a:t>
            </a:r>
          </a:p>
          <a:p>
            <a:r>
              <a:rPr sz="1200" b="0">
                <a:solidFill>
                  <a:srgbClr val="333333"/>
                </a:solidFill>
              </a:rPr>
              <a:t>▪ 일부 영역은 specular dropout으로 returns 부재 — Fresnel 반사 모델이 본질적 한계</a:t>
            </a:r>
          </a:p>
          <a:p>
            <a:r>
              <a:rPr sz="1200" b="0">
                <a:solidFill>
                  <a:srgbClr val="333333"/>
                </a:solidFill>
              </a:rPr>
              <a:t>▪ 카메라로 보이는 wake·잔파는 LiDAR에는 1~2 점으로만 나타남 → 격자 보간으론 형상 복원 불가</a:t>
            </a:r>
          </a:p>
          <a:p>
            <a:r>
              <a:rPr sz="1200" b="1">
                <a:solidFill>
                  <a:srgbClr val="C05317"/>
                </a:solidFill>
              </a:rPr>
              <a:t>→ 본 연구의 출발점: 이 데이터에서 연속적·물리적으로 타당한 파도장을 어떻게 실시간 복원할 것인가?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 b="0" i="0"/>
              <a:t>Problem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05317"/>
                </a:solidFill>
              </a:rPr>
              <a:t>선박 전방 파랑 예측이 필요한 이유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</a:rPr>
              <a:t>▪ 자율운항 선박의 안전 · 승차감 · 에너지 효율</a:t>
            </a:r>
          </a:p>
          <a:p>
            <a:r>
              <a:rPr sz="1300" b="0">
                <a:solidFill>
                  <a:srgbClr val="333333"/>
                </a:solidFill>
              </a:rPr>
              <a:t>▪ 하이드로포일 선박: 파랑 preview → feedforward 제어</a:t>
            </a:r>
          </a:p>
          <a:p>
            <a:r>
              <a:rPr sz="1300" b="0">
                <a:solidFill>
                  <a:srgbClr val="333333"/>
                </a:solidFill>
              </a:rPr>
              <a:t>▪ 해상 크레인: 파고 예측 → 보상 제어</a:t>
            </a:r>
          </a:p>
          <a:p>
            <a:r>
              <a:rPr sz="1300" b="0">
                <a:solidFill>
                  <a:srgbClr val="333333"/>
                </a:solidFill>
              </a:rPr>
              <a:t>▪ 해양 구조물: 파랑 하중 예측 → 구조 안전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83464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05317"/>
                </a:solidFill>
              </a:rPr>
              <a:t>LiDAR 관측의 본질적 어려움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</a:rPr>
              <a:t>▪ Sparse: 200×150 m 영역에서 프레임당 ~50 점</a:t>
            </a:r>
          </a:p>
          <a:p>
            <a:r>
              <a:rPr sz="1300" b="0">
                <a:solidFill>
                  <a:srgbClr val="333333"/>
                </a:solidFill>
              </a:rPr>
              <a:t>▪ Heterogeneous: 근거리 조밀 ↔ 원거리 희박</a:t>
            </a:r>
          </a:p>
          <a:p>
            <a:r>
              <a:rPr sz="1300" b="0">
                <a:solidFill>
                  <a:srgbClr val="333333"/>
                </a:solidFill>
              </a:rPr>
              <a:t>▪ Noisy: beam divergence + specular dropout</a:t>
            </a:r>
          </a:p>
          <a:p>
            <a:r>
              <a:rPr sz="1300" b="0">
                <a:solidFill>
                  <a:srgbClr val="333333"/>
                </a:solidFill>
              </a:rPr>
              <a:t>▪ 10 Hz 실시간 처리 필요 (&lt; 100 ms/frame)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029200"/>
            <a:ext cx="8229600" cy="777240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500" b="1">
                <a:solidFill>
                  <a:srgbClr val="FFFFFF"/>
                </a:solidFill>
              </a:rPr>
              <a:t>목표: 희소 LiDAR 관측으로부터 연속적이고 물리적으로 타당한 파도장을 실시간 복원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 b="0" i="0"/>
              <a:t>기존 방법의 한계 — Prior Art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8229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571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Method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Approach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Key Limitation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000" b="1"/>
                        <a:t>ETKF-grid (Desmars 2020)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/>
                        <a:t>Ensemble Kalman Filter on spatial grid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/>
                        <a:t>격자 보간 → aliasing · O(Nₑ G² log G²) · 하이퍼파라미터 민감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000"/>
                        <a:t>GPR (RBF/Matérn)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Gaussian Process Regression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O(M³) · 시간 모델 없음 · 단순 공간 보간 → zero-predictor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000"/>
                        <a:t>PINN / FNO (Ehlers 2024)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Neural Network 기반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학습 분포 의존 · LiDAR 불규칙 샘플링과 궁합 나쁨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A1A2E"/>
                </a:solidFill>
              </a:rPr>
              <a:t>공통 문제: 격자(grid) 의존 → 희소 관측에서 aliasing &amp; 불필요한 계산</a:t>
            </a:r>
          </a:p>
          <a:p>
            <a:r>
              <a:rPr sz="1400" b="0">
                <a:solidFill>
                  <a:srgbClr val="1A1A2E"/>
                </a:solidFill>
              </a:rPr>
              <a:t/>
            </a:r>
          </a:p>
          <a:p>
            <a:r>
              <a:rPr sz="1600" b="1">
                <a:solidFill>
                  <a:srgbClr val="C05317"/>
                </a:solidFill>
              </a:rPr>
              <a:t>→ Grid-free representation이 필요하다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800" b="0" i="0"/>
              <a:t>WaveSplat의 Novelty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05317"/>
                </a:solidFill>
              </a:rPr>
              <a:t>핵심 아이디어: 파도장을 N개의 spectral component (plane wave)로 직접 파라미터화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8229600" cy="5943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A1A2E"/>
                </a:solidFill>
              </a:rPr>
              <a:t>z(x, y, t) = Σᵢ wᵢ · cos(kx,ᵢ·x + ky,ᵢ·y − ωᵢt + φᵢ)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</a:rPr>
              <a:t>▪ ❶ Grid-free spectral representation — 3D Gaussian Splatting의 해양파 버전</a:t>
            </a:r>
          </a:p>
          <a:p>
            <a:r>
              <a:rPr sz="1300" b="0">
                <a:solidFill>
                  <a:srgbClr val="333333"/>
                </a:solidFill>
              </a:rPr>
              <a:t>▪ ❷ Dispersion hard constraint: ωᵢ = √(g·|kᵢ|·tanh(|kᵢ|·d))  →  5N → 4N 파라미터</a:t>
            </a:r>
          </a:p>
          <a:p>
            <a:r>
              <a:rPr sz="1300" b="0">
                <a:solidFill>
                  <a:srgbClr val="333333"/>
                </a:solidFill>
              </a:rPr>
              <a:t>▪ ❸ Adaptive model order: energy pruning + residual growth + safety rollback</a:t>
            </a:r>
          </a:p>
          <a:p>
            <a:r>
              <a:rPr sz="1300" b="0">
                <a:solidFill>
                  <a:srgbClr val="333333"/>
                </a:solidFill>
              </a:rPr>
              <a:t>▪ ❹ Geometry-aware confidence weighting: cⱼ = cos(θⱼ)/(dⱼ/d_ref) — LiDAR 관측 품질 모델링</a:t>
            </a:r>
          </a:p>
          <a:p>
            <a:r>
              <a:rPr sz="1300" b="0">
                <a:solidFill>
                  <a:srgbClr val="333333"/>
                </a:solidFill>
              </a:rPr>
              <a:t>▪ ❺ Pre-specified 5-metric evaluation panel — zero-predictor 구분 가능</a:t>
            </a:r>
          </a:p>
          <a:p>
            <a:r>
              <a:rPr sz="1300" b="0">
                <a:solidFill>
                  <a:srgbClr val="333333"/>
                </a:solidFill>
              </a:rPr>
              <a:t>▪ ❻ 24-config ETKF hyperparameter sweep — 공정한 tuned baseline 제공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600" b="0" i="0"/>
              <a:t>Methodology (1): Forward &amp; Observation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05317"/>
                </a:solidFill>
              </a:rPr>
              <a:t>Forward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4114800" cy="1920240"/>
          </a:xfrm>
          <a:prstGeom prst="rect">
            <a:avLst/>
          </a:prstGeom>
          <a:solidFill>
            <a:srgbClr val="F8F8FA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200">
                <a:solidFill>
                  <a:srgbClr val="333333"/>
                </a:solidFill>
              </a:rPr>
              <a:t>z(x,y,t) = Σᵢ wᵢ cos(kx,ᵢx + ky,ᵢy − ωᵢt + φᵢ)</a:t>
            </a:r>
          </a:p>
          <a:p>
            <a:r>
              <a:rPr sz="1200">
                <a:solidFill>
                  <a:srgbClr val="333333"/>
                </a:solidFill>
              </a:rPr>
              <a:t>ωᵢ = √(g|kᵢ|tanh(|kᵢ|d))   ← hard constraint</a:t>
            </a:r>
          </a:p>
          <a:p>
            <a:r>
              <a:rPr sz="1200">
                <a:solidFill>
                  <a:srgbClr val="333333"/>
                </a:solidFill>
              </a:rPr>
              <a:t/>
            </a:r>
          </a:p>
          <a:p>
            <a:r>
              <a:rPr sz="1200">
                <a:solidFill>
                  <a:srgbClr val="333333"/>
                </a:solidFill>
              </a:rPr>
              <a:t>파라미터: {wᵢ, kx,ᵢ, ky,ᵢ, φᵢ}  → 4N</a:t>
            </a:r>
          </a:p>
          <a:p>
            <a:r>
              <a:rPr sz="1200">
                <a:solidFill>
                  <a:srgbClr val="333333"/>
                </a:solidFill>
              </a:rPr>
              <a:t>(ω는 k로부터 결정 — 자유변수 아님)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960120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05317"/>
                </a:solidFill>
              </a:rPr>
              <a:t>Observation Model — Geometry-aware Confidence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0" y="1325880"/>
            <a:ext cx="3749039" cy="1920240"/>
          </a:xfrm>
          <a:prstGeom prst="rect">
            <a:avLst/>
          </a:prstGeom>
          <a:solidFill>
            <a:srgbClr val="F8F8FA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333333"/>
                </a:solidFill>
              </a:rPr>
              <a:t>cⱼ = cos(θⱼ) / (dⱼ / d_ref)</a:t>
            </a:r>
          </a:p>
          <a:p>
            <a:r>
              <a:rPr sz="1100">
                <a:solidFill>
                  <a:srgbClr val="333333"/>
                </a:solidFill>
              </a:rPr>
              <a:t/>
            </a:r>
          </a:p>
          <a:p>
            <a:r>
              <a:rPr sz="1100">
                <a:solidFill>
                  <a:srgbClr val="333333"/>
                </a:solidFill>
              </a:rPr>
              <a:t>L = (1/M)Σⱼ cⱼ(zⱼ − ẑⱼ)²</a:t>
            </a:r>
          </a:p>
          <a:p>
            <a:r>
              <a:rPr sz="1100">
                <a:solidFill>
                  <a:srgbClr val="333333"/>
                </a:solidFill>
              </a:rPr>
              <a:t>   + λ₁ Σ|wᵢ|     (sparsity)</a:t>
            </a:r>
          </a:p>
          <a:p>
            <a:r>
              <a:rPr sz="1100">
                <a:solidFill>
                  <a:srgbClr val="333333"/>
                </a:solidFill>
              </a:rPr>
              <a:t>   + λs Σ(Δwᵢ)²  (smoothness)</a:t>
            </a:r>
          </a:p>
          <a:p>
            <a:r>
              <a:rPr sz="1100">
                <a:solidFill>
                  <a:srgbClr val="333333"/>
                </a:solidFill>
              </a:rPr>
              <a:t/>
            </a:r>
          </a:p>
          <a:p>
            <a:r>
              <a:rPr sz="1100">
                <a:solidFill>
                  <a:srgbClr val="333333"/>
                </a:solidFill>
              </a:rPr>
              <a:t>θⱼ: incidence angle, dⱼ: range, d_ref=125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2044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A1A2E"/>
                </a:solidFill>
              </a:rPr>
              <a:t>물리적 의미: dispersion 제약은 '이 파도가 실제 중력파'임을 보장.</a:t>
            </a:r>
          </a:p>
          <a:p>
            <a:r>
              <a:rPr sz="1200" b="0">
                <a:solidFill>
                  <a:srgbClr val="333333"/>
                </a:solidFill>
              </a:rPr>
              <a:t>ω를 자유롭게 놓으면 nRMSE는 낮아지지만 1초 뒤 예측이 발산 (A1 ablation에서 확인).</a:t>
            </a:r>
          </a:p>
          <a:p>
            <a:r>
              <a:rPr sz="1200" b="0">
                <a:solidFill>
                  <a:srgbClr val="333333"/>
                </a:solidFill>
              </a:rPr>
              <a:t>cⱼ는 정확한 Fresnel R(θ)가 아니라 cos(θ)·1/(d/d_ref)의 단순 기하 가중치.</a:t>
            </a:r>
          </a:p>
          <a:p>
            <a:r>
              <a:rPr sz="1200" b="0">
                <a:solidFill>
                  <a:srgbClr val="333333"/>
                </a:solidFill>
              </a:rPr>
              <a:t>실제 Fresnel은 raydrop 모델에서만 사용 (다음 슬라이드).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/>
              <a:t>Methodology (2): 2-Phase Pipeline (Init → Track)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05317"/>
                </a:solidFill>
              </a:rPr>
              <a:t>Phase 1: Initialization (T_init = 2Tₚ)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411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① Dispersion-aware beamforming (v2_konly)</a:t>
            </a:r>
          </a:p>
          <a:p>
            <a:r>
              <a:rPr sz="1100" b="0">
                <a:solidFill>
                  <a:srgbClr val="333333"/>
                </a:solidFill>
              </a:rPr>
              <a:t>    → Cartesian 81×81 k-grid (Δk≈0.10 rad/m)</a:t>
            </a:r>
          </a:p>
          <a:p>
            <a:r>
              <a:rPr sz="1100" b="0">
                <a:solidFill>
                  <a:srgbClr val="333333"/>
                </a:solidFill>
              </a:rPr>
              <a:t>② Greedy peak extraction (0.15 rad/m suppression)</a:t>
            </a:r>
          </a:p>
          <a:p>
            <a:r>
              <a:rPr sz="1100" b="0">
                <a:solidFill>
                  <a:srgbClr val="333333"/>
                </a:solidFill>
              </a:rPr>
              <a:t>③ Coarse-to-fine Adam: N=3 → 8 → 15</a:t>
            </a:r>
          </a:p>
          <a:p>
            <a:r>
              <a:rPr sz="1100" b="0">
                <a:solidFill>
                  <a:srgbClr val="333333"/>
                </a:solidFill>
              </a:rPr>
              <a:t>    (200 iters/stage, lr=5e-3)</a:t>
            </a:r>
          </a:p>
          <a:p>
            <a:r>
              <a:rPr sz="1100" b="0">
                <a:solidFill>
                  <a:srgbClr val="333333"/>
                </a:solidFill>
              </a:rPr>
              <a:t>④ Energy-based pruning (90% threshold)</a:t>
            </a:r>
          </a:p>
          <a:p>
            <a:r>
              <a:rPr sz="1100" b="0">
                <a:solidFill>
                  <a:srgbClr val="333333"/>
                </a:solidFill>
              </a:rPr>
              <a:t>    + RMSE 130% safety rollback</a:t>
            </a:r>
          </a:p>
          <a:p>
            <a:r>
              <a:rPr sz="1100" b="0">
                <a:solidFill>
                  <a:srgbClr val="333333"/>
                </a:solidFill>
              </a:rPr>
              <a:t>⑤ Residual growth: RMS &gt; 0.05 m → beamform</a:t>
            </a:r>
          </a:p>
          <a:p>
            <a:r>
              <a:rPr sz="1100" b="0">
                <a:solidFill>
                  <a:srgbClr val="333333"/>
                </a:solidFill>
              </a:rPr>
              <a:t>    성분 추가 (Nmax = 30)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960120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05317"/>
                </a:solidFill>
              </a:rPr>
              <a:t>Phase 2: Tracking (w_phi mode, 10 Hz)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325880"/>
            <a:ext cx="3931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Predict: φᵢ ← φᵢ + ωᵢ · Δt</a:t>
            </a:r>
          </a:p>
          <a:p>
            <a:r>
              <a:rPr sz="1100" b="0">
                <a:solidFill>
                  <a:srgbClr val="333333"/>
                </a:solidFill>
              </a:rPr>
              <a:t>    (dispersion-exact phase propagation)</a:t>
            </a:r>
          </a:p>
          <a:p>
            <a:r>
              <a:rPr sz="1100" b="0">
                <a:solidFill>
                  <a:srgbClr val="333333"/>
                </a:solidFill>
              </a:rPr>
              <a:t/>
            </a:r>
          </a:p>
          <a:p>
            <a:r>
              <a:rPr sz="1100" b="0">
                <a:solidFill>
                  <a:srgbClr val="333333"/>
                </a:solidFill>
              </a:rPr>
              <a:t>Update: K=10 Adam steps (lr=1e-3)</a:t>
            </a:r>
          </a:p>
          <a:p>
            <a:r>
              <a:rPr sz="1100" b="0">
                <a:solidFill>
                  <a:srgbClr val="333333"/>
                </a:solidFill>
              </a:rPr>
              <a:t>    on Kw=3 sliding-frame window</a:t>
            </a:r>
          </a:p>
          <a:p>
            <a:r>
              <a:rPr sz="1100" b="0">
                <a:solidFill>
                  <a:srgbClr val="333333"/>
                </a:solidFill>
              </a:rPr>
              <a:t>    → only (wᵢ, φᵢ) updated; kx, ky FROZEN</a:t>
            </a:r>
          </a:p>
          <a:p>
            <a:r>
              <a:rPr sz="1100" b="0">
                <a:solidFill>
                  <a:srgbClr val="333333"/>
                </a:solidFill>
              </a:rPr>
              <a:t/>
            </a:r>
          </a:p>
          <a:p>
            <a:r>
              <a:rPr sz="1100" b="0">
                <a:solidFill>
                  <a:srgbClr val="333333"/>
                </a:solidFill>
              </a:rPr>
              <a:t>Why freeze k?</a:t>
            </a:r>
          </a:p>
          <a:p>
            <a:r>
              <a:rPr sz="1100" b="0">
                <a:solidFill>
                  <a:srgbClr val="333333"/>
                </a:solidFill>
              </a:rPr>
              <a:t>   • 단일 프레임에서 kx/ky는 ill-conditioned</a:t>
            </a:r>
          </a:p>
          <a:p>
            <a:r>
              <a:rPr sz="1100" b="0">
                <a:solidFill>
                  <a:srgbClr val="333333"/>
                </a:solidFill>
              </a:rPr>
              <a:t>   • Multi-frame init이 충분히 평균화</a:t>
            </a:r>
          </a:p>
          <a:p>
            <a:r>
              <a:rPr sz="1100" b="0">
                <a:solidFill>
                  <a:srgbClr val="333333"/>
                </a:solidFill>
              </a:rPr>
              <a:t>   • φ warm start → 200 → 10 gradient 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3492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C05317"/>
                </a:solidFill>
              </a:rPr>
              <a:t>Adaptive N: N=1 (단일 swell) ~ N=21 (complex sea)  |  13.4 ms/frame 평균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600" b="0" i="0"/>
              <a:t>WaveSim (1/2): 파도 생성 + 물리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05317"/>
                </a:solidFill>
              </a:rPr>
              <a:t>JONSWAP 스펙트럼 → 시간영역 합성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41148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▪ Pierson-Moskowitz with peak enhancement γ=3.3</a:t>
            </a:r>
          </a:p>
          <a:p>
            <a:r>
              <a:rPr sz="1100" b="0">
                <a:solidFill>
                  <a:srgbClr val="333333"/>
                </a:solidFill>
              </a:rPr>
              <a:t>▪ Hs ∈ [0.3, 2.0] m, Tp ∈ [4, 8] s (BF2~BF5)</a:t>
            </a:r>
          </a:p>
          <a:p>
            <a:r>
              <a:rPr sz="1100" b="0">
                <a:solidFill>
                  <a:srgbClr val="333333"/>
                </a:solidFill>
              </a:rPr>
              <a:t>▪ Random phase φᵢ ∈ U[0, 2π], 10 s warm-up 후 stationary</a:t>
            </a:r>
          </a:p>
          <a:p>
            <a:r>
              <a:rPr sz="1100" b="0">
                <a:solidFill>
                  <a:srgbClr val="333333"/>
                </a:solidFill>
              </a:rPr>
              <a:t>▪ Q-제약: Σ Qᵢωᵢ²Aᵢ &lt; 1 (steepness 한도) — 자동 강제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960120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05317"/>
                </a:solidFill>
              </a:rPr>
              <a:t>Gerstner 비선형 파도 (2차 정확)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325880"/>
            <a:ext cx="39319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▪ z(x,t) = Σᵢ Aᵢ cos(kᵢ·x − ωᵢt + φᵢ)        ← linear</a:t>
            </a:r>
          </a:p>
          <a:p>
            <a:r>
              <a:rPr sz="1100" b="0">
                <a:solidFill>
                  <a:srgbClr val="333333"/>
                </a:solidFill>
              </a:rPr>
              <a:t>▪ Δx(x,t) = −Σᵢ (Aᵢkᵢ/|kᵢ|) sin(...)         ← Lagrangian shift</a:t>
            </a:r>
          </a:p>
          <a:p>
            <a:r>
              <a:rPr sz="1100" b="0">
                <a:solidFill>
                  <a:srgbClr val="333333"/>
                </a:solidFill>
              </a:rPr>
              <a:t>▪ Trochoid 표면 (꼭대기 첨예, 골짜기 평탄)</a:t>
            </a:r>
          </a:p>
          <a:p>
            <a:r>
              <a:rPr sz="1100" b="0">
                <a:solidFill>
                  <a:srgbClr val="333333"/>
                </a:solidFill>
              </a:rPr>
              <a:t>▪ 단일 성분 해석해 대비 RMSE &lt; 10⁻¹⁰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2461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05317"/>
                </a:solidFill>
              </a:rPr>
              <a:t>분산관계 (수심-의존 풀 dispersion)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411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▪ ω = √(g|k|·tanh(|k|·d)),  d=50 m default</a:t>
            </a:r>
          </a:p>
          <a:p>
            <a:r>
              <a:rPr sz="1100" b="0">
                <a:solidFill>
                  <a:srgbClr val="333333"/>
                </a:solidFill>
              </a:rPr>
              <a:t>▪ Deep limit: ω ≈ √(g|k|),  Shallow limit: ω ≈ |k|·√(gd)</a:t>
            </a:r>
          </a:p>
          <a:p>
            <a:r>
              <a:rPr sz="1100" b="0">
                <a:solidFill>
                  <a:srgbClr val="333333"/>
                </a:solidFill>
              </a:rPr>
              <a:t>▪ 전 BF·전 |k| 범위에서 해석해 대비 오차 &lt; 10⁻⁶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3246120"/>
            <a:ext cx="3749039" cy="2286000"/>
          </a:xfrm>
          <a:prstGeom prst="roundRect">
            <a:avLst/>
          </a:prstGeom>
          <a:solidFill>
            <a:srgbClr val="E8F5E9"/>
          </a:solidFill>
          <a:ln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>
                <a:solidFill>
                  <a:srgbClr val="2E7D32"/>
                </a:solidFill>
              </a:rPr>
              <a:t>Wave Generation 검증 (39 unit tests 중)</a:t>
            </a:r>
          </a:p>
          <a:p>
            <a:r>
              <a:rPr sz="1100" b="0">
                <a:solidFill>
                  <a:srgbClr val="333333"/>
                </a:solidFill>
              </a:rPr>
              <a:t>✓ 분산관계 deep/shallow 해석해 일치 (오차 &lt; 1e-6)</a:t>
            </a:r>
          </a:p>
          <a:p>
            <a:r>
              <a:rPr sz="1100" b="0">
                <a:solidFill>
                  <a:srgbClr val="333333"/>
                </a:solidFill>
              </a:rPr>
              <a:t>✓ Gerstner 단일성분 RMSE &lt; 1e-10 m</a:t>
            </a:r>
          </a:p>
          <a:p>
            <a:r>
              <a:rPr sz="1100" b="0">
                <a:solidFill>
                  <a:srgbClr val="333333"/>
                </a:solidFill>
              </a:rPr>
              <a:t>✓ Hs(Welch) = 4√m₀ 일치 &lt; 0.5%</a:t>
            </a:r>
          </a:p>
          <a:p>
            <a:r>
              <a:rPr sz="1100" b="0">
                <a:solidFill>
                  <a:srgbClr val="333333"/>
                </a:solidFill>
              </a:rPr>
              <a:t>✓ Q-constraint: 모든 100 episodes 위반 0건</a:t>
            </a:r>
          </a:p>
          <a:p>
            <a:r>
              <a:rPr sz="1100" b="0">
                <a:solidFill>
                  <a:srgbClr val="333333"/>
                </a:solidFill>
              </a:rPr>
              <a:t>✓ Energy conservation: ΣAᵢ² ≈ ∫S(ω)dω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/>
              <a:t>WaveSim (2/2): LiDAR · Raydrop · 통합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2697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05317"/>
                </a:solidFill>
              </a:rPr>
              <a:t>Falcon K1 LiDAR 모델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26974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▪ 1550 nm, 152 channels</a:t>
            </a:r>
          </a:p>
          <a:p>
            <a:r>
              <a:rPr sz="1100" b="0">
                <a:solidFill>
                  <a:srgbClr val="333333"/>
                </a:solidFill>
              </a:rPr>
              <a:t>▪ FOV 120° × 25°, range 1.5–250 m</a:t>
            </a:r>
          </a:p>
          <a:p>
            <a:r>
              <a:rPr sz="1100" b="0">
                <a:solidFill>
                  <a:srgbClr val="333333"/>
                </a:solidFill>
              </a:rPr>
              <a:t>▪ Beam divergence 0.05°</a:t>
            </a:r>
          </a:p>
          <a:p>
            <a:r>
              <a:rPr sz="1100" b="0">
                <a:solidFill>
                  <a:srgbClr val="333333"/>
                </a:solidFill>
              </a:rPr>
              <a:t>▪ Scan rate 10 Hz</a:t>
            </a:r>
          </a:p>
          <a:p>
            <a:r>
              <a:rPr sz="1100" b="0">
                <a:solidFill>
                  <a:srgbClr val="333333"/>
                </a:solidFill>
              </a:rPr>
              <a:t>▪ σ_range = 0.02 m, σ_angle = 0.05°</a:t>
            </a:r>
          </a:p>
          <a:p>
            <a:r>
              <a:rPr sz="1100" b="0">
                <a:solidFill>
                  <a:srgbClr val="333333"/>
                </a:solidFill>
              </a:rPr>
              <a:t>▪ Mount: 5 m, +5° downward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46120" y="960120"/>
            <a:ext cx="2697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05317"/>
                </a:solidFill>
              </a:rPr>
              <a:t>Ray-Mesh + Raydrop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1325880"/>
            <a:ext cx="26974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▪ Möller-Trumbore intersection</a:t>
            </a:r>
          </a:p>
          <a:p>
            <a:r>
              <a:rPr sz="1100" b="0">
                <a:solidFill>
                  <a:srgbClr val="333333"/>
                </a:solidFill>
              </a:rPr>
              <a:t>   → mesh 80×60, 4 km² 영역</a:t>
            </a:r>
          </a:p>
          <a:p>
            <a:r>
              <a:rPr sz="1100" b="0">
                <a:solidFill>
                  <a:srgbClr val="333333"/>
                </a:solidFill>
              </a:rPr>
              <a:t>▪ Diffuse (uniform):</a:t>
            </a:r>
          </a:p>
          <a:p>
            <a:r>
              <a:rPr sz="1100" b="0">
                <a:solidFill>
                  <a:srgbClr val="333333"/>
                </a:solidFill>
              </a:rPr>
              <a:t>   p = R(θ)·cos(θ)/d²</a:t>
            </a:r>
          </a:p>
          <a:p>
            <a:r>
              <a:rPr sz="1100" b="0">
                <a:solidFill>
                  <a:srgbClr val="333333"/>
                </a:solidFill>
              </a:rPr>
              <a:t>▪ Specular (slope):</a:t>
            </a:r>
          </a:p>
          <a:p>
            <a:r>
              <a:rPr sz="1100" b="0">
                <a:solidFill>
                  <a:srgbClr val="333333"/>
                </a:solidFill>
              </a:rPr>
              <a:t>   retroreflection alignment α&lt;5°</a:t>
            </a:r>
          </a:p>
          <a:p>
            <a:r>
              <a:rPr sz="1100" b="0">
                <a:solidFill>
                  <a:srgbClr val="333333"/>
                </a:solidFill>
              </a:rPr>
              <a:t>▪ 두 모델 병렬 유지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9320" y="960120"/>
            <a:ext cx="2606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05317"/>
                </a:solidFill>
              </a:rPr>
              <a:t>Validation chain (39 tests)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9320" y="1325880"/>
            <a:ext cx="26060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✓ Möller-Trumbore: 100% hit/miss</a:t>
            </a:r>
          </a:p>
          <a:p>
            <a:r>
              <a:rPr sz="1100" b="0">
                <a:solidFill>
                  <a:srgbClr val="333333"/>
                </a:solidFill>
              </a:rPr>
              <a:t>✓ Fresnel R(0°)=((n-1)/(n+1))² 일치</a:t>
            </a:r>
          </a:p>
          <a:p>
            <a:r>
              <a:rPr sz="1100" b="0">
                <a:solidFill>
                  <a:srgbClr val="333333"/>
                </a:solidFill>
              </a:rPr>
              <a:t>✓ Range 측정 GT 대비 &lt;1 cm bias</a:t>
            </a:r>
          </a:p>
          <a:p>
            <a:r>
              <a:rPr sz="1100" b="0">
                <a:solidFill>
                  <a:srgbClr val="333333"/>
                </a:solidFill>
              </a:rPr>
              <a:t>✓ Beam divergence &lt; 0.05°</a:t>
            </a:r>
          </a:p>
          <a:p>
            <a:r>
              <a:rPr sz="1100" b="0">
                <a:solidFill>
                  <a:srgbClr val="333333"/>
                </a:solidFill>
              </a:rPr>
              <a:t>✓ Raydrop 확률 ∈ [0,1]</a:t>
            </a:r>
          </a:p>
          <a:p>
            <a:r>
              <a:rPr sz="1100" b="0">
                <a:solidFill>
                  <a:srgbClr val="333333"/>
                </a:solidFill>
              </a:rPr>
              <a:t>✓ Coordinate Falcon→world 정확</a:t>
            </a:r>
          </a:p>
          <a:p>
            <a:r>
              <a:rPr sz="1100" b="0">
                <a:solidFill>
                  <a:srgbClr val="333333"/>
                </a:solidFill>
              </a:rPr>
              <a:t>✓ Total: 39/39 passing in CI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663440"/>
            <a:ext cx="8193024" cy="13716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4754880"/>
            <a:ext cx="7863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A1A2E"/>
                </a:solidFill>
              </a:rPr>
              <a:t>핵심 메시지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074920"/>
            <a:ext cx="78638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• 100 episodes (BF2~BF5 × 1/2/5/15/30 components × 5 seeds × 2 raydrop) 모두 동일 시뮬레이터</a:t>
            </a:r>
          </a:p>
          <a:p>
            <a:r>
              <a:rPr sz="1100" b="0">
                <a:solidFill>
                  <a:srgbClr val="333333"/>
                </a:solidFill>
              </a:rPr>
              <a:t>• GT는 Gerstner 비선형 → 추정의 linear 모델과 의도된 O(ε²) mismatch (~0.25 % at BF4)</a:t>
            </a:r>
          </a:p>
          <a:p>
            <a:r>
              <a:rPr sz="1100" b="0">
                <a:solidFill>
                  <a:srgbClr val="333333"/>
                </a:solidFill>
              </a:rPr>
              <a:t>• Falcon K1 spec은 Avikus NEUBOAT 실선 시험 장비와 동일 → sim-to-real 평가 시 raydrop만 보정</a:t>
            </a:r>
          </a:p>
          <a:p>
            <a:r>
              <a:rPr sz="1100" b="1">
                <a:solidFill>
                  <a:srgbClr val="C05317"/>
                </a:solidFill>
              </a:rPr>
              <a:t>→ 시뮬레이션 결과는 reviewer가 의심할 만한 모든 물리 가정에서 단위 검증 위에 구축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600" b="0" i="0"/>
              <a:t>Experiment Design — Dataset &amp; Baselines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05317"/>
                </a:solidFill>
              </a:rPr>
              <a:t>Dataset (100 episodes)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4114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</a:tblGrid>
              <a:tr h="31350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r>
                        <a:rPr sz="900" b="1"/>
                        <a:t>Total episodes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/>
                        <a:t>100 (5 seeds × 10 configs × 2 raydrop)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r>
                        <a:rPr sz="900"/>
                        <a:t>Sea state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BF2~BF5 (Hs 0.3~2.0 m)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r>
                        <a:rPr sz="900"/>
                        <a:t>Components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1, 2, 5, 15, 30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r>
                        <a:rPr sz="900"/>
                        <a:t>Raydrop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Uniform (diffuse) + Slope (specular)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r>
                        <a:rPr sz="900"/>
                        <a:t>Duration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301 frames (30 s @ 10 Hz)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3512">
                <a:tc>
                  <a:txBody>
                    <a:bodyPr/>
                    <a:lstStyle/>
                    <a:p>
                      <a:r>
                        <a:rPr sz="900"/>
                        <a:t>LiDAR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Seyond Falcon K1 spec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754880" y="960120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05317"/>
                </a:solidFill>
              </a:rPr>
              <a:t>Baselines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1280160"/>
          <a:ext cx="39319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0640"/>
                <a:gridCol w="1310640"/>
                <a:gridCol w="1310640"/>
              </a:tblGrid>
              <a:tr h="36576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Method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Config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Note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 b="1"/>
                        <a:t>ETKF (tuned)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/>
                        <a:t>24-config sweep (g=40×30, nₑ=100)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/>
                        <a:t>nRMSE 0.319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/>
                        <a:t>GPR-1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Matérn ν=5/2, ℓ=20m, σ=0.02m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시간 모델 없음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/>
                        <a:t>GPR-sliding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3-frame window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강한 GPR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/>
                        <a:t>LETKF (loc50)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Gaspari-Cohn r_loc=50m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강화 baseline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900"/>
                        <a:t>GPR-disp(3f)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dispersion kernel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/>
                        <a:t>강화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3749039"/>
            <a:ext cx="8193024" cy="192024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3840480"/>
            <a:ext cx="7955279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A1A2E"/>
                </a:solidFill>
              </a:rPr>
              <a:t>Pre-specified 5-Metric Evaluation Panel</a:t>
            </a:r>
          </a:p>
          <a:p>
            <a:r>
              <a:rPr sz="1200" b="1">
                <a:solidFill>
                  <a:srgbClr val="1A1A2E"/>
                </a:solidFill>
              </a:rPr>
              <a:t>nRMSE ↓  |  Variance Ratio (VR) → 1  |  Pearson ρ ↑  |  Skill Score (SS) ↑  |  RMSE_unobs [m] ↓</a:t>
            </a:r>
          </a:p>
          <a:p>
            <a:r>
              <a:rPr sz="1100" b="0">
                <a:solidFill>
                  <a:srgbClr val="333333"/>
                </a:solidFill>
              </a:rPr>
              <a:t/>
            </a:r>
          </a:p>
          <a:p>
            <a:r>
              <a:rPr sz="1100" b="0">
                <a:solidFill>
                  <a:srgbClr val="333333"/>
                </a:solidFill>
              </a:rPr>
              <a:t>핵심 1) RMSE_unobs = 관측에서 ≥10 m 떨어진 grid 지점에서만 계산 → physics prior 직접 증거</a:t>
            </a:r>
          </a:p>
          <a:p>
            <a:r>
              <a:rPr sz="1100" b="0">
                <a:solidFill>
                  <a:srgbClr val="333333"/>
                </a:solidFill>
              </a:rPr>
              <a:t>핵심 2) SS = 1 − MSE(ẑ)/MSE(0)  →  양수면 zero-predictor(ẑ=0)보다 나은 것</a:t>
            </a:r>
          </a:p>
          <a:p>
            <a:r>
              <a:rPr sz="1100" b="0">
                <a:solidFill>
                  <a:srgbClr val="666666"/>
                </a:solidFill>
              </a:rPr>
              <a:t>※ 모든 baseline에 동일하게 적용 — metric cherry-picking 방지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300" b="0" i="0"/>
              <a:t>핵심 결과: 5-Metric Evaluation (100 episodes)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8229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41148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Method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nRMSE ↓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VR → 1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ρ ↑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SS ↑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RMSE_unobs [m] ↓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/>
                        <a:t>WaveSplat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/>
                        <a:t>0.223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/>
                        <a:t>0.661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/>
                        <a:t>0.446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/>
                        <a:t>+0.034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/>
                        <a:t>0.262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/>
                        <a:t>ETKF (tuned)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0.319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0.898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0.109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−0.702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0.348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/>
                        <a:t>GPR-1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0.261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0.065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0.193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−0.141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0.294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292608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A1A2E"/>
                </a:solidFill>
              </a:rPr>
              <a:t>▪ Skill Score: WaveSplat만 양수 (+0.034) — zero-predictor보다 나은 유일한 방법</a:t>
            </a:r>
          </a:p>
          <a:p>
            <a:r>
              <a:rPr sz="1200" b="1">
                <a:solidFill>
                  <a:srgbClr val="1A1A2E"/>
                </a:solidFill>
              </a:rPr>
              <a:t>▪ RMSE_unobs: WaveSplat 0.262 m vs ETKF 0.348 m vs GPR 0.294 m</a:t>
            </a:r>
          </a:p>
          <a:p>
            <a:r>
              <a:rPr sz="1100" b="0">
                <a:solidFill>
                  <a:srgbClr val="333333"/>
                </a:solidFill>
              </a:rPr>
              <a:t>   → 관측되지 않은 영역 재구성 = physics prior 직접 증거</a:t>
            </a:r>
          </a:p>
          <a:p>
            <a:r>
              <a:rPr sz="1200" b="0">
                <a:solidFill>
                  <a:srgbClr val="333333"/>
                </a:solidFill>
              </a:rPr>
              <a:t>▪ GPR은 거의 zero predictor: VR=0.065 → 진폭의 6.5%만 재현</a:t>
            </a:r>
          </a:p>
          <a:p>
            <a:r>
              <a:rPr sz="1200" b="0">
                <a:solidFill>
                  <a:srgbClr val="333333"/>
                </a:solidFill>
              </a:rPr>
              <a:t>▪ ETKF는 variance-correct but shape-wrong: VR=0.898 but ρ=0.109</a:t>
            </a:r>
          </a:p>
          <a:p>
            <a:r>
              <a:rPr sz="1200" b="1">
                <a:solidFill>
                  <a:srgbClr val="C05317"/>
                </a:solidFill>
              </a:rPr>
              <a:t>▪ WaveSplat: nRMSE 30.1% 낮고 ~10× 빠름 (13.4 vs 132.6 ms/frame)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100" b="0">
                <a:solidFill>
                  <a:srgbClr val="666666"/>
                </a:solidFill>
              </a:rPr>
              <a:t>▪ 한계 (panel이 함께 노출): VR=0.66 → 진폭 ~34% 과소추정 (pruning 대가)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/>
              <a:t>Per-episode 결과 &amp; 속도 (12 representative episodes)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05317"/>
                </a:solidFill>
              </a:rPr>
              <a:t>12-episode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A1A2E"/>
                </a:solidFill>
              </a:rPr>
              <a:t>▪ WaveSplat: 12/12 승 (모든 episode에서 nRMSE 최저)</a:t>
            </a:r>
          </a:p>
          <a:p>
            <a:r>
              <a:rPr sz="1200" b="0">
                <a:solidFill>
                  <a:srgbClr val="333333"/>
                </a:solidFill>
              </a:rPr>
              <a:t>▪ Best 격차: 8.5× (BF3 1-comp swell)</a:t>
            </a:r>
          </a:p>
          <a:p>
            <a:r>
              <a:rPr sz="1200" b="0">
                <a:solidFill>
                  <a:srgbClr val="333333"/>
                </a:solidFill>
              </a:rPr>
              <a:t>▪ 평균 inference: 13.4 ms/frame vs ETKF 132.6 ms (~10× faster)</a:t>
            </a:r>
          </a:p>
          <a:p>
            <a:r>
              <a:rPr sz="1200" b="0">
                <a:solidFill>
                  <a:srgbClr val="333333"/>
                </a:solidFill>
              </a:rPr>
              <a:t>▪ 단순 해상부터 복잡 해상까지 일관된 우위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92608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05317"/>
                </a:solidFill>
              </a:rPr>
              <a:t>핵심 관찰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9184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33333"/>
                </a:solidFill>
              </a:rPr>
              <a:t>▪ ETKF는 grid 보간 비용으로 9~10×의 시간 페널티</a:t>
            </a:r>
          </a:p>
          <a:p>
            <a:r>
              <a:rPr sz="1200" b="0">
                <a:solidFill>
                  <a:srgbClr val="333333"/>
                </a:solidFill>
              </a:rPr>
              <a:t>▪ GPR은 시간 모델이 없어 frame 간 일관성 부족 (variance ratio 매우 낮음)</a:t>
            </a:r>
          </a:p>
          <a:p>
            <a:r>
              <a:rPr sz="1200" b="0">
                <a:solidFill>
                  <a:srgbClr val="333333"/>
                </a:solidFill>
              </a:rPr>
              <a:t>▪ WaveSplat의 spectral 표현은 동일 메모리 footprint로 다양한 해상 cope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100" b="0">
                <a:solidFill>
                  <a:srgbClr val="666666"/>
                </a:solidFill>
              </a:rPr>
              <a:t>※ 12 episodes는 BF2~BF5 × 1/2/5/15/30 components 균등 샘플 (cherry-pick 아님)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600" b="0" i="0"/>
              <a:t>통계 검증 (100 Paired Runs)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8229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Comparison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mean ± std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Wilcoxon p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Cohen's d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95% CI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 b="1"/>
                        <a:t>WaveSplat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/>
                        <a:t>0.219 ± 0.079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/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/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/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vs ETKF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0.321 ± 0.041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1.1 × 10⁻¹⁵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1.16 (large)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[0.085, 0.119]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vs GPR-sliding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0.253 ± 0.020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4.7 × 10⁻⁴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0.42 (sm-med)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[0.018, 0.050]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01752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C05317"/>
                </a:solidFill>
              </a:rPr>
              <a:t>실험 설계</a:t>
            </a:r>
          </a:p>
          <a:p>
            <a:r>
              <a:rPr sz="1200" b="0">
                <a:solidFill>
                  <a:srgbClr val="333333"/>
                </a:solidFill>
              </a:rPr>
              <a:t>▪ 100 paired = 10 configs × 5 seeds × 2 raydrop</a:t>
            </a:r>
          </a:p>
          <a:p>
            <a:r>
              <a:rPr sz="1200" b="0">
                <a:solidFill>
                  <a:srgbClr val="333333"/>
                </a:solidFill>
              </a:rPr>
              <a:t>▪ 같은 조건에서 WS vs baseline → paired test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300" b="1">
                <a:solidFill>
                  <a:srgbClr val="C05317"/>
                </a:solidFill>
              </a:rPr>
              <a:t>결과 해석</a:t>
            </a:r>
          </a:p>
          <a:p>
            <a:r>
              <a:rPr sz="1200" b="0">
                <a:solidFill>
                  <a:srgbClr val="333333"/>
                </a:solidFill>
              </a:rPr>
              <a:t>▪ Cohen's d = 1.16 → large effect (&gt; 0.8) — WS vs ETKF 차이 매우 유의</a:t>
            </a:r>
          </a:p>
          <a:p>
            <a:r>
              <a:rPr sz="1200" b="0">
                <a:solidFill>
                  <a:srgbClr val="333333"/>
                </a:solidFill>
              </a:rPr>
              <a:t>▪ Cohen's d = 0.42 → small-medium — WS vs GPR도 통계적으로 robust</a:t>
            </a:r>
          </a:p>
          <a:p>
            <a:r>
              <a:rPr sz="1200" b="0">
                <a:solidFill>
                  <a:srgbClr val="333333"/>
                </a:solidFill>
              </a:rPr>
              <a:t>▪ 두 CI 모두 0을 포함하지 않음 (Holm-corrected)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600" b="0" i="0"/>
              <a:t>Ablation: Dispersion 제약의 가치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8229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Config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avg nRMSE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vs Full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R̄ (dispersion drift)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 b="1"/>
                        <a:t>Full (dispersion 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/>
                        <a:t>0.188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/>
                        <a:t>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/>
                        <a:t>≡ 0 (by construction)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A1 (no dispersion)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0.158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−16% nRMSE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0.51 ± 0.12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A2 (no confidence)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0.215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+14.5%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≡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01752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C05317"/>
                </a:solidFill>
              </a:rPr>
              <a:t>A1이 nRMSE는 16% 낮다. 그런데 왜 dispersion이 필요한가?</a:t>
            </a:r>
          </a:p>
          <a:p>
            <a:r>
              <a:rPr sz="1200" b="0">
                <a:solidFill>
                  <a:srgbClr val="333333"/>
                </a:solidFill>
              </a:rPr>
              <a:t>R̄ = Σ|wᵢ|·|ωᵢ − ω_disp| / (ωᵢ·Σ|wⱼ|)</a:t>
            </a:r>
          </a:p>
          <a:p>
            <a:r>
              <a:rPr sz="1200" b="0">
                <a:solidFill>
                  <a:srgbClr val="333333"/>
                </a:solidFill>
              </a:rPr>
              <a:t>▪ A1: R̄ = 0.51 ± 0.12  →  성분의 약 50%가 dispersion manifold에서 이탈</a:t>
            </a:r>
          </a:p>
          <a:p>
            <a:r>
              <a:rPr sz="1200" b="0">
                <a:solidFill>
                  <a:srgbClr val="333333"/>
                </a:solidFill>
              </a:rPr>
              <a:t>▪ 절대값 ~0.10 Hz off  →  1초 뒤 phase prediction이 de-cohere</a:t>
            </a:r>
          </a:p>
          <a:p>
            <a:r>
              <a:rPr sz="1200" b="0">
                <a:solidFill>
                  <a:srgbClr val="333333"/>
                </a:solidFill>
              </a:rPr>
              <a:t>▪ 시간 추적, 파고 예측, downstream 제어에 사용 불가</a:t>
            </a:r>
          </a:p>
          <a:p>
            <a:r>
              <a:rPr sz="1300" b="1">
                <a:solidFill>
                  <a:srgbClr val="C05317"/>
                </a:solidFill>
              </a:rPr>
              <a:t>결론: A1의 16%는 '물리적 유효성을 포기하고 얻은 nRMSE'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/>
              <a:t>Robustness: Raydrop · Sparsity · Noise · Hyperparameter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05317"/>
                </a:solidFill>
              </a:rPr>
              <a:t>Raydrop Sensitivity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2011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333333"/>
                </a:solidFill>
              </a:rPr>
              <a:t>▪ 10 paired episodes (U vs S)</a:t>
            </a:r>
          </a:p>
          <a:p>
            <a:r>
              <a:rPr sz="1000" b="0">
                <a:solidFill>
                  <a:srgbClr val="333333"/>
                </a:solidFill>
              </a:rPr>
              <a:t>▪ WaveSplat: 20/20 wins</a:t>
            </a:r>
          </a:p>
          <a:p>
            <a:r>
              <a:rPr sz="1000" b="0">
                <a:solidFill>
                  <a:srgbClr val="333333"/>
                </a:solidFill>
              </a:rPr>
              <a:t>▪ Slope: WS −9.1%, ETKF −16.2%</a:t>
            </a:r>
          </a:p>
          <a:p>
            <a:r>
              <a:rPr sz="1000" b="0">
                <a:solidFill>
                  <a:srgbClr val="333333"/>
                </a:solidFill>
              </a:rPr>
              <a:t>▪ 두 raydrop 모두에서 안정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06040" y="96012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05317"/>
                </a:solidFill>
              </a:rPr>
              <a:t>Sparsity Robustness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1280160"/>
            <a:ext cx="2011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333333"/>
                </a:solidFill>
              </a:rPr>
              <a:t>▪ 관측 밀도 20~100% 실험</a:t>
            </a:r>
          </a:p>
          <a:p>
            <a:r>
              <a:rPr sz="1000" b="0">
                <a:solidFill>
                  <a:srgbClr val="333333"/>
                </a:solidFill>
              </a:rPr>
              <a:t>▪ BF4~5: 20% (~10점)에서도</a:t>
            </a:r>
          </a:p>
          <a:p>
            <a:r>
              <a:rPr sz="1000" b="0">
                <a:solidFill>
                  <a:srgbClr val="333333"/>
                </a:solidFill>
              </a:rPr>
              <a:t>   &lt; 8% 성능 저하</a:t>
            </a:r>
          </a:p>
          <a:p>
            <a:r>
              <a:rPr sz="1000" b="0">
                <a:solidFill>
                  <a:srgbClr val="333333"/>
                </a:solidFill>
              </a:rPr>
              <a:t>▪ 예외: BF3 2c (N=2 한계)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96012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05317"/>
                </a:solidFill>
              </a:rPr>
              <a:t>Noise Robustness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280160"/>
            <a:ext cx="2011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333333"/>
                </a:solidFill>
              </a:rPr>
              <a:t>▪ σ ∈ {0, 0.02, 0.05, 0.10} m</a:t>
            </a:r>
          </a:p>
          <a:p>
            <a:r>
              <a:rPr sz="1000" b="0">
                <a:solidFill>
                  <a:srgbClr val="333333"/>
                </a:solidFill>
              </a:rPr>
              <a:t>▪ σ=0.10 (5× baseline)에서도</a:t>
            </a:r>
          </a:p>
          <a:p>
            <a:r>
              <a:rPr sz="1000" b="0">
                <a:solidFill>
                  <a:srgbClr val="333333"/>
                </a:solidFill>
              </a:rPr>
              <a:t>   nRMSE 변화 ±13% 이내</a:t>
            </a:r>
          </a:p>
          <a:p>
            <a:r>
              <a:rPr sz="1000" b="0">
                <a:solidFill>
                  <a:srgbClr val="333333"/>
                </a:solidFill>
              </a:rPr>
              <a:t>▪ Adaptive N이 노이즈 흡수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03720" y="96012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05317"/>
                </a:solidFill>
              </a:rPr>
              <a:t>Hyperparameter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1280160"/>
            <a:ext cx="20116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333333"/>
                </a:solidFill>
              </a:rPr>
              <a:t>▪ lr=0.01, λ₁=1e-3</a:t>
            </a:r>
          </a:p>
          <a:p>
            <a:r>
              <a:rPr sz="1000" b="0">
                <a:solidFill>
                  <a:srgbClr val="333333"/>
                </a:solidFill>
              </a:rPr>
              <a:t>   τ_prune=0.10, τ_grow=0.05</a:t>
            </a:r>
          </a:p>
          <a:p>
            <a:r>
              <a:rPr sz="1000" b="0">
                <a:solidFill>
                  <a:srgbClr val="333333"/>
                </a:solidFill>
              </a:rPr>
              <a:t>▪ BF3 5c 한 번의 sweep</a:t>
            </a:r>
          </a:p>
          <a:p>
            <a:r>
              <a:rPr sz="1000" b="0">
                <a:solidFill>
                  <a:srgbClr val="333333"/>
                </a:solidFill>
              </a:rPr>
              <a:t>▪ ±2× 변경 시 nRMSE ±5%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0292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C05317"/>
                </a:solidFill>
              </a:rPr>
              <a:t>결론: 모든 robustness 축에서 일관적 — 단일 하이퍼파라미터 setting으로 100 runs 재현 가능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/>
              <a:t>Qualitative 비교 — GT vs WaveSplat vs ETKF vs GPR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A1A2E"/>
                </a:solidFill>
              </a:rPr>
              <a:t>▪ WaveSplat: 파면 형상 정확 — 위상·진폭 모두 GT와 가까움</a:t>
            </a:r>
          </a:p>
          <a:p>
            <a:r>
              <a:rPr sz="1300" b="0">
                <a:solidFill>
                  <a:srgbClr val="333333"/>
                </a:solidFill>
              </a:rPr>
              <a:t>▪ ETKF: 진폭은 보존되나 spatial structure가 incoherent (격자 보간 잡음)</a:t>
            </a:r>
          </a:p>
          <a:p>
            <a:r>
              <a:rPr sz="1300" b="0">
                <a:solidFill>
                  <a:srgbClr val="333333"/>
                </a:solidFill>
              </a:rPr>
              <a:t>▪ GPR: 표면이 거의 평탄 (zero-predictor에 가까움)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100" b="0">
                <a:solidFill>
                  <a:srgbClr val="666666"/>
                </a:solidFill>
              </a:rPr>
              <a:t>※ qualitative 도판은 발표 시 노트북에서 demo (docs/demo_wavesplat.gif)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200" b="0" i="0"/>
              <a:t>추가 기여: 3가지 고유 능력 (Spectral · Sparse · Forecast)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2697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05317"/>
                </a:solidFill>
              </a:rPr>
              <a:t>Spectral Accuracy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26974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▪ 5 comp 이하: energy det &gt;93%</a:t>
            </a:r>
          </a:p>
          <a:p>
            <a:r>
              <a:rPr sz="1100" b="0">
                <a:solidFill>
                  <a:srgbClr val="333333"/>
                </a:solidFill>
              </a:rPr>
              <a:t>▪ |k| error &lt; 0.5%</a:t>
            </a:r>
          </a:p>
          <a:p>
            <a:r>
              <a:rPr sz="1100" b="0">
                <a:solidFill>
                  <a:srgbClr val="333333"/>
                </a:solidFill>
              </a:rPr>
              <a:t>▪ direction error &lt; 0.2°</a:t>
            </a:r>
          </a:p>
          <a:p>
            <a:r>
              <a:rPr sz="1100" b="0">
                <a:solidFill>
                  <a:srgbClr val="333333"/>
                </a:solidFill>
              </a:rPr>
              <a:t>▪ ETKF/GPR에 없는 고유 능력</a:t>
            </a:r>
          </a:p>
          <a:p>
            <a:r>
              <a:rPr sz="1100" b="0">
                <a:solidFill>
                  <a:srgbClr val="333333"/>
                </a:solidFill>
              </a:rPr>
              <a:t>   (grid-free spectral → 주파수</a:t>
            </a:r>
          </a:p>
          <a:p>
            <a:r>
              <a:rPr sz="1100" b="0">
                <a:solidFill>
                  <a:srgbClr val="333333"/>
                </a:solidFill>
              </a:rPr>
              <a:t>    직접 추출)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46120" y="960120"/>
            <a:ext cx="2697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05317"/>
                </a:solidFill>
              </a:rPr>
              <a:t>Sparse Robustness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1280160"/>
            <a:ext cx="26974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▪ 관측 밀도 10~50점 비교</a:t>
            </a:r>
          </a:p>
          <a:p>
            <a:r>
              <a:rPr sz="1100" b="0">
                <a:solidFill>
                  <a:srgbClr val="333333"/>
                </a:solidFill>
              </a:rPr>
              <a:t>▪ 10 pts: WS 0.191 vs LETKF 0.239</a:t>
            </a:r>
          </a:p>
          <a:p>
            <a:r>
              <a:rPr sz="1100" b="0">
                <a:solidFill>
                  <a:srgbClr val="333333"/>
                </a:solidFill>
              </a:rPr>
              <a:t>▪ 희소 관측에서 더 강건</a:t>
            </a:r>
          </a:p>
          <a:p>
            <a:r>
              <a:rPr sz="1100" b="0">
                <a:solidFill>
                  <a:srgbClr val="333333"/>
                </a:solidFill>
              </a:rPr>
              <a:t>▪ Grid-free → aliasing 없음</a:t>
            </a:r>
          </a:p>
          <a:p>
            <a:r>
              <a:rPr sz="1100" b="0">
                <a:solidFill>
                  <a:srgbClr val="333333"/>
                </a:solidFill>
              </a:rPr>
              <a:t/>
            </a:r>
          </a:p>
          <a:p>
            <a:r>
              <a:rPr sz="1100" b="0">
                <a:solidFill>
                  <a:srgbClr val="333333"/>
                </a:solidFill>
              </a:rPr>
              <a:t>(WS vs LETKF, BF3 5c)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9320" y="960120"/>
            <a:ext cx="2697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05317"/>
                </a:solidFill>
              </a:rPr>
              <a:t>Wave Forecast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9320" y="1280160"/>
            <a:ext cx="26974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▪ 10초 후 nRMSE 0.219</a:t>
            </a:r>
          </a:p>
          <a:p>
            <a:r>
              <a:rPr sz="1100" b="0">
                <a:solidFill>
                  <a:srgbClr val="333333"/>
                </a:solidFill>
              </a:rPr>
              <a:t>▪ Skill Score &gt; 0 유지</a:t>
            </a:r>
          </a:p>
          <a:p>
            <a:r>
              <a:rPr sz="1100" b="0">
                <a:solidFill>
                  <a:srgbClr val="333333"/>
                </a:solidFill>
              </a:rPr>
              <a:t>▪ BF3 2c: SS = +0.953 @t+10s</a:t>
            </a:r>
          </a:p>
          <a:p>
            <a:r>
              <a:rPr sz="1100" b="0">
                <a:solidFill>
                  <a:srgbClr val="333333"/>
                </a:solidFill>
              </a:rPr>
              <a:t>▪ Dispersion constraint 덕분</a:t>
            </a:r>
          </a:p>
          <a:p>
            <a:r>
              <a:rPr sz="1100" b="0">
                <a:solidFill>
                  <a:srgbClr val="333333"/>
                </a:solidFill>
              </a:rPr>
              <a:t>   (A1 없으면 예측 발산)</a:t>
            </a:r>
          </a:p>
          <a:p>
            <a:r>
              <a:rPr sz="1100" b="0">
                <a:solidFill>
                  <a:srgbClr val="333333"/>
                </a:solidFill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492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C05317"/>
                </a:solidFill>
              </a:rPr>
              <a:t>이 3가지 능력은 WaveSplat만의 고유 장점 — 격자 기반 baseline (ETKF/GPR)으로는 불가능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/>
              <a:t>강화 Baseline 비교 — LETKF · GPR-disp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05317"/>
                </a:solidFill>
              </a:rPr>
              <a:t>100-episode 전체 비교 (LETKF: Gaspari-Cohn r_loc=50m)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8229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Method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nRMSE ↓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VR → 1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ρ ↑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SS ↑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ms ↓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/>
                        <a:t>WaveSplat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/>
                        <a:t>0.223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/>
                        <a:t>0.661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/>
                        <a:t>0.446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/>
                        <a:t>+0.034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/>
                        <a:t>14.5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LETKF (loc50)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0.228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0.111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0.359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+0.142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118.3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60604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05317"/>
                </a:solidFill>
              </a:rPr>
              <a:t>Regime-dependent 분석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4114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▪ 전체: WS 51승 vs LETKF 49승 (사실상 draw)</a:t>
            </a:r>
          </a:p>
          <a:p>
            <a:r>
              <a:rPr sz="1100" b="0">
                <a:solidFill>
                  <a:srgbClr val="333333"/>
                </a:solidFill>
              </a:rPr>
              <a:t>▪ ≤5 comp (60 ep): WS SS=+0.37 vs LETKF +0.11</a:t>
            </a:r>
          </a:p>
          <a:p>
            <a:r>
              <a:rPr sz="1100" b="0">
                <a:solidFill>
                  <a:srgbClr val="333333"/>
                </a:solidFill>
              </a:rPr>
              <a:t>   → 단순 해상에서 WaveSplat 압도</a:t>
            </a:r>
          </a:p>
          <a:p>
            <a:r>
              <a:rPr sz="1100" b="0">
                <a:solidFill>
                  <a:srgbClr val="333333"/>
                </a:solidFill>
              </a:rPr>
              <a:t>▪ ≥15 comp (40 ep): WS SS=−0.46 vs LETKF +0.20</a:t>
            </a:r>
          </a:p>
          <a:p>
            <a:r>
              <a:rPr sz="1100" b="0">
                <a:solidFill>
                  <a:srgbClr val="333333"/>
                </a:solidFill>
              </a:rPr>
              <a:t>   → 복잡 해상에서 LETKF 우세</a:t>
            </a:r>
          </a:p>
          <a:p>
            <a:r>
              <a:rPr sz="1100" b="0">
                <a:solidFill>
                  <a:srgbClr val="333333"/>
                </a:solidFill>
              </a:rPr>
              <a:t>▪ 속도: 14.5 vs 118.3 ms (8.1× faster)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2606040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05317"/>
                </a:solidFill>
              </a:rPr>
              <a:t>12-episode subset (GPR-disp 포함)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2971800"/>
            <a:ext cx="39319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GPR-disp (3-frame, dispersion kernel):</a:t>
            </a:r>
          </a:p>
          <a:p>
            <a:r>
              <a:rPr sz="1100" b="0">
                <a:solidFill>
                  <a:srgbClr val="333333"/>
                </a:solidFill>
              </a:rPr>
              <a:t>   nRMSE 0.267 vs WS 0.211 (21% 열위)</a:t>
            </a:r>
          </a:p>
          <a:p>
            <a:r>
              <a:rPr sz="1100" b="0">
                <a:solidFill>
                  <a:srgbClr val="333333"/>
                </a:solidFill>
              </a:rPr>
              <a:t>   473.6 ms (WS 대비 36× 느림)</a:t>
            </a:r>
          </a:p>
          <a:p>
            <a:r>
              <a:rPr sz="1100" b="0">
                <a:solidFill>
                  <a:srgbClr val="333333"/>
                </a:solidFill>
              </a:rPr>
              <a:t/>
            </a:r>
          </a:p>
          <a:p>
            <a:r>
              <a:rPr sz="1100" b="0">
                <a:solidFill>
                  <a:srgbClr val="333333"/>
                </a:solidFill>
              </a:rPr>
              <a:t>결론: nRMSE 동등 but WS 8× faster</a:t>
            </a:r>
          </a:p>
          <a:p>
            <a:r>
              <a:rPr sz="1100" b="0">
                <a:solidFill>
                  <a:srgbClr val="333333"/>
                </a:solidFill>
              </a:rPr>
              <a:t>   SS는 regime-dependent</a:t>
            </a:r>
          </a:p>
          <a:p>
            <a:r>
              <a:rPr sz="1100" b="0">
                <a:solidFill>
                  <a:srgbClr val="333333"/>
                </a:solidFill>
              </a:rPr>
              <a:t>   → complexity-aware method selection이 최선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/>
              <a:t>응용 연구: Hydrofoil Wave-Preview Feedforward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05317"/>
                </a:solidFill>
              </a:rPr>
              <a:t>왜 하이드로포일에 WaveSplat?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▪ Hydrofoil: 수면 위 비행 → 파도 교란에 극도로 민감</a:t>
            </a:r>
          </a:p>
          <a:p>
            <a:r>
              <a:rPr sz="1100" b="0">
                <a:solidFill>
                  <a:srgbClr val="333333"/>
                </a:solidFill>
              </a:rPr>
              <a:t>▪ Foil 잠수 깊이 0.5~1.0 m → AoA 직접 변동</a:t>
            </a:r>
          </a:p>
          <a:p>
            <a:r>
              <a:rPr sz="1100" b="0">
                <a:solidFill>
                  <a:srgbClr val="333333"/>
                </a:solidFill>
              </a:rPr>
              <a:t>▪ PD feedback만으로는 encounter freq 대응 한계</a:t>
            </a:r>
          </a:p>
          <a:p>
            <a:r>
              <a:rPr sz="1100" b="0">
                <a:solidFill>
                  <a:srgbClr val="333333"/>
                </a:solidFill>
              </a:rPr>
              <a:t>   (50~100 ms loop delay = 파도 주기의 5~10%)</a:t>
            </a:r>
          </a:p>
          <a:p>
            <a:r>
              <a:rPr sz="1100" b="0">
                <a:solidFill>
                  <a:srgbClr val="333333"/>
                </a:solidFill>
              </a:rPr>
              <a:t/>
            </a:r>
          </a:p>
          <a:p>
            <a:r>
              <a:rPr sz="1100" b="0">
                <a:solidFill>
                  <a:srgbClr val="333333"/>
                </a:solidFill>
              </a:rPr>
              <a:t>▪ 핵심 아이디어: WaveSplat의 spectral model로</a:t>
            </a:r>
          </a:p>
          <a:p>
            <a:r>
              <a:rPr sz="1100" b="0">
                <a:solidFill>
                  <a:srgbClr val="333333"/>
                </a:solidFill>
              </a:rPr>
              <a:t>   foil 전방 파도를 미리 예측 → feedforward 보상</a:t>
            </a:r>
          </a:p>
          <a:p>
            <a:r>
              <a:rPr sz="1100" b="0">
                <a:solidFill>
                  <a:srgbClr val="333333"/>
                </a:solidFill>
              </a:rPr>
              <a:t>▪ 자동차 preview suspension의 해양 버전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960120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05317"/>
                </a:solidFill>
              </a:rPr>
              <a:t>제어 구조: PD + Wave-Preview FF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325880"/>
            <a:ext cx="3931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333333"/>
                </a:solidFill>
              </a:rPr>
              <a:t>▪ 2DOF 모델: heave + pitch</a:t>
            </a:r>
          </a:p>
          <a:p>
            <a:r>
              <a:rPr sz="1000" b="0">
                <a:solidFill>
                  <a:srgbClr val="333333"/>
                </a:solidFill>
              </a:rPr>
              <a:t>▪ 선박: 1700 kg, 22 kts, tandem foil</a:t>
            </a:r>
          </a:p>
          <a:p>
            <a:r>
              <a:rPr sz="1000" b="0">
                <a:solidFill>
                  <a:srgbClr val="333333"/>
                </a:solidFill>
              </a:rPr>
              <a:t>▪ NACA 63-series foil sections</a:t>
            </a:r>
          </a:p>
          <a:p>
            <a:r>
              <a:rPr sz="1000" b="0">
                <a:solidFill>
                  <a:srgbClr val="333333"/>
                </a:solidFill>
              </a:rPr>
              <a:t/>
            </a:r>
          </a:p>
          <a:p>
            <a:r>
              <a:rPr sz="1000" b="0">
                <a:solidFill>
                  <a:srgbClr val="333333"/>
                </a:solidFill>
              </a:rPr>
              <a:t>PD feedback: collective-differential</a:t>
            </a:r>
          </a:p>
          <a:p>
            <a:r>
              <a:rPr sz="1000" b="0">
                <a:solidFill>
                  <a:srgbClr val="333333"/>
                </a:solidFill>
              </a:rPr>
              <a:t>   δ_f = δ_c − δ_d,  δ_r = δ_c + δ_d</a:t>
            </a:r>
          </a:p>
          <a:p>
            <a:r>
              <a:rPr sz="1000" b="0">
                <a:solidFill>
                  <a:srgbClr val="333333"/>
                </a:solidFill>
              </a:rPr>
              <a:t/>
            </a:r>
          </a:p>
          <a:p>
            <a:r>
              <a:rPr sz="1000" b="0">
                <a:solidFill>
                  <a:srgbClr val="333333"/>
                </a:solidFill>
              </a:rPr>
              <a:t>Feedforward:</a:t>
            </a:r>
          </a:p>
          <a:p>
            <a:r>
              <a:rPr sz="1000" b="0">
                <a:solidFill>
                  <a:srgbClr val="333333"/>
                </a:solidFill>
              </a:rPr>
              <a:t>   x_preview = x_foil + V·Δt_prev</a:t>
            </a:r>
          </a:p>
          <a:p>
            <a:r>
              <a:rPr sz="1000" b="0">
                <a:solidFill>
                  <a:srgbClr val="333333"/>
                </a:solidFill>
              </a:rPr>
              <a:t>   α_wave = −∂η/∂x − w/V (at preview pt)</a:t>
            </a:r>
          </a:p>
          <a:p>
            <a:r>
              <a:rPr sz="1000" b="0">
                <a:solidFill>
                  <a:srgbClr val="333333"/>
                </a:solidFill>
              </a:rPr>
              <a:t>   δ_ff = −K_ff·α_wave (K_ff=0.8)</a:t>
            </a:r>
          </a:p>
          <a:p>
            <a:r>
              <a:rPr sz="1000" b="0">
                <a:solidFill>
                  <a:srgbClr val="333333"/>
                </a:solidFill>
              </a:rPr>
              <a:t/>
            </a:r>
          </a:p>
          <a:p>
            <a:r>
              <a:rPr sz="1000" b="0">
                <a:solidFill>
                  <a:srgbClr val="333333"/>
                </a:solidFill>
              </a:rPr>
              <a:t>IIR LP filter (α=0.05, fc≈0.8 Hz)</a:t>
            </a:r>
          </a:p>
          <a:p>
            <a:r>
              <a:rPr sz="1000" b="0">
                <a:solidFill>
                  <a:srgbClr val="333333"/>
                </a:solidFill>
              </a:rPr>
              <a:t>   → 추정 노이즈 억제, 파도 신호 통과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/>
              <a:t>Hydrofoil 결과 (1): Feedforward 비교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05840"/>
          <a:ext cx="8229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43891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Scenario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PD-only aRMS [m/s²]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GT FF ↓%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WS FF ↓%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Noisy FF ↓%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b="1"/>
                        <a:t>BF3 Head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/>
                        <a:t>1.631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/>
                        <a:t>+11.0%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/>
                        <a:t>+11.4%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/>
                        <a:t>+11.7%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/>
                        <a:t>BF4 Head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2.162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+12.3%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+12.2%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+11.8%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/>
                        <a:t>BF3 Beam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0.402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+40.7%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+37.7%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+27.5%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/>
                        <a:t>BF3 Quarter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1.178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+17.6%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+17.7%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+17.0%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47472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C05317"/>
                </a:solidFill>
              </a:rPr>
              <a:t>WaveSplat FF → GT FF의 93~103% 성능 달성</a:t>
            </a:r>
          </a:p>
          <a:p>
            <a:r>
              <a:rPr sz="1200" b="0">
                <a:solidFill>
                  <a:srgbClr val="333333"/>
                </a:solidFill>
              </a:rPr>
              <a:t>▪ WS 20% nRMSE로도 GT 대비 93~103% feedforward 효과 회복</a:t>
            </a:r>
          </a:p>
          <a:p>
            <a:r>
              <a:rPr sz="1200" b="0">
                <a:solidFill>
                  <a:srgbClr val="333333"/>
                </a:solidFill>
              </a:rPr>
              <a:t>▪ Beam sea에서 가장 큰 개선 (+37.7%) — 파면이 평행하여 추정 유리</a:t>
            </a:r>
          </a:p>
          <a:p>
            <a:r>
              <a:rPr sz="1200" b="0">
                <a:solidFill>
                  <a:srgbClr val="333333"/>
                </a:solidFill>
              </a:rPr>
              <a:t>▪ Noisy FF (인위적 노이즈 주입)도 LP filter 덕분에 효과적</a:t>
            </a:r>
          </a:p>
          <a:p>
            <a:r>
              <a:rPr sz="1200" b="0">
                <a:solidFill>
                  <a:srgbClr val="333333"/>
                </a:solidFill>
              </a:rPr>
              <a:t>▪ BF3 Beam: ISO 2631 'Slight discomfort' → 'Comfortable' 달성 (aRMS &lt; 0.315)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/>
              <a:t>Hydrofoil 결과 (2): Sensitivity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05317"/>
                </a:solidFill>
              </a:rPr>
              <a:t>추정 오차 허용 범위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411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▪ nRMSE 0~50% 전 구간에서 FF 유효</a:t>
            </a:r>
          </a:p>
          <a:p>
            <a:r>
              <a:rPr sz="1100" b="0">
                <a:solidFill>
                  <a:srgbClr val="333333"/>
                </a:solidFill>
              </a:rPr>
              <a:t>▪ 50% nRMSE에서도 FF 효과 존재</a:t>
            </a:r>
          </a:p>
          <a:p>
            <a:r>
              <a:rPr sz="1100" b="0">
                <a:solidFill>
                  <a:srgbClr val="333333"/>
                </a:solidFill>
              </a:rPr>
              <a:t>   → threshold 없음 (graceful degradation)</a:t>
            </a:r>
          </a:p>
          <a:p>
            <a:r>
              <a:rPr sz="1100" b="0">
                <a:solidFill>
                  <a:srgbClr val="333333"/>
                </a:solidFill>
              </a:rPr>
              <a:t>▪ LP filter가 고주파 추정 노이즈 억제</a:t>
            </a:r>
          </a:p>
          <a:p>
            <a:r>
              <a:rPr sz="1100" b="0">
                <a:solidFill>
                  <a:srgbClr val="333333"/>
                </a:solidFill>
              </a:rPr>
              <a:t>   → 부정확한 추정도 유용하게 활용</a:t>
            </a:r>
          </a:p>
          <a:p>
            <a:r>
              <a:rPr sz="1100" b="0">
                <a:solidFill>
                  <a:srgbClr val="333333"/>
                </a:solidFill>
              </a:rPr>
              <a:t/>
            </a:r>
          </a:p>
          <a:p>
            <a:r>
              <a:rPr sz="1100" b="0">
                <a:solidFill>
                  <a:srgbClr val="333333"/>
                </a:solidFill>
              </a:rPr>
              <a:t>실용적 의미:</a:t>
            </a:r>
          </a:p>
          <a:p>
            <a:r>
              <a:rPr sz="1100" b="0">
                <a:solidFill>
                  <a:srgbClr val="333333"/>
                </a:solidFill>
              </a:rPr>
              <a:t>   WaveSplat의 20% nRMSE는 충분</a:t>
            </a:r>
          </a:p>
          <a:p>
            <a:r>
              <a:rPr sz="1100" b="0">
                <a:solidFill>
                  <a:srgbClr val="333333"/>
                </a:solidFill>
              </a:rPr>
              <a:t>   더 정확할 필요 없이 제어에 활용 가능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960120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05317"/>
                </a:solidFill>
              </a:rPr>
              <a:t>최적 Preview Horizon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325880"/>
            <a:ext cx="3931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▪ Head sea: 최적 0.1 s (~1.1 m ahead)</a:t>
            </a:r>
          </a:p>
          <a:p>
            <a:r>
              <a:rPr sz="1100" b="0">
                <a:solidFill>
                  <a:srgbClr val="333333"/>
                </a:solidFill>
              </a:rPr>
              <a:t>▪ Beam sea: 최적 0.3 s (~3.4 m ahead)</a:t>
            </a:r>
          </a:p>
          <a:p>
            <a:r>
              <a:rPr sz="1100" b="0">
                <a:solidFill>
                  <a:srgbClr val="333333"/>
                </a:solidFill>
              </a:rPr>
              <a:t>▪ 물리적 의미: 파도-foil 상호작용 시간 스케일</a:t>
            </a:r>
          </a:p>
          <a:p>
            <a:r>
              <a:rPr sz="1100" b="0">
                <a:solidFill>
                  <a:srgbClr val="333333"/>
                </a:solidFill>
              </a:rPr>
              <a:t/>
            </a:r>
          </a:p>
          <a:p>
            <a:r>
              <a:rPr sz="1100" b="0">
                <a:solidFill>
                  <a:srgbClr val="333333"/>
                </a:solidFill>
              </a:rPr>
              <a:t>▪ 너무 긴 preview → 위상 불일치</a:t>
            </a:r>
          </a:p>
          <a:p>
            <a:r>
              <a:rPr sz="1100" b="0">
                <a:solidFill>
                  <a:srgbClr val="333333"/>
                </a:solidFill>
              </a:rPr>
              <a:t>   너무 짧은 preview → reaction 부족</a:t>
            </a:r>
          </a:p>
          <a:p>
            <a:r>
              <a:rPr sz="1100" b="0">
                <a:solidFill>
                  <a:srgbClr val="333333"/>
                </a:solidFill>
              </a:rPr>
              <a:t>▪ Encounter freq에 따라 최적점 변화</a:t>
            </a:r>
          </a:p>
          <a:p>
            <a:r>
              <a:rPr sz="1100" b="0">
                <a:solidFill>
                  <a:srgbClr val="333333"/>
                </a:solidFill>
              </a:rPr>
              <a:t/>
            </a:r>
          </a:p>
          <a:p>
            <a:r>
              <a:rPr sz="1100" b="0">
                <a:solidFill>
                  <a:srgbClr val="333333"/>
                </a:solidFill>
              </a:rPr>
              <a:t>실용: 0.1~0.3 s면 충분</a:t>
            </a:r>
          </a:p>
          <a:p>
            <a:r>
              <a:rPr sz="1100" b="0">
                <a:solidFill>
                  <a:srgbClr val="333333"/>
                </a:solidFill>
              </a:rPr>
              <a:t>   (cruise speed에서 1~3 m 전방)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/>
              <a:t>Hydrofoil 결과 (3): End-to-End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05317"/>
                </a:solidFill>
              </a:rPr>
              <a:t>LiDAR → WaveSplat → Feedforward → Ride Control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8229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Scenario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WS/GT ratio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평가</a:t>
                      </a:r>
                    </a:p>
                  </a:txBody>
                  <a:tcPr>
                    <a:solidFill>
                      <a:srgbClr val="C0531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BF3 2-comp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/>
                        <a:t>96%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/>
                        <a:t>near-perfect (simple sea)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BF3 beam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92%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excellent</a:t>
                      </a:r>
                    </a:p>
                  </a:txBody>
                  <a:tcPr>
                    <a:solidFill>
                      <a:srgbClr val="FAEBD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BF4 5-comp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37%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/>
                        <a:t>limited (direction error)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10896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33333"/>
                </a:solidFill>
              </a:rPr>
              <a:t>▪ BF3: WaveSplat E2E → GT의 92~96% 달성</a:t>
            </a:r>
          </a:p>
          <a:p>
            <a:r>
              <a:rPr sz="1200" b="0">
                <a:solidFill>
                  <a:srgbClr val="333333"/>
                </a:solidFill>
              </a:rPr>
              <a:t>▪ BF4: 37% — directional misestimation 영향</a:t>
            </a:r>
          </a:p>
          <a:p>
            <a:r>
              <a:rPr sz="1200" b="0">
                <a:solidFill>
                  <a:srgbClr val="333333"/>
                </a:solidFill>
              </a:rPr>
              <a:t>   → directional spectrum (보조 지표)의 한계가 제어에 전파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300" b="1">
                <a:solidFill>
                  <a:srgbClr val="C05317"/>
                </a:solidFill>
              </a:rPr>
              <a:t>핵심 발견: amplitude 정확도보다 direction 정확도가 feedforward 성능에 더 중요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600" b="0" i="0"/>
              <a:t>Hydrofoil 시뮬레이션 데모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05317"/>
                </a:solidFill>
              </a:rPr>
              <a:t>PD-only vs PD + Wave-Preview FF — BF3 Head Sea Animation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2588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A1A2E"/>
                </a:solidFill>
              </a:rPr>
              <a:t>※ 발표 시 GIF 재생 — docs/hydrofoil_wave_animation.gif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▪ Heave amplitude: PD-only 0.62 m → with FF 0.41 m  (−34%)</a:t>
            </a:r>
          </a:p>
          <a:p>
            <a:r>
              <a:rPr sz="1200" b="0">
                <a:solidFill>
                  <a:srgbClr val="333333"/>
                </a:solidFill>
              </a:rPr>
              <a:t>▪ Pitch amplitude: PD-only 8.4° → with FF 5.1°  (−39%)</a:t>
            </a:r>
          </a:p>
          <a:p>
            <a:r>
              <a:rPr sz="1200" b="0">
                <a:solidFill>
                  <a:srgbClr val="333333"/>
                </a:solidFill>
              </a:rPr>
              <a:t>▪ aRMS (vertical accel): 1.63 → 1.45 m/s² (−11%)</a:t>
            </a:r>
          </a:p>
          <a:p>
            <a:r>
              <a:rPr sz="1200" b="0">
                <a:solidFill>
                  <a:srgbClr val="333333"/>
                </a:solidFill>
              </a:rPr>
              <a:t/>
            </a:r>
          </a:p>
          <a:p>
            <a:r>
              <a:rPr sz="1200" b="0">
                <a:solidFill>
                  <a:srgbClr val="333333"/>
                </a:solidFill>
              </a:rPr>
              <a:t>▪ FF 명령은 LiDAR 관측 → WaveSplat 추정 → preview 시점 기울기 환산</a:t>
            </a:r>
          </a:p>
          <a:p>
            <a:r>
              <a:rPr sz="1200" b="0">
                <a:solidFill>
                  <a:srgbClr val="333333"/>
                </a:solidFill>
              </a:rPr>
              <a:t>▪ 시각적으로 'tracking-then-rejection' 분리 가능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/>
              <a:t>한계와 지금까지의 연구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05317"/>
                </a:solidFill>
              </a:rPr>
              <a:t>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333333"/>
                </a:solidFill>
              </a:rPr>
              <a:t>WaveSplat 추정 한계</a:t>
            </a:r>
          </a:p>
          <a:p>
            <a:r>
              <a:rPr sz="1000" b="0">
                <a:solidFill>
                  <a:srgbClr val="333333"/>
                </a:solidFill>
              </a:rPr>
              <a:t>▪ VR = 0.66 → 진폭 34% 과소추정 (pruning 대가)</a:t>
            </a:r>
          </a:p>
          <a:p>
            <a:r>
              <a:rPr sz="1000" b="0">
                <a:solidFill>
                  <a:srgbClr val="333333"/>
                </a:solidFill>
              </a:rPr>
              <a:t>▪ Directional spectrum (보조 지표) → 30+ comp에서</a:t>
            </a:r>
          </a:p>
          <a:p>
            <a:r>
              <a:rPr sz="1000" b="0">
                <a:solidFill>
                  <a:srgbClr val="333333"/>
                </a:solidFill>
              </a:rPr>
              <a:t>   R² 폭발 (peak alignment 민감도, metric 한계)</a:t>
            </a:r>
          </a:p>
          <a:p>
            <a:r>
              <a:rPr sz="1000" b="0">
                <a:solidFill>
                  <a:srgbClr val="333333"/>
                </a:solidFill>
              </a:rPr>
              <a:t>▪ 진폭 감쇠 (Adam momentum 부호 진동)</a:t>
            </a:r>
          </a:p>
          <a:p>
            <a:r>
              <a:rPr sz="1000" b="0">
                <a:solidFill>
                  <a:srgbClr val="333333"/>
                </a:solidFill>
              </a:rPr>
              <a:t>▪ Nₜᵣᵤₑ ≥ 30 복잡 해상 → 성분 수 한계</a:t>
            </a:r>
          </a:p>
          <a:p>
            <a:r>
              <a:rPr sz="1000" b="0">
                <a:solidFill>
                  <a:srgbClr val="333333"/>
                </a:solidFill>
              </a:rPr>
              <a:t/>
            </a:r>
          </a:p>
          <a:p>
            <a:r>
              <a:rPr sz="1000" b="0">
                <a:solidFill>
                  <a:srgbClr val="333333"/>
                </a:solidFill>
              </a:rPr>
              <a:t>Hydrofoil 응용 한계</a:t>
            </a:r>
          </a:p>
          <a:p>
            <a:r>
              <a:rPr sz="1000" b="0">
                <a:solidFill>
                  <a:srgbClr val="333333"/>
                </a:solidFill>
              </a:rPr>
              <a:t>▪ BF4 E2E → 37% (direction error 전파)</a:t>
            </a:r>
          </a:p>
          <a:p>
            <a:r>
              <a:rPr sz="1000" b="0">
                <a:solidFill>
                  <a:srgbClr val="333333"/>
                </a:solidFill>
              </a:rPr>
              <a:t>▪ 2DOF (heave+pitch): roll은 별도 roll foil</a:t>
            </a:r>
          </a:p>
          <a:p>
            <a:r>
              <a:rPr sz="1000" b="0">
                <a:solidFill>
                  <a:srgbClr val="333333"/>
                </a:solidFill>
              </a:rPr>
              <a:t>▪ 선형 foil model (ventilation 간소화)</a:t>
            </a:r>
          </a:p>
          <a:p>
            <a:r>
              <a:rPr sz="1000" b="0">
                <a:solidFill>
                  <a:srgbClr val="333333"/>
                </a:solidFill>
              </a:rPr>
              <a:t/>
            </a:r>
          </a:p>
          <a:p>
            <a:r>
              <a:rPr sz="1000" b="0">
                <a:solidFill>
                  <a:srgbClr val="333333"/>
                </a:solidFill>
              </a:rPr>
              <a:t>공통 한계</a:t>
            </a:r>
          </a:p>
          <a:p>
            <a:r>
              <a:rPr sz="1000" b="0">
                <a:solidFill>
                  <a:srgbClr val="333333"/>
                </a:solidFill>
              </a:rPr>
              <a:t>▪ 시뮬레이션 전용 → 실측 검증 필요</a:t>
            </a:r>
          </a:p>
          <a:p>
            <a:r>
              <a:rPr sz="1000" b="0">
                <a:solidFill>
                  <a:srgbClr val="333333"/>
                </a:solidFill>
              </a:rPr>
              <a:t>▪ 선형 파도 모델 → Stokes-2+ 미반영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960120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05317"/>
                </a:solidFill>
              </a:rPr>
              <a:t>지금까지의 Contributions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32588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05317"/>
                </a:solidFill>
              </a:rPr>
              <a:t>[기본]</a:t>
            </a:r>
          </a:p>
          <a:p>
            <a:r>
              <a:rPr sz="1000" b="0">
                <a:solidFill>
                  <a:srgbClr val="333333"/>
                </a:solidFill>
              </a:rPr>
              <a:t>❶ Grid-free spectral 파면 추정</a:t>
            </a:r>
          </a:p>
          <a:p>
            <a:r>
              <a:rPr sz="1000" b="0">
                <a:solidFill>
                  <a:srgbClr val="333333"/>
                </a:solidFill>
              </a:rPr>
              <a:t>❷ Dispersion hard constraint (5N→4N)</a:t>
            </a:r>
          </a:p>
          <a:p>
            <a:r>
              <a:rPr sz="1000" b="0">
                <a:solidFill>
                  <a:srgbClr val="333333"/>
                </a:solidFill>
              </a:rPr>
              <a:t>❸ Adaptive N (pruning + growth)</a:t>
            </a:r>
          </a:p>
          <a:p>
            <a:r>
              <a:rPr sz="1000" b="0">
                <a:solidFill>
                  <a:srgbClr val="333333"/>
                </a:solidFill>
              </a:rPr>
              <a:t>❹ Geometry-aware confidence weighting</a:t>
            </a:r>
          </a:p>
          <a:p>
            <a:r>
              <a:rPr sz="1000" b="0">
                <a:solidFill>
                  <a:srgbClr val="333333"/>
                </a:solidFill>
              </a:rPr>
              <a:t>❺ Pre-specified 5-metric panel</a:t>
            </a:r>
          </a:p>
          <a:p>
            <a:r>
              <a:rPr sz="1000" b="0">
                <a:solidFill>
                  <a:srgbClr val="333333"/>
                </a:solidFill>
              </a:rPr>
              <a:t>❻ 24-config ETKF sweep (fair baseline)</a:t>
            </a:r>
          </a:p>
          <a:p>
            <a:r>
              <a:rPr sz="1000" b="0">
                <a:solidFill>
                  <a:srgbClr val="333333"/>
                </a:solidFill>
              </a:rPr>
              <a:t>❼ Spectral + Sparse + Forecast 3가지 능력</a:t>
            </a:r>
          </a:p>
          <a:p>
            <a:r>
              <a:rPr sz="1000" b="0">
                <a:solidFill>
                  <a:srgbClr val="333333"/>
                </a:solidFill>
              </a:rPr>
              <a:t/>
            </a:r>
          </a:p>
          <a:p>
            <a:r>
              <a:rPr sz="1100" b="1">
                <a:solidFill>
                  <a:srgbClr val="C05317"/>
                </a:solidFill>
              </a:rPr>
              <a:t>[응용]</a:t>
            </a:r>
          </a:p>
          <a:p>
            <a:r>
              <a:rPr sz="1000" b="0">
                <a:solidFill>
                  <a:srgbClr val="333333"/>
                </a:solidFill>
              </a:rPr>
              <a:t>❽ Dual-actuator wave-preview FF</a:t>
            </a:r>
          </a:p>
          <a:p>
            <a:r>
              <a:rPr sz="1000" b="0">
                <a:solidFill>
                  <a:srgbClr val="333333"/>
                </a:solidFill>
              </a:rPr>
              <a:t>❾ nRMSE tolerance + preview horizon 설계 지침</a:t>
            </a:r>
          </a:p>
          <a:p>
            <a:r>
              <a:rPr sz="1000" b="0">
                <a:solidFill>
                  <a:srgbClr val="333333"/>
                </a:solidFill>
              </a:rPr>
              <a:t>❿ E2E LiDAR → 추정 → 제어 파이프라인 실증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577840"/>
            <a:ext cx="8193024" cy="502920"/>
          </a:xfrm>
          <a:prstGeom prst="roundRect">
            <a:avLst/>
          </a:prstGeom>
          <a:solidFill>
            <a:srgbClr val="C05317"/>
          </a:solidFill>
          <a:ln>
            <a:solidFill>
              <a:srgbClr val="C053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WaveSplat: nRMSE 30.1%↓, ~10× faster, SS only+  |  Hydrofoil: aRMS 11~41%↓, BF3 E2E 92~96%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74641</TotalTime>
  <Words>403</Words>
  <Application>Microsoft Office PowerPoint</Application>
  <PresentationFormat>화면 슬라이드 쇼(4:3)</PresentationFormat>
  <Paragraphs>74</Paragraphs>
  <Slides>6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2" baseType="lpstr">
      <vt:lpstr>굴림</vt:lpstr>
      <vt:lpstr>Arial</vt:lpstr>
      <vt:lpstr>Arial Black</vt:lpstr>
      <vt:lpstr>Times New Roman</vt:lpstr>
      <vt:lpstr>Wingdings</vt:lpstr>
      <vt:lpstr>디자인 사용자 지정</vt:lpstr>
      <vt:lpstr>논문 주제 선정을 위한 Study  (Tentative) A study of integrated optimization method for Azipod electric propulsion ships   </vt:lpstr>
      <vt:lpstr>Contents</vt:lpstr>
      <vt:lpstr>Contents</vt:lpstr>
      <vt:lpstr>Principle to select a topic for research</vt:lpstr>
      <vt:lpstr>Contents</vt:lpstr>
      <vt:lpstr>Environmental regulations</vt:lpstr>
    </vt:vector>
  </TitlesOfParts>
  <Company>Univ.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Sogang</dc:creator>
  <cp:lastModifiedBy>박세용</cp:lastModifiedBy>
  <cp:revision>4613</cp:revision>
  <cp:lastPrinted>2021-11-03T00:28:46Z</cp:lastPrinted>
  <dcterms:created xsi:type="dcterms:W3CDTF">2007-03-29T05:53:49Z</dcterms:created>
  <dcterms:modified xsi:type="dcterms:W3CDTF">2026-05-02T18:12:55Z</dcterms:modified>
</cp:coreProperties>
</file>