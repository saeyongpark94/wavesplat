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안녕하세요, 서울대학교 조선해양공학과 박세용 입니다. 오늘 발표는 *희소한 LiDAR 점으로 해양 파도를 추정* 하는 연구입니다. 신현형 교수님 지도 하에 SNUTT 에서 진행 중이에요.</a:t>
            </a:r>
          </a:p>
          <a:p/>
          <a:p>
            <a:r>
              <a:t>발표는 약 20분.</a:t>
            </a:r>
          </a:p>
          <a:p/>
          <a:p>
            <a:r>
              <a:t>*핵심 메시지 미리* — *파도를 격자가 아닌 파라미터로 표현* 함으로써 *13 ms 안에 파도장 전체를 추정* 가능. 기존 EnKF 기반 방법 (Wang2025) 보다 *47배 빠르면서 정확도 16% 우수*.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발표는 5개 part:</a:t>
            </a:r>
          </a:p>
          <a:p/>
          <a:p>
            <a:r>
              <a:t>  1. *Introduction &amp; Motivation* — 왜 phase-resolved 파도 추정이 필요한가</a:t>
            </a:r>
          </a:p>
          <a:p>
            <a:r>
              <a:t>  2. *Related work* — 13편 정독 + 본 연구의 위치</a:t>
            </a:r>
          </a:p>
          <a:p>
            <a:r>
              <a:t>  3. *Method* — WaveSim 시뮬레이터 + WaveSplat 알고리즘</a:t>
            </a:r>
          </a:p>
          <a:p>
            <a:r>
              <a:t>  4. *Experiments &amp; Mechanism* — 12 episode 결과 + ablation</a:t>
            </a:r>
          </a:p>
          <a:p>
            <a:r>
              <a:t>  5. *Limitations &amp; Research plan* — 한계 + Hydrofoil 응용</a:t>
            </a:r>
          </a:p>
          <a:p/>
          <a:p>
            <a:r>
              <a:t>*Method 와 Experiments* 가 가장 중요한 part. 시간 부족 시 Related work 의 EnKF detail (p8) 과 Appendix C 는 *빠르게 넘어가도 됨*.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part — *Introduction &amp; Motivation*.</a:t>
            </a:r>
          </a:p>
          <a:p/>
          <a:p>
            <a:r>
              <a:t>통계 추정 (H_s, T_p) 으로는 부족한 응용 — *실시간 phase-resolved 추정* 이 필요한 이유와, 이 task 가 *희소 LiDAR + 실시간 + 2D directional* 의 세 조건 때문에 *왜 어려운지*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*파 추정의 한계 — 통계 vs phase-resolved*</a:t>
            </a:r>
          </a:p>
          <a:p/>
          <a:p>
            <a:r>
              <a:t>기존 산업 표준은 *통계 추정* (H_s, T_p, spectrum) — 선박 설계엔 충분하지만 *실시간 제어 (지금 어디에 어떤 파도?)* 응용엔 부족.</a:t>
            </a:r>
          </a:p>
          <a:p/>
          <a:p>
            <a:r>
              <a:t>본 연구는 *phase-resolved estimation* — 파도장 η(x, y, t) 직접 추정 — 을 목표로. BF4 sea state 라는 평균 대신 *30초 후 선수 100m 앞 0.8m 파도가 옴* 같은 구체 정보입니다.</a:t>
            </a:r>
          </a:p>
          <a:p/>
          <a:p>
            <a:r>
              <a:t>*응용 — Hydrofoil 선박 제어*</a:t>
            </a:r>
          </a:p>
          <a:p>
            <a:r>
              <a:t>화면 다이어그램이 응용 구조입니다. *Falcon K1 LiDAR (10 Hz)* → *WaveSplat* (spectral params 출력) → *Forward Predictor* (preview x_pre = x + V·t) → *IIR Low-Pass Filter* (α=0.05, noise rejection) → *Feedforward Gain* → *Foil Servo*. 동시에 *Ship IMU (heave, pitch)* → *PD Feedback Controller* → 합산.</a:t>
            </a:r>
          </a:p>
          <a:p/>
          <a:p>
            <a:r>
              <a:t>*핵심 — WaveSplat 이 미래 파도 정보를 미리 (preview) 제공* 함으로써 *파도 부딪히기 전에 fin 미리 조절* 가능. Feedback 만으로는 reactive 한계.</a:t>
            </a:r>
          </a:p>
          <a:p/>
          <a:p>
            <a:r>
              <a:t>[Q&amp;A]</a:t>
            </a:r>
          </a:p>
          <a:p>
            <a:r>
              <a:t>Q. 통계 추정이 부족하면 안전 마진을 늘리면 되지 않나?</a:t>
            </a:r>
          </a:p>
          <a:p>
            <a:r>
              <a:t>A. 설계는 그렇지만 *실시간 제어* 는 언제 큰 파도가 올지 모르면 fin 을 *항상 최대 두거나 느리게 반응* 해야 해서 성능 손실.</a:t>
            </a:r>
          </a:p>
          <a:p/>
          <a:p>
            <a:r>
              <a:t>Q. Falcon K1 사양?</a:t>
            </a:r>
          </a:p>
          <a:p>
            <a:r>
              <a:t>A. 152 채널 × 500 빔 = 76,000 ray/scan, 거리 10–250m, 파장 1550 nm (eye-safe), 10 Hz. 자동차 자율주행용이지만 해양에서도 사용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연구가 *어려운 이유 3가지*:</a:t>
            </a:r>
          </a:p>
          <a:p/>
          <a:p>
            <a:r>
              <a:t>*① 측정 데이터 부족 (sparse, non-uniform)* — LiDAR 76,000 ray 발사 후 *valid 점 frame 당 ~50개* 만 살아남음. *Raydrop* (매끄러운 수면은 빛이 다른 방향으로 반사) + *shadowing* (앞 파도가 뒤를 가림) 이 원인. 거리 따라 점밀도도 비균일 (가까울 수록 dense). 기존 wave estimation 은 *촘촘하고 균일한 측정 가정* — LiDAR 직접 적용 어려움.</a:t>
            </a:r>
          </a:p>
          <a:p/>
          <a:p>
            <a:r>
              <a:t>*② 실시간 제약* — 제어 루프 10 Hz → frame 당 *100 ms 이내* 필요. 기존 방법은 못 만족:</a:t>
            </a:r>
          </a:p>
          <a:p>
            <a:r>
              <a:t>  - EnKF (Ensemble Kalman Filter) — 50–300 시뮬레이션 다발, 수백 ms 이상</a:t>
            </a:r>
          </a:p>
          <a:p>
            <a:r>
              <a:t>  - PINN (Physics-Informed Neural Network) — instance 마다 30분 학습</a:t>
            </a:r>
          </a:p>
          <a:p>
            <a:r>
              <a:t>*Deterministic + closed-form* 추정이 필요.</a:t>
            </a:r>
          </a:p>
          <a:p/>
          <a:p>
            <a:r>
              <a:t>*③ 2D directional sea* — 실해는 *wind sea + swell* 가 여러 방향 혼재. *Wavenumber k 도 vector (k_x, k_y)*. 선행 연구는 대부분 1D 가정 (Klein 2020, Desmars 2023), 본 연구는 *2D 직접 처리*.</a:t>
            </a:r>
          </a:p>
          <a:p/>
          <a:p>
            <a:r>
              <a:t>*화면 사진* — 좌측 LiDAR mount 보트 (Avikus 시험선), 우측 실측 LiDAR scan.</a:t>
            </a:r>
          </a:p>
          <a:p/>
          <a:p>
            <a:r>
              <a:t>[Q&amp;A]</a:t>
            </a:r>
          </a:p>
          <a:p>
            <a:r>
              <a:t>Q. 50개 점으로 정말 파도 복원 가능?</a:t>
            </a:r>
          </a:p>
          <a:p>
            <a:r>
              <a:t>A. 한 frame 만으론 부족 — *multi-frame 누적 (10 frame × 50 = 500 점) + temporal coherence* 로 보완. Init 슬라이드에서 자세히.</a:t>
            </a:r>
          </a:p>
          <a:p/>
          <a:p>
            <a:r>
              <a:t>Q. PINN 이 30분 학습이라는데 한 번 학습해두면 되지 않나?</a:t>
            </a:r>
          </a:p>
          <a:p>
            <a:r>
              <a:t>A. PFT-PINN (Ehlers 2025) 의 경우 *instance 마다* — *새로운 sea state 마다 새로 학습*. 일반 ML 과 다른 PINN 의 특수성.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part — *Related work*.</a:t>
            </a:r>
          </a:p>
          <a:p/>
          <a:p>
            <a:r>
              <a:t>13편 정독 결과를 *5 카테고리* + *EnKF 두 그룹 상세* + *6 응용 매트릭스* 로 보여 드립니다. 정독 list 는 Appendix A 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*13편 prior art 의 5가지 접근법*</a:t>
            </a:r>
          </a:p>
          <a:p/>
          <a:p>
            <a:r>
              <a:t>*① 격자 기반 최적화* — Desmars 2018, 2020, 2023. 공간 + pre-defined wavenumber grid 위 variational optimization. 한계: *격자 사이 wavenumber 표현 불가*, 대부분 1D.</a:t>
            </a:r>
          </a:p>
          <a:p/>
          <a:p>
            <a:r>
              <a:t>*② 앙상블 칼만 필터 (EnKF/ETKF 계열)* — Wang &amp; Pan 2021/22, Feng Wang 2025, Yan 2025. *50–300 시뮬레이션 동시 실행 + 베이지안 update*. 변형:</a:t>
            </a:r>
          </a:p>
          <a:p>
            <a:r>
              <a:t>  - Wang &amp; Pan: *EnKF + HOS* (HOS = Higher-Order Spectral method, Dommermuth &amp; Yue 1987)</a:t>
            </a:r>
          </a:p>
          <a:p>
            <a:r>
              <a:t>  - Feng Wang: *ETKF + fuzzy R + Delaunay 보간*</a:t>
            </a:r>
          </a:p>
          <a:p>
            <a:r>
              <a:t>  - Yan: *VOF-EnKF + Navier-Stokes* — wave breaking 처리</a:t>
            </a:r>
          </a:p>
          <a:p>
            <a:r>
              <a:t>한계: *frame 당 수백 ms 이상* — real-time 불가, 대부분 1D.</a:t>
            </a:r>
          </a:p>
          <a:p/>
          <a:p>
            <a:r>
              <a:t>*③ 지도학습 신경망* — Ehlers 2023 의 *FNO (Fourier Neural Operator)*. 학습 후 1.9 ms 빠름. 한계: *HOS 3120 sample 학습 필요*, distribution shift, 1D, black-box.</a:t>
            </a:r>
          </a:p>
          <a:p/>
          <a:p>
            <a:r>
              <a:t>*④ 물리 기반 비지도 NN* — Ehlers 2025 의 *PFT-PINN (Physics-inspired Fourier Transform PINN)*. 학습 데이터 0개. 한계: *instance 마다 30분 학습*, buoy only.</a:t>
            </a:r>
          </a:p>
          <a:p/>
          <a:p>
            <a:r>
              <a:t>*⑤ 본 연구 — 연속 파라미터 추정 (off-grid)* — WaveSplat. 격자 없이 N 개 plane wave 파라미터 직접 추정. *&lt;100 ms + 2D directional + LiDAR raydrop* — *4 조건 동시 만족 첫 사례*. 한계: LWT 가정, *ε &lt; 0.07 까지만 신뢰*.</a:t>
            </a:r>
          </a:p>
          <a:p/>
          <a:p>
            <a:r>
              <a:t>[Q&amp;A]</a:t>
            </a:r>
          </a:p>
          <a:p>
            <a:r>
              <a:t>Q. HOS 가 뭔가?</a:t>
            </a:r>
          </a:p>
          <a:p>
            <a:r>
              <a:t>A. *Higher-Order Spectral method* — Stokes 4차까지 비선형 항 포함하는 wave evolution 방법. 정확하지만 비쌈.</a:t>
            </a:r>
          </a:p>
          <a:p/>
          <a:p>
            <a:r>
              <a:t>Q. 본 연구도 ε &lt; 0.07 한계가 있는데?</a:t>
            </a:r>
          </a:p>
          <a:p>
            <a:r>
              <a:t>A. 맞습니다. BF6+ 거친 sea 는 비선형 효과 커서 LWT 깨짐. *Stokes 2차 보정* 으로 범위 확장이 향후 과제.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*EnKF 기반 wave estimation 의 두 독립 그룹* — 특히 *우리 baseline 인 Feng Wang 2025 가 누구인지* 명확히 하기 위해.</a:t>
            </a:r>
          </a:p>
          <a:p/>
          <a:p>
            <a:r>
              <a:t>*그룹 1 — Wang &amp; Pan (Yulin Pan, U.Michigan)*</a:t>
            </a:r>
          </a:p>
          <a:p>
            <a:r>
              <a:t>  - 2021: *EnKF + HOS 첫 결합* — 분야의 foundational paper (JFM)</a:t>
            </a:r>
          </a:p>
          <a:p>
            <a:r>
              <a:t>  - 2022: IEnKF-HOS-C — wave + ocean current 동시 추정</a:t>
            </a:r>
          </a:p>
          <a:p>
            <a:r>
              <a:t>  - Sensor: X-band radar (shipborne)</a:t>
            </a:r>
          </a:p>
          <a:p/>
          <a:p>
            <a:r>
              <a:t>*그룹 2 — Feng Wang et al. (Harbin Engineering Univ., 중국)*</a:t>
            </a:r>
          </a:p>
          <a:p>
            <a:r>
              <a:t>  - 2025: *ETKF + fuzzy R + Delaunay 보간*</a:t>
            </a:r>
          </a:p>
          <a:p>
            <a:r>
              <a:t>  - 설정: Ne=300, 80×60 격자, dx ≈ 3m</a:t>
            </a:r>
          </a:p>
          <a:p>
            <a:r>
              <a:t>  - Sensor: Stereo camera + WASS (Wave Acquisition Stereo System, 이태리)</a:t>
            </a:r>
          </a:p>
          <a:p>
            <a:r>
              <a:t>  - 실측: Acqua Alta 해양 플랫폼 + 자체 2024 vessel</a:t>
            </a:r>
          </a:p>
          <a:p>
            <a:r>
              <a:t>  - *우리 baseline 의 직접 prior art* — GitHub 공개</a:t>
            </a:r>
          </a:p>
          <a:p/>
          <a:p>
            <a:r>
              <a:t>*본 연구의 baseline 재현 — 공정 비교를 위한 통일*</a:t>
            </a:r>
          </a:p>
          <a:p>
            <a:r>
              <a:t>  - 알고리즘 그대로 (Ne=300, 80×60, fuzzy R, Delaunay)</a:t>
            </a:r>
          </a:p>
          <a:p>
            <a:r>
              <a:t>  - 입력 sensor 통일 — *둘 다 LiDAR sim* (Wang 원논문은 stereo camera)</a:t>
            </a:r>
          </a:p>
          <a:p>
            <a:r>
              <a:t>  - Forecast model 통일 — HOS 대신 *linear dispersion* (WaveSplat 과 동일)</a:t>
            </a:r>
          </a:p>
          <a:p/>
          <a:p>
            <a:r>
              <a:t>*EnKF 류의 공통 한계*</a:t>
            </a:r>
          </a:p>
          <a:p>
            <a:r>
              <a:t>  - *격자 해상도* — 격자 밖 wavenumber 표현 불가 (~0.25 nRMSE floor)</a:t>
            </a:r>
          </a:p>
          <a:p>
            <a:r>
              <a:t>  - *Ensemble cost 632 ms/frame* — 100 ms 한계 6배 초과</a:t>
            </a:r>
          </a:p>
          <a:p>
            <a:r>
              <a:t>  - 대부분 1D</a:t>
            </a:r>
          </a:p>
          <a:p/>
          <a:p>
            <a:r>
              <a:t>[Q&amp;A]</a:t>
            </a:r>
          </a:p>
          <a:p>
            <a:r>
              <a:t>Q. 두 그룹의 차이는?</a:t>
            </a:r>
          </a:p>
          <a:p>
            <a:r>
              <a:t>A. Pan group 은 *forecast model (HOS) 개선* 중점, Feng Wang 은 *측정 시스템 (stereo camera + Delaunay) 통합* 중점. 우리는 *Feng Wang 의 공개 code* 채택.</a:t>
            </a:r>
          </a:p>
          <a:p/>
          <a:p>
            <a:r>
              <a:t>Q. *EnKF 와 ETKF 의 차이는?*</a:t>
            </a:r>
          </a:p>
          <a:p>
            <a:r>
              <a:t>A. *EnKF 는 관측에 noise 를 더해 ensemble 을 stochastic update, ETKF 는 transformation matrix 로 deterministic update — ETKF 가 sampling error 없고 더 robust 해서 최근 선호 (Feng Wang 2025 도 ETKF 채택).*</a:t>
            </a:r>
          </a:p>
          <a:p/>
          <a:p>
            <a:r>
              <a:t>Q. Stereo camera vs LiDAR 차이로 비교가 공정한가?</a:t>
            </a:r>
          </a:p>
          <a:p>
            <a:r>
              <a:t>A. 그래서 *둘 다 LiDAR sim 으로 통일*. *알고리즘 자체의 차이만* 비교한 결과.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*본 연구의 정확한 위치* — 6 응용 요구사항 × 5 baseline 매트릭스. 노란색 열이 WaveSplat.</a:t>
            </a:r>
          </a:p>
          <a:p/>
          <a:p>
            <a:r>
              <a:t>*6 요구사항*:</a:t>
            </a:r>
          </a:p>
          <a:p>
            <a:r>
              <a:t>  - *실시간 (&lt;100 ms)* — WaveSplat ✓, FNO ✓ (학습 후), 나머지 X</a:t>
            </a:r>
          </a:p>
          <a:p>
            <a:r>
              <a:t>  - *2D 방향성* — WaveSplat *유일 ✓*</a:t>
            </a:r>
          </a:p>
          <a:p>
            <a:r>
              <a:t>  - *파도 파쇄* — VOF-EnKF 만 ✓</a:t>
            </a:r>
          </a:p>
          <a:p>
            <a:r>
              <a:t>  - *유속장 (current)* — PFT-PINN, VOF-EnKF 만 ✓</a:t>
            </a:r>
          </a:p>
          <a:p>
            <a:r>
              <a:t>  - *학습 데이터 불필요* — WaveSplat ✓, EnKF 계열 모두 ✓</a:t>
            </a:r>
          </a:p>
          <a:p>
            <a:r>
              <a:t>  - *희소 LiDAR 모델* — WaveSplat *유일 ✓*</a:t>
            </a:r>
          </a:p>
          <a:p/>
          <a:p>
            <a:r>
              <a:t>*핵심 관찰*</a:t>
            </a:r>
          </a:p>
          <a:p>
            <a:r>
              <a:t>  - *어떤 방법도 모든 ✓ 못 받음* — 각자 다른 tradeoff</a:t>
            </a:r>
          </a:p>
          <a:p>
            <a:r>
              <a:t>  - 본 연구는 *real-time + 2D + 학습 불필요 + 희소 LiDAR — 4 조건 동시 만족 유일*</a:t>
            </a:r>
          </a:p>
          <a:p>
            <a:r>
              <a:t>  - 두 영역으로 나누면: *real-time control 영역 (WaveSplat, FNO)* vs *design-time analysis 영역 (VOF-EnKF, PFT-PINN)*. *경쟁 아닌 보완 관계*</a:t>
            </a:r>
          </a:p>
          <a:p/>
          <a:p>
            <a:r>
              <a:t>정직한 한계 — 파도 파쇄·유속장은 본 연구 *scope 밖*.</a:t>
            </a:r>
          </a:p>
          <a:p/>
          <a:p>
            <a:r>
              <a:t>[Q&amp;A]</a:t>
            </a:r>
          </a:p>
          <a:p>
            <a:r>
              <a:t>Q. 유속장 추정 안 하면 활용성 떨어지지 않나?</a:t>
            </a:r>
          </a:p>
          <a:p>
            <a:r>
              <a:t>A. 우리 응용 (hydrofoil 제어) 는 *파도 정보만으로 충분*. 유속장은 *별도 응용* — 본 연구는 제어 응용에 특화.</a:t>
            </a:r>
          </a:p>
          <a:p/>
          <a:p>
            <a:r>
              <a:t>Q. 거친 sea 못 다루면 한계 아닌가?</a:t>
            </a:r>
          </a:p>
          <a:p>
            <a:r>
              <a:t>A. *Hydrofoil 운용은 BF4-BF5 가 일반적* — 우리 신뢰 범위와 매칭 잘 맞음.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part — *Method*.</a:t>
            </a:r>
          </a:p>
          <a:p/>
          <a:p>
            <a:r>
              <a:t>*WaveSim 시뮬레이터* (데이터 생성) → *WaveSplat 알고리즘* (추정) 순서로 단계별. 여기가 가장 중요한 part 라 *천천히* 진행합니다.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WaveSim 시뮬레이터는 *JONSWAP 스펙트럼* 과 *Gerstner 파도 모델* 을 결합해 GT 파도장 을 만듭니다. *두 모델의 역할이 분리* 되어 있어요.</a:t>
            </a:r>
          </a:p>
          <a:p/>
          <a:p>
            <a:r>
              <a:t>*JONSWAP — 성분 sampling 담당 (episode 시작 시 한 번)*</a:t>
            </a:r>
          </a:p>
          <a:p>
            <a:r>
              <a:t>  - 입력: H_s, T_p, N (성분 수)</a:t>
            </a:r>
          </a:p>
          <a:p>
            <a:r>
              <a:t>  - 출력: N 개 wave 성분 (A_n, ω_n, k_n, φ_n)</a:t>
            </a:r>
          </a:p>
          <a:p/>
          <a:p>
            <a:r>
              <a:t>*Sampling 6단계*</a:t>
            </a:r>
          </a:p>
          <a:p/>
          <a:p>
            <a:r>
              <a:t>  *① 주파수 격자 분할*</a:t>
            </a:r>
          </a:p>
          <a:p>
            <a:r>
              <a:t>    - 범위 *[0.5·ω_p, 3·ω_p]* 를 N 개 bin 으로 균등 분할</a:t>
            </a:r>
          </a:p>
          <a:p>
            <a:r>
              <a:t>    - *왜 이 범위?* — peak 양옆 약 ±1.5 옥타브. 너무 긴 swell (사실상 정상상태) 과 너무 짧은 capillary wave (LiDAR 해상도 밖) 제외</a:t>
            </a:r>
          </a:p>
          <a:p>
            <a:r>
              <a:t>    - bin center 가 ω_n. *N=1 이면 1 bin → ω = 1.75·ω_p* 한 점</a:t>
            </a:r>
          </a:p>
          <a:p/>
          <a:p>
            <a:r>
              <a:t>  *② Spectrum 평가*</a:t>
            </a:r>
          </a:p>
          <a:p>
            <a:r>
              <a:t>    - 각 ω_n 에서 S(ω_n) 계산 (Goda 1988 형식 — 표준 JONSWAP 과 수학적 동등, 정규화 단순)</a:t>
            </a:r>
          </a:p>
          <a:p/>
          <a:p>
            <a:r>
              <a:t>  *③ Variance → Amplitude*</a:t>
            </a:r>
          </a:p>
          <a:p>
            <a:r>
              <a:t>    - A_n = √(2 · S(ω_n) · Δω_n)</a:t>
            </a:r>
          </a:p>
          <a:p>
            <a:r>
              <a:t>    - 이산 bin 의 variance 를 sine wave 진폭으로 변환</a:t>
            </a:r>
          </a:p>
          <a:p/>
          <a:p>
            <a:r>
              <a:t>  *④ H_s 정규화*</a:t>
            </a:r>
          </a:p>
          <a:p>
            <a:r>
              <a:t>    - sampling 후 *H_s 점검: 4·√(Σ A²/2)*</a:t>
            </a:r>
          </a:p>
          <a:p>
            <a:r>
              <a:t>    - 입력 H_s 와 차이 있으면 모든 A_n 일괄 scale</a:t>
            </a:r>
          </a:p>
          <a:p>
            <a:r>
              <a:t>    - *이산화 numerical error 보정* (연속 적분 ≠ 이산 합)</a:t>
            </a:r>
          </a:p>
          <a:p/>
          <a:p>
            <a:r>
              <a:t>  *⑤ Wavenumber 역풀이*</a:t>
            </a:r>
          </a:p>
          <a:p>
            <a:r>
              <a:t>    - 각 ω_n 에서 *분산관계* ω = √(g·k·tanh(k·d)) 로 k_n 결정</a:t>
            </a:r>
          </a:p>
          <a:p>
            <a:r>
              <a:t>    - *closed-form 역풀이 불가능* → *Newton-Raphson 수치 역풀이*</a:t>
            </a:r>
          </a:p>
          <a:p>
            <a:r>
              <a:t>    - 얕은 물 보정 포함 (default depth = 50 m)</a:t>
            </a:r>
          </a:p>
          <a:p/>
          <a:p>
            <a:r>
              <a:t>  *⑥ 방향 + 위상*</a:t>
            </a:r>
          </a:p>
          <a:p>
            <a:r>
              <a:t>    - 방향 θ_n: *Gaussian* (mean 0°, std 30°) → (k_xn, k_yn) = |k_n|·(cos, sin)</a:t>
            </a:r>
          </a:p>
          <a:p>
            <a:r>
              <a:t>    - 위상 φ_n: [0, 2π] uniform</a:t>
            </a:r>
          </a:p>
          <a:p>
            <a:r>
              <a:t>    - 마지막으로 *Gerstner Q 부여* — 성분별 + 전역 제약 (breaking 방지)</a:t>
            </a:r>
          </a:p>
          <a:p/>
          <a:p>
            <a:r>
              <a:t>*N 은 episode 마다 가변* — dataset 에 N=1, 2, 5, 15, 20, 30 → *complexity scale 별 알고리즘 평가*.</a:t>
            </a:r>
          </a:p>
          <a:p/>
          <a:p>
            <a:r>
              <a:t>*Gerstner — 매 time step 표면 계산 담당*</a:t>
            </a:r>
          </a:p>
          <a:p>
            <a:r>
              <a:t>  - Tessendorf (2001) 의 그래픽스 표준. *입자의 원/타원 궤적 운동* 까지 모사 (LWT 는 수면 변위만)</a:t>
            </a:r>
          </a:p>
          <a:p>
            <a:r>
              <a:t>  - JONSWAP 이 만든 N 개 성분을 받아 *N 개 Gerstner wave 중첩* 으로 η(x, y, t) 평가</a:t>
            </a:r>
          </a:p>
          <a:p>
            <a:r>
              <a:t>  - *Q (steepness)* — Q=0 이면 LWT, Q&gt;0 이면 약비선형</a:t>
            </a:r>
          </a:p>
          <a:p>
            <a:r>
              <a:t>  - *Q 는 동적 결정* — 큰 wave 에는 작게, 작은 wave 에는 크게</a:t>
            </a:r>
          </a:p>
          <a:p/>
          <a:p>
            <a:r>
              <a:t>*두 모델 결합 흐름*</a:t>
            </a:r>
          </a:p>
          <a:p>
            <a:r>
              <a:t>  ┌─ Episode 시작 ────────────────┐</a:t>
            </a:r>
          </a:p>
          <a:p>
            <a:r>
              <a:t>  │  JONSWAP → N 개 성분 sampling  │ ← 한 번만</a:t>
            </a:r>
          </a:p>
          <a:p>
            <a:r>
              <a:t>  │  (A, ω, k, Q, φ 고정)          │</a:t>
            </a:r>
          </a:p>
          <a:p>
            <a:r>
              <a:t>  └────────┬──────────────────────┘</a:t>
            </a:r>
          </a:p>
          <a:p>
            <a:r>
              <a:t>           ↓</a:t>
            </a:r>
          </a:p>
          <a:p>
            <a:r>
              <a:t>  ┌─ 매 time step ────────────────┐</a:t>
            </a:r>
          </a:p>
          <a:p>
            <a:r>
              <a:t>  │  Gerstner(components, x, y, t) │ ← 매 frame</a:t>
            </a:r>
          </a:p>
          <a:p>
            <a:r>
              <a:t>  │  → η_GT(x, y, t)               │</a:t>
            </a:r>
          </a:p>
          <a:p>
            <a:r>
              <a:t>  └────────────────────────────────┘</a:t>
            </a:r>
          </a:p>
          <a:p>
            <a:r>
              <a:t>즉 *JONSWAP 이 성분 만들고, Gerstner 가 매 frame 표면 계산*.</a:t>
            </a:r>
          </a:p>
          <a:p/>
          <a:p>
            <a:r>
              <a:t>*화면 그림* — 좌측 BF4 H_s ≈ 1.5m, N=5 복잡 pattern. 우측 BF3 N=1 단순 swell. *흰색 원이 LiDAR 점*.</a:t>
            </a:r>
          </a:p>
          <a:p/>
          <a:p>
            <a:r>
              <a:t>[Q&amp;A]</a:t>
            </a:r>
          </a:p>
          <a:p>
            <a:r>
              <a:t>Q. N=1 이면 wave 가 어떻게 1개만?</a:t>
            </a:r>
          </a:p>
          <a:p>
            <a:r>
              <a:t>A. JONSWAP 의 주파수 bin 을 *1개로 설정* → 단일 ω 한 점 sampling. *Peak 보다 약간 짧은 wave 1개* (정확히 ω = 1.75·ω_p). N 은 복잡도 평가용 인자.</a:t>
            </a:r>
          </a:p>
          <a:p/>
          <a:p>
            <a:r>
              <a:t>Q. Gerstner 가 비선형이면 WaveSplat 의 LWT 가정과 모델 mismatch 아닌가?</a:t>
            </a:r>
          </a:p>
          <a:p>
            <a:r>
              <a:t>A. 맞습니다. *데이터 생성은 Gerstner (약비선형), 추정 모델은 LWT* — 약간의 mismatch. ε &lt; 0.07 신뢰 범위 이유 중 하나.</a:t>
            </a:r>
          </a:p>
          <a:p/>
          <a:p>
            <a:r>
              <a:t>Q. 방향 분산을 Gaussian (cos²ˢ 아님) 으로 한 이유?</a:t>
            </a:r>
          </a:p>
          <a:p>
            <a:r>
              <a:t>A. *구현 단순성* — numpy `rng.normal` 한 줄. std 30° 가 cos²ˢ s≈4 와 유사한 수준의 mild spreading. 실용 차이 작음.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WaveSim 의 LiDAR 모사 — *Ray tracing* + *Raydrop 모델* 두 단계.</a:t>
            </a:r>
          </a:p>
          <a:p/>
          <a:p>
            <a:r>
              <a:t>*1단계 — Ray tracing*</a:t>
            </a:r>
          </a:p>
          <a:p>
            <a:r>
              <a:t>  - 각 ray 가 wave 표면 mesh 와 만나는 *first-hit 점 검출*</a:t>
            </a:r>
          </a:p>
          <a:p>
            <a:r>
              <a:t>  - *Möller-Trumbore (1997) ray-triangle intersection* — 그래픽스 표준 알고리즘 (게임 엔진, 영화 CG 사용)</a:t>
            </a:r>
          </a:p>
          <a:p/>
          <a:p>
            <a:r>
              <a:t>*2단계 — Raydrop 모델 (핵심)*</a:t>
            </a:r>
          </a:p>
          <a:p>
            <a:r>
              <a:t>  - 발상: 빛이 표면 부딪혔다고 *무조건 점 찍히는 게 아님*. *충분한 비율의 빛이 LiDAR receiver 방향으로 돌아와야* 점 생김. 매끄러운 수면은 *다른 방향으로 반사* 돼 안 돌아옴</a:t>
            </a:r>
          </a:p>
          <a:p>
            <a:r>
              <a:t>  - 세 단계:</a:t>
            </a:r>
          </a:p>
          <a:p>
            <a:r>
              <a:t>    · *Snell 굴절*: sin θ_t = sin θ_i / n (n=1.321, water at 1550 nm)</a:t>
            </a:r>
          </a:p>
          <a:p>
            <a:r>
              <a:t>    · *Fresnel 반사율* R(θ_i) — s/p polarization 평균</a:t>
            </a:r>
          </a:p>
          <a:p>
            <a:r>
              <a:t>    · *LiDAR 검출 확률*: P = η · R · cos(θ_i) / (d/d_ref)²</a:t>
            </a:r>
          </a:p>
          <a:p>
            <a:r>
              <a:t>  - 1550 nm 는 eye-safe 파장, 자율주행 LiDAR 표준</a:t>
            </a:r>
          </a:p>
          <a:p/>
          <a:p>
            <a:r>
              <a:t>*결과* — 76,000 ray 발사 → *valid 점 ~50개* (0.06%). sparse 의 이유.</a:t>
            </a:r>
          </a:p>
          <a:p/>
          <a:p>
            <a:r>
              <a:t>*Vessel 정지 가정 (V=0)* — Dataset 은 정지 상태로 합성. *Multi-frame 효과는 wave 자체 시간 진화* 에서 옴. *Synthetic Aperture (SA, vessel 이동 기반 공간 분해능 향상)* 는 향후 연구.</a:t>
            </a:r>
          </a:p>
          <a:p/>
          <a:p>
            <a:r>
              <a:t>[Q&amp;A]</a:t>
            </a:r>
          </a:p>
          <a:p>
            <a:r>
              <a:t>Q. 1550 nm 를 쓴 이유?</a:t>
            </a:r>
          </a:p>
          <a:p>
            <a:r>
              <a:t>A. *Eye-safe* (망막 손상 없음) + 물 흡수 계수 적절. 자율주행 LiDAR 표준 파장.</a:t>
            </a:r>
          </a:p>
          <a:p/>
          <a:p>
            <a:r>
              <a:t>Q. Synthetic Aperture 가 정확히 뭔가?</a:t>
            </a:r>
          </a:p>
          <a:p>
            <a:r>
              <a:t>A. *센서 이동 = 가상의 큰 안테나 효과* — SAR 위성 원리. Vessel 이동 시 동일 원리로 *공간 해상도 향상*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*WaveSplat 알고리즘 본론* — 근본 발상은 *격자가 아닌 파라미터로 직접 표현*.</a:t>
            </a:r>
          </a:p>
          <a:p/>
          <a:p>
            <a:r>
              <a:t>*발상 전환*</a:t>
            </a:r>
          </a:p>
          <a:p>
            <a:r>
              <a:t>  - 기존 격자: 80×60 = *4800 격자점의 파고* 추정 — 미지수 4800개</a:t>
            </a:r>
          </a:p>
          <a:p>
            <a:r>
              <a:t>  - 우리: 실해 파도 = *N 개 sine wave 합*. N=10 이면 *4N = 40 변수* (분산관계로 ω 자동 → 5N에서 4N)</a:t>
            </a:r>
          </a:p>
          <a:p>
            <a:r>
              <a:t>  - *4800 vs 40 — 100배 자유도 감소* → LiDAR 50점으로 1:1 추정 가능</a:t>
            </a:r>
          </a:p>
          <a:p/>
          <a:p>
            <a:r>
              <a:t>*Wave field 표현*</a:t>
            </a:r>
          </a:p>
          <a:p>
            <a:r>
              <a:t>  η(x, y, t; θ) = Σ_n A_n · cos(k_xn·x + k_yn·y − ω_n·t + φ_n)</a:t>
            </a:r>
          </a:p>
          <a:p>
            <a:r>
              <a:t>  파라미터 θ = {A_n, k_xn, k_yn, φ_n}</a:t>
            </a:r>
          </a:p>
          <a:p/>
          <a:p>
            <a:r>
              <a:t>*분산관계 hard constraint*</a:t>
            </a:r>
          </a:p>
          <a:p>
            <a:r>
              <a:t>  ω(k) = √(g · |k| · tanh(|k| · d))</a:t>
            </a:r>
          </a:p>
          <a:p>
            <a:r>
              <a:t>  - *Hard constraint* 로 강제 → 자유도 5N → 4N, 비물리적 (k, ω) 자동 배제</a:t>
            </a:r>
          </a:p>
          <a:p>
            <a:r>
              <a:t>  - Soft (penalty) 와 달리 *모든 해가 물리적*</a:t>
            </a:r>
          </a:p>
          <a:p/>
          <a:p>
            <a:r>
              <a:t>*2단계 흐름*</a:t>
            </a:r>
          </a:p>
          <a:p>
            <a:r>
              <a:t>  - *Initialization (500 ms, 한 번만)*: beamforming + Adam optimizer</a:t>
            </a:r>
          </a:p>
          <a:p>
            <a:r>
              <a:t>  - *Tracking (매 frame, 13 ms)*: k 고정, (A, φ) 만 update + Adaptive N</a:t>
            </a:r>
          </a:p>
          <a:p>
            <a:r>
              <a:t>*무거운 작업은 처음 한 번, 가벼운 작업은 매 frame* — 핵심 디자인.</a:t>
            </a:r>
          </a:p>
          <a:p/>
          <a:p>
            <a:r>
              <a:t>[Q&amp;A]</a:t>
            </a:r>
          </a:p>
          <a:p>
            <a:r>
              <a:t>Q. N 을 미리 정해야 하나?</a:t>
            </a:r>
          </a:p>
          <a:p>
            <a:r>
              <a:t>A. *Init coarse-to-fine schedule (3→8→15)* 로 자동, *Track Adaptive N (3-30)* 으로 동적 조정. 미리 정할 필요 없음.</a:t>
            </a:r>
          </a:p>
          <a:p/>
          <a:p>
            <a:r>
              <a:t>Q. 분산관계를 hard constraint 로 한 이유?</a:t>
            </a:r>
          </a:p>
          <a:p>
            <a:r>
              <a:t>A. *물리 법칙 위반 방지*. Soft 면 작은 fit 이득에 위반 가능. Hard 면 모든 해가 물리적 → robust.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 의 도전 — *왜 multi-frame 이 필요한가*.</a:t>
            </a:r>
          </a:p>
          <a:p/>
          <a:p>
            <a:r>
              <a:t>*Spatial Nyquist 한계*</a:t>
            </a:r>
          </a:p>
          <a:p>
            <a:r>
              <a:t>  - LiDAR 점 간격 Δy ≈ 5–8 m → *k_max = π/Δy ≈ 0.4–0.6 rad/m*</a:t>
            </a:r>
          </a:p>
          <a:p>
            <a:r>
              <a:t>  - *Single-frame 추정 한계 ≈ 0.4 rad/m*</a:t>
            </a:r>
          </a:p>
          <a:p/>
          <a:p>
            <a:r>
              <a:t>*필요한 wavenumber 범위*</a:t>
            </a:r>
          </a:p>
          <a:p>
            <a:r>
              <a:t>  - BF3 짧은 wave: *k_max ≈ 1.16 rad/m* (Nyquist 의 약 3배)</a:t>
            </a:r>
          </a:p>
          <a:p>
            <a:r>
              <a:t>  - BF5-BF6 long wave: 대부분 Nyquist 이내</a:t>
            </a:r>
          </a:p>
          <a:p>
            <a:r>
              <a:t>  - 결과: *BF3 short component 만 single-frame 으로 추정 불가* — paradox</a:t>
            </a:r>
          </a:p>
          <a:p/>
          <a:p>
            <a:r>
              <a:t>*해결책 — Temporal Coherence*</a:t>
            </a:r>
          </a:p>
          <a:p>
            <a:r>
              <a:t>  - Vessel 정지에도 *wave 자체가 시간에 따라 propagate*</a:t>
            </a:r>
          </a:p>
          <a:p>
            <a:r>
              <a:t>  - η(x, t) 의 *t 진행이 phase 변화* 제공</a:t>
            </a:r>
          </a:p>
          <a:p>
            <a:r>
              <a:t>  - 여러 frame 의 *(x, y, t, η) 4D 데이터 + 분산관계 ω↔k 매핑* → wavenumber 모호성 해소</a:t>
            </a:r>
          </a:p>
          <a:p/>
          <a:p>
            <a:r>
              <a:t>*Init window 설정* — 길이 *2·T_p* (최대 20초). 여러 frame × 50 점 → *수천 개 4D 점 누적*.</a:t>
            </a:r>
          </a:p>
          <a:p/>
          <a:p>
            <a:r>
              <a:t>[Q&amp;A]</a:t>
            </a:r>
          </a:p>
          <a:p>
            <a:r>
              <a:t>Q. Single frame 으로 k 결정 불가가 Nyquist 때문?</a:t>
            </a:r>
          </a:p>
          <a:p>
            <a:r>
              <a:t>A. 네. 더 정확히 *FIM (Fisher Information Matrix) eigenvalue 분석* 에서도 *k 방향이 (A, φ) 방향보다 약 1000배 작음* — 데이터가 k 에 거의 둔감.</a:t>
            </a:r>
          </a:p>
          <a:p/>
          <a:p>
            <a:r>
              <a:t>Q. Aliasing 직관 설명?</a:t>
            </a:r>
          </a:p>
          <a:p>
            <a:r>
              <a:t>A. *바퀴 회전 영상에서 바퀴가 반대로 도는 것처럼 보이는* wagon-wheel effect. Under-sampling 으로 진짜/가짜 wavenumber 구별 불가.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 작동 방식 — *Beamforming → Adam → Coarse-to-fine N schedule*.</a:t>
            </a:r>
          </a:p>
          <a:p/>
          <a:p>
            <a:r>
              <a:t>*1단계 — Beamforming score (matched filter)*</a:t>
            </a:r>
          </a:p>
          <a:p>
            <a:r>
              <a:t>  S(k) = | Σ_i η_obs(x_i, t_i) · exp(−j(k·x_i − ω(k)·t_i)) |²</a:t>
            </a:r>
          </a:p>
          <a:p>
            <a:r>
              <a:t>  - i: init window 의 모든 점, *2D search (k_x, k_y) 만* (ω 는 dispersion 자동)</a:t>
            </a:r>
          </a:p>
          <a:p>
            <a:r>
              <a:t>  - *코러스 효과로 직관*: 합창단이 맞는 음 부르면 *N 배 보강*, 틀린 음 부르면 *random cancel → √N*. 맞는 k 가 peak 로 도드라짐</a:t>
            </a:r>
          </a:p>
          <a:p>
            <a:r>
              <a:t>  - Search range: k_x, k_y ∈ [−4, 4], *81×81 = 6,561 후보* → top-N peak 선택</a:t>
            </a:r>
          </a:p>
          <a:p/>
          <a:p>
            <a:r>
              <a:t>*2단계 — Adam optimizer 정밀화*</a:t>
            </a:r>
          </a:p>
          <a:p>
            <a:r>
              <a:t>  - *Adam = Adaptive Moment Estimation (Kingma &amp; Ba 2015)* — 신경망 학습 표준 optimizer</a:t>
            </a:r>
          </a:p>
          <a:p>
            <a:r>
              <a:t>  - Beamforming peak 는 격자 위 (Δk=0.1) 라 거침 → Adam 으로 정밀화</a:t>
            </a:r>
          </a:p>
          <a:p>
            <a:r>
              <a:t>  - *Loss = data fit + L1 sparsity + spectral smoothness* (3 항)</a:t>
            </a:r>
          </a:p>
          <a:p>
            <a:r>
              <a:t>    · *L_data*: confidence-weighted MSE</a:t>
            </a:r>
          </a:p>
          <a:p>
            <a:r>
              <a:t>    · *L_L1*: Σ |A_n| — 작은 amplitude 성분 제거 유도</a:t>
            </a:r>
          </a:p>
          <a:p>
            <a:r>
              <a:t>    · *L_smooth*: 인접 amplitude 차분 제곱 — spectrum 부드러움 유도</a:t>
            </a:r>
          </a:p>
          <a:p>
            <a:r>
              <a:t>  - 파라미터 (k_x, k_y, A, φ) 동시 update, *k 는 lr 절반 (0.005)* 으로 신중</a:t>
            </a:r>
          </a:p>
          <a:p/>
          <a:p>
            <a:r>
              <a:t>*3단계 — Coarse-to-fine N schedule*</a:t>
            </a:r>
          </a:p>
          <a:p>
            <a:r>
              <a:t>  - 성분 수 *3 → 8 → 15 점진 증가* — 큰 성분 먼저, 작은 성분 나중</a:t>
            </a:r>
          </a:p>
          <a:p>
            <a:r>
              <a:t>  - Stage advance 조건 (둘 중 하나): *Loss &lt; threshold* 또는 *max iter 도달*</a:t>
            </a:r>
          </a:p>
          <a:p/>
          <a:p>
            <a:r>
              <a:t>*화면 그림 — Two-Stage Beamforming*</a:t>
            </a:r>
          </a:p>
          <a:p>
            <a:r>
              <a:t>  - (a) 81×81 coarse → (b) peak 부근 zoom → (c) 41×41 fine (Δk=0.01)</a:t>
            </a:r>
          </a:p>
          <a:p>
            <a:r>
              <a:t>  - *True k 위치와 fine peak 가 거의 일치* — 정밀화 작동 확인</a:t>
            </a:r>
          </a:p>
          <a:p/>
          <a:p>
            <a:r>
              <a:t>[Q&amp;A]</a:t>
            </a:r>
          </a:p>
          <a:p>
            <a:r>
              <a:t>Q. Loss 가 Beamforming S(k) 와 같은 함수?</a:t>
            </a:r>
          </a:p>
          <a:p>
            <a:r>
              <a:t>A. *다른 함수*. S(k) 는 격자 search 의 매칭 점수, Loss 는 Adam 최적화의 fit 손실 (3항). 격자 search 후 Adam 으로 전환.</a:t>
            </a:r>
          </a:p>
          <a:p/>
          <a:p>
            <a:r>
              <a:t>Q. K 의 learning rate 가 절반인 이유?</a:t>
            </a:r>
          </a:p>
          <a:p>
            <a:r>
              <a:t>A. *K 변화 = wave 의 공간 주파수 자체 변경* — (A, φ) 같은 단순 진폭/위상보다 훨씬 sensitive. 신중한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단계 — *매 frame 13 ms 안에 끝나는 비결*. Adaptive N 도 이 단계.</a:t>
            </a:r>
          </a:p>
          <a:p/>
          <a:p>
            <a:r>
              <a:t>*핵심 — A_φ tracking mode (w_phi 모드)*</a:t>
            </a:r>
          </a:p>
          <a:p>
            <a:r>
              <a:t>  - *K 는 Init 에서 결정한 값으로 고정* — WaveSplat 의 가장 중요한 설계 결정</a:t>
            </a:r>
          </a:p>
          <a:p>
            <a:r>
              <a:t>  - *왜?* — 한 프레임으로는 k 결정 불가 (Nyquist). K 자유 시 50점에 *over-fit 해서 비물리적 발산*</a:t>
            </a:r>
          </a:p>
          <a:p>
            <a:r>
              <a:t>  - 결과: *k 고정, ω 는 dispersion 자동, (A, φ) 만 매 frame update* → 자유도 *2N*</a:t>
            </a:r>
          </a:p>
          <a:p>
            <a:r>
              <a:t>  - *w_phi 변수명*: 코드의 `self.w` = amplitude, `self.phi` = phase. (A, φ) 와 동일</a:t>
            </a:r>
          </a:p>
          <a:p/>
          <a:p>
            <a:r>
              <a:t>*Phase prediction (Adam 시작 전 kinematic preview)*</a:t>
            </a:r>
          </a:p>
          <a:p>
            <a:r>
              <a:t>  - 매 update 전: *φ_i ← φ_i + ω_i · Δt* 로 phase 미리 진행</a:t>
            </a:r>
          </a:p>
          <a:p>
            <a:r>
              <a:t>  - 이전 frame 의 (k, ω, φ) 가 맞다면 Δt 동안 phase 가 ω·Δt 진행했을 거란 prior 활용 → Adam *시작점을 정답에 가깝게*. *10 step 안에 수렴 가능*</a:t>
            </a:r>
          </a:p>
          <a:p/>
          <a:p>
            <a:r>
              <a:t>*Adam 설정* — lr 0.005, *10 step/frame* → 13 ms. *Tracking window 3 frames (FIFO buffer)* 로 안정적 gradient.</a:t>
            </a:r>
          </a:p>
          <a:p/>
          <a:p>
            <a:r>
              <a:t>*Adaptive N — 성분 수 동적 조정 (세 메커니즘)*</a:t>
            </a:r>
          </a:p>
          <a:p>
            <a:r>
              <a:t>  - *Pruning*: *cumulative energy 90% 이내만 유지* (energy = A_n², 큰 순서로 누적 90%). 작은 성분 = 노이즈 가능성 → 제거</a:t>
            </a:r>
          </a:p>
          <a:p>
            <a:r>
              <a:t>  - *Growth*: *residual RMS &gt; 0.05 m 시* 발동. *잔차에 beamforming 재적용* → 새 (k_x, k_y) 추출. 최대 30 개</a:t>
            </a:r>
          </a:p>
          <a:p>
            <a:r>
              <a:t>  - *Safety rollback*: 변경 전후 *RMS_after &gt; 1.3 × RMS_before* 시 *즉시 이전 상태 복구* — *cascade failure* 방지</a:t>
            </a:r>
          </a:p>
          <a:p/>
          <a:p>
            <a:r>
              <a:t>*RMS 정의* — *잔차 (residual) RMS*: √mean((η_pred − η_obs)²). *Adam Loss 와 다른 지표* — Loss 는 정규화 항 포함, RMS 는 순수 data fit.</a:t>
            </a:r>
          </a:p>
          <a:p/>
          <a:p>
            <a:r>
              <a:t>[Q&amp;A]</a:t>
            </a:r>
          </a:p>
          <a:p>
            <a:r>
              <a:t>Q. K 를 고정하면 wave 변할 때 못 따라가지 않나?</a:t>
            </a:r>
          </a:p>
          <a:p>
            <a:r>
              <a:t>A. *Wavenumber k 자체는 시간에 거의 안 변함*. 변하는 건 *amplitude A, phase φ* — 그래서 (A, φ) 만 update 해도 충분.</a:t>
            </a:r>
          </a:p>
          <a:p/>
          <a:p>
            <a:r>
              <a:t>Q. Rollback 의 1.3× threshold 근거?</a:t>
            </a:r>
          </a:p>
          <a:p>
            <a:r>
              <a:t>A. 실험적. 1.1× 너무 sensitive, 1.5× 너무 관대. 1.3× 가 sweet spot.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*WaveSplat 전체 흐름 다이어그램* — Init phase 와 Track phase 분리 구조.</a:t>
            </a:r>
          </a:p>
          <a:p/>
          <a:p>
            <a:r>
              <a:t>*Phase 1: Initialization (~500ms, 한 번만)*</a:t>
            </a:r>
          </a:p>
          <a:p>
            <a:r>
              <a:t>  1. 10-Frame Accumulation (1 s, 10 Hz)</a:t>
            </a:r>
          </a:p>
          <a:p>
            <a:r>
              <a:t>  2. Beamforming 2-stage (81×81 coarse → 41×41 fine)</a:t>
            </a:r>
          </a:p>
          <a:p>
            <a:r>
              <a:t>  3. Adaptive N (Prune + Grow, τ_R = 0.05 m)</a:t>
            </a:r>
          </a:p>
          <a:p>
            <a:r>
              <a:t>  4. C2F (Coarse-to-Fine) Optimization (N=3→8→15, Adam 600 iter)</a:t>
            </a:r>
          </a:p>
          <a:p>
            <a:r>
              <a:t>  - Parameters: *4N = {w_n, kx_n, ky_n, φ_n}*, Constraint: ω = √(g·|k|·tanh(|k|·d))</a:t>
            </a:r>
          </a:p>
          <a:p/>
          <a:p>
            <a:r>
              <a:t>*Phase 2: Tracking (~13 ms/frame, 매 frame)*</a:t>
            </a:r>
          </a:p>
          <a:p>
            <a:r>
              <a:t>  1. Predict (φ_i += ω_i · Δt, dispersion 기반 kinematic preview)</a:t>
            </a:r>
          </a:p>
          <a:p>
            <a:r>
              <a:t>  2. Sliding Window K_w = 3 frames (FIFO buffer)</a:t>
            </a:r>
          </a:p>
          <a:p>
            <a:r>
              <a:t>  3. Adam Update 10 steps (w, φ only — 2N parameters)</a:t>
            </a:r>
          </a:p>
          <a:p>
            <a:r>
              <a:t>  4. Output ẑ(x, y, t)</a:t>
            </a:r>
          </a:p>
          <a:p>
            <a:r>
              <a:t>  - Frozen: k_x, k_y / Updated: w, φ</a:t>
            </a:r>
          </a:p>
          <a:p/>
          <a:p>
            <a:r>
              <a:t>*Init → Track 전환점* — *k frozen, (w, φ) carry*. Track 중 *grow loop 로 N 동적 조정 가능*.</a:t>
            </a:r>
          </a:p>
          <a:p/>
          <a:p>
            <a:r>
              <a:t>*성능* — Init 500 ms (cold start, 한 번만), Track 13 ms/frame (초당 75 frame, 10 Hz 제어 충분).</a:t>
            </a:r>
          </a:p>
          <a:p/>
          <a:p>
            <a:r>
              <a:t>[Q&amp;A]</a:t>
            </a:r>
          </a:p>
          <a:p>
            <a:r>
              <a:t>Q. Init 500 ms 가 너무 긴 거 아닌가?</a:t>
            </a:r>
          </a:p>
          <a:p>
            <a:r>
              <a:t>A. *한 번만 발생*하는 cold start. 그 후 모든 frame 은 13 ms. Hydrofoil 처럼 *시작 시 천천히 가속* 응용엔 문제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 마지막 — *실제 추정 결과 한 case 시각화*.</a:t>
            </a:r>
          </a:p>
          <a:p/>
          <a:p>
            <a:r>
              <a:t>*Case 설정* — BF3 sea state, N=2 components, 한 frame. nRMSE = 0.217 (RMSE / std(GT)).</a:t>
            </a:r>
          </a:p>
          <a:p/>
          <a:p>
            <a:r>
              <a:t>*상단 row (2D heatmap)*</a:t>
            </a:r>
          </a:p>
          <a:p>
            <a:r>
              <a:t>  - 좌: Ground Truth — 대각선 wave pattern, *interference 무늬*</a:t>
            </a:r>
          </a:p>
          <a:p>
            <a:r>
              <a:t>  - 중: WaveSplat — 거의 동일한 패턴 재현</a:t>
            </a:r>
          </a:p>
          <a:p>
            <a:r>
              <a:t>  - 우: Error (GT − WaveSplat) — 색이 *매우 흐릿* (max ±0.06 m vs GT ±0.2 m)</a:t>
            </a:r>
          </a:p>
          <a:p/>
          <a:p>
            <a:r>
              <a:t>*하단 row (3D surface)*</a:t>
            </a:r>
          </a:p>
          <a:p>
            <a:r>
              <a:t>  - 입체로 본 GT vs WaveSplat — *crest line 방향과 amplitude envelope 모두 일치*</a:t>
            </a:r>
          </a:p>
          <a:p/>
          <a:p>
            <a:r>
              <a:t>*핵심 메시지* — *눈으로 봐도 거의 같음*. *발표 tip — 잠깐 멈추고 청자가 직접 좌우 비교* 하게 하면 효과적.</a:t>
            </a:r>
          </a:p>
          <a:p/>
          <a:p>
            <a:r>
              <a:t>[Q&amp;A]</a:t>
            </a:r>
          </a:p>
          <a:p>
            <a:r>
              <a:t>Q. 더 복잡한 case 는?</a:t>
            </a:r>
          </a:p>
          <a:p>
            <a:r>
              <a:t>A. 다음 슬라이드 (12-episode benchmark) 에서 N=1~30 까지 전부 비교. 여기는 *algorithm 작동 확인용 hero case*.</a:t>
            </a:r>
          </a:p>
          <a:p/>
          <a:p>
            <a:r>
              <a:t>Q. Frame 은 몇 번째?</a:t>
            </a:r>
          </a:p>
          <a:p>
            <a:r>
              <a:t>A. Tracking 200번째 (전체 301 frames 중) — *steady state 진입 후*.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part — *Experiments &amp; Mechanism*. *논문의 가장 중요한 part* — contribution 입증 핵심 데이터.</a:t>
            </a:r>
          </a:p>
          <a:p/>
          <a:p>
            <a:r>
              <a:t>두 슬라이드: *12-episode benchmark* + *Ablation study*.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*핵심 비교 결과*.</a:t>
            </a:r>
          </a:p>
          <a:p/>
          <a:p>
            <a:r>
              <a:t>*12 episode benchmark 평균 (BF2~BF5 sweep)*</a:t>
            </a:r>
          </a:p>
          <a:p>
            <a:r>
              <a:t>  - *WaveSplat*: nRMSE *0.211*, *13.4 ms/frame*</a:t>
            </a:r>
          </a:p>
          <a:p>
            <a:r>
              <a:t>  - *Wang2025 baseline (ETKF, Ne=300)*: nRMSE *0.253*, *632 ms/frame*</a:t>
            </a:r>
          </a:p>
          <a:p>
            <a:r>
              <a:t>  - *정확도 16% 우위 + 속도 47배 빠름* (CPU only)</a:t>
            </a:r>
          </a:p>
          <a:p>
            <a:r>
              <a:t>  - 13.4 ms = 초당 75 frame → 10 Hz 제어 여유 7배</a:t>
            </a:r>
          </a:p>
          <a:p/>
          <a:p>
            <a:r>
              <a:t>*Scatter plot — complexity vs accuracy*</a:t>
            </a:r>
          </a:p>
          <a:p>
            <a:r>
              <a:t>  - X = N (1~30), Y = nRMSE</a:t>
            </a:r>
          </a:p>
          <a:p>
            <a:r>
              <a:t>  - *파란 영역 (N 1–5, 단순 wave)*: WaveSplat *압도적 우위* — BF3 N=2 에서 0.052 vs 0.250 극단 차이</a:t>
            </a:r>
          </a:p>
          <a:p>
            <a:r>
              <a:t>  - *빨간 영역 (N ≥ 15, 복잡 wave)*: 일부 *역전* — Wang2025 가 격자에 모든 성분 담기 유리. BF4 N=15 에서 0.302 vs 0.249</a:t>
            </a:r>
          </a:p>
          <a:p/>
          <a:p>
            <a:r>
              <a:t>*하단 detail — BF3 N=2 의 3-way 비교*</a:t>
            </a:r>
          </a:p>
          <a:p>
            <a:r>
              <a:t>  - WaveSplat 0.217: *깔끔한 wave pattern*</a:t>
            </a:r>
          </a:p>
          <a:p>
            <a:r>
              <a:t>  - Wang2025 1.011: *noisy grid texture* — 격자 기반의 texture artifact 명확</a:t>
            </a:r>
          </a:p>
          <a:p/>
          <a:p>
            <a:r>
              <a:t>*핵심 메시지* — *Real-time control 영역 (단순 wave)* 에서 WaveSplat 압도적, *Design-time analysis 영역 (복잡 wave)* 에서 Wang2025 우위. *경쟁 아닌 보완 관계*.</a:t>
            </a:r>
          </a:p>
          <a:p/>
          <a:p>
            <a:r>
              <a:t>[Q&amp;A]</a:t>
            </a:r>
          </a:p>
          <a:p>
            <a:r>
              <a:t>Q. Statistical significance test?</a:t>
            </a:r>
          </a:p>
          <a:p>
            <a:r>
              <a:t>A. *Paired t-test p &lt; 0.05* — 평균 차이 통계적 유의. 다음 슬라이드 (Ablation) 에서 자세히.</a:t>
            </a:r>
          </a:p>
          <a:p/>
          <a:p>
            <a:r>
              <a:t>Q. 복잡 case 역전이 critical 한 문제 아닌가?</a:t>
            </a:r>
          </a:p>
          <a:p>
            <a:r>
              <a:t>A. *Hydrofoil 운용은 BF4-BF5 + N ≤ 15* 가 일반적 — 우리 응용 영역과 매칭 잘 맞음.</a:t>
            </a:r>
          </a:p>
          <a:p/>
          <a:p>
            <a:r>
              <a:t>Q. GPU 쓰면 Wang2025 도 빨라지지 않나?</a:t>
            </a:r>
          </a:p>
          <a:p>
            <a:r>
              <a:t>A. *CPU only 비교*. GPU 사용 시 둘 다 빨라지지만 *상대 차이 유사*. *Hydrofoil 선박은 embedded CPU* 라 CPU 비교가 현실적.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*Ablation study* — 각 기술 기여도 분리 검증.</a:t>
            </a:r>
          </a:p>
          <a:p/>
          <a:p>
            <a:r>
              <a:t>*4가지 변형 (12 episodes 평균)*</a:t>
            </a:r>
          </a:p>
          <a:p>
            <a:r>
              <a:t>  - *A* (FFT init, free omega, 1-frame): 0.213</a:t>
            </a:r>
          </a:p>
          <a:p>
            <a:r>
              <a:t>  - *B* (Beamform init, free omega, 3-frame): 0.208</a:t>
            </a:r>
          </a:p>
          <a:p>
            <a:r>
              <a:t>  - *C* (Beamform init, hard dispersion, *1-frame*): *0.226 — 오히려 악화!*</a:t>
            </a:r>
          </a:p>
          <a:p>
            <a:r>
              <a:t>  - *D = WaveSplat* (Beamform init, hard dispersion, 3-frame): 0.211</a:t>
            </a:r>
          </a:p>
          <a:p/>
          <a:p>
            <a:r>
              <a:t>*[발견 1] C 가 왜 악화 — Cascading failure*</a:t>
            </a:r>
          </a:p>
          <a:p>
            <a:r>
              <a:t>Single frame 에서 *k 부정확* → dispersion 으로 *잘못된 ω 결정* → 오류 cascading amplify. 즉 *물리 법칙은 데이터로 k 가 잘 잡혀야만 효과* — *multi-frame 없이 dispersion 만 강제하면 독약*.</a:t>
            </a:r>
          </a:p>
          <a:p/>
          <a:p>
            <a:r>
              <a:t>*[발견 2] D 의 안정성 — 시너지*</a:t>
            </a:r>
          </a:p>
          <a:p>
            <a:r>
              <a:t>Multi-frame 으로 *k 정확*, dispersion 으로 *ω 자동*. *두 메커니즘 결합 시 시너지*.</a:t>
            </a:r>
          </a:p>
          <a:p/>
          <a:p>
            <a:r>
              <a:t>*[발견 3] B vs D — 정직한 분석*</a:t>
            </a:r>
          </a:p>
          <a:p>
            <a:r>
              <a:t>  - 평균 차이 (0.003) 는 *통계적 무의미* — *paired t-test p = 0.88* (≫ 0.05)</a:t>
            </a:r>
          </a:p>
          <a:p>
            <a:r>
              <a:t>  - Episode 별 *6:6 무승부*</a:t>
            </a:r>
          </a:p>
          <a:p>
            <a:r>
              <a:t>  - *B std 0.099 &gt; D std 0.090* — D 가 더 *consistent*</a:t>
            </a:r>
          </a:p>
          <a:p>
            <a:r>
              <a:t>  - Worst case: *B 0.325 vs D 0.315* — D 가 더 *robust*</a:t>
            </a:r>
          </a:p>
          <a:p>
            <a:r>
              <a:t>  - B 의 약간 우세는 *합성 dataset 의 idealized (linear, noiseless) 조건 artifact*. *실해에서는 D 가 더 유리할 것으로 예상*</a:t>
            </a:r>
          </a:p>
          <a:p/>
          <a:p>
            <a:r>
              <a:t>*핵심 메시지* — 분산관계는 *마법이 아닌 정규화 역할*. *Multi-frame 과 함께 써야 효과*.</a:t>
            </a:r>
          </a:p>
          <a:p/>
          <a:p>
            <a:r>
              <a:t>[Q&amp;A]</a:t>
            </a:r>
          </a:p>
          <a:p>
            <a:r>
              <a:t>Q. B 가 평균 낫다는 건 dispersion 이 불필요하다는 뜻?</a:t>
            </a:r>
          </a:p>
          <a:p>
            <a:r>
              <a:t>A. 평균 0.003 차이는 *통계적 무의미*. (1) 분산 D 가 더 consistent, (2) worst-case D 가 더 robust, (3) 물리 일관성 D 가 ω↔k 보장 — 종합적으로 D 가 더 robust.</a:t>
            </a:r>
          </a:p>
          <a:p/>
          <a:p>
            <a:r>
              <a:t>Q. 12 episode 가 너무 적지 않나?</a:t>
            </a:r>
          </a:p>
          <a:p>
            <a:r>
              <a:t>A. 맞습니다. 110 episode 전체로 확장 분석 향후 예정.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part — *Limitations &amp; Research plan*. 정직한 한계 + Hydrofoil 응용.</a:t>
            </a:r>
          </a:p>
          <a:p/>
          <a:p>
            <a:r>
              <a:t>*신뢰도는 한계 인정에서 시작* — 비판적인 reviewer 도 *이미 인지한 한계* 는 추가 비판 어려움.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한계 3가지.</a:t>
            </a:r>
          </a:p>
          <a:p/>
          <a:p>
            <a:r>
              <a:t>*한계 1 — 선형 근사 (LWT)*</a:t>
            </a:r>
          </a:p>
          <a:p>
            <a:r>
              <a:t>  - 파도를 사인파 합으로 표현 → 실제 파도는 *crest 뾰족·trough 넓음* (Stokes 비선형)</a:t>
            </a:r>
          </a:p>
          <a:p>
            <a:r>
              <a:t>  - 정확도 순 (Klein 2020): *HOSM &gt; NLSE2 &gt; NLSE &gt; LWT*</a:t>
            </a:r>
          </a:p>
          <a:p>
            <a:r>
              <a:t>  - *ε = H_s · k_p / (2π) = H_s / λ_p* — 본 연구 신뢰 범위 *ε &lt; 0.07* (BF5 이하)</a:t>
            </a:r>
          </a:p>
          <a:p>
            <a:r>
              <a:t>  - 예: BF4 (H_s=1.5, T_p=6) → λ_p = 56m → *ε = 0.027* (신뢰 범위 내)</a:t>
            </a:r>
          </a:p>
          <a:p>
            <a:r>
              <a:t>  - *Stokes breaking limit ε ~ 0.142* — 이상에서 파도 깨짐</a:t>
            </a:r>
          </a:p>
          <a:p>
            <a:r>
              <a:t>  - *개선*: Stokes 2차 보정 → 범위 확장</a:t>
            </a:r>
          </a:p>
          <a:p/>
          <a:p>
            <a:r>
              <a:t>*한계 2 — 복잡한 파도 (≥15 components) 정확도 저하*</a:t>
            </a:r>
          </a:p>
          <a:p>
            <a:r>
              <a:t>  - BF4 15comp: WaveSplat 0.302 vs Wang2025 0.249 (*역전*)</a:t>
            </a:r>
          </a:p>
          <a:p>
            <a:r>
              <a:t>  - 원인: *Beamforming 의 다수 peak 분리 어려움*</a:t>
            </a:r>
          </a:p>
          <a:p>
            <a:r>
              <a:t>  - *개선*: *hybrid init* (격자 + 파라미터 정밀화) 2단계 초기화</a:t>
            </a:r>
          </a:p>
          <a:p/>
          <a:p>
            <a:r>
              <a:t>*한계 3 — Vessel 정지 가정 (V = 0)*</a:t>
            </a:r>
          </a:p>
          <a:p>
            <a:r>
              <a:t>  - 현재 dataset 정지 상태 → *Synthetic Aperture (SA) 미적용*</a:t>
            </a:r>
          </a:p>
          <a:p>
            <a:r>
              <a:t>  - Multi-frame 은 *wave 시간 진화* 로만 작동, *공간 aperture 는 LiDAR 가 한 번에 보는 영역* 으로 제한 → *매우 긴 wave 의 direction 분해능 저하*</a:t>
            </a:r>
          </a:p>
          <a:p>
            <a:r>
              <a:t>  - *개선*: vessel motion 도입 → V·T 만큼 SA 효과 (예: 10 m/s × 10s = 100m 추가)</a:t>
            </a:r>
          </a:p>
          <a:p/>
          <a:p>
            <a:r>
              <a:t>[Q&amp;A]</a:t>
            </a:r>
          </a:p>
          <a:p>
            <a:r>
              <a:t>Q. Stokes 2차 보정이 어떻게 ε 확장?</a:t>
            </a:r>
          </a:p>
          <a:p>
            <a:r>
              <a:t>A. LWT 는 1차 항만, Stokes 2차는 *2차 항 추가* → crest 뾰족·trough 넓음 표현. *ε &lt; 0.10 까지 확장 예상*.</a:t>
            </a:r>
          </a:p>
          <a:p/>
          <a:p>
            <a:r>
              <a:t>Q. Synthetic Aperture 정량 효과는?</a:t>
            </a:r>
          </a:p>
          <a:p>
            <a:r>
              <a:t>A. V = 10 m/s × T = 10 s = *100 m aperture 추가* → direction 분해능 약 2배 향상 예상. BF7 long wave 도 detectable 될 가능성.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*응용 사례 — Hydrofoil ship 제어 시험*.</a:t>
            </a:r>
          </a:p>
          <a:p/>
          <a:p>
            <a:r>
              <a:t>*Hydrofoil &amp; Wave*</a:t>
            </a:r>
          </a:p>
          <a:p>
            <a:r>
              <a:t>  - Hydrofoil 선박 = *수중 날개 (foil) 로 양력 만들어 부양* (AC75 요트, 고속 페리)</a:t>
            </a:r>
          </a:p>
          <a:p>
            <a:r>
              <a:t>  - *파도 만나면 lift 변동* → vessel heave/pitch 흔들림 → 승차감 저하</a:t>
            </a:r>
          </a:p>
          <a:p>
            <a:r>
              <a:t>  - 발상: *선수 방향 파도 정보 미리* → fin angle 선제 조절 → disturbance 상쇄</a:t>
            </a:r>
          </a:p>
          <a:p/>
          <a:p>
            <a:r>
              <a:t>*Simulation 구성*</a:t>
            </a:r>
          </a:p>
          <a:p>
            <a:r>
              <a:t>  - *2-DOF* — heave + pitch</a:t>
            </a:r>
          </a:p>
          <a:p>
            <a:r>
              <a:t>  - *Thin airfoil 가정* — 2D lift 모델 (cl_α = 2π·η, η ≈ 0.85). Specific NACA section 미적용 (deployment 단계 결정)</a:t>
            </a:r>
          </a:p>
          <a:p>
            <a:r>
              <a:t>  - *자유표면·ventilation 영향 포함*</a:t>
            </a:r>
          </a:p>
          <a:p>
            <a:r>
              <a:t>    · h/c &lt; 1 시 lift 감소</a:t>
            </a:r>
          </a:p>
          <a:p>
            <a:r>
              <a:t>    · h/c &lt; 0.3 시 *ventilation* — foil 위쪽 저압부가 수면 뚫고 공기 빨아들임 → 양력 손실. Hydrofoil 의 치명적 실패 모드</a:t>
            </a:r>
          </a:p>
          <a:p/>
          <a:p>
            <a:r>
              <a:t>*Controller logic flow* — LiDAR → WaveSplat → Forward Predictor → IIR LP Filter → Feedforward → Foil Servo (앞쪽). IMU → PD Feedback → Foil Servo (아래쪽). 합산.</a:t>
            </a:r>
          </a:p>
          <a:p/>
          <a:p>
            <a:r>
              <a:t>*현재 단계는 preliminary test* — 응용 가능성 확인 수준. 체계적 controller tuning + robustness 평가는 후속 연구.</a:t>
            </a:r>
          </a:p>
          <a:p/>
          <a:p>
            <a:r>
              <a:t>[Q&amp;A]</a:t>
            </a:r>
          </a:p>
          <a:p>
            <a:r>
              <a:t>Q. 왜 2-DOF 만? 실 선박은 6-DOF 인데.</a:t>
            </a:r>
          </a:p>
          <a:p>
            <a:r>
              <a:t>A. *Hydrofoil 제어 주 도메인이 heave + pitch*. Surge/sway/yaw/roll 은 별도 control surface 처리.</a:t>
            </a:r>
          </a:p>
          <a:p/>
          <a:p>
            <a:r>
              <a:t>Q. Real-time deployment 까지?</a:t>
            </a:r>
          </a:p>
          <a:p>
            <a:r>
              <a:t>A. 현재는 simulation. sensor noise 모델, vessel dynamics uncertainty, controller robustness, 실해 측정 — *최소 1년+ 후속 연구*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Hydrofoil 결과 — *PD vs PD+FF 직접 비교 영상*.</a:t>
            </a:r>
          </a:p>
          <a:p/>
          <a:p>
            <a:r>
              <a:t>*화면 구성*</a:t>
            </a:r>
          </a:p>
          <a:p>
            <a:r>
              <a:t>  - 위쪽: wave + vessel + foil 시각화</a:t>
            </a:r>
          </a:p>
          <a:p>
            <a:r>
              <a:t>  - 아래쪽: heave acceleration time series</a:t>
            </a:r>
          </a:p>
          <a:p>
            <a:r>
              <a:t>  - *빨간 = PD-only*, *초록 = PD + Feedforward (WaveSplat 사용)*</a:t>
            </a:r>
          </a:p>
          <a:p/>
          <a:p>
            <a:r>
              <a:t>*시각적 관찰* — PD+FF (초록) 가 PD-only (빨강) 보다 *진동이 명확히 작음*. *Vessel 이 덜 흔들림 → 승차감 향상*.</a:t>
            </a:r>
          </a:p>
          <a:p/>
          <a:p>
            <a:r>
              <a:t>*정량 결과*</a:t>
            </a:r>
          </a:p>
          <a:p>
            <a:r>
              <a:t>  - *aRMS (heave acceleration RMS)*: PD *0.090* m/s² → PD+FF *0.047* m/s² (*약 48% 감소*)</a:t>
            </a:r>
          </a:p>
          <a:p>
            <a:r>
              <a:t>  - *ISO 2631 ride comfort 기준* 에서 *체감 가능 수준* — uncomfortable → comfortable 영역 이동</a:t>
            </a:r>
          </a:p>
          <a:p/>
          <a:p>
            <a:r>
              <a:t>*다시 강조 — preliminary test* — *WaveSplat 정보가 제어에 도움이 된다는 proof-of-concept*. 실 deployment 에는 *robustness, sensor noise, vessel dynamics uncertainty* 추가 고려 필요.</a:t>
            </a:r>
          </a:p>
          <a:p/>
          <a:p>
            <a:r>
              <a:t>[Q&amp;A]</a:t>
            </a:r>
          </a:p>
          <a:p>
            <a:r>
              <a:t>Q. 48% 가 어디서?</a:t>
            </a:r>
          </a:p>
          <a:p>
            <a:r>
              <a:t>A. (0.090 − 0.047) / 0.090 ≈ 0.48. ISO 2631 의 uncomfortable 영역에서 comfortable 영역으로 진입.</a:t>
            </a:r>
          </a:p>
          <a:p/>
          <a:p>
            <a:r>
              <a:t>Q. Sensor noise 가 없는 ideal case?</a:t>
            </a:r>
          </a:p>
          <a:p>
            <a:r>
              <a:t>A. 네, *현재 ideal LiDAR (raydrop 모델만)*. Range noise, jitter 추가 시 aRMS 감소율 감소 가능. 후속 연구에서 다룰 예정.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발표를 마치겠습니다.</a:t>
            </a:r>
          </a:p>
          <a:p/>
          <a:p>
            <a:r>
              <a:t>*정리* — WaveSplat 은 *격자 없이 N 개 plane wave 파라미터 직접 추정* 하는 phase-resolved 알고리즘.</a:t>
            </a:r>
          </a:p>
          <a:p>
            <a:r>
              <a:t>  - *Real-time + 2D + sparse LiDAR + 학습 데이터 0 — 4 조건 동시 만족 첫 사례*</a:t>
            </a:r>
          </a:p>
          <a:p>
            <a:r>
              <a:t>  - *정확도 16% 우위 + 47배 빠름*</a:t>
            </a:r>
          </a:p>
          <a:p>
            <a:r>
              <a:t>  - *Hydrofoil 응용 heave aRMS 48% 감소*</a:t>
            </a:r>
          </a:p>
          <a:p/>
          <a:p>
            <a:r>
              <a:t>*한계 정직 공유* — LWT (ε &lt; 0.07), 복잡 case (N ≥ 15) 저하, vessel 정지 가정. *향후* — Stokes 2차, hybrid init, vessel motion SA, 실측 검증.</a:t>
            </a:r>
          </a:p>
          <a:p/>
          <a:p>
            <a:r>
              <a:t>*질문 환영합니다. 감사합니다.*</a:t>
            </a:r>
          </a:p>
          <a:p/>
          <a:p>
            <a:r>
              <a:t>[Q&amp;A 대응 원칙]</a:t>
            </a:r>
          </a:p>
          <a:p>
            <a:r>
              <a:t>  1. 모르면 *모른다* 정직히, 어디서 확인 가능한지 안내</a:t>
            </a:r>
          </a:p>
          <a:p>
            <a:r>
              <a:t>  2. Critical 한 한계 지적이면 *동의 + 향후 방향* 연결</a:t>
            </a:r>
          </a:p>
          <a:p>
            <a:r>
              <a:t>  3. Wang2025 vs WaveSplat 질문이면 *응용 영역 차이* 강조</a:t>
            </a:r>
          </a:p>
          <a:p>
            <a:r>
              <a:t>  4. 수식 세부 질문이면 *Appendix / paper* 참조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*[Q&amp;A 참조용] Appendix A — 정독한 13편 prior art 표*</a:t>
            </a:r>
          </a:p>
          <a:p/>
          <a:p>
            <a:r>
              <a:t>Sensor/data 기준 분류:</a:t>
            </a:r>
          </a:p>
          <a:p>
            <a:r>
              <a:t>  - *Sim only 4편*: Desmars 2018 (LiDAR), Desmars 2023 (X-band radar sim), Ehlers 2023 (FNO + X-band sim), Yan 2025 (VOF NWT)</a:t>
            </a:r>
          </a:p>
          <a:p>
            <a:r>
              <a:t>  - *실측 실험실 2편*: Desmars 2020, Ehlers 2025</a:t>
            </a:r>
          </a:p>
          <a:p>
            <a:r>
              <a:t>  - *실측 필드 2편*: Wang &amp; Pan 2022 (shipborne radar), Feng Wang 2025 (stereo camera at Acqua Alta)</a:t>
            </a:r>
          </a:p>
          <a:p>
            <a:r>
              <a:t>  - *혼합 2편*: Wang &amp; Pan 2021, Klein 2020</a:t>
            </a:r>
          </a:p>
          <a:p>
            <a:r>
              <a:t>  - *이론·algorithm 3편*: Hunt 2007 (LETKF), Tang 2013 (atomic norm CS), Möller-Trumbore 1997</a:t>
            </a:r>
          </a:p>
          <a:p/>
          <a:p>
            <a:r>
              <a:t>본 연구도 *현재 Sim only* — 실측 검증은 Phase 2.</a:t>
            </a:r>
          </a:p>
          <a:p/>
          <a:p>
            <a:r>
              <a:t>[Q&amp;A]</a:t>
            </a:r>
          </a:p>
          <a:p>
            <a:r>
              <a:t>Q. 가장 유사한 prior art?</a:t>
            </a:r>
          </a:p>
          <a:p>
            <a:r>
              <a:t>A. *Desmars 2023 (JFM 975)* — LiDAR + 격자 + variational. *Sensor 가 LiDAR 로 같음*. 단 1D + on-grid.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*[Q&amp;A 참조용] Appendix B — 110 episode 합성 dataset*</a:t>
            </a:r>
          </a:p>
          <a:p/>
          <a:p>
            <a:r>
              <a:t>*Sea state 별 구성*:</a:t>
            </a:r>
          </a:p>
          <a:p>
            <a:r>
              <a:t>  - BF2 (ε~0.02): N=1,2,5 × seed 0-4 → 15 ep</a:t>
            </a:r>
          </a:p>
          <a:p>
            <a:r>
              <a:t>  - BF3 (~0.03): N=1,2,5,15 → 20 ep</a:t>
            </a:r>
          </a:p>
          <a:p>
            <a:r>
              <a:t>  - BF4 (~0.05): N=5,15,20 → 15 ep</a:t>
            </a:r>
          </a:p>
          <a:p>
            <a:r>
              <a:t>  - BF5 (~0.07): N=5,15,20,30 → 20 ep</a:t>
            </a:r>
          </a:p>
          <a:p>
            <a:r>
              <a:t>  - BF6 (~0.08): N=15,20,30, seed 0 → 15 ep</a:t>
            </a:r>
          </a:p>
          <a:p>
            <a:r>
              <a:t>  - BF7 (~0.10): N=20,30 → 10 ep</a:t>
            </a:r>
          </a:p>
          <a:p>
            <a:r>
              <a:t>  - Calibration: 15 ep</a:t>
            </a:r>
          </a:p>
          <a:p>
            <a:r>
              <a:t>  - *Total: 110 episode*</a:t>
            </a:r>
          </a:p>
          <a:p/>
          <a:p>
            <a:r>
              <a:t>*ε 계산*: ε = H_s · k_p / (2π) = H_s / λ_p, k_p = (2π/T_p)²/g (deep water)</a:t>
            </a:r>
          </a:p>
          <a:p>
            <a:r>
              <a:t>  - ε &lt; 0.07 LWT 신뢰, ε ~ 0.142 Stokes breaking limit</a:t>
            </a:r>
          </a:p>
          <a:p/>
          <a:p>
            <a:r>
              <a:t>*Per episode* — 30s × 10 Hz = 301 frames, GT 80×60 격자 (240×200 m), LiDAR 76,000 ray → ~50 valid 점/frame. 전체 ~1.2 GB.</a:t>
            </a:r>
          </a:p>
          <a:p/>
          <a:p>
            <a:r>
              <a:t>[Q&amp;A]</a:t>
            </a:r>
          </a:p>
          <a:p>
            <a:r>
              <a:t>Q. BF6, BF7 도 포함됐는데 신뢰 범위는 BF5 까지?</a:t>
            </a:r>
          </a:p>
          <a:p>
            <a:r>
              <a:t>A. Dataset 에는 포함 — *failure mode 분석용*. 본 발표 *주 평가는 BF2~BF5* 영역.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*[Q&amp;A 참조용] Appendix C 1/5 — 단순 BF3 case*</a:t>
            </a:r>
          </a:p>
          <a:p/>
          <a:p>
            <a:r>
              <a:t>  - *BF3 N=2 (nRMSE 0.217)*: 대각선 wave, WaveSplat *거의 동일 재구성*, error 흐릿</a:t>
            </a:r>
          </a:p>
          <a:p>
            <a:r>
              <a:t>  - *BF3 N=5 (nRMSE 0.647)*: 5 성분, dominant 잡지만 *작은 성분 일부 누락*</a:t>
            </a:r>
          </a:p>
          <a:p/>
          <a:p>
            <a:r>
              <a:t>*nRMSE 값 해석 주의* — Appendix C 는 *snapshot (한 frame) 값*, main result 의 평균 (0.211) 과 다를 수 있음. *작은 wave 일수록 std(GT) 작아 nRMSE 분모 줄어듦*.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*[Q&amp;A 참조용] Appendix C 2/5 — 복잡 case*</a:t>
            </a:r>
          </a:p>
          <a:p/>
          <a:p>
            <a:r>
              <a:t>BF4 N=15 (nRMSE 1.302), BF5 N=15 (1.130), BF5 N=30 (1.186) — *15~30 성분 complex wave*.</a:t>
            </a:r>
          </a:p>
          <a:p/>
          <a:p>
            <a:r>
              <a:t>관찰: WaveSplat 이 *전반적인 wave 흐름은 잡지만 세밀한 패턴 일부 놓침*. *Beamforming 의 다수 peak 분리 한계*. 격자 방법 (Wang2025) 이 이 영역 유리.</a:t>
            </a:r>
          </a:p>
          <a:p/>
          <a:p>
            <a:r>
              <a:t>*향후 hybrid init 으로 개선 예정*.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*[Q&amp;A 참조용] Appendix C 3/5 — 단순 case 종합*</a:t>
            </a:r>
          </a:p>
          <a:p/>
          <a:p>
            <a:r>
              <a:t>BF2 N=1 (1.301), BF3 N=1 (0.713), BF3 N=2 (0.217), BF3 N=5 (0.647) — *2D heatmap + 3D surface*.</a:t>
            </a:r>
          </a:p>
          <a:p/>
          <a:p>
            <a:r>
              <a:t>*BF2 N=1 의 nRMSE 1.301* 주의 — BF2 자체가 *잔잔한 sea (H_s ~10cm)* 라 *GT std 작아 nRMSE 분모 작음* → 수치 artifact. 시각적으로는 *추정 자체 합리적*.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*[Q&amp;A 참조용] Appendix C 4/5 — BF4 의 3-way 비교*</a:t>
            </a:r>
          </a:p>
          <a:p/>
          <a:p>
            <a:r>
              <a:t>GT vs WaveSplat vs Wang 2025 (Ne=300) 한 frame 비교:</a:t>
            </a:r>
          </a:p>
          <a:p>
            <a:r>
              <a:t>  - BF4 N=1: WaveSplat 0.959 / Wang 1.054</a:t>
            </a:r>
          </a:p>
          <a:p>
            <a:r>
              <a:t>  - BF4 N=5: WaveSplat 0.616 / Wang 1.046 — *WaveSplat clean wave vs Wang grid texture* 차이 명확</a:t>
            </a:r>
          </a:p>
          <a:p>
            <a:r>
              <a:t>  - BF4 N=15: WaveSplat 1.302 / Wang 1.115 — 복잡 case 역전 영역</a:t>
            </a:r>
          </a:p>
          <a:p/>
          <a:p>
            <a:r>
              <a:t>*Wang panel 의 격자 noise* — 80×60 격자의 픽셀화 모양. WaveSplat 은 *parametric 이라 깔끔한 wave 만 출력*.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*[Q&amp;A 참조용] Appendix C 5/5 — 복잡 sea 의 3-way 비교*</a:t>
            </a:r>
          </a:p>
          <a:p/>
          <a:p>
            <a:r>
              <a:t>  - BF4 N=30: WaveSplat 1.365 / Wang 1.092 — WaveSplat 흐릿, peak 분리 한계</a:t>
            </a:r>
          </a:p>
          <a:p>
            <a:r>
              <a:t>  - BF5 N=15: WaveSplat 1.130 / Wang 1.127 — 거의 비슷</a:t>
            </a:r>
          </a:p>
          <a:p>
            <a:r>
              <a:t>  - BF5 N=30: WaveSplat 1.186 / Wang 1.107 — 최복잡, Wang 약간 우위</a:t>
            </a:r>
          </a:p>
          <a:p/>
          <a:p>
            <a:r>
              <a:t>*향후 hybrid init* — 격자로 energy 분포 잡고 + 파라미터로 정밀화 2단계 초기화 연구.</a:t>
            </a:r>
          </a:p>
          <a:p/>
          <a:p>
            <a:r>
              <a:t>[Q&amp;A]</a:t>
            </a:r>
          </a:p>
          <a:p>
            <a:r>
              <a:t>Q. BF5 N=30 같은 case 가 실제 발생?</a:t>
            </a:r>
          </a:p>
          <a:p>
            <a:r>
              <a:t>A. 드뭅니다 — realistic sea 는 N=5~15 일반적. BF5 N=30 은 알고리즘 stress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