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*wave 자체의 시간 진화* 와 파도의 분산 관계가 결합해서 LiDAR 의 공간 해상도 한계를 어떻게 우회하는지 (선박은 정지 가정)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(Feng Wang et al. 2025, Coastal Engineering 197) 가 0.253 입니다. Wang2025 는 — 앙상블 300 개, fuzzy R 적응 등 — 원논문 세팅을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FOV: −25° ~ 0° (수평선 아래 25° 까지 down-looking, surface 측정용).</a:t>
            </a:r>
          </a:p>
          <a:p>
            <a:r>
              <a:t>  - 152 채널 × 500 horizontal beam = 76,000 ray / scan, range 10–250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중요한 정정:</a:t>
            </a:r>
          </a:p>
          <a:p>
            <a:r>
              <a:t>  - 우리 110-episode dataset 의 default ship_speed = 0 kts (vessel 정지 상태) 입니다 (configs/default.yaml).</a:t>
            </a:r>
          </a:p>
          <a:p>
            <a:r>
              <a:t>  - 파도 field 는 world frame 격자 240 × 200 m (configs/default.yaml: x∈[10,250], y∈[−100,100]) 에 고정. GT grid 는 80×60 cells.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*같은 vessel 위치* 에서 *다른 phase 의 wave* 를 관측 — temporal coherence 가 multi-frame 효과의 원천.</a:t>
            </a:r>
          </a:p>
          <a:p>
            <a:r>
              <a:t>  - Future deployment 시 (V &gt; 0 kts) 추가 synthetic aperture 효과 — 현재는 미적용.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1.321 (코드 wavesim/raydrop_uniform.py:24, Seyond Falcon K1 spec).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*patch coverage 가 50–150 m* (실측, 5 개 episode 평균) 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JONSWAP 으로 BF3-BF6 dataset 의 wavenumber 분포를 실측하면 (configs/default.yaml, depth=50m, 30 components) — BF3 (Hs=0.6, Tp=5.5s) k=0.04–1.16 rad/m λ_peak=47m; BF4 (Hs=1.2, Tp=7s) k=0.03–0.72 rad/m λ_peak=77m; BF5 (Hs=2.0, Tp=9s) k=0.02–0.43 rad/m λ_peak=126m; BF6 (Hs=3.0, Tp=10s) k=0.02–0.35 rad/m λ_peak=156m (전부 Nyquist 이내). 즉 *BF3 의 short component tail (k &gt; 0.4 rad/m, 최대 ~2.9× Nyquist) 만 single-frame Nyquist 초과* 영역이고 BF5-BF6 dominant wave 는 본래 single-frame 으로도 충분합니다. 그래도 BF3 short tail 의 *Paradox* 는 유효합니다.</a:t>
            </a:r>
          </a:p>
          <a:p/>
          <a:p>
            <a:r>
              <a:t>**중요** — 우리 110-episode dataset 의 default vessel speed 는 **0 kts (정지)** 입니다 (configs/default.yaml ship_speed_kts=0). 그러므로 *우리 코드/실험에서 의존하는 것은 wave 자체의 시간 진화* 입니다. wave η(x, t) = A·cos(k·x − ω·t + φ) 의 *시간 t 의 진행* 이 매 frame 의 phase 를 변화시켜서, 같은 위치의 LiDAR 점이라도 frame 마다 *다른 phase 정보* 를 제공합니다.</a:t>
            </a:r>
          </a:p>
          <a:p/>
          <a:p>
            <a:r>
              <a:t>**우리 데이터에서 작동하는 본질** — *temporal coherence + dispersion 의 ω↔k 매핑* 입니다. Multi-frame 의 t 정보로 phase 변화를 sampling 하고, dispersion 으로 ω 와 k 를 결합하면 spatial Nyquist 한계를 우회할 수 있습니다. 다음 슬라이드의 beamforming score 식이 이를 정량으로 보여줍니다.</a:t>
            </a:r>
          </a:p>
          <a:p/>
          <a:p>
            <a:r>
              <a:t>**(Future work)** Vessel motion 기반 synthetic aperture (SAR-style) 는 *향후 연구* 로 분리합니다. Wiley 1954 의 SAR 원리를 ocean LiDAR 에 적용하면 V·T 만큼 추가 spatial coverage 가 생기지만, 현재 코드와 dataset 은 vessel 정지 가정이라 검증 못 했습니다. Future work 슬라이드 (page 25) 에서 다룰 예정입니다.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init window (2·Tp ≈ 11–20s) 의 5,500–10,000 점, ω(k) 는 분산 관계로 자동입니다. 실제 wave 방향이면 모든 점의 phase 가 *일치* 해서 합의 절댓값이 커지고, 다른 방향이면 random cancel 되어 작아지죠. 81×81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 — 단 코드에서 (k_x, k_y) 는 lr 의 절반 (0.005) 으로 천천히 update 합니다. 점진 정밀화는 *N (component 수) 의 증가* 로 — stage 1 (low N) → stage 2 (more N) → stage 3 (full N) — lr 자체는 self.lr=0.01 공유.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*왜 beamforming score 식이 그 형태인가* 를 유도로 설명드립니다. 청자가 'Σ η·exp(j(k·x − ω·t)) 의 절댓값 제곱이라는 식이 어디서 나왔는가?' 의문이 들 텐데요, 답은 *matched filter 원리* 입니다.</a:t>
            </a:r>
          </a:p>
          <a:p/>
          <a:p>
            <a:r>
              <a:t>직관부터 설명드리면 — 만약 실제 wave 가 우리가 가정한 (k, ω) 방향으로 진행한다면, 측정값 η_obs 는 A·cos(k·x − ω·t + φ) + 잡음 형태입니다. 여기에 가정한 (k, ω) 의 *phase factor exp(−j(k·x − ω·t))* 를 곱하면 cos 가 (1/2)·[exp(jφ) + exp(−j(2(k·x − ω·t) + φ))] 로 분해되고, 곱하면 첫 항은 *모든 점에서 동일한 (1/2)·A·exp(jφ)* 가 되고 둘째 항은 *2배 빠르게 oscillate* 합니다. 점들의 합을 취하면 첫 항은 *coherent 하게 더해져 NA/2* 가 되고, 둘째 항은 *cancel* 되어 0 에 가까워집니다.</a:t>
            </a:r>
          </a:p>
          <a:p/>
          <a:p>
            <a:r>
              <a:t>이게 *코러스 효과* 의 수학적 정확한 표현입니다. 맞는 (k, ω) 에서 신호가 *N 배 (점 수)* 증가하고, 잡음은 random phase 라 *√N 으로만* 증가하므로 SNR gain 이 N. 점 5,500–10,000 개 (init window 2·Tp) 면 약 37–40 dB gain — 매우 큰 SNR 향상입니다.</a:t>
            </a:r>
          </a:p>
          <a:p/>
          <a:p>
            <a:r>
              <a:t>이 form 이 표준인 이유는 — *matched filter 정리* (Turin 1960) 가 Gaussian 잡음 환경에서 SNR 을 최대화하는 *optimal filter* 가 정확히 이 형태임을 증명. *Delay-and-sum beamforming* (Kraus 1988, Van Trees 2002) 으로도 알려진 이 방법이 신호처리의 standard 입니다.</a:t>
            </a:r>
          </a:p>
          <a:p/>
          <a:p>
            <a:r>
              <a:t>Dispersion 의 critical 한 역할도 강조드립니다. Dispersion 없이 (ω 를 자유 파라미터로 두면) 3D search 가 필요해서 81³ ≈ 53 만 후보 — 계산 불가능. Dispersion 으로 ω 를 k 로부터 자동 결정하면 2D search 만 충분 → 81² = 6,561 후보 — 80 배 축소.</a:t>
            </a:r>
          </a:p>
          <a:p/>
          <a:p>
            <a:r>
              <a:t>다른 spectral estimation 방법과 비교도 의미 있습니다. *MUSIC, ESPRIT* 같은 subspace methods 는 더 정확하지만 covariance matrix 추정이 필요해서 sparse 점에 부적합. *Capon (MVDR)* 같은 adaptive beamforming 은 resolution 이 좋지만 ill-conditioning 우려. 우리 *delay-and-sum* 은 가장 단순하면서 robust 해서 init 단계로 적합하고, 그 후 Adam refinement 로 정밀화하는 hybrid 가 best of both worlds 입니다.</a:t>
            </a:r>
          </a:p>
          <a:p/>
          <a:p>
            <a:r>
              <a:t>Q&amp;A 시 청자가 'Capon 이나 MUSIC 도 시도했나?' 물으면 — '시도해봤지만 점이 너무 sparse 해서 covariance estimation 이 불안정. Delay-and-sum 의 단순성이 robustness 와 결합돼 우리 setup 에 더 적합' 정도로 답변.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*시간 정보 활용 (temporal coherence)* 입니다. 한 순간의 LiDAR 점 50 개만으로는 파도의 방향을 정확히 알기 어렵습니다. 하지만 *wave 자체가 시간에 따라 propagate* 하므로 — η(x, t) = A·cos(k·x − ω·t + φ) 의 t 진행이 매 frame 의 phase 를 변화시킵니다 — 여러 순간의 데이터를 모으면 같은 위치에서도 *다른 phase 정보* 를 얻을 수 있고요, dispersion 으로 ω 와 k 를 연결하면 wavenumber 모호성이 해소됩니다. 우리 dataset 의 vessel 은 정지 상태 (default 0 kts) 이고 코드도 정지 vessel 가정으로 작성/검증되어 있어서 *wave 자체의 시간 진화* 가 multi-frame 의 본질입니다. Vessel motion 기반 synthetic aperture (SAR-style) 는 현재 미적용이고 향후 연구 슬라이드 (page 25) 에서 별도로 다룹니다.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patch 가 50–150 m 정도로 wave 1–2 wavelength 만 담는 데다 점 간격 Δy ≈ 5–8 m 라 spatial Nyquist 가 약 0.4 rad/m — BF3 의 short component (k &gt; 0.4) 는 single frame 으로 못 잡습니다. 하지만 *wave 자체가 시간에 따라 propagate* 하므로 여러 순간의 데이터를 모으면 같은 위치에서도 *다른 phase 정보* 를 얻을 수 있고, dispersion 으로 ω 와 k 를 연결하면 파수 추정이 가능해집니다 (현재 dataset 의 vessel 은 정지 상태).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네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*Vessel 정지 가정* 입니다. *코드와 dataset 모두에서 SA 가 적용되어 있지 않다* 는 것을 3중으로 검증했습니다. 첫째 *코드 측* — wavesim/pipeline.py 96 행이 시간 loop *바깥* 에서 ray 를 1 회만 generate 하면서 ship_x=ship_y=0 으로 하드코딩되어 있고, 코멘트도 'ship is stationary' 라고 명시합니다. ship_speed_kts 라는 config field 는 정의만 되어 있고 어디에서도 읽히지 않는 dead config 입니다. 둘째 *dataset 측* — HDF5 에 per-frame ship 위치 field 자체가 존재하지 않습니다 (저장된 건 timestamps, lidar_points, gt_wave_field 정도). 셋째 *empirical 검증* — 한 episode (30 s, 301 frame) 의 lidar_points x_mean 변동이 std 1.68 m 정도인데, 만약 V=11.3 m/s 였다면 30 초 동안 339 m 이동했어야 하는 것과 명백히 모순됩니다. </a:t>
            </a:r>
          </a:p>
          <a:p/>
          <a:p>
            <a:r>
              <a:t>이게 의미하는 건 — 우리가 의존하는 mechanism 은 *순전히 wave 자체의 시간 진화 + dispersion* 이고, 실험 결과 (nRMSE 0.211, 12 episodes) 는 이 mechanism 만으로 BF3-BF6 영역에서 작동함을 empirically 증명합니다. 실측한 patch 크기는 약 50–150 m 이고 BF3-BF6 dominant wave 의 λ_peak 가 47 m (BF3), 77 m (BF4), 126 m (BF5), 156 m (BF6) 라서 patch 안에 1–3 wavelength 가 들어와 direction 추정에 충분합니다. 다만 *매우 긴 swell* (λ &gt; 250 m, BF5-BF6 의 long tail) 은 patch 가 sub-wavelength 영역에 가까워져 direction (kx, ky) 해상도가 떨어질 수 있습니다. dispersion 으로 |k| 는 잡혀도 방향 ambiguity 가 남는 거죠. 이걸 해결하는 가장 자연스러운 방법이 vessel motion 으로 V·T 만큼 synthetic aperture 를 만드는 것이고, 이건 page 25 future work 슬라이드에서 다룹니다.</a:t>
            </a:r>
          </a:p>
          <a:p/>
          <a:p>
            <a:r>
              <a:t>네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네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*Vessel motion 기반 synthetic aperture* 입니다. 현재 코드와 dataset 은 모두 vessel 정지 (V=0 kts) 가정으로 만들어져 있어서 SA 효과는 검증된 적이 없습니다. Wiley 1954 의 SAR 원리에 따르면 vessel 이 V 의 속도로 T 시간 동안 이동하면 V·T 만큼 추가 spatial coverage 가 생기고, 이것이 wave 의 시간 진화와 결합되면 wavenumber 분해능이 더 향상될 수 있습니다. Ship-mounted LiDAR 에서 SA 를 적용한 사례는 아직 없어서, 우리가 첫 시도가 될 수 있습니다.</a:t>
            </a:r>
          </a:p>
          <a:p/>
          <a:p>
            <a:r>
              <a:t>네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*Sensor / Data 컬럼* 이 새로 추가되었습니다 — 각 paper 가 어떤 센서를 가정하고 (실측인지 sim only 인지) 어떤 데이터로 검증했는지 명시합니다. 핵심 관찰:</a:t>
            </a:r>
          </a:p>
          <a:p>
            <a:r>
              <a:t>  - **Sim only 4편**: Desmars 2018, Desmars 2023 (3 type synthetic), Ehlers 2023 (FNO, HOS+geom radar synth), Yan 2025 (VOF NWT 합성)</a:t>
            </a:r>
          </a:p>
          <a:p>
            <a:r>
              <a:t>  - **실측 (실험실 wave flume/tank) 2편**: Desmars 2020 (wave gauge array), Ehlers 2025 (MARATHON laboratory flume)</a:t>
            </a:r>
          </a:p>
          <a:p>
            <a:r>
              <a:t>  - **실측 (필드/플랫폼) 2편**: Wang &amp; Pan 2022 (shipborne radar), Feng Wang 2025 (Acqua Alta 해양 플랫폼 stereo camera + 자체 2024 vessel)</a:t>
            </a:r>
          </a:p>
          <a:p>
            <a:r>
              <a:t>  - **혼합 (sim + 실측)**: Wang &amp; Pan 2021 (HOS sim + 실측 radar), Klein 2020 (sim + semi-exp)</a:t>
            </a:r>
          </a:p>
          <a:p>
            <a:r>
              <a:t>  - 우리 *WaveSplat 도 현재 Sim only* (110 episode 합성 dataset). 실측 검증은 future work (page 25 방향 4)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Tang-Bhaskar-Shah-Recht 2013 (IEEE TIT 59) 의 atomic norm off-grid CS 이론은 우리 parametric 접근의 영감이고, Möller-Trumbore 1997 의 ray-triangle intersection 은 WaveSim ray tracing 의 표준입니다. Hunt 2007 (Physica D 230)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301 개입니다. Ground-truth η field 80×60 격자 (240 × 200 m 영역) 가 평가 시 참값이고, LiDAR scan 은 raydrop / shadowing / Fresnel 적용 후 frame 당 50 점 정도 valid 합니다. HDF5 format 으로 총 110 episode 1.2 GB.</a:t>
            </a:r>
          </a:p>
          <a:p/>
          <a:p>
            <a:r>
              <a:t>Reproducibility 는 보장됩니다. Seed 저장, Wave generator (Gerstner+JONSWAP) 와 LiDAR raydrop 모두 deterministic, 그리고 49 (wavesim) + 51 (wavesplat) = 100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544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Calibri"/>
              </a:defRPr>
            </a:pPr>
            <a: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Calibri"/>
              </a:defRPr>
            </a:pPr>
            <a: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Calibri"/>
              </a:defRPr>
            </a:pPr>
            <a: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Calibri"/>
              </a:defRPr>
            </a:pPr>
            <a: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Calibri"/>
              </a:defRPr>
            </a:pPr>
            <a: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Calibri"/>
              </a:defRPr>
            </a:pPr>
            <a: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Calibri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023360"/>
            <a:ext cx="3657600" cy="12893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/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1828800"/>
            <a:ext cx="3840480" cy="25639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43600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50292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864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WaveSplat</a:t>
            </a:r>
            <a:r>
              <a:rPr sz="1300" b="0">
                <a:solidFill>
                  <a:srgbClr val="1A1A2E"/>
                </a:solidFill>
                <a:latin typeface="Calibri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91640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2576"/>
                <a:gridCol w="2322576"/>
                <a:gridCol w="2322576"/>
                <a:gridCol w="2322576"/>
                <a:gridCol w="2322576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Calibri"/>
              </a:defRPr>
            </a:pPr>
            <a: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Calibri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0">
                <a:solidFill>
                  <a:srgbClr val="1A1A2E"/>
                </a:solidFill>
                <a:latin typeface="Calibri"/>
              </a:rPr>
              <a:t>Sensor: </a:t>
            </a:r>
            <a:r>
              <a:rPr sz="1200" b="1">
                <a:solidFill>
                  <a:srgbClr val="1A1A2E"/>
                </a:solidFill>
                <a:latin typeface="Calibri"/>
              </a:rPr>
              <a:t>X-band radar</a:t>
            </a:r>
            <a:r>
              <a:rPr sz="1200" b="0">
                <a:solidFill>
                  <a:srgbClr val="1A1A2E"/>
                </a:solidFill>
                <a:latin typeface="Calibri"/>
              </a:rPr>
              <a:t> | Data: 합성 (HOS) +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실측 shipborne radar</a:t>
            </a:r>
            <a:r>
              <a:rPr sz="1200" b="0">
                <a:solidFill>
                  <a:srgbClr val="1A1A2E"/>
                </a:solidFill>
                <a:latin typeface="Calibri"/>
              </a:rPr>
              <a:t> (2022)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</a:t>
            </a:r>
            <a:r>
              <a:rPr sz="1200" b="0">
                <a:solidFill>
                  <a:srgbClr val="1A1A2E"/>
                </a:solidFill>
                <a:latin typeface="Calibri"/>
              </a:rPr>
              <a:t>Sensor: </a:t>
            </a:r>
            <a:r>
              <a:rPr sz="1200" b="1">
                <a:solidFill>
                  <a:srgbClr val="1A1A2E"/>
                </a:solidFill>
                <a:latin typeface="Calibri"/>
              </a:rPr>
              <a:t>Stereo camera (WASS)</a:t>
            </a:r>
            <a:r>
              <a:rPr sz="1200" b="0">
                <a:solidFill>
                  <a:srgbClr val="1A1A2E"/>
                </a:solidFill>
                <a:latin typeface="Calibri"/>
              </a:rPr>
              <a:t> | Data: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실측</a:t>
            </a:r>
            <a:r>
              <a:rPr sz="1200" b="0">
                <a:solidFill>
                  <a:srgbClr val="1A1A2E"/>
                </a:solidFill>
                <a:latin typeface="Calibri"/>
              </a:rPr>
              <a:t> (Acqua Alta 해양 플랫폼 + 자체 2024)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Calibri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Calibri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Calibri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우리 baseline 의 직접 prior art (etkf_wang2025.py 가 알고리즘만 재현, 입력은 LiDAR sim)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Calibri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Calibri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Calibri"/>
              </a:rPr>
              <a:t>0.211</a:t>
            </a:r>
            <a:r>
              <a:rPr sz="1200" b="0">
                <a:solidFill>
                  <a:srgbClr val="1A1A2E"/>
                </a:solidFill>
                <a:latin typeface="Calibri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WaveSplat: </a:t>
            </a:r>
            <a:r>
              <a:rPr sz="1200" b="1">
                <a:solidFill>
                  <a:srgbClr val="1A1A2E"/>
                </a:solidFill>
                <a:latin typeface="Calibri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Calibri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Ehlers et al. 2025 (arXiv:2501.08430)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7040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Calibri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Sensor: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gauge</a:t>
            </a:r>
            <a:r>
              <a:rPr sz="1200" b="0">
                <a:solidFill>
                  <a:srgbClr val="1A1A2E"/>
                </a:solidFill>
                <a:latin typeface="Calibri"/>
              </a:rPr>
              <a:t> (point sensor) | Data: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실측 (실험실 wave flume)</a:t>
            </a:r>
            <a:r>
              <a:rPr sz="1200" b="0">
                <a:solidFill>
                  <a:srgbClr val="1A1A2E"/>
                </a:solidFill>
                <a:latin typeface="Calibri"/>
              </a:rPr>
              <a:t> + analytical PFT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Calibri"/>
              </a:rPr>
              <a:t> (MARATHON laboratory,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0" y="1280160"/>
            <a:ext cx="4023360" cy="2414016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Calibri"/>
              </a:defRPr>
            </a:pPr>
            <a: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605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Calibri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1D + t</a:t>
            </a:r>
            <a:r>
              <a:rPr sz="1200" b="0">
                <a:solidFill>
                  <a:srgbClr val="1A1A2E"/>
                </a:solidFill>
                <a:latin typeface="Calibri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321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Calibri"/>
              </a:defRPr>
            </a:pPr>
            <a: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Calibri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Calibri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0">
                <a:solidFill>
                  <a:srgbClr val="1A1A2E"/>
                </a:solidFill>
                <a:latin typeface="Calibri"/>
              </a:rPr>
              <a:t>Ours: </a:t>
            </a:r>
            <a:r>
              <a:rPr sz="1200" b="1">
                <a:solidFill>
                  <a:srgbClr val="1A1A2E"/>
                </a:solidFill>
                <a:latin typeface="Calibri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Calibri"/>
              </a:rPr>
              <a:t>, </a:t>
            </a:r>
            <a:r>
              <a:rPr sz="1200" b="1">
                <a:solidFill>
                  <a:srgbClr val="1A1A2E"/>
                </a:solidFill>
                <a:latin typeface="Calibri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위협</a:t>
            </a:r>
            <a:r>
              <a:rPr sz="1200" b="0">
                <a:solidFill>
                  <a:srgbClr val="1A1A2E"/>
                </a:solidFill>
                <a:latin typeface="Calibri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8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303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Calibri"/>
              </a:defRPr>
            </a:pPr>
            <a: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Calibri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Calibri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</a:t>
            </a:r>
            <a:r>
              <a:rPr sz="900" b="0">
                <a:solidFill>
                  <a:srgbClr val="1A1A2E"/>
                </a:solidFill>
                <a:latin typeface="Calibri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Calibri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Calibri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/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• </a:t>
            </a:r>
            <a:r>
              <a:rPr sz="900" b="1">
                <a:solidFill>
                  <a:srgbClr val="1A1A2E"/>
                </a:solidFill>
                <a:latin typeface="Calibri"/>
              </a:rPr>
              <a:t>Vessel motion (현재 dataset 가정)</a:t>
            </a:r>
            <a:r>
              <a:rPr sz="9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현재 110 episode 의 default: ship_speed = 0 kts (vessel 정지 상태, configs/default.yaml)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→ multi-frame stacking 의 효과는 *wave 자체의 시간 진화* 에서 옴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Calibri"/>
              </a:rPr>
              <a:t>   – Vessel motion 기반 synthetic aperture 는 *향후 연구* 로 분리 (page 25 Future work 참조)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011680"/>
            <a:ext cx="3474720" cy="23197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Calibri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1 (Snell): sin θ_t = sin θ_i / n   (n=1.321,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Calibri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검증</a:t>
            </a:r>
            <a:r>
              <a:rPr sz="1000" b="0">
                <a:solidFill>
                  <a:srgbClr val="1A1A2E"/>
                </a:solidFill>
                <a:latin typeface="Calibri"/>
              </a:rPr>
              <a:t>: 100 unit test (49 wavesim + 51 wavesplat) + 110 episode + sea trial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795527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828800"/>
            <a:ext cx="3474720" cy="14301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Nyquist 가 무엇인지 → 왜 0.4 rad/m 인지 → BF3 short tail 만 일부 초과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Single-frame LiDAR 의 정량 (실측)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Patch coverage ≈ 50–150 m, valid 점 ≈ 50 개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0.6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Calibri"/>
              </a:rPr>
              <a:t>0.4 rad/m</a:t>
            </a:r>
            <a:r>
              <a:rPr sz="1000" b="0">
                <a:solidFill>
                  <a:srgbClr val="1A1A2E"/>
                </a:solidFill>
                <a:latin typeface="Calibri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JONSWAP wavenumber 범위 (configs/default.yaml, depth=50m, 검증)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BF3 (Hs=0.6, Tp=5.5s): k = 0.04–1.16 rad/m, λ = 5.4–155 m, λ_peak ≈ 47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BF4 (Hs=1.2, Tp=7.0s): k = 0.027–0.72 rad/m, λ = 8.7–229 m, λ_peak ≈ 77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BF5 (Hs=2.0, Tp=9.0s): k = 0.019–0.43 rad/m, λ_peak ≈ 126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BF6 (Hs=3.0, Tp=10s): k = 0.017–0.35 rad/m, λ_peak ≈ 156 m (전부 Nyquist 이내)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BF3 short tail (k &gt; 0.4 rad/m, 최대 ~2.9× Nyquist) 만 single-frame Nyquist 초과 🚨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해결책 — Temporal coherence (시간 정보가 phase 기준점)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Vessel 이 정지해 있어도 *wave 자체의 시간 진화* 가 multi-frame 효과 제공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Wave propagation: η(x, t) = A·cos(k·x − ω·t + φ) 의 시간 t 가 *phase 변화* 를 만듦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frame 이 (x_i, y_i, t_i, η_i) 4D 점 — temporal coherence 로 wavenumber 모호성 해소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case 의 정량 (init window = 2·T_p, data_loader.py)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Multi-frame temporal sampling + dispersion 의 ω→k 매핑 → wavenumber 추정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window: 2·T_p ≈ 11–20 s = 110–200 frames × ~50 점 = 5,500–10,000 (x, y, t, η) 4D 점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Spatial Nyquist 0.4 rad/m 우회 가능 (다음 슬라이드 score 식 참조)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Note</a:t>
            </a:r>
            <a:r>
              <a:rPr sz="1000" b="0">
                <a:solidFill>
                  <a:srgbClr val="1A1A2E"/>
                </a:solidFill>
                <a:latin typeface="Calibri"/>
              </a:rPr>
              <a:t> — Vessel motion 기반 synthetic aperture (SAR-style) 는 *향후 연구 (Future work)*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현재 코드/dataset 은 vessel 정지 가정. SA 추가 시 추가 분해능 향상 가능 → page 25 Future work 참조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Calibri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init window 의 모든 점 (2·T_p ≈ 11–20s, 110–200 frame × 50 점 ≈ 5,500–10,000)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Search range: k_x, k_y ∈ [-4, 4] rad/m, grid 81×81 = 6,561 후보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top-N peak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= L_data + L_L1 + L_smooth (3 항, 자세한 식은 Track slide page 15 참조)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파라미터: (k_x, k_y, A, φ) — multi-frame init window 전체에 fit (ω 는 dispersion 으로 자동)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Coarse-to-fine schedule: 3 stage 의 *N (component 수) 점진 증가* — N: 3 → 8 → 15 (config default)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lr 은 모든 stage 공유 (init_lr=0.01). Parameter group 별: (w, φ): 0.01 / (k_x, k_y): 0.005 (k 절반)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Max iter per stage: 200 / 200 / 500 = total 900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Init window 길이: tp_factor × T_p (default tp_factor=2.0)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Calibri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Init (3/3): Score 식이 *왜* 이렇게 정의되나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Beamforming Score 식의 유도 — phase coherence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matched filter 원리 — 맞는 (k, ω) 일 때 phase 가 정렬되어 신호가 강해짐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11430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핵심 직관 — matched filter 의 코러스 효과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실제 wave 가 (k, ω) 로 진행 → 측정값 η_obs(x_i, t_i) = A·cos(k·x_i − ω·t_i + φ) + noise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로 phase factor exp(−j(k·x − ω·t)) 곱하면: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η_obs · exp(−j(k·x − ω·t)) = (A/2)·[exp(jφ) + exp(−j(2(k·x − ω·t) + φ))] + noise·phase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첫 항 (jφ) 는 *모든 점에서 일정* → coherent sum (signal stack)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둘째 항은 oscillating → average 하면 cancel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noise 도 phase random → cancel (√N 으로만 증가)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Score 식 → coherent gain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S(k) = | Σ_i η_obs(x_i, t_i) · exp(−j(k·x_i − ω(k)·t_i))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맞는 (k, ω) 일 때: |Σ| ≈ N · A/2 · |exp(jφ)| = NA/2 → S = (NA/2)² ∝ N²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틀린 (k, ω) 일 때: |Σ| ≈ √N · noise (random phase) → S ∝ N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SNR gain = N²/N = N (점 수에 비례, 5,500–10,000 점이면 ~37–40 dB gain)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이 형태가 표준인가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Delay-and-sum beamforming (Kraus 1988, Van Trees 2002) — signal processing 의 standard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Matched filter 정리 (Turin 1960) — Gaussian noise 에서 SNR 최대화하는 optimal filter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단순하고 robust — covariance matrix 추정 불필요 (sparse 점에 적합)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Dispersion 으로 차원 축소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ω(k) = √(g·|k|·tanh(|k|·d)) 자동 결정 → 2D search (k_x, k_y) 만 (3D 가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Dispersion 없이 ω 자유 시: 3D (k_x, k_y, ω) search → 81³ = 531,441 후보 (불가)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→ Dispersion 강제로 6,561 후보로 80× 축소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다른 spectral estimation 방법과 비교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MUSIC, ESPRIT (subspace): 더 정확하나 covariance matrix 필요 → sparse 점 부적합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- Capon/MVDR (adaptive): 더 좋은 resolution 이지만 복잡 + ill-conditioning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- </a:t>
            </a:r>
            <a:r>
              <a:rPr sz="1000" b="1">
                <a:solidFill>
                  <a:srgbClr val="1A1A2E"/>
                </a:solidFill>
                <a:latin typeface="Calibri"/>
              </a:rPr>
              <a:t>우리 (delay-and-sum)</a:t>
            </a:r>
            <a:r>
              <a:rPr sz="1000" b="0">
                <a:solidFill>
                  <a:srgbClr val="1A1A2E"/>
                </a:solidFill>
                <a:latin typeface="Calibri"/>
              </a:rPr>
              <a:t>: 가장 단순, 가장 robust, init 단계로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Loss function (3 항: data fit + L1 + smoothness)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① Data fit (averaged, confidence-weighted):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L_data(θ) = (1/N_obs) · Σ_i c_i ·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i: 측정점, c_i = cos(θ_i)/(d_i/d_ref) clamped to [0,1] (d_ref=125m, 코드: model/confidence.py)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② Amplitude L1 sparsity (sparsity 유도):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L_L1 = λ_L1 · Σ_n |A_n|       (코드: lambda_l1 = 0.001)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③ Spectral smoothness (|k| 정렬 후 인접 amplitude 차분 제곱):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L_smooth = λ_smooth · Σ_n (A_{sorted}[n+1] − A_{sorted}[n])²   (lambda_smooth = 0.0001)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amplitudes 를 |k| 오름차순 정렬 후 평가 → spectral 부드러움 유도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0">
                <a:solidFill>
                  <a:srgbClr val="1A1A2E"/>
                </a:solidFill>
                <a:latin typeface="Calibri"/>
              </a:rPr>
              <a:t>→ 총합: </a:t>
            </a:r>
            <a:r>
              <a:rPr sz="1000" b="1">
                <a:solidFill>
                  <a:srgbClr val="1A1A2E"/>
                </a:solidFill>
                <a:latin typeface="Calibri"/>
              </a:rPr>
              <a:t>L(θ) = L_data + L_L1 + L_smooth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</a:t>
            </a:r>
            <a:r>
              <a:rPr sz="1000" b="1">
                <a:solidFill>
                  <a:srgbClr val="1A1A2E"/>
                </a:solidFill>
                <a:latin typeface="Calibri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Calibri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Calibri"/>
              </a:rPr>
              <a:t>10 / frame</a:t>
            </a:r>
            <a:r>
              <a:rPr sz="1000" b="0">
                <a:solidFill>
                  <a:srgbClr val="1A1A2E"/>
                </a:solidFill>
                <a:latin typeface="Calibri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• </a:t>
            </a:r>
            <a:r>
              <a:rPr sz="1000" b="1">
                <a:solidFill>
                  <a:srgbClr val="1A1A2E"/>
                </a:solidFill>
                <a:latin typeface="Calibri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Calibri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Calibri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69164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① Pruning (cumulative energy 기반)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energy_n = A_n² 계산 → 내림차순 정렬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</a:t>
            </a:r>
            <a:r>
              <a:rPr sz="1000" b="0">
                <a:solidFill>
                  <a:srgbClr val="007ACC"/>
                </a:solidFill>
                <a:latin typeface="Calibri"/>
              </a:rPr>
              <a:t>Top components 가 (1 − prune_threshold) = </a:t>
            </a:r>
            <a:r>
              <a:rPr sz="1000" b="1">
                <a:solidFill>
                  <a:srgbClr val="007ACC"/>
                </a:solidFill>
                <a:latin typeface="Calibri"/>
              </a:rPr>
              <a:t>90% cumulative energy</a:t>
            </a:r>
            <a:r>
              <a:rPr sz="1000" b="0">
                <a:solidFill>
                  <a:srgbClr val="007ACC"/>
                </a:solidFill>
                <a:latin typeface="Calibri"/>
              </a:rPr>
              <a:t> 도달까지만 유지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prune_threshold = 0.10 (config default)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grow_residual_threshold = 0.05 m (잔차 RMS)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잔여 오차에 다시 beamforming → 새 (k_x, k_y)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component 추가 (max_n = 30 limit)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③ Safety rollback (pruning + growth 둘 다 적용)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변경 (prune 또는 grow) 전후 residual RMS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RMS_after &gt; 1.3 · RMS_before → 즉시 saved state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잘못된 prune/grow 의 cascade failure 방지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• </a:t>
            </a:r>
            <a:r>
              <a:rPr sz="1000" b="1">
                <a:solidFill>
                  <a:srgbClr val="007ACC"/>
                </a:solidFill>
                <a:latin typeface="Calibri"/>
              </a:rPr>
              <a:t>기타 코드 detail</a:t>
            </a:r>
            <a:r>
              <a:rPr sz="1000" b="0">
                <a:solidFill>
                  <a:srgbClr val="007ACC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max_steepness = 0.15 (Q clamp, particle crossing 방지)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Confidence weighting (use_confidence): geometry-aware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Calibri"/>
              </a:rPr>
              <a:t>   – → 가까운 LiDAR 점이 weight ↑, 먼 점 weight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61672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5943600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691640"/>
          <a:ext cx="53035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92608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16%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</a:t>
            </a:r>
            <a:r>
              <a:rPr sz="1100" b="1">
                <a:solidFill>
                  <a:srgbClr val="007ACC"/>
                </a:solidFill>
                <a:latin typeface="Calibri"/>
              </a:rPr>
              <a:t>47배</a:t>
            </a:r>
            <a:r>
              <a:rPr sz="1100" b="0">
                <a:solidFill>
                  <a:srgbClr val="007ACC"/>
                </a:solidFill>
                <a:latin typeface="Calibri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Calibri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Calibri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• </a:t>
            </a:r>
            <a:r>
              <a:rPr sz="1300" b="1">
                <a:solidFill>
                  <a:srgbClr val="1A1A2E"/>
                </a:solidFill>
                <a:latin typeface="Calibri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Calibri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Calibri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743200"/>
            <a:ext cx="64008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27432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A</a:t>
            </a:r>
            <a:r>
              <a:rPr sz="1100" b="0">
                <a:solidFill>
                  <a:srgbClr val="1A1A2E"/>
                </a:solidFill>
                <a:latin typeface="Calibri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B</a:t>
            </a:r>
            <a:r>
              <a:rPr sz="1100" b="0">
                <a:solidFill>
                  <a:srgbClr val="1A1A2E"/>
                </a:solidFill>
                <a:latin typeface="Calibri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C</a:t>
            </a:r>
            <a:r>
              <a:rPr sz="1100" b="0">
                <a:solidFill>
                  <a:srgbClr val="1A1A2E"/>
                </a:solidFill>
                <a:latin typeface="Calibri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Calibri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/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2179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Calibri"/>
              </a:defRPr>
            </a:pPr>
            <a: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Calibri"/>
              </a:defRPr>
            </a:pPr>
            <a: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Calibri"/>
              </a:defRPr>
            </a:pPr>
            <a: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1460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메커니즘 2 — 시간 정보 활용 (multi-frame temporal coherence)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Wave η(x, t) = A·cos(k·x − ω·t + φ) 의 *t 진행* 이 매 frame phase 변화 제공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dataset (vessel 정지, V=0 kts) 에서 wave 자체의 시간 진화로 multi-frame 효과 작동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Init window 2·T_p ≈ 11–20s, 110–200 frame × 50 점 = 5,500–10,000 (x, y, t, η) 4D 정보로 k 모호성 해소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Note: vessel motion 기반 synthetic aperture 는 *현재 미적용* → 향후 연구 (page 25)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Calibri"/>
              </a:defRPr>
            </a:pPr>
            <a: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3152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1. Multi-frame temporal coherence (wave 시간 진화)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2. 분산 관계로 ω↔k 결합 → 자유도 5N→4N + 물리적 제약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828800"/>
            <a:ext cx="3931920" cy="130683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3 — Vessel 정지 가정 (V=0 kts) — 매우 긴 swell direction 해상도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코드: wavesim/pipeline.py:96 ship_x=ship_y=0 하드코딩 (time loop 밖에서 ray 1회 생성)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Dataset: HDF5 에 per-frame ship 위치 field 자체가 없음 (110 episode 모두)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실측 검증: 30s × 301frame 동안 x_mean 변동 std 1.68 m (V=11.3 m/s 면 339 m 이동했어야)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영향: patch 50–150 m 라 BF3-BF6 dominant wave (λ_peak 47–156 m) 는 1–3 wavelength 충분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단 *매우 긴 swell* (λ &gt; 200 m, BF5-BF6 의 long tail) 은 patch 가 sub-wavelength → SA 가 도움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개선: vessel motion 도입 → V·T 만큼 synthetic aperture (page 25 future work)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한계 4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Calibri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/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Calibri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Calibri"/>
              </a:defRPr>
            </a:pPr>
            <a: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65314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Calibri"/>
              </a:defRPr>
            </a:pPr>
            <a: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Calibri"/>
              </a:defRPr>
            </a:pPr>
            <a: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Calibri"/>
              </a:defRPr>
            </a:pPr>
            <a:r>
              <a:t>현재 한계를 극복하기 위한 4가지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Stokes 2차 보정 추가 → 더 높은 파도까지 정확 (Klein 2020 NLSE 수준)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3 — Vessel motion 기반 synthetic aperture (SAR-style)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코드/dataset 모두 vessel 정지 (V=0 kts) 가정 — SA 미적용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V &gt; 0 시 V·T 만큼 추가 spatial coverage → 분해능 향상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Reference: Wiley 1954 SAR 원리, ship-mounted LiDAR 응용 첫 시도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방향 4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   – 계획: 실제 선박 LiDAR + wave buoy / X-band radar 병행 측정</a:t>
            </a:r>
          </a:p>
          <a:p>
            <a:pPr>
              <a:spcAft>
                <a:spcPts val="300"/>
              </a:spcAft>
            </a:pPr>
            <a:r>
              <a:rPr sz="600"/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• </a:t>
            </a:r>
            <a:r>
              <a:rPr sz="1200" b="1">
                <a:solidFill>
                  <a:srgbClr val="1A1A2E"/>
                </a:solidFill>
                <a:latin typeface="Calibri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Calibri"/>
              </a:defRPr>
            </a:pPr>
            <a: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" y="1691640"/>
          <a:ext cx="11841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8296"/>
                <a:gridCol w="2368296"/>
                <a:gridCol w="2368296"/>
                <a:gridCol w="2368296"/>
                <a:gridCol w="2368296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Sensor / Data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LIDAR (proposed) /
**Sim only** (HOS synthetic)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LIDAR 응용 첫 시도 (concept proposal).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Wave gauge array /
**실측** (wave tank lab)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X-band radar (modeled) /
**Sim only** (3 types) +
wave tank validation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1D, on-grid, sensor model 미명시. **가장 가까운 prior art**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X-band radar /
Sim (HOS) + **실측 radar**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Shipborne X-band radar /
**실측** + sim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**Stereo camera (WASS)** /
**실측** (Acqua Alta 플랫폼
+ 자체 2024 vessel)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ETKF + Ne=300 + fuzzy R + Delaunay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격자 한계, 632 ms. **우리 baseline 직접 prior art**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Hunt 2007 (Physica D 230)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(기상학) /
Sim (atmospheric)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(model 비교) /
**Sim + 실험 (semi-exp)**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X-band radar /
**Sim only** (HOS + geom radar)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Ehlers et al. 2025
(arXiv:2501.08430)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Wave gauge (point) /
**실측** (실험실 wave flume
MARATHON) + analytical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(synthetic) /
**Sim only** (VOF NWT)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Tang-Bhaskar-Shah-Recht 2013
(IEEE TIT 59)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(이론) /
— (theoretical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(graphics) /
— (algorithm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57200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Calibri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</a:t>
            </a:r>
            <a:r>
              <a:rPr sz="1100" b="1">
                <a:solidFill>
                  <a:srgbClr val="1A1A2E"/>
                </a:solidFill>
                <a:latin typeface="Calibri"/>
              </a:rPr>
              <a:t>Seed</a:t>
            </a:r>
            <a:r>
              <a:rPr sz="1100" b="0">
                <a:solidFill>
                  <a:srgbClr val="1A1A2E"/>
                </a:solidFill>
                <a:latin typeface="Calibri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Ground-truth η field: 80×60 격자 (240 × 200 m 영역, 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Calibri"/>
              </a:defRPr>
            </a:pPr>
            <a: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53949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Calibri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8199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30000" cy="31670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692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Calibri"/>
              </a:defRPr>
            </a:pPr>
            <a: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Calibri"/>
              </a:defRPr>
            </a:pPr>
            <a: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480"/>
            <a:ext cx="11612880" cy="9415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Calibri"/>
              </a:defRPr>
            </a:pPr>
            <a: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