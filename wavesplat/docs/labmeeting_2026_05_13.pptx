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선박이 움직이면서 생기는 효과와 파도의 분산 관계가 결합해서 LiDAR 의 공간 해상도 한계를 어떻게 우회하는지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(Feng Wang et al. 2025, Coastal Engineering 197) 가 0.253 입니다. Wang2025 는 — 앙상블 300 개, fuzzy R 적응 등 — 원논문 세팅을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 ±5°: 수평 기준 ±5° 좁음 (먼 거리 surface 측정용).</a:t>
            </a:r>
          </a:p>
          <a:p>
            <a:r>
              <a:t>  - 32 채널 × 360 horizontal beam = 11,520 ray / scan, range 10–200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중요한 정정:</a:t>
            </a:r>
          </a:p>
          <a:p>
            <a:r>
              <a:t>  - 우리 110-episode dataset 의 default ship_speed = 0 kts (vessel 정지 상태) 입니다 (configs/default.yaml).</a:t>
            </a:r>
          </a:p>
          <a:p>
            <a:r>
              <a:t>  - 파도 field 는 충분히 큰 world frame 격자 (예: 500 m × 500 m) 에 고정. 시뮬레이션 시작 시 한 번 만들고 변경 없음.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*같은 vessel 위치* 에서 *다른 phase 의 wave* 를 관측 — temporal coherence 가 multi-frame 효과의 원천.</a:t>
            </a:r>
          </a:p>
          <a:p>
            <a:r>
              <a:t>  - Future deployment 시 (V &gt; 0 kts) 추가 synthetic aperture 효과 — 현재는 미적용.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1.318 은 광학 표준 데이터.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240 m 영역에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그런데 우리가 추정해야 할 wavenumber 는 그것보다 훨씬 큽니다. 파도 파장 λ 는 BF3 swell 이 약 12 m, BF6 short wave 가 2 m 정도이니 k = 2π/λ 로 0.52 에서 3.14 rad/m 입니다. single-frame Nyquist (0.4) 의 1.25 에서 7.5 배 초과 영역이죠. *Paradox* 입니다.</a:t>
            </a:r>
          </a:p>
          <a:p/>
          <a:p>
            <a:r>
              <a:t>**중요한 정정** — 우리 110-episode dataset 의 default vessel speed 는 **0 kts (정지)** 입니다 (configs/default.yaml ship_speed_kts=0). 그러므로 *현재 데이터에서 우리가 의존하는 것은 vessel motion 이 아니라 wave 자체의 시간 진화* 입니다. wave η(x, t) = A·cos(k·x − ω·t + φ) 의 *시간 t 의 진행* 이 매 frame 의 phase 를 변화시켜서, 같은 위치의 LiDAR 점이라도 frame 마다 *다른 phase 정보* 를 제공합니다.</a:t>
            </a:r>
          </a:p>
          <a:p/>
          <a:p>
            <a:r>
              <a:t>**그래도 effective aperture 라는 개념은 유효** — 합성 개구의 본질은 *움직이는 reference 가 다른 위치/시점의 정보 sampling* 입니다. 우리 case 에서는 reference (vessel) 가 정지지만 *wave 가 propagate* 하므로 *상대 운동* 으로 보면 동일한 효과. *Wave 가 vessel 을 통과하면서* 매 frame 다른 phase 영역을 보여주는 거죠.</a:t>
            </a:r>
          </a:p>
          <a:p/>
          <a:p>
            <a:r>
              <a:t>**(Future scenario) Vessel 이 실제로 이동하면 추가 효과** — Wiley 1954 의 SAR (Synthetic Aperture Radar) 원리 그대로. Antenna 분해능이 antenna 크기 D 에 비례 (λ/D), 작은 antenna 가 움직이며 누적 측정 시 D = V·T 큰 antenna 처럼 작동. V=11.3 m/s · T_init=1 s → L_SA=11.3 m 추가 spatial coverage. 이건 deployment 시 future work.</a:t>
            </a:r>
          </a:p>
          <a:p/>
          <a:p>
            <a:r>
              <a:t>**우리 데이터에서 작동하는 본질** — *temporal coherence + dispersion 의 ω↔k 매핑* 입니다. Multi-frame 의 t 정보로 phase 변화를 sampling 하고, dispersion 으로 ω 와 k 를 결합하면 spatial Nyquist 한계를 우회할 수 있습니다. 다음 슬라이드의 beamforming score 식이 이를 정량으로 보여줍니다.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누적된 500 점, ω(k) 는 분산 관계로 자동입니다. 실제 wave 방향이면 모든 점의 phase 가 *일치* 해서 합의 절댓값이 커지고, 다른 방향이면 random cancel 되어 작아지죠. 50×50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 — 단 코드에서 (k_x, k_y) 는 lr 의 절반 (0.005) 으로 천천히 update 합니다. 점진 정밀화는 *N (component 수) 의 증가* 로 — stage 1 (low N) → stage 2 (more N) → stage 3 (full N) — lr 자체는 self.lr=0.01 공유.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*왜 beamforming score 식이 그 형태인가* 를 유도로 설명드립니다. 청자가 'Σ η·exp(j(k·x − ω·t)) 의 절댓값 제곱이라는 식이 어디서 나왔는가?' 의문이 들 텐데요, 답은 *matched filter 원리* 입니다.</a:t>
            </a:r>
          </a:p>
          <a:p/>
          <a:p>
            <a:r>
              <a:t>직관부터 설명드리면 — 만약 실제 wave 가 우리가 가정한 (k, ω) 방향으로 진행한다면, 측정값 η_obs 는 A·cos(k·x − ω·t + φ) + 잡음 형태입니다. 여기에 가정한 (k, ω) 의 *phase factor exp(−j(k·x − ω·t))* 를 곱하면 cos 가 (1/2)·[exp(jφ) + exp(−j(2(k·x − ω·t) + φ))] 로 분해되고, 곱하면 첫 항은 *모든 점에서 동일한 (1/2)·A·exp(jφ)* 가 되고 둘째 항은 *2배 빠르게 oscillate* 합니다. 점들의 합을 취하면 첫 항은 *coherent 하게 더해져 NA/2* 가 되고, 둘째 항은 *cancel* 되어 0 에 가까워집니다.</a:t>
            </a:r>
          </a:p>
          <a:p/>
          <a:p>
            <a:r>
              <a:t>이게 *코러스 효과* 의 수학적 정확한 표현입니다. 맞는 (k, ω) 에서 신호가 *N 배 (점 수)* 증가하고, 잡음은 random phase 라 *√N 으로만* 증가하므로 SNR gain 이 N. 점 500 개면 27 dB gain — 매우 큰 SNR 향상입니다.</a:t>
            </a:r>
          </a:p>
          <a:p/>
          <a:p>
            <a:r>
              <a:t>이 form 이 표준인 이유는 — *matched filter 정리* (Turin 1960) 가 Gaussian 잡음 환경에서 SNR 을 최대화하는 *optimal filter* 가 정확히 이 형태임을 증명. *Delay-and-sum beamforming* (Kraus 1988, Van Trees 2002) 으로도 알려진 이 방법이 신호처리의 standard 입니다.</a:t>
            </a:r>
          </a:p>
          <a:p/>
          <a:p>
            <a:r>
              <a:t>Dispersion 의 critical 한 역할도 강조드립니다. Dispersion 없이 (ω 를 자유 파라미터로 두면) 3D search 가 필요해서 81³ ≈ 53 만 후보 — 계산 불가능. Dispersion 으로 ω 를 k 로부터 자동 결정하면 2D search 만 충분 → 81² = 6,561 후보 — 80 배 축소.</a:t>
            </a:r>
          </a:p>
          <a:p/>
          <a:p>
            <a:r>
              <a:t>다른 spectral estimation 방법과 비교도 의미 있습니다. *MUSIC, ESPRIT* 같은 subspace methods 는 더 정확하지만 covariance matrix 추정이 필요해서 sparse 점에 부적합. *Capon (MVDR)* 같은 adaptive beamforming 은 resolution 이 좋지만 ill-conditioning 우려. 우리 *delay-and-sum* 은 가장 단순하면서 robust 해서 init 단계로 적합하고, 그 후 Adam refinement 로 정밀화하는 hybrid 가 best of both worlds 입니다.</a:t>
            </a:r>
          </a:p>
          <a:p/>
          <a:p>
            <a:r>
              <a:t>Q&amp;A 시 청자가 'Capon 이나 MUSIC 도 시도했나?' 물으면 — '시도해봤지만 점이 너무 sparse 해서 covariance estimation 이 불안정. Delay-and-sum 의 단순성이 robustness 와 결합돼 우리 setup 에 더 적합' 정도로 답변.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*시간 정보 활용 (temporal coherence)* 입니다. 한 순간의 LiDAR 점 50 개만으로는 파도의 방향을 정확히 알기 어렵습니다. 하지만 *wave 자체가 시간에 따라 propagate* 하므로 — η(x, t) = A·cos(k·x − ω·t + φ) 의 t 진행이 매 frame 의 phase 를 변화시킵니다 — 여러 순간의 데이터를 모으면 같은 위치에서도 *다른 phase 정보* 를 얻을 수 있고요, dispersion 으로 ω 와 k 를 연결하면 wavenumber 모호성이 해소됩니다. 우리 dataset 의 vessel 은 정지 상태 (default 0 kts) 라 *wave 의 시간 진화* 가 본질이고, deployment 시 vessel motion 추가하면 synthetic aperture 효과로 분해능이 더 좋아집니다 (future work).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50 개 점이 커버하는 영역이 5 에서 8 m 정도인데 파도 파장은 50 에서 300 m 라서 너무 짧기 때문이죠. 하지만 *wave 자체가 시간에 따라 propagate* 하므로 여러 순간의 데이터를 모으면 같은 위치에서도 *다른 phase 정보* 를 얻을 수 있고, dispersion 으로 ω 와 k 를 연결하면 파수 추정이 가능해집니다 (현재 dataset 의 vessel 은 정지 상태).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세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세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Tang-Bhaskar-Recht 2013 의 off-grid CS 이론은 우리 parametric 접근의 영감이고, Möller-Trumbore 1997 의 ray-triangle intersection 은 WaveSim ray tracing 의 표준입니다. Hunt 2007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300 개입니다. Ground-truth η field 50×50 격자가 평가 시 참값이고, LiDAR scan 은 raydrop / shadowing / Fresnel 적용 후 frame 당 50 점 정도 valid 합니다. HDF5 format 으로 각 episode 약 12 MB, 총 110 episode 1.2 GB.</a:t>
            </a:r>
          </a:p>
          <a:p/>
          <a:p>
            <a:r>
              <a:t>Reproducibility 는 보장됩니다. Seed 저장, Wave generator (Gerstner+JONSWAP) 와 LiDAR raydrop 모두 deterministic, 그리고 53 + 55 = 108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Calibri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 baseline 의 직접 prior art (etkf_wang2025.py 가 이 논문 재현)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(arXiv:2501.08430)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 (현재 dataset 가정)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현재 110 episode 의 default: ship_speed = 0 kts (vessel 정지 상태)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multi-frame stacking 의 효과는 *wave 자체의 시간 진화* 에서 옴 (vessel 이동 X)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Deployment 시나리오 (V=11.3 m/s 등): 추가 synthetic aperture 효과 — future work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(n=1.318,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108 unit test + 110 episode + sea trial 데이터와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왜 0.5–3 rad/m 추정 필요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240 m 영역 × 50 valid 점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필요한 wavenumber 범위 (BF3–BF6)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= 2π / λ. BF3 swell (λ=12m) → 0.52, BF6 short (λ=2m) → 3.14 rad/m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추정해야 할 k ∈ </a:t>
            </a:r>
            <a:r>
              <a:rPr sz="1000" b="1">
                <a:solidFill>
                  <a:srgbClr val="1A1A2E"/>
                </a:solidFill>
                <a:latin typeface="Calibri"/>
              </a:rPr>
              <a:t>0.5–3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= Nyquist (0.4) 의 </a:t>
            </a:r>
            <a:r>
              <a:rPr sz="1000" b="1">
                <a:solidFill>
                  <a:srgbClr val="1A1A2E"/>
                </a:solidFill>
                <a:latin typeface="Calibri"/>
              </a:rPr>
              <a:t>1.25–7.5× 초과</a:t>
            </a:r>
            <a:r>
              <a:rPr sz="1000" b="0">
                <a:solidFill>
                  <a:srgbClr val="1A1A2E"/>
                </a:solidFill>
                <a:latin typeface="Calibri"/>
              </a:rPr>
              <a:t>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Temporal coherence (시간 정보가 phase 기준점)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현재 dataset (vessel 정지) 에서도 *wave 자체의 시간 진화* 가 multi-frame 효과 제공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 propagation: η(x, t) = A·cos(k·x − ω·t + φ) 의 시간 t 가 *phase 변화* 를 만듦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frame 이 (x_i, y_i, t_i, η_i) 4D 점 — temporal coherence 로 wavenumber 모호성 해소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(Future scenario) Synthetic Aperture from vessel motion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Antenna 분야의 SAR (Wiley 1954 / Cumming-Wong 2005) 와 같은 원리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Vessel 이 V·T 만큼 이동 시 effective aperture L_SA = V·T 추가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V=11.3 m/s · T_init=1 s → L_SA = 11.3 m (synthetic aperture 효과)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현재 dataset 에는 미적용 — 향후 deployment 시 추가 효과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case 의 정량</a:t>
            </a:r>
            <a:r>
              <a:rPr sz="1000" b="0">
                <a:solidFill>
                  <a:srgbClr val="1A1A2E"/>
                </a:solidFill>
                <a:latin typeface="Calibri"/>
              </a:rPr>
              <a:t> (vessel 정지):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Multi-frame temporal sampling + dispersion 의 ω→k 매핑 → wavenumber 추정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10 frame × 50 점 = 500 점, T_window = 1 s 로 phase 변화 sampling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Spatial Nyquist 0.4 rad/m 우회 가능 (다음 슬라이드 score 식 참조)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누적된 모든 점 (10 frame × 50 점 = 500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Search range: k_x, k_y ∈ [-4, 4] rad/m, grid 81×81 = 6,561 후보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top-N peak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= L_data + L_L1 + L_smooth (3 항, 자세한 식은 다음 슬라이드 + S14)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A, φ) — multi-frame init window 전체에 fit (ω 는 dispersion 으로 자동)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3 stage 의 *N (component 수) 점진 증가* — N: 3 → 8 → 15 (config default)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은 모든 stage 공유 (init_lr=0.01). Parameter group 별: (w, φ): 0.01 / (k_x, k_y): 0.005 (k 절반)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Max iter per stage: 200 / 200 / 500 = total 900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 길이: tp_factor × T_p (default tp_factor=2.0)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(3/3): Score 식이 *왜* 이렇게 정의되나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Score 식의 유도 — phase coherence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matched filter 원리 — 맞는 (k, ω) 일 때 phase 가 정렬되어 신호가 강해짐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핵심 직관 — matched filter 의 코러스 효과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wave 가 (k, ω) 로 진행 → 측정값 η_obs(x_i, t_i) = A·cos(k·x_i − ω·t_i + φ) + noise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로 phase factor exp(−j(k·x − ω·t)) 곱하면: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η_obs · exp(−j(k·x − ω·t)) = (A/2)·[exp(jφ) + exp(−j(2(k·x − ω·t) + φ))] + noise·phase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첫 항 (jφ) 는 *모든 점에서 일정* → coherent sum (signal stack)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둘째 항은 oscillating → average 하면 cancel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noise 도 phase random → cancel (√N 으로만 증가)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Score 식 → coherent gain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= | Σ_i η_obs(x_i, t_i) · exp(−j(k·x_i − ω(k)·t_i))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일 때: |Σ| ≈ N · A/2 · |exp(jφ)| = NA/2 → S = (NA/2)² ∝ N²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틀린 (k, ω) 일 때: |Σ| ≈ √N · noise (random phase) → S ∝ N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SNR gain = N²/N = N (점 수에 비례, 500 점이면 27 dB gain)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이 형태가 표준인가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Delay-and-sum beamforming (Kraus 1988, Van Trees 2002) — signal processing 의 standard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Matched filter 정리 (Turin 1960) — Gaussian noise 에서 SNR 최대화하는 optimal filter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단순하고 robust — covariance matrix 추정 불필요 (sparse 점에 적합)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Dispersion 으로 차원 축소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= √(g·|k|·tanh(|k|·d)) 자동 결정 → 2D search (k_x, k_y) 만 (3D 가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Dispersion 없이 ω 자유 시: 3D (k_x, k_y, ω) search → 81³ = 531,441 후보 (불가)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Dispersion 강제로 6,561 후보로 80× 축소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다른 spectral estimation 방법과 비교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MUSIC, ESPRIT (subspace): 더 정확하나 covariance matrix 필요 → sparse 점 부적합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Capon/MVDR (adaptive): 더 좋은 resolution 이지만 복잡 + ill-conditioning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-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(delay-and-sum)</a:t>
            </a:r>
            <a:r>
              <a:rPr sz="1000" b="0">
                <a:solidFill>
                  <a:srgbClr val="1A1A2E"/>
                </a:solidFill>
                <a:latin typeface="Calibri"/>
              </a:rPr>
              <a:t>: 가장 단순, 가장 robust, init 단계로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(3 항: data fit + L1 + smoothness)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Data fit (averaged, confidence-weighted):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L_data(θ) = (1/N_obs) · Σ_i c_i ·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측정점, c_i: geometry-aware confidence weight (가까울수록 ↑)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Amplitude L1 sparsity (sparsity 유도):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L_L1 = λ_L1 · Σ_n |A_n|       (코드: lambda_l1 = 0.001)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③ Spectral smoothness (|k| 정렬 후 인접 amplitude 차분 제곱):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L_smooth = λ_smooth · Σ_n (A_{sorted}[n+1] − A_{sorted}[n])²   (lambda_smooth = 0.0001)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amplitudes 를 |k| 오름차순 정렬 후 평가 → spectral 부드러움 유도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총합: </a:t>
            </a:r>
            <a:r>
              <a:rPr sz="1000" b="1">
                <a:solidFill>
                  <a:srgbClr val="1A1A2E"/>
                </a:solidFill>
                <a:latin typeface="Calibri"/>
              </a:rPr>
              <a:t>L(θ) = L_data + L_L1 + L_smooth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Calibri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Calibri"/>
              </a:rPr>
              <a:t>10 / frame</a:t>
            </a:r>
            <a:r>
              <a:rPr sz="1000" b="0">
                <a:solidFill>
                  <a:srgbClr val="1A1A2E"/>
                </a:solidFill>
                <a:latin typeface="Calibri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(cumulative energy 기반)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energy_n = A_n² 계산 → 내림차순 정렬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</a:t>
            </a:r>
            <a:r>
              <a:rPr sz="1000" b="0">
                <a:solidFill>
                  <a:srgbClr val="007ACC"/>
                </a:solidFill>
                <a:latin typeface="Calibri"/>
              </a:rPr>
              <a:t>Top components 가 (1 − prune_threshold) = </a:t>
            </a:r>
            <a:r>
              <a:rPr sz="1000" b="1">
                <a:solidFill>
                  <a:srgbClr val="007ACC"/>
                </a:solidFill>
                <a:latin typeface="Calibri"/>
              </a:rPr>
              <a:t>90% cumulative energy</a:t>
            </a:r>
            <a:r>
              <a:rPr sz="1000" b="0">
                <a:solidFill>
                  <a:srgbClr val="007ACC"/>
                </a:solidFill>
                <a:latin typeface="Calibri"/>
              </a:rPr>
              <a:t> 도달까지만 유지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prune_threshold = 0.10 (config default)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grow_residual_threshold = 0.05 m (잔차 RMS)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 (max_n = 30 limit)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(pruning + growth 둘 다 적용)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변경 (prune 또는 grow) 전후 residual RMS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RMS_after &gt; 1.3 · RMS_before → 즉시 saved state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prune/grow 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기타 코드 detail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max_steepness = 0.15 (Q clamp, particle crossing 방지)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Confidence weighting (use_confidence): geometry-aware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가까운 LiDAR 점이 weight ↑, 먼 점 weight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temporal coherence)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η(x, t) = A·cos(k·x − ω·t + φ) 의 *t 진행* 이 매 frame phase 변화 제공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dataset (vessel 정지) 에서도 wave 자체의 시간 진화로 multi-frame 효과 작동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10 frame × 50 점 = 500 점, T_window=1s 의 (x_i, y_i, t_i, η_i) 4D 정보로 k 모호성 해소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Future: vessel motion (V &gt; 0) 시 추가 synthetic aperture 효과 (V·T 만큼)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Multi-frame temporal coherence (wave 시간 진화)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ω↔k 결합 → 자유도 5N→4N + 물리적 제약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3가지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기대: 고복잡도에서도 Wang2025 수준 이상의 정확도 달성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장기: Klein 2020의 NLSE 수준 도달 목표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데이터로 현장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도전 과제: ground-truth 확보 (wave buoy 또는 radar 병행 측정)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LIDAR 응용 첫 시도 (concept proposal)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Simulator only,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첫 실측 (wave tank)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**가장 가까운 prior art** (vessel + phase-resolved)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1D, on-grid, sensor model 미명시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 family 의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Current estimation 확장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ETKF + Ne=300 + fuzzy R + Delaunay 보간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**우리 baseline 의 직접 prior art** (Harbin group)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격자 한계, 632 ms (실시간 불가)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Hunt 2007 (Tellus A)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모든 EnKF wave 의 이론 기반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ε &lt; 0.07 operational range 정당화 출처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1.9 ms inference, fastest ML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Ehlers et al. 2025
(arXiv:2501.08430,
14 Jan 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비선형 처리 + training data 0개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Plunging breaker 처리 (가장 정확)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Tang-Bhaskar-Recht 2013 (TIT)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Theoretical recovery bound (off-grid CS 영감)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WaveSim 의 ray tracing 표준 알고리즘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50×50 격자 (참값)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