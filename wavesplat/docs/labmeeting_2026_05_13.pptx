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*wave 자체의 시간 진화* 와 파도의 분산 관계가 결합해서 LiDAR 의 공간 해상도 한계를 어떻게 우회하는지 (선박은 정지 가정)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(Feng Wang et al. 2025, Coastal Engineering 197) 가 0.253 입니다. Wang2025 는 — 앙상블 300 개, fuzzy R 적응 등 — 원논문 세팅을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FOV: −25° ~ 0° (수평선 아래 25° 까지 down-looking, surface 측정용).</a:t>
            </a:r>
          </a:p>
          <a:p>
            <a:r>
              <a:t>  - 152 채널 × 500 horizontal beam = 76,000 ray / scan, range 10–250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중요한 정정:</a:t>
            </a:r>
          </a:p>
          <a:p>
            <a:r>
              <a:t>  - 우리 110-episode dataset 의 default ship_speed = 0 kts (vessel 정지 상태) 입니다 (configs/default.yaml).</a:t>
            </a:r>
          </a:p>
          <a:p>
            <a:r>
              <a:t>  - 파도 field 는 world frame 격자 240 × 200 m (configs/default.yaml: x∈[10,250], y∈[−100,100]) 에 고정. GT grid 는 80×60 cells.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*같은 vessel 위치* 에서 *다른 phase 의 wave* 를 관측 — temporal coherence 가 multi-frame 효과의 원천.</a:t>
            </a:r>
          </a:p>
          <a:p>
            <a:r>
              <a:t>  - Future deployment 시 (V &gt; 0 kts) 추가 synthetic aperture 효과 — 현재는 미적용.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1.321 (코드 wavesim/raydrop_uniform.py:24, Seyond Falcon K1 spec).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*patch coverage 가 50–150 m* (실측, 5 개 episode 평균) 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JONSWAP 으로 BF3-BF6 dataset 의 wavenumber 분포를 실측하면 (configs/default.yaml, depth=50m, 30 components) — BF3 (Hs=0.6, Tp=5.5s) k=0.04–1.16 rad/m λ_peak=47m; BF4 (Hs=1.2, Tp=7s) k=0.03–0.72 rad/m λ_peak=77m; BF5 (Hs=2.0, Tp=9s) k=0.02–0.43 rad/m λ_peak=126m; BF6 (Hs=3.0, Tp=10s) k=0.02–0.35 rad/m λ_peak=156m (전부 Nyquist 이내). 즉 *BF3 의 short component tail (k &gt; 0.4 rad/m, 최대 ~2.9× Nyquist) 만 single-frame Nyquist 초과* 영역이고 BF5-BF6 dominant wave 는 본래 single-frame 으로도 충분합니다. 그래도 BF3 short tail 의 *Paradox* 는 유효합니다.</a:t>
            </a:r>
          </a:p>
          <a:p/>
          <a:p>
            <a:r>
              <a:t>**중요** — 우리 110-episode dataset 의 default vessel speed 는 **0 kts (정지)** 입니다 (configs/default.yaml ship_speed_kts=0). 그러므로 *우리 코드/실험에서 의존하는 것은 wave 자체의 시간 진화* 입니다. wave η(x, t) = A·cos(k·x − ω·t + φ) 의 *시간 t 의 진행* 이 매 frame 의 phase 를 변화시켜서, 같은 위치의 LiDAR 점이라도 frame 마다 *다른 phase 정보* 를 제공합니다.</a:t>
            </a:r>
          </a:p>
          <a:p/>
          <a:p>
            <a:r>
              <a:t>**우리 데이터에서 작동하는 본질** — *temporal coherence + dispersion 의 ω↔k 매핑* 입니다. Multi-frame 의 t 정보로 phase 변화를 sampling 하고, dispersion 으로 ω 와 k 를 결합하면 spatial Nyquist 한계를 우회할 수 있습니다. 다음 슬라이드의 beamforming score 식이 이를 정량으로 보여줍니다.</a:t>
            </a:r>
          </a:p>
          <a:p/>
          <a:p>
            <a:r>
              <a:t>**(Future work)** Vessel motion 기반 synthetic aperture (SAR-style) 는 *향후 연구* 로 분리합니다. Wiley 1954 의 SAR 원리를 ocean LiDAR 에 적용하면 V·T 만큼 추가 spatial coverage 가 생기지만, 현재 코드와 dataset 은 vessel 정지 가정이라 검증 못 했습니다. Future work 슬라이드 (page 25) 에서 다룰 예정입니다.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은 *Beamforming → Adam* 두 단계로 작동합니다. Beamforming 으로 초기 (k_x, k_y) 후보를 글로벌 탐색하고, 그 결과를 Adam optimizer 의 초기값으로 넘겨서 정밀화하는 흐름이에요. Adam 안에서는 *coarse-to-fine N schedule* 이라는 trick 으로 성분 수를 점진적으로 늘려갑니다. 이렇게 세 가지 요소가 결합되어 동작합니다.</a:t>
            </a:r>
          </a:p>
          <a:p/>
          <a:p>
            <a:r>
              <a:t>(1) **Beamforming score 식** — 코러스 효과 직관으로 설명드릴게요. 각 후보 wavenumber 에 대해 'wave 가 이 방향으로 이 주파수로 진행한다고 가정' 했을 때 측정 데이터의 phase 가 얼마나 일치하는지 점수로 평가합니다. 수식 S(k) = | Σ_i η_obs · exp(−j(k·x_i − ω(k)·t_i)) |² 에서 i 는 init window (2·Tp ≈ 11–20s) 의 5,500–10,000 점, ω(k) 는 분산 관계로 자동입니다. 맞는 wave 방향이면 모든 점의 phase 가 *일치* 해서 합의 절댓값이 N 배로 커지고 (∝ N²), 다른 방향이면 random cancel 되어 √N 으로만 커져요. 81×81 격자 후보 중 S(k) 큰 top-N peak 를 선택해 Adam 초기값으로 넘깁니다.</a:t>
            </a:r>
          </a:p>
          <a:p/>
          <a:p>
            <a:r>
              <a:t>(2) **Adam refinement — Loss 최소화로 정밀 fitting** — 여기서 *Loss 함수* 가 등장합니다. 식으로 쓰면 Loss(θ) = L_data + λ_L1·L_L1 + λ_smooth·L_smooth 의 3 항 구조예요.</a:t>
            </a:r>
          </a:p>
          <a:p/>
          <a:p>
            <a:r>
              <a:t>  첫째 L_data(θ) = (1/N_obs) · Σ_i c_i · [η_model − η_obs]² 는 측정 점과 model 예측 사이의 confidence-weighted MSE 입니다. c_i 는 geometry-aware weight 로 가까운 점일수록 높습니다.</a:t>
            </a:r>
          </a:p>
          <a:p/>
          <a:p>
            <a:r>
              <a:t>  둘째 L_L1(θ) = Σ_n |A_n| (계수 λ_L1=0.001) 은 amplitude 의 sparsity 를 유도해서 의미 없는 작은 성분이 살아남지 않게 합니다.</a:t>
            </a:r>
          </a:p>
          <a:p/>
          <a:p>
            <a:r>
              <a:t>  셋째 L_smooth(θ) = Σ_n (A_↑[n+1] − A_↑[n])² (계수 λ_smooth=0.0001) 은 |k| 오름차순 정렬한 후 인접 amplitude 의 차분 제곱으로 *spectrum 의 부드러움* 을 유도합니다.</a:t>
            </a:r>
          </a:p>
          <a:p/>
          <a:p>
            <a:r>
              <a:t>  η_model(x, y, t; θ) = Σ_n A_n · cos(k_xn·x + k_yn·y − ω_n·t + φ_n) 이고, 파라미터 θ = (A, k_x, k_y, φ), ω 는 dispersion 으로 자동 (별도 자유도 아님). Adam 이 이 Loss 를 최소화하는 방향으로 update 하는데, k 는 변화에 신중해야 해서 lr 을 절반 (0.005) 으로 줍니다.</a:t>
            </a:r>
          </a:p>
          <a:p/>
          <a:p>
            <a:r>
              <a:t>(3) **Coarse-to-fine N schedule — Adam 의 stage 진행 방식** — N 을 3 → 8 → 15 로 점진 증가시킵니다. *큰 성분 먼저 찾고, 그 다음 작은 성분 추가* 하는 거예요. *Stage advance 조건은 두 가지 중 하나만 만족* 하면 됩니다 — (a) Loss &lt; threshold (stage 1 의 0.1, stage 2 의 0.05) 또는 (b) Max iter 도달 (stage 1·2 의 200, stage 3 의 500). 빨리 수렴된 stage 는 일찍 넘어가서 시간 절약하고, 수렴 안 된 stage 는 iter cap 으로 강제 advance 합니다. 여기서 *Loss 는 (2) 에서 정의한 fit Loss* 이지 beamforming S(k) 와는 다른 함수예요.</a:t>
            </a:r>
          </a:p>
          <a:p/>
          <a:p>
            <a:r>
              <a:t>**왜 두 단계가 필요한가** — Beamforming 은 글로벌 search 라 global optima 잘 찾지만 격자 해상도 (0.05 rad/m 정도) 한계가 있고요, Adam 은 로컬 최적화라 sub-grid 정확도까지 정밀화하지만 초기값 의존이 큽니다. 두 가지를 결합하면 *beamforming 으로 글로벌 잡고 Adam 으로 정밀화* — robust 하면서 정확합니다.</a:t>
            </a:r>
          </a:p>
          <a:p/>
          <a:p>
            <a:r>
              <a:t>신호처리 연관은 DOA (Direction-of-Arrival) estimation 기법의 ocean wave 적용입니다. Init 의 Adam refinement 끝나면 (k_x, k_y) 는 거의 정착된 상태이고, 다음 tracking 단계에서는 *k 고정 + (A, φ) 만 매 frame update* 하는 방식으로 13 ms 안에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5,500–10,000 개 (init window 2·Tp) 면 약 37–40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*시간 정보 활용 (temporal coherence)* 입니다. 한 순간의 LiDAR 점 50 개만으로는 파도의 방향을 정확히 알기 어렵습니다. 하지만 *wave 자체가 시간에 따라 propagate* 하므로 — η(x, t) = A·cos(k·x − ω·t + φ) 의 t 진행이 매 frame 의 phase 를 변화시킵니다 — 여러 순간의 데이터를 모으면 같은 위치에서도 *다른 phase 정보* 를 얻을 수 있고요, dispersion 으로 ω 와 k 를 연결하면 wavenumber 모호성이 해소됩니다. 우리 dataset 의 vessel 은 정지 상태 (default 0 kts) 이고 코드도 정지 vessel 가정으로 작성/검증되어 있어서 *wave 자체의 시간 진화* 가 multi-frame 의 본질입니다. Vessel motion 기반 synthetic aperture (SAR-style) 는 현재 미적용이고 향후 연구 슬라이드 (page 25) 에서 별도로 다룹니다.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patch 가 50–150 m 정도로 wave 1–2 wavelength 만 담는 데다 점 간격 Δy ≈ 5–8 m 라 spatial Nyquist 가 약 0.4 rad/m — BF3 의 short component (k &gt; 0.4) 는 single frame 으로 못 잡습니다. 하지만 *wave 자체가 시간에 따라 propagate* 하므로 여러 순간의 데이터를 모으면 같은 위치에서도 *다른 phase 정보* 를 얻을 수 있고, dispersion 으로 ω 와 k 를 연결하면 파수 추정이 가능해집니다 (현재 dataset 의 vessel 은 정지 상태).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네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*Vessel 정지 가정* 입니다. *코드와 dataset 모두에서 SA 가 적용되어 있지 않다* 는 것을 3중으로 검증했습니다. 첫째 *코드 측* — wavesim/pipeline.py 96 행이 시간 loop *바깥* 에서 ray 를 1 회만 generate 하면서 ship_x=ship_y=0 으로 하드코딩되어 있고, 코멘트도 'ship is stationary' 라고 명시합니다. ship_speed_kts 라는 config field 는 정의만 되어 있고 어디에서도 읽히지 않는 dead config 입니다. 둘째 *dataset 측* — HDF5 에 per-frame ship 위치 field 자체가 존재하지 않습니다 (저장된 건 timestamps, lidar_points, gt_wave_field 정도). 셋째 *empirical 검증* — 한 episode (30 s, 301 frame) 의 lidar_points x_mean 변동이 std 1.68 m 정도인데, 만약 V=11.3 m/s 였다면 30 초 동안 339 m 이동했어야 하는 것과 명백히 모순됩니다. </a:t>
            </a:r>
          </a:p>
          <a:p/>
          <a:p>
            <a:r>
              <a:t>이게 의미하는 건 — 우리가 의존하는 mechanism 은 *순전히 wave 자체의 시간 진화 + dispersion* 이고, 실험 결과 (nRMSE 0.211, 12 episodes) 는 이 mechanism 만으로 BF3-BF6 영역에서 작동함을 empirically 증명합니다. 실측한 patch 크기는 약 50–150 m 이고 BF3-BF6 dominant wave 의 λ_peak 가 47 m (BF3), 77 m (BF4), 126 m (BF5), 156 m (BF6) 라서 patch 안에 1–3 wavelength 가 들어와 direction 추정에 충분합니다. 다만 *매우 긴 swell* (λ &gt; 250 m, BF5-BF6 의 long tail) 은 patch 가 sub-wavelength 영역에 가까워져 direction (kx, ky) 해상도가 떨어질 수 있습니다. dispersion 으로 |k| 는 잡혀도 방향 ambiguity 가 남는 거죠. 이걸 해결하는 가장 자연스러운 방법이 vessel motion 으로 V·T 만큼 synthetic aperture 를 만드는 것이고, 이건 page 25 future work 슬라이드에서 다룹니다.</a:t>
            </a:r>
          </a:p>
          <a:p/>
          <a:p>
            <a:r>
              <a:t>네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네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*Vessel motion 기반 synthetic aperture* 입니다. 현재 코드와 dataset 은 모두 vessel 정지 (V=0 kts) 가정으로 만들어져 있어서 SA 효과는 검증된 적이 없습니다. Wiley 1954 의 SAR 원리에 따르면 vessel 이 V 의 속도로 T 시간 동안 이동하면 V·T 만큼 추가 spatial coverage 가 생기고, 이것이 wave 의 시간 진화와 결합되면 wavenumber 분해능이 더 향상될 수 있습니다. Ship-mounted LiDAR 에서 SA 를 적용한 사례는 아직 없어서, 우리가 첫 시도가 될 수 있습니다.</a:t>
            </a:r>
          </a:p>
          <a:p/>
          <a:p>
            <a:r>
              <a:t>네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*Sensor / Data 컬럼* 이 새로 추가되었습니다 — 각 paper 가 어떤 센서를 가정하고 (실측인지 sim only 인지) 어떤 데이터로 검증했는지 명시합니다. 핵심 관찰:</a:t>
            </a:r>
          </a:p>
          <a:p>
            <a:r>
              <a:t>  - **Sim only 4편**: Desmars 2018, Desmars 2023 (3 type synthetic), Ehlers 2023 (FNO, HOS+geom radar synth), Yan 2025 (VOF NWT 합성)</a:t>
            </a:r>
          </a:p>
          <a:p>
            <a:r>
              <a:t>  - **실측 (실험실 wave flume/tank) 2편**: Desmars 2020 (wave gauge array), Ehlers 2025 (MARATHON laboratory flume)</a:t>
            </a:r>
          </a:p>
          <a:p>
            <a:r>
              <a:t>  - **실측 (필드/플랫폼) 2편**: Wang &amp; Pan 2022 (shipborne radar), Feng Wang 2025 (Acqua Alta 해양 플랫폼 stereo camera + 자체 2024 vessel)</a:t>
            </a:r>
          </a:p>
          <a:p>
            <a:r>
              <a:t>  - **혼합 (sim + 실측)**: Wang &amp; Pan 2021 (HOS sim + 실측 radar), Klein 2020 (sim + semi-exp)</a:t>
            </a:r>
          </a:p>
          <a:p>
            <a:r>
              <a:t>  - 우리 *WaveSplat 도 현재 Sim only* (110 episode 합성 dataset). 실측 검증은 future work (page 25 방향 4)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Tang-Bhaskar-Shah-Recht 2013 (IEEE TIT 59) 의 atomic norm off-grid CS 이론은 우리 parametric 접근의 영감이고, Möller-Trumbore 1997 의 ray-triangle intersection 은 WaveSim ray tracing 의 표준입니다. Hunt 2007 (Physica D 230)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301 개입니다. Ground-truth η field 80×60 격자 (240 × 200 m 영역) 가 평가 시 참값이고, LiDAR scan 은 raydrop / shadowing / Fresnel 적용 후 frame 당 50 점 정도 valid 합니다. HDF5 format 으로 총 110 episode 1.2 GB.</a:t>
            </a:r>
          </a:p>
          <a:p/>
          <a:p>
            <a:r>
              <a:t>Reproducibility 는 보장됩니다. Seed 저장, Wave generator (Gerstner+JONSWAP) 와 LiDAR raydrop 모두 deterministic, 그리고 49 (wavesim) + 51 (wavesplat) = 100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554480"/>
            <a:ext cx="84355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3600" b="1" i="0">
                <a:solidFill>
                  <a:srgbClr val="1A1A2E"/>
                </a:solidFill>
                <a:latin typeface="Times New Roman"/>
                <a:ea typeface="맑은 고딕"/>
              </a:rP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246888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3000" b="1" i="0">
                <a:solidFill>
                  <a:srgbClr val="007ACC"/>
                </a:solidFill>
                <a:latin typeface="Times New Roman"/>
                <a:ea typeface="맑은 고딕"/>
              </a:rP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347472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500" b="0" i="1">
                <a:solidFill>
                  <a:srgbClr val="666666"/>
                </a:solidFill>
                <a:latin typeface="Times New Roman"/>
                <a:ea typeface="맑은 고딕"/>
              </a:rP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8" y="4114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400" b="0" i="1">
                <a:solidFill>
                  <a:srgbClr val="666666"/>
                </a:solidFill>
                <a:latin typeface="Times New Roman"/>
                <a:ea typeface="맑은 고딕"/>
              </a:rP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8" y="521208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1800" b="1" i="0">
                <a:solidFill>
                  <a:srgbClr val="1A1A2E"/>
                </a:solidFill>
                <a:latin typeface="Times New Roman"/>
                <a:ea typeface="맑은 고딕"/>
              </a:rP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8" y="566928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400" b="0" i="0">
                <a:solidFill>
                  <a:srgbClr val="666666"/>
                </a:solidFill>
                <a:latin typeface="Times New Roman"/>
                <a:ea typeface="맑은 고딕"/>
              </a:rP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822980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354" y="4023360"/>
            <a:ext cx="2743268" cy="967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5486537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190" y="1828800"/>
            <a:ext cx="2880432" cy="19230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53" y="1645920"/>
            <a:ext cx="4457811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628" y="1645920"/>
            <a:ext cx="3771994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53" y="5486400"/>
            <a:ext cx="822980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WaveSplat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5745" y="1691640"/>
          <a:ext cx="8709877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75"/>
                <a:gridCol w="1741975"/>
                <a:gridCol w="1741975"/>
                <a:gridCol w="1741975"/>
                <a:gridCol w="1741977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42908" y="6400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007ACC"/>
                </a:solidFill>
                <a:latin typeface="Times New Roman"/>
                <a:ea typeface="맑은 고딕"/>
              </a:rP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23444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554480"/>
            <a:ext cx="528079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Sensor: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X-band radar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| Data: 합성 (HOS) +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실측 shipborne radar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(2022)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Sensor: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Stereo camera (WASS)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| Data: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실측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(Acqua Alta 해양 플랫폼 + 자체 2024)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→ 우리 baseline 의 직접 prior art (etkf_wang2025.py 가 알고리즘만 재현, 입력은 LiDAR sim)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9445" y="1280160"/>
            <a:ext cx="3017595" cy="1810557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  <a:latin typeface="Times New Roman"/>
                <a:ea typeface="맑은 고딕"/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8" y="384048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CC3333"/>
                </a:solidFill>
                <a:latin typeface="Times New Roman"/>
                <a:ea typeface="맑은 고딕"/>
              </a:rP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90" y="4160520"/>
            <a:ext cx="822980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8" y="553212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2CA02C"/>
                </a:solidFill>
                <a:latin typeface="Times New Roman"/>
                <a:ea typeface="맑은 고딕"/>
              </a:rP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90" y="5852160"/>
            <a:ext cx="822980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0.211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WaveSplat: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23444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554480"/>
            <a:ext cx="528079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Sensor: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Wave gauge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(point sensor) | Data: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실측 (실험실 wave flume)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+ analytical PFT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(MARATHON laboratory,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9445" y="1280160"/>
            <a:ext cx="3017595" cy="1810557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  <a:latin typeface="Times New Roman"/>
                <a:ea typeface="맑은 고딕"/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8" y="384048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CC3333"/>
                </a:solidFill>
                <a:latin typeface="Times New Roman"/>
                <a:ea typeface="맑은 고딕"/>
              </a:rP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90" y="4160520"/>
            <a:ext cx="822980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1D + t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8" y="553212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2CA02C"/>
                </a:solidFill>
                <a:latin typeface="Times New Roman"/>
                <a:ea typeface="맑은 고딕"/>
              </a:rP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90" y="5852160"/>
            <a:ext cx="822980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Ours: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,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위협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6" y="1691640"/>
          <a:ext cx="8572714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673"/>
                <a:gridCol w="1224673"/>
                <a:gridCol w="1224673"/>
                <a:gridCol w="1224673"/>
                <a:gridCol w="1224673"/>
                <a:gridCol w="1224673"/>
                <a:gridCol w="1224676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42908" y="5303520"/>
            <a:ext cx="843555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400" b="1" i="0">
                <a:solidFill>
                  <a:srgbClr val="007ACC"/>
                </a:solidFill>
                <a:latin typeface="Times New Roman"/>
                <a:ea typeface="맑은 고딕"/>
              </a:rP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90" y="5623560"/>
            <a:ext cx="822980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596660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Vessel motion (현재 dataset 가정)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현재 110 episode 의 default: ship_speed = 0 kts (vessel 정지 상태, configs/default.yaml)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multi-frame stacking 의 효과는 *wave 자체의 시간 진화* 에서 옴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Vessel motion 기반 synthetic aperture 는 *향후 연구* 로 분리 (page 25 Future work 참조)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099" y="2011680"/>
            <a:ext cx="2606105" cy="17398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857271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Step 1 (Snell): sin θ_t = sin θ_i / n   (n=1.321,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검증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100 unit test (49 wavesim + 51 wavesplat) + 110 episode + sea trial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한계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596660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099" y="1828800"/>
            <a:ext cx="2606105" cy="1072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Nyquist 가 무엇인지 → 왜 0.4 rad/m 인지 → BF3 short tail 만 일부 초과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857271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Single-frame LiDAR 의 정량 (실측)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Patch coverage ≈ 50–150 m, valid 점 ≈ 50 개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0.6 rad/m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0.4 rad/m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JONSWAP wavenumber 범위 (configs/default.yaml, depth=50m, 검증)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BF3 (Hs=0.6, Tp=5.5s): k = 0.04–1.16 rad/m, λ = 5.4–155 m, λ_peak ≈ 47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BF4 (Hs=1.2, Tp=7.0s): k = 0.027–0.72 rad/m, λ = 8.7–229 m, λ_peak ≈ 77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BF5 (Hs=2.0, Tp=9.0s): k = 0.019–0.43 rad/m, λ_peak ≈ 126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BF6 (Hs=3.0, Tp=10s): k = 0.017–0.35 rad/m, λ_peak ≈ 156 m (전부 Nyquist 이내)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BF3 short tail (k &gt; 0.4 rad/m, 최대 ~2.9× Nyquist) 만 single-frame Nyquist 초과 🚨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해결책 — Temporal coherence (시간 정보가 phase 기준점)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Vessel 이 정지해 있어도 *wave 자체의 시간 진화* 가 multi-frame 효과 제공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Wave propagation: η(x, t) = A·cos(k·x − ω·t + φ) 의 시간 t 가 *phase 변화* 를 만듦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각 frame 이 (x_i, y_i, t_i, η_i) 4D 점 — temporal coherence 로 wavenumber 모호성 해소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우리 case 의 정량 (init window = 2·T_p, data_loader.py)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Multi-frame temporal sampling + dispersion 의 ω→k 매핑 → wavenumber 추정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Init window: 2·T_p ≈ 11–20 s = 110–200 frames × ~50 점 = 5,500–10,000 (x, y, t, η) 4D 점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Spatial Nyquist 0.4 rad/m 우회 가능 (다음 슬라이드 score 식 참조)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Note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— Vessel motion 기반 synthetic aperture (SAR-style) 는 *향후 연구 (Future work)*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현재 코드/dataset 은 vessel 정지 가정. SA 추가 시 추가 분해능 향상 가능 → page 25 Future work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Init (2/2): Beamforming + Adam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Beamforming + Adam (with coarse-to-fine N schedule)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① 글로벌 탐색 (S(k)) → ② Adam 정밀화 (Loss 최소화) → ③ N 점진 증가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857271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Init 의 2 단계 — Beamforming → Adam (coarse-to-fine N schedule 포함)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① Beamforming score (초기 (k_x, k_y) 글로벌 탐색)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S(k_x⁰, k_y⁰) = | Σ_i η_obs(x_i, y_i, t_i) · exp(−j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i: init window 의 모든 점 (2·T_p ≈ 11–20s, 110–200 frame × 50 점 ≈ 5,500–10,000)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Search range: k_x, k_y ∈ [−4, 4] rad/m,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top-N peak 선택 (Adam 초기값으로 전달)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직관: '코러스 효과' — 맞는 wave 방향이면 모든 점의 phase 일치 → S(k) ↑ (N²)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② Adam refinement (multi-frame fitting, Loss 최소화)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Loss(θ) = L_data(θ) + λ_L1 · L_L1(θ) + λ_smooth · L_smooth(θ)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L_data(θ) = (1/N_obs) · Σ_i c_i · [η_model(x_i, y_i, t_i; θ) − η_obs(x_i, y_i, t_i)]²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(confidence-weighted MSE, c_i: geometry-aware weight ∈ [0,1])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L_L1(θ) = Σ_n |A_n|                                          (amplitude sparsity)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L_smooth(θ) = Σ_n (A_↑[n+1] − A_↑[n])²    (|k| 오름차순 정렬 후 인접 차분 제곱)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계수: λ_L1 = 0.001, λ_smooth = 0.0001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η_model(x, y, t; θ) = Σ_n A_n · cos(k_xn·x + k_yn·y − ω_n·t + φ_n)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θ = (A, k_x, k_y, φ), ω_n = √(g·|k_n|·tanh(|k_n|·d))  (dispersion 자동, 별도 자유도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Adam lr: (A, φ) 0.01 / (k_x, k_y) 0.005 (k 절반, 변화 신중)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③ Coarse-to-fine N schedule (Adam stage 진행 방식)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N: 3 → 8 → 15 (성분 수 점진 증가, 큰 성분 먼저 찾기)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Stage advance 조건 — *둘 중 하나* 만족 시 다음 stage 로: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(a) Loss &lt; threshold (stage 1: 0.1, stage 2: 0.05, stage 3: None)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(b) Max iter 도달 (stage 1·2: 200, stage 3: 500 — 총 ≤ 900)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빨리 수렴된 stage 는 즉시 advance (시간 절약)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Stage advance 시 residual 분석으로 새 (k_x, k_y) 추가 (빈 slot 채우기)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Beamforming: 글로벌 search — 격자 위 모든 후보 평가, global optima 잘 찾지만 격자 해상도 한계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Adam: 로컬 정밀화 — beamforming 초기값 주변에서 sub-grid 정확도까지 + multi-frame fitting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결합 → robust (global 잡음) + 정확 (sub-grid 정밀화)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857271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SNR gain = N²/N = N (점 수에 비례, 5,500–10,000 점이면 ~37–40 dB gain)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-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4594974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i: 측정점, c_i = cos(θ_i)/(d_i/d_ref) clamped to [0,1] (d_ref=125m, 코드: model/confidence.py)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10 / frame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6465" y="1691640"/>
            <a:ext cx="3909157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① Pruning (cumulative energy 기반)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energy_n = A_n² 계산 → 내림차순 정렬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Top components 가 (1 − prune_threshold) =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90% cumulative energy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 도달까지만 유지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prune_threshold = 0.10 (config default)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③ Safety rollback (pruning + growth 둘 다 적용)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변경 (prune 또는 grow) 전후 residual RMS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RMS_after &gt; 1.3 · RMS_before → 즉시 saved state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→ 잘못된 prune/grow 의 cascade failure 방지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1554480"/>
            <a:ext cx="8709877" cy="4625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6446520"/>
            <a:ext cx="843555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1554480"/>
            <a:ext cx="4457811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00720" y="1691640"/>
          <a:ext cx="39777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4434"/>
                <a:gridCol w="994434"/>
                <a:gridCol w="994434"/>
                <a:gridCol w="994437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869301" y="2926080"/>
            <a:ext cx="390915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007ACC"/>
                </a:solidFill>
                <a:latin typeface="Times New Roman"/>
                <a:ea typeface="맑은 고딕"/>
              </a:rPr>
              <a:t>16%</a:t>
            </a:r>
            <a:r>
              <a:rPr sz="1100" b="0">
                <a:solidFill>
                  <a:srgbClr val="007ACC"/>
                </a:solidFill>
                <a:latin typeface="Times New Roman"/>
                <a:ea typeface="맑은 고딕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007ACC"/>
                </a:solidFill>
                <a:latin typeface="Times New Roman"/>
                <a:ea typeface="맑은 고딕"/>
              </a:rPr>
              <a:t>47배</a:t>
            </a:r>
            <a:r>
              <a:rPr sz="1100" b="0">
                <a:solidFill>
                  <a:srgbClr val="007ACC"/>
                </a:solidFill>
                <a:latin typeface="Times New Roman"/>
                <a:ea typeface="맑은 고딕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90" y="5303520"/>
            <a:ext cx="822980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5" y="4754880"/>
            <a:ext cx="445781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Times New Roman"/>
                <a:ea typeface="맑은 고딕"/>
              </a:defRPr>
            </a:pPr>
            <a:r>
              <a:rPr sz="900" b="0" i="1">
                <a:solidFill>
                  <a:srgbClr val="999999"/>
                </a:solidFill>
                <a:latin typeface="Times New Roman"/>
                <a:ea typeface="맑은 고딕"/>
              </a:rP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8" y="1554480"/>
            <a:ext cx="843555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90" y="5760720"/>
            <a:ext cx="822980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8" y="5486400"/>
            <a:ext cx="822980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Times New Roman"/>
                <a:ea typeface="맑은 고딕"/>
              </a:defRPr>
            </a:pPr>
            <a:r>
              <a:rPr sz="900" b="0" i="1">
                <a:solidFill>
                  <a:srgbClr val="999999"/>
                </a:solidFill>
                <a:latin typeface="Times New Roman"/>
                <a:ea typeface="맑은 고딕"/>
              </a:rP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72" y="1691640"/>
            <a:ext cx="822980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2743200"/>
            <a:ext cx="48007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43628" y="2743200"/>
            <a:ext cx="377199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A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B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C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5" y="6217920"/>
            <a:ext cx="480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Times New Roman"/>
                <a:ea typeface="맑은 고딕"/>
              </a:defRPr>
            </a:pPr>
            <a:r>
              <a:rPr sz="900" b="0" i="1">
                <a:solidFill>
                  <a:srgbClr val="999999"/>
                </a:solidFill>
                <a:latin typeface="Times New Roman"/>
                <a:ea typeface="맑은 고딕"/>
              </a:rP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007ACC"/>
                </a:solidFill>
                <a:latin typeface="Times New Roman"/>
                <a:ea typeface="맑은 고딕"/>
              </a:rP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280160"/>
            <a:ext cx="843555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1600" b="0" i="1">
                <a:solidFill>
                  <a:srgbClr val="1A1A2E"/>
                </a:solidFill>
                <a:latin typeface="Times New Roman"/>
                <a:ea typeface="맑은 고딕"/>
              </a:rP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2514600"/>
            <a:ext cx="822980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메커니즘 2 — 시간 정보 활용 (multi-frame temporal coherence)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Wave η(x, t) = A·cos(k·x − ω·t + φ) 의 *t 진행* 이 매 frame phase 변화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 dataset (vessel 정지, V=0 kts) 에서 wave 자체의 시간 진화로 multi-frame 효과 작동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Init window 2·T_p ≈ 11–20s, 110–200 frame × 50 점 = 5,500–10,000 (x, y, t, η) 4D 정보로 k 모호성 해소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Note: vessel motion 기반 synthetic aperture 는 *현재 미적용* → 향후 연구 (page 25)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548653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1. Multi-frame temporal coherence (wave 시간 진화)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2. 분산 관계로 ω↔k 결합 → 자유도 5N→4N + 물리적 제약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609" y="1828800"/>
            <a:ext cx="2949013" cy="980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822980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한계 3 — Vessel 정지 가정 (V=0 kts) — 매우 긴 swell direction 해상도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코드: wavesim/pipeline.py:96 ship_x=ship_y=0 하드코딩 (time loop 밖에서 ray 1회 생성)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Dataset: HDF5 에 per-frame ship 위치 field 자체가 없음 (110 episode 모두)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실측 검증: 30s × 301frame 동안 x_mean 변동 std 1.68 m (V=11.3 m/s 면 339 m 이동했어야)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영향: patch 50–150 m 라 BF3-BF6 dominant wave (λ_peak 47–156 m) 는 1–3 wavelength 충분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단 *매우 긴 swell* (λ &gt; 200 m, BF5-BF6 의 long tail) 은 patch 가 sub-wavelength → SA 가 도움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개선: vessel motion 도입 → V·T 만큼 synthetic aperture (page 25 future work)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한계 4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8" y="1691640"/>
            <a:ext cx="8572714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6" y="1554480"/>
            <a:ext cx="8572714" cy="48986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6355080"/>
            <a:ext cx="84355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현재 한계를 극복하기 위한 4가지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822980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계획: Stokes 2차 보정 추가 → 더 높은 파도까지 정확 (Klein 2020 NLSE 수준)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방향 3 — Vessel motion 기반 synthetic aperture (SAR-style)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현재: 코드/dataset 모두 vessel 정지 (V=0 kts) 가정 — SA 미적용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계획: V &gt; 0 시 V·T 만큼 추가 spatial coverage → 분해능 향상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Reference: Wiley 1954 SAR 원리, ship-mounted LiDAR 응용 첫 시도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방향 4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계획: 실제 선박 LiDAR + wave buoy / X-band radar 병행 측정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8" y="626364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600" b="0" i="1">
                <a:solidFill>
                  <a:srgbClr val="007ACC"/>
                </a:solidFill>
                <a:latin typeface="Times New Roman"/>
                <a:ea typeface="맑은 고딕"/>
              </a:rP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3" y="1691640"/>
          <a:ext cx="888133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6266"/>
                <a:gridCol w="1776266"/>
                <a:gridCol w="1776266"/>
                <a:gridCol w="1776266"/>
                <a:gridCol w="1776268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Sensor / Data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LIDAR (proposed) /
**Sim only** (HOS synthetic)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LIDAR 응용 첫 시도 (concept proposal).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gauge array /
**실측** (wave tank lab)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X-band radar (modeled) /
**Sim only** (3 types) +
wave tank validation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1D, on-grid, sensor model 미명시. **가장 가까운 prior art**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X-band radar /
Sim (HOS) + **실측 radar**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Shipborne X-band radar /
**실측** + sim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**Stereo camera (WASS)** /
**실측** (Acqua Alta 플랫폼
+ 자체 2024 vessel)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ETKF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격자 한계, 632 ms. **우리 baseline 직접 prior art**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Hunt 2007 (Physica D 230)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(기상학) /
Sim (atmospheric)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(model 비교) /
**Sim + 실험 (semi-exp)**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X-band radar /
**Sim only** (HOS + geom radar)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Ehlers et al. 2025
(arXiv:2501.08430)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gauge (point) /
**실측** (실험실 wave flume
MARATHON) + analytical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(synthetic) /
**Sim only** (VOF NWT)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Tang-Bhaskar-Shah-Recht 2013
(IEEE TIT 59)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(이론) /
— (theoretical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(graphics) /
— (algorithm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42908" y="6400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6" y="1691640"/>
          <a:ext cx="85727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42"/>
                <a:gridCol w="1714542"/>
                <a:gridCol w="1714542"/>
                <a:gridCol w="1714542"/>
                <a:gridCol w="1714546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6" y="4572000"/>
            <a:ext cx="857271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90" y="4937760"/>
            <a:ext cx="857271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Seed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6" y="5029200"/>
            <a:ext cx="411490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90" y="5394960"/>
            <a:ext cx="411490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Ground-truth η field: 80×60 격자 (240 × 200 m 영역, 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720" y="5029200"/>
            <a:ext cx="411490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883" y="5394960"/>
            <a:ext cx="411490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1554480"/>
            <a:ext cx="8709877" cy="6150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6400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6" y="1554480"/>
            <a:ext cx="8572714" cy="2375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5669280"/>
            <a:ext cx="843555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1554480"/>
            <a:ext cx="8709877" cy="7062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6400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