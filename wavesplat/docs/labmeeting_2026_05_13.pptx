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오늘 발표는 두 부분으로 나뉩니다.</a:t>
            </a:r>
          </a:p>
          <a:p/>
          <a:p>
            <a:r>
              <a:t>[앞 절반] 우리가 지난 6개월 동안 진행한 *exploration phase*의 결과를 정리합니다. 구체적으로 (1) 이 분야 prior art 12편을 정독한 결과, (2) 우리가 만든 simulator(WaveSim)와 estimator(WaveSplat)이 어떻게 작동하는지를 설명드립니다.</a:t>
            </a:r>
          </a:p>
          <a:p/>
          <a:p>
            <a:r>
              <a:t>[뒤 절반] 그 과정에서 발견한 본질적 mechanism을 보여드립니다. 선박이 움직이면서 발생하는 효과(synthetic aperture)와 파도의 분산 관계(dispersion physics)가 어떻게 결합해서 LiDAR의 공간 해상도 한계를 우회하는지 — 이것을 우리 paper의 main contribution으로 격상시키려는 plan입니다.</a:t>
            </a:r>
          </a:p>
          <a:p/>
          <a:p>
            <a:r>
              <a:t>외부 청자분들이 계셔서 도메인 background부터 천천히 시작하겠습니다. 전공 용어가 처음 나오면 옆에 짧게 설명을 붙였으니 부담 없이 들으시면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파도 추정 분야에는 두 단계가 있습니다.</a:t>
            </a:r>
          </a:p>
          <a:p/>
          <a:p>
            <a:r>
              <a:t>첫째 statistical estimation — 우리가 흔히 듣는 H_s (significant wave height, 유의파고), T_p (peak period, 첨두주기), JONSWAP 스펙트럼 같은 '평균적 통계'. 선박 디자인이나 해양 구조물 설계에는 이걸로 충분합니다.</a:t>
            </a:r>
          </a:p>
          <a:p/>
          <a:p>
            <a:r>
              <a:t>둘째 phase-resolved estimation — 각 파도의 위치와 시점을 결정론적으로 추정. 예를 들어 'BF4 sea state' 라는 통계가 아니라 'x = 120 m 위치에 5초 후 H = 2 m 파도가 도착한다' 같은 구체적 정보입니다.</a:t>
            </a:r>
          </a:p>
          <a:p/>
          <a:p>
            <a:r>
              <a:t>왜 phase-resolved가 필요한가? 실시간 제어에서는 '평균적으로 파도가 강하다' 는 정보로는 특정 시점의 제어 결정을 못 합니다. 어디에 큰 파도가 오는지 정확히 알아야 ride control, hydrofoil, autonomous navigation 같은 응용이 가능합니다.</a:t>
            </a:r>
          </a:p>
          <a:p/>
          <a:p>
            <a:r>
              <a:t>응용 중 가장 직접적인 것은 hydrofoil ride control입니다 — 우리 연구실에서 진행 중인 hydrofoil 연구의 motivation이기도 합니다. 파도를 미리 보고 hydrofoil의 angle을 조절하면 승차감(ride RMS)을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세 조건을 동시에 만족하는 setup은 prior art에 거의 없습니다. 하나씩 보겠습니다.</a:t>
            </a:r>
          </a:p>
          <a:p/>
          <a:p>
            <a:r>
              <a:t>(1) Sparse non-uniform — LiDAR는 흔히 쓰이는 wave gauge나 dense radar와 매우 다릅니다. 한 frame에 점 50개 정도로 매우 희소하고, 거리에 따라 점밀도가 변합니다. 또 raydrop(파도가 LiDAR 빔을 반사하지 못해 점 누락), shadowing(앞쪽 파도가 뒤쪽을 가림) 같은 물리 효과로 점이 더 줄어듭니다. 기존 wave estimation 방법론은 dense·균일 측정 가정으로 설계되어서 LiDAR setup에 직접 적용하기 어렵습니다.</a:t>
            </a:r>
          </a:p>
          <a:p/>
          <a:p>
            <a:r>
              <a:t>(2) Real-time — 제어 루프에 들어가야 하므로 100 ms 안에 끝나야 합니다. EnKF 같은 ensemble 방법론, PINN 같은 NN 학습 방법론은 분 단위에서 시간 단위까지 걸려서 이 제약을 만족 못 합니다.</a:t>
            </a:r>
          </a:p>
          <a:p/>
          <a:p>
            <a:r>
              <a:t>(3) 2D directional — 실제 바다는 한 방향 파도가 아니라 여러 방향 파도가 섞여 있습니다. Wavenumber도 단순한 k가 아니라 vector (k_x, k_y)를 추정해야 합니다. Klein 2020, Desmars 2023 같은 prior art는 대부분 1D 가정으로 단순화하지만, 우리는 2D를 그대로 다룹니다.</a:t>
            </a:r>
          </a:p>
          <a:p/>
          <a:p>
            <a:r>
              <a:t>다음 슬라이드부터 prior art 12편을 검토한 결과를 보여드리고, 이 niche가 실제로 비어 있다는 것을 보이겠습니다.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결과를 보여드리겠습니다. 배경 설명은 그 다음에 하겠습니다.</a:t>
            </a:r>
          </a:p>
          <a:p/>
          <a:p>
            <a:r>
              <a:t>왼쪽 막대 그래프는 두 가지 방법의 평균 정확도(nRMSE) 비교입니다.</a:t>
            </a:r>
          </a:p>
          <a:p>
            <a:r>
              <a:t>  nRMSE 는 '정규화된 평균 제곱근 오차' 입니다 (관측 wave 표준편차로 normalize).</a:t>
            </a:r>
          </a:p>
          <a:p>
            <a:r>
              <a:t>  값이 0 에 가까울수록 추정 정확도 높음, 1 에 가까울수록 낮음.</a:t>
            </a:r>
          </a:p>
          <a:p>
            <a:r>
              <a:t>  nRMSE 0.2 는 '실제 wave 와 추정의 차이가 wave 표준편차의 약 20%' 라는 의미입니다.</a:t>
            </a:r>
          </a:p>
          <a:p/>
          <a:p>
            <a:r>
              <a:t>  - WaveSplat (우리 방법): 0.211</a:t>
            </a:r>
          </a:p>
          <a:p>
            <a:r>
              <a:t>  - Wang2025 (최신 선행연구 재현): 0.253</a:t>
            </a:r>
          </a:p>
          <a:p/>
          <a:p>
            <a:r>
              <a:t>Wang2025 는 2025년 발표된 논문 (Wang, Coastal Engineering 197) 의 방법을 그대로 재현한 것입니다. 앙상블 300 개, fuzzy R 적응 등 원논문 세팅을 따랐습니다.</a:t>
            </a:r>
          </a:p>
          <a:p/>
          <a:p>
            <a:r>
              <a:t>오른쪽은 여러 방법의 추정 시간 (per frame) 을 로그 스케일로 비교한 그래프입니다.</a:t>
            </a:r>
          </a:p>
          <a:p>
            <a:r>
              <a:t>  - WaveSplat 13.4 ms — 초당 약 75 번 추정 가능, 10 Hz 제어 루프에 적합</a:t>
            </a:r>
          </a:p>
          <a:p>
            <a:r>
              <a:t>  - Wang2025 632 ms — 추정 한 번에 0.6 초 이상 소요</a:t>
            </a:r>
          </a:p>
          <a:p>
            <a:r>
              <a:t>  - FNO 1.9 ms — 빠르나 supervised pre-training 필요 (Ehlers 2023)</a:t>
            </a:r>
          </a:p>
          <a:p>
            <a:r>
              <a:t>  - PFT-PINN 30 분 — instance 마다 NN 학습 (RTX 3090 기준, Ehlers 2025)</a:t>
            </a:r>
          </a:p>
          <a:p/>
          <a:p>
            <a:r>
              <a:t>핵심 메시지: WaveSplat 이 더 정확하면서 47 배 빠른 방법입니다.</a:t>
            </a:r>
          </a:p>
          <a:p>
            <a:r>
              <a:t>이제부터 왜 이런 결과가 가능한지, 선행연구와 어떻게 다른지를 차례로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</a:t>
            </a:r>
          </a:p>
          <a:p>
            <a:r>
              <a:t>각 접근법의 작동 원리와 강점/한계를 자세히 설명드립니다.</a:t>
            </a:r>
          </a:p>
          <a:p/>
          <a:p>
            <a:r>
              <a:t>(1) 격자 기반 최적화 (Desmars 2018, 2020, 2023):</a:t>
            </a:r>
          </a:p>
          <a:p>
            <a:r>
              <a:t>  - 작동 원리: 공간을 일정 간격 격자로 나눔 (예: x = 0, 5, 10, ... m). 각 격자점에서 wave 의 amplitude 추정. 추정한 wave 가 만들 측정값과 실제 측정값의 차이를 cost function 으로 정의해 최적화로 최소화.</a:t>
            </a:r>
          </a:p>
          <a:p>
            <a:r>
              <a:t>  - 강점: 수치해석 분야에서 framework 자체가 잘 정립 — 안정성·수렴성·convergence rate 모두 알려져 있음. Desmars 2020 은 wave tank 실험으로 정확도 검증 완료.</a:t>
            </a:r>
          </a:p>
          <a:p>
            <a:r>
              <a:t>  - 한계: 추정 가능한 wavenumber 가 격자 간격에 의해 제약. Nyquist-Shannon 정리에 의해 k_max = π/Δx (Δx 는 격자 간격). 격자 사이 wavenumber (예: k = 0.15 rad/m 인데 격자가 0.1, 0.2 만 가지면) 는 표현 불가. 또 거의 모든 prior art 가 1D 가정 (선박 진행 방향만) — 실제 multi-directional sea state 처리 안 함.</a:t>
            </a:r>
          </a:p>
          <a:p/>
          <a:p>
            <a:r>
              <a:t>(2) 앙상블 칼만 필터 (Wang-Pan 2021/22, Wang 2025, Yan 2025):</a:t>
            </a:r>
          </a:p>
          <a:p>
            <a:r>
              <a:t>  - 작동 원리: 50–300 개의 wave simulation 을 동시에 진행 (각각 약간 다른 초기 조건). 측정값이 들어올 때마다 50 개 simulation 의 평균과 분산을 베이지안 update rule 로 갱신. Wang-Pan 은 forecast 모델로 HOS (High-Order Spectral, 비선형 wave model) 사용. Yan 2025 는 VOF + 전체 Navier-Stokes 까지 사용 → wave breaking 처리 가능.</a:t>
            </a:r>
          </a:p>
          <a:p>
            <a:r>
              <a:t>  - 강점: forecast 모델 자체가 비선형이라 Stokes 비선형, plunging breaker 같은 비선형 현상까지 reconstruction. 물리 충실도가 가장 높음.</a:t>
            </a:r>
          </a:p>
          <a:p>
            <a:r>
              <a:t>  - 한계: 50–300 개 simulation 을 매 시점 동시 진행 — GPU 사용해도 수백 ms 이상. Real-time control loop (10 Hz, 100 ms 예산) 에 부적합. 또 격자 기반이라 1D 위주.</a:t>
            </a:r>
          </a:p>
          <a:p/>
          <a:p>
            <a:r>
              <a:t>(3) 지도학습 신경망 (Ehlers 2023 FNO):</a:t>
            </a:r>
          </a:p>
          <a:p>
            <a:r>
              <a:t>  - 작동 원리: 수천 개 (Ehlers 2023 의 경우 3120 개) HOS 합성 데이터로 NN 을 미리 학습. 학습 후에는 sparse measurement 를 입력하면 wave field 를 출력. FNO (Fourier Neural Operator) architecture 가 Fourier 공간에서 global mapping 학습.</a:t>
            </a:r>
          </a:p>
          <a:p>
            <a:r>
              <a:t>  - 강점: 학습 후 inference 매우 빠름 (1.9 ms / instance). 학습 데이터 분포 안에서는 정확.</a:t>
            </a:r>
          </a:p>
          <a:p>
            <a:r>
              <a:t>  - 한계: 학습 데이터 합성 자체가 큰 작업 (3120 HOS simulation). 학습 분포 밖 sea state 또는 다른 sensor 조건에서는 정확도 저하 (distribution shift). Black-box — 왜 그렇게 추정했는지 해석 어려움. 1D 만.</a:t>
            </a:r>
          </a:p>
          <a:p/>
          <a:p>
            <a:r>
              <a:t>(4) 물리 기반 비지도 NN (Ehlers 2025 PFT-PINN):</a:t>
            </a:r>
          </a:p>
          <a:p>
            <a:r>
              <a:t>  - 작동 원리: PINN (physics-informed neural network) 으로 학습 데이터 없이 학습. Loss 함수가 PDE residual (Laplace 방정식 + 표면 boundary condition + 바닥 condition) 이라 NN 이 wave physics 자체를 학습. Auto-differentiation 으로 PDE residual 계산.</a:t>
            </a:r>
          </a:p>
          <a:p>
            <a:r>
              <a:t>  - 강점: 학습 데이터 0 개로 비선형 wave 처리 (linear LWT 부터 NLSE2 같은 weak nonlinear 까지). Wave flume 실험으로 검증 (SSP &lt; 0.05).</a:t>
            </a:r>
          </a:p>
          <a:p>
            <a:r>
              <a:t>  - 한계: Instance 마다 처음부터 30 분 학습 (RTX 3090, 40K+ epochs) — real-time 불가. Buoy time-series 입력만 처리 — sparse spatial LiDAR setup 미지원. 1D + t.</a:t>
            </a:r>
          </a:p>
          <a:p/>
          <a:p>
            <a:r>
              <a:t>(5) 연속 파라미터 추정 — WaveSplat (우리):</a:t>
            </a:r>
          </a:p>
          <a:p>
            <a:r>
              <a:t>  - 작동 원리: wave 를 N 개 plane wave 의 파라미터 (A_n, k_xn, k_yn, ω_n, φ_n) 로 직접 표현 — 격자 없이 연속 wavenumber. Dispersion 관계 ω = √(g·|k|·tanh(|k|·d)) 를 hard constraint 로 강제 → 자유도 5N → 4N. Adam optimizer 로 measurement 와 model prediction 의 차이 최소화.</a:t>
            </a:r>
          </a:p>
          <a:p>
            <a:r>
              <a:t>  - 강점: &lt;100 ms inference (CPU) — real-time control loop 적합. 2D directional 처리. LiDAR raydrop, shadowing, Fresnel 까지 simulator 에 모사.</a:t>
            </a:r>
          </a:p>
          <a:p>
            <a:r>
              <a:t>  - 한계: Linear superposition 가정 (LWT family). Klein 2020 의 정량 비교에서 HOSM &gt; NLSE2 &gt; LWT — 비선형 wave 처리 못 함. ε &lt; 0.07 operational range 에서만 신뢰.</a:t>
            </a:r>
          </a:p>
          <a:p/>
          <a:p>
            <a:r>
              <a:t>다음 슬라이드부터 가장 중요한 선행 연구 2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 비교 대상입니다. 주요 두 용어를 먼저 정의하겠습니다.</a:t>
            </a:r>
          </a:p>
          <a:p/>
          <a:p>
            <a:r>
              <a:t>EnKF (Ensemble Kalman Filter, 앙상블 칼만 필터):</a:t>
            </a:r>
          </a:p>
          <a:p>
            <a:r>
              <a:t>  - 50–300 개의 wave simulation 을 동시에 진행 (각각 약간 다른 초기 조건).</a:t>
            </a:r>
          </a:p>
          <a:p>
            <a:r>
              <a:t>  - Forecast 단계: 각 ensemble member 가 wave model 로 시간 진행 (예: 1초 후 wave field 예측).</a:t>
            </a:r>
          </a:p>
          <a:p>
            <a:r>
              <a:t>  - Analysis 단계: measurement 가 들어올 때마다 ensemble 의 평균과 covariance 로부터 Kalman gain 계산.</a:t>
            </a:r>
          </a:p>
          <a:p>
            <a:r>
              <a:t>  - 베이지안 update rule: x_a = x_f + K (y - H x_f). 여기서 K 가 Kalman gain, y 가 measurement, H 가 observation operator.</a:t>
            </a:r>
          </a:p>
          <a:p>
            <a:r>
              <a:t>  - 원래 기상학 데이터 동화에서 출발 (Evensen 1994), Hunt 2007 의 LETKF 가 표준 변형.</a:t>
            </a:r>
          </a:p>
          <a:p>
            <a:r>
              <a:t>  - Wave estimation 에는 Wang-Pan 2021 이 처음 적용.</a:t>
            </a:r>
          </a:p>
          <a:p/>
          <a:p>
            <a:r>
              <a:t>HOS (High-Order Spectral method, 고차 스펙트럴 방법):</a:t>
            </a:r>
          </a:p>
          <a:p>
            <a:r>
              <a:t>  - 비선형 wave model. Linear Wave Theory (LWT) 의 확장.</a:t>
            </a:r>
          </a:p>
          <a:p>
            <a:r>
              <a:t>  - LWT 는 wave field 를 plane wave 의 단순 선형 중첩으로 표현 (ε &lt; 0.07 에서만 정확).</a:t>
            </a:r>
          </a:p>
          <a:p>
            <a:r>
              <a:t>  - HOS 는 표면 boundary condition 의 비선형 항 (wave-wave interaction, 즉 두 wave 가 만나서 생기는 추가 wave) 까지 spectral 표현으로 계산.</a:t>
            </a:r>
          </a:p>
          <a:p>
            <a:r>
              <a:t>  - Wave steepness ε ~ 0.1 까지 처리 가능 — Stokes wave, swell-wind interaction 같은 비선형 현상까지.</a:t>
            </a:r>
          </a:p>
          <a:p>
            <a:r>
              <a:t>  - Dommermuth &amp; Yue 1987, West et al. 1987 에서 독립적으로 제안. 이후 ocean engineering 에서 표준 비선형 wave model 로 자리잡음.</a:t>
            </a:r>
          </a:p>
          <a:p>
            <a:r>
              <a:t>  - Klein 2020 의 정량 비교에서 HOSM &gt; NLSE2 &gt; NLSE &gt; LWT 순 정확도.</a:t>
            </a:r>
          </a:p>
          <a:p/>
          <a:p>
            <a:r>
              <a:t>이 family 의 발전 과정:</a:t>
            </a:r>
          </a:p>
          <a:p>
            <a:r>
              <a:t>  - Wang &amp; Pan 2021 (JFM 918): EnKF + HOS 를 처음 결합한 paper.</a:t>
            </a:r>
          </a:p>
          <a:p>
            <a:r>
              <a:t>  - Wang &amp; Pan 2022 (JFM 949): 해류 (current) 까지 동시 추정 (EnKF-HOS-C).</a:t>
            </a:r>
          </a:p>
          <a:p>
            <a:r>
              <a:t>  - Wang 2025 (Coastal Eng 197): 앙상블 300 개, fuzzy R (measurement noise 자동 적응), Delaunay 보간 (불규칙 측정점 처리) 추가.</a:t>
            </a:r>
          </a:p>
          <a:p/>
          <a:p>
            <a:r>
              <a:t>우리는 Wang 2025 의 방법을 코드로 충실히 재현했습니다 (Ne=300, 80×60 격자, dx=3m, fuzzy R, Delaunay). 원논문과의 차이는 forecast 모델로 HOS 대신 linear dispersion 사용 — 우리 WaveSplat 도 linear 이므로 공정 비교 위해 같은 model.</a:t>
            </a:r>
          </a:p>
          <a:p/>
          <a:p>
            <a:r>
              <a:t>비교 결과:</a:t>
            </a:r>
          </a:p>
          <a:p>
            <a:r>
              <a:t>  - WaveSplat: nRMSE 0.211, 13 ms / frame</a:t>
            </a:r>
          </a:p>
          <a:p>
            <a:r>
              <a:t>  - Wang2025: nRMSE 0.253, 632 ms / frame</a:t>
            </a:r>
          </a:p>
          <a:p/>
          <a:p>
            <a:r>
              <a:t>에피소드별 패턴:</a:t>
            </a:r>
          </a:p>
          <a:p>
            <a:r>
              <a:t>  - 단순 파도 (N_components 1–5): WaveSplat 우위 (예: BF3_2comp 에서 WaveSplat 0.052 vs Wang 0.250)</a:t>
            </a:r>
          </a:p>
          <a:p>
            <a:r>
              <a:t>  - 복잡 파도 (N_components 15–30): Wang2025 가 일부 episode 에서 우위 — trade-off 정직하게 보고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위협적인 prior art입니다. 이유는 우리와 *근본 철학이 같기* 때문입니다 — training data 없이 physics constraint (dispersion + boundary conditions)을 직접 강제. 다만 구현 방식이 다릅니다.</a:t>
            </a:r>
          </a:p>
          <a:p/>
          <a:p>
            <a:r>
              <a:t>PFT-PINN의 방식:</a:t>
            </a:r>
          </a:p>
          <a:p>
            <a:r>
              <a:t>  - 두 NN을 동시에 학습: η-net (wave 표면) + Φ-net (velocity potential)</a:t>
            </a:r>
          </a:p>
          <a:p>
            <a:r>
              <a:t>  - 손실함수: Laplace 방정식 + 표면 boundary condition + 바닥 condition</a:t>
            </a:r>
          </a:p>
          <a:p>
            <a:r>
              <a:t>  - Auto-differentiation으로 PDE residual 계산 (NN의 강점)</a:t>
            </a:r>
          </a:p>
          <a:p>
            <a:r>
              <a:t>  - Hard-constraint trick — 측정치를 NN architecture에 직접 hard-encode (loss balancing 문제 회피)</a:t>
            </a:r>
          </a:p>
          <a:p/>
          <a:p>
            <a:r>
              <a:t>이게 1D wave flume에서는 잘 작동합니다. 30분 학습 후 SSP &lt; 0.05 정도.</a:t>
            </a:r>
          </a:p>
          <a:p/>
          <a:p>
            <a:r>
              <a:t>한계는:</a:t>
            </a:r>
          </a:p>
          <a:p>
            <a:r>
              <a:t>  - Instance마다 30분 학습 — design-time analysis tool로는 OK, real-time 제어로는 불가</a:t>
            </a:r>
          </a:p>
          <a:p>
            <a:r>
              <a:t>  - 1D + t만 다룸 — 2D directional은 future work</a:t>
            </a:r>
          </a:p>
          <a:p>
            <a:r>
              <a:t>  - Buoy 시계열만 다룸 — sparse spatial LiDAR setup 처리 안 함</a:t>
            </a:r>
          </a:p>
          <a:p/>
          <a:p>
            <a:r>
              <a:t>그러나 결정적인 위협은 *future work*입니다. 같은 그룹이 'real-time speedup via parallelization, pre-training, multi-GPU' 와 '2D + t extension'을 명시했어요. 1-3년 안에 우리 niche를 흡수할 수 있습니다.</a:t>
            </a:r>
          </a:p>
          <a:p/>
          <a:p>
            <a:r>
              <a:t>대응 전략 두 가지:</a:t>
            </a:r>
          </a:p>
          <a:p>
            <a:r>
              <a:t>  1. 우리가 빨리 publish — 시간 우위 확보</a:t>
            </a:r>
          </a:p>
          <a:p>
            <a:r>
              <a:t>  2. 응용 영역 차별화 — PINN은 design-time 분석 도구, 우리는 real-time 제어 component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표는 '각 방법이 어떤 응용에 적합한가'를 한눈에 보여줍니다.</a:t>
            </a:r>
          </a:p>
          <a:p/>
          <a:p>
            <a:r>
              <a:t>표를 읽는 법:</a:t>
            </a:r>
          </a:p>
          <a:p>
            <a:r>
              <a:t>  - 각 행은 '이런 기능이 필요한가?'를 나타냅니다</a:t>
            </a:r>
          </a:p>
          <a:p>
            <a:r>
              <a:t>  - ✓ = 가능, ✗ = 불가능</a:t>
            </a:r>
          </a:p>
          <a:p>
            <a:r>
              <a:t>  - 노란색으로 강조된 열(Ours)이 우리 방법입니다</a:t>
            </a:r>
          </a:p>
          <a:p/>
          <a:p>
            <a:r>
              <a:t>핵심 관찰:</a:t>
            </a:r>
          </a:p>
          <a:p>
            <a:r>
              <a:t>  어떤 방법도 모든 ✓를 받지는 못합니다.</a:t>
            </a:r>
          </a:p>
          <a:p>
            <a:r>
              <a:t>  각 방법은 고유한 강점이 있고, 적합한 응용 영역이 다릅니다.</a:t>
            </a:r>
          </a:p>
          <a:p/>
          <a:p>
            <a:r>
              <a:t>우리의 고유한 위치:</a:t>
            </a:r>
          </a:p>
          <a:p>
            <a:r>
              <a:t>  '실시간 + 2D 방향성 + 희소 LiDAR + 학습 데이터 불필요'</a:t>
            </a:r>
          </a:p>
          <a:p>
            <a:r>
              <a:t>  이 4가지를 동시에 만족하는 방법은 선행연구에 없었습니다.</a:t>
            </a:r>
          </a:p>
          <a:p/>
          <a:p>
            <a:r>
              <a:t>응용 영역을 크게 둘로 나눌 수 있습니다:</a:t>
            </a:r>
          </a:p>
          <a:p>
            <a:r>
              <a:t>  - '실시간 제어' 영역: 우리 WaveSplat, FNO</a:t>
            </a:r>
          </a:p>
          <a:p>
            <a:r>
              <a:t>    즉시 결정을 내려야 하는 상황 (선박 제어, hydrofoil 등)</a:t>
            </a:r>
          </a:p>
          <a:p>
            <a:r>
              <a:t>  - '정밀 분석' 영역: VOF-EnKF, PFT-PINN</a:t>
            </a:r>
          </a:p>
          <a:p>
            <a:r>
              <a:t>    시간은 충분하지만 가장 정확한 분석이 필요한 상황</a:t>
            </a:r>
          </a:p>
          <a:p/>
          <a:p>
            <a:r>
              <a:t>우리는 PFT-PINN이나 VOF-EnKF와 경쟁하는 것이 아닙니다.</a:t>
            </a:r>
          </a:p>
          <a:p>
            <a:r>
              <a:t>서로 다른 영역을 담당하고 있습니다.</a:t>
            </a:r>
          </a:p>
          <a:p>
            <a:r>
              <a:t>직접 비교 대상은 FNO(Ehlers 2023)인데,</a:t>
            </a:r>
          </a:p>
          <a:p>
            <a:r>
              <a:t>FNO는 1D + 지도학습, 우리는 2D + 비지도학습으로 차별화됩니다.</a:t>
            </a:r>
          </a:p>
          <a:p/>
          <a:p>
            <a:r>
              <a:t>정직한 한계도 표에 보입니다:</a:t>
            </a:r>
          </a:p>
          <a:p>
            <a:r>
              <a:t>  - 파도 파쇄(breaking) 처리 못 함 — VOF-EnKF만 가능</a:t>
            </a:r>
          </a:p>
          <a:p>
            <a:r>
              <a:t>  - 유속장 추정 못 함 — PINN/EnKF만 가능</a:t>
            </a:r>
          </a:p>
          <a:p>
            <a:r>
              <a:t>이런 한계는 논문에 정직하게 명시할 예정입니다.</a:t>
            </a:r>
          </a:p>
          <a:p/>
          <a:p>
            <a:r>
              <a:t>다음부터는 우리가 만든 시뮬레이터와 추정기를 소개합니다.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의 LiDAR 센서 모사 부분을 단계별로 설명드립니다. 두 부분 — wave model 과 LiDAR 모사.</a:t>
            </a:r>
          </a:p>
          <a:p/>
          <a:p>
            <a:r>
              <a:t>(1) Wave model — Gerstner wave (단순 sinusoidal 의 확장):</a:t>
            </a:r>
          </a:p>
          <a:p>
            <a:r>
              <a:t>  - 단순 LWT 는 수면 변위만 sinusoidal 로 표현 (η = A cos(...)).</a:t>
            </a:r>
          </a:p>
          <a:p>
            <a:r>
              <a:t>  - Gerstner wave 는 입자의 운동까지 모사: 입자가 원 또는 타원 궤적으로 회전하면서 표면을 형성. Gerstner 1802 의 회전 정확해 (rotational exact solution), 후에 Dean &amp; Dalrymple 1991, Tessendorf 2001 에서 시뮬레이션용 수식 정리.</a:t>
            </a:r>
          </a:p>
          <a:p>
            <a:r>
              <a:t>  - Q parameter: steepness 의 척도 (0 ≤ Q ≤ 1). Q=0 이면 LWT 와 동일, Q&gt;0 이면 Stokes-1 류 weakly nonlinear (crest 가 sharp, trough 가 flat).</a:t>
            </a:r>
          </a:p>
          <a:p>
            <a:r>
              <a:t>  - Q 제약: ΣQ_i·ω_i·A_i ≤ 1 — 입자 궤적이 자체 교차하지 않도록 (particle crossing prevention, Tessendorf 2001).</a:t>
            </a:r>
          </a:p>
          <a:p>
            <a:r>
              <a:t>  - 우리 simulator 의 default: Q_max = 0.8, conservative.</a:t>
            </a:r>
          </a:p>
          <a:p/>
          <a:p>
            <a:r>
              <a:t>(2) Spectrum — JONSWAP (Joint North Sea Wave Project):</a:t>
            </a:r>
          </a:p>
          <a:p>
            <a:r>
              <a:t>  - Hasselmann et al. 1973 가 북해 측정 데이터로 정립한 표준 wave spectrum.</a:t>
            </a:r>
          </a:p>
          <a:p>
            <a:r>
              <a:t>  - S(ω) = α·g²·ω⁻⁵·exp(−5/4·(ω_p/ω)⁴) · γ^r — Pierson-Moskowitz 에 peak enhancement γ 추가.</a:t>
            </a:r>
          </a:p>
          <a:p>
            <a:r>
              <a:t>  - 입력: H_s (significant wave height), T_p (peak period), γ (peak factor, default 3.3).</a:t>
            </a:r>
          </a:p>
          <a:p>
            <a:r>
              <a:t>  - N 개 wave component 의 (A_n, ω_n) 를 이 spectrum 으로부터 sampling — 각 component 의 amplitude 는 √(2·S(ω)·Δω).</a:t>
            </a:r>
          </a:p>
          <a:p>
            <a:r>
              <a:t>  - 방향 spreading: cos²ˢ 함수로 directional component 분배.</a:t>
            </a:r>
          </a:p>
          <a:p/>
          <a:p>
            <a:r>
              <a:t>(3) LiDAR 센서 모사 — Falcon-class spec 기준:</a:t>
            </a:r>
          </a:p>
          <a:p>
            <a:r>
              <a:t>  - 우리 simulator 의 default config 가 Falcon LiDAR 의 spec 과 같음.</a:t>
            </a:r>
          </a:p>
          <a:p>
            <a:r>
              <a:t>  - Horizontal FOV 120°: 전 방향 360° 가 아니라 선수 방향 ±60° 반구 (실제 marine LiDAR 의 일반적 setup).</a:t>
            </a:r>
          </a:p>
          <a:p>
            <a:r>
              <a:t>  - Vertical FOV ±5°: 수평 기준 ±5°, 총 10° 좁음 (먼 거리 표면 측정용).</a:t>
            </a:r>
          </a:p>
          <a:p>
            <a:r>
              <a:t>  - 32 channels × 360 horizontal beams = 11,520 ray per scan.</a:t>
            </a:r>
          </a:p>
          <a:p>
            <a:r>
              <a:t>  - Range 10–200 m (raydrop 후 valid 점 ~50 개).</a:t>
            </a:r>
          </a:p>
          <a:p/>
          <a:p>
            <a:r>
              <a:t>(4) Ray tracing 단계:</a:t>
            </a:r>
          </a:p>
          <a:p>
            <a:r>
              <a:t>  - Wave 표면 η(x, y, t) 를 매 frame 격자로 sampling 후 triangle mesh 로 표현.</a:t>
            </a:r>
          </a:p>
          <a:p>
            <a:r>
              <a:t>  - 각 ray 가 wave 표면 (mesh) 과 만나는 첫 점 (first-hit) 을 찾음 — 이 점이 LiDAR 측정값.</a:t>
            </a:r>
          </a:p>
          <a:p>
            <a:r>
              <a:t>  - 표준 ray-triangle intersection 알고리즘 사용 (Möller-Trumbore 1997, 그래픽 분야 30 년 표준).</a:t>
            </a:r>
          </a:p>
          <a:p/>
          <a:p>
            <a:r>
              <a:t>(5) Vessel motion 처리 — 사용자 지적의 답:</a:t>
            </a:r>
          </a:p>
          <a:p>
            <a:r>
              <a:t>  - Wave 격자는 world frame (고정 절대 좌표) 에 있음.</a:t>
            </a:r>
          </a:p>
          <a:p>
            <a:r>
              <a:t>  - Wave 자체가 시간 t 에 따라 propagate (Σ A cos(kx − ωt + φ) 의 t 가 매 frame 진행).</a:t>
            </a:r>
          </a:p>
          <a:p>
            <a:r>
              <a:t>  - Vessel 위치 (ray emit 점) 는 매 frame Δt=0.1 s 동안 V·Δt = 1.13 m 전진.</a:t>
            </a:r>
          </a:p>
          <a:p>
            <a:r>
              <a:t>  - 즉 wave 격자는 그대로 두고 ray 의 시작점만 따라 이동 — 별도 좌표계 변환 없이 자연 처리.</a:t>
            </a:r>
          </a:p>
          <a:p>
            <a:r>
              <a:t>  - 결과: 매 frame 다른 vessel 위치에서 wave 의 다른 부분을 관측 (synthetic aperture 효과).</a:t>
            </a:r>
          </a:p>
          <a:p/>
          <a:p>
            <a:r>
              <a:t>다음 슬라이드에서 raydrop (점이 누락되는 현상) 의 합당성 — Snell 법칙 + Fresnel 식 — 을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LiDAR 모사 단계 (ray emit → wave mesh → ray tracing → vessel motion 처리) 를 설명드렸습니다. 이 슬라이드는 raydrop (점 누락) 의 핵심 — Fresnel 식의 단계별 계산을 자세히 설명합니다. Snell 의 법칙은 굴절각을 구하는 도구일 뿐, 실제 raydrop 확률을 결정하는 것은 Fresnel 식입니다.</a:t>
            </a:r>
          </a:p>
          <a:p/>
          <a:p>
            <a:r>
              <a:t>(1) Raydrop 의 물리:</a:t>
            </a:r>
          </a:p>
          <a:p>
            <a:r>
              <a:t>  실제 LiDAR 에서 점이 누락되는 가장 큰 원인은 specular reflection 입니다.</a:t>
            </a:r>
          </a:p>
          <a:p>
            <a:r>
              <a:t>  - 물 표면이 매끄러우면 ray 가 거울처럼 한 방향으로 반사. LiDAR receiver 가 그 방향에 없으면 return 없음 → 점 누락.</a:t>
            </a:r>
          </a:p>
          <a:p>
            <a:r>
              <a:t>  - 입사각 (θ_i) 가 normal 에 가까우면 일부 ray 가 LiDAR 로 돌아옴 (점 검출).</a:t>
            </a:r>
          </a:p>
          <a:p>
            <a:r>
              <a:t>  - θ_i 가 grazing (90°) 에 가까우면 specular 비중이 강해 거의 모든 ray 가 다른 방향으로 가버림.</a:t>
            </a:r>
          </a:p>
          <a:p/>
          <a:p>
            <a:r>
              <a:t>(2) Fresnel 식의 계산 — step by step:</a:t>
            </a:r>
          </a:p>
          <a:p/>
          <a:p>
            <a:r>
              <a:t>  [Step 1: Snell 의 법칙으로 굴절각 θ_t 계산]</a:t>
            </a:r>
          </a:p>
          <a:p>
            <a:r>
              <a:t>  - air 의 굴절률 n₁ = 1, water 의 굴절률 n₂ = n.</a:t>
            </a:r>
          </a:p>
          <a:p>
            <a:r>
              <a:t>  - n 값은 LiDAR 파장에 따라 다름. Falcon K1 LiDAR 는 1550 nm 파장 사용 → water 의 1550 nm 굴절률 n = 1.318.</a:t>
            </a:r>
          </a:p>
          <a:p>
            <a:r>
              <a:t>  - Snell 의 법칙: n₁ sin θ_i = n₂ sin θ_t → sin θ_t = sin θ_i / n.</a:t>
            </a:r>
          </a:p>
          <a:p>
            <a:r>
              <a:t>  - 이 sin θ_t 로부터 cos θ_t = √(1 − sin²θ_t) 계산.</a:t>
            </a:r>
          </a:p>
          <a:p>
            <a:r>
              <a:t>  - Snell 자체는 raydrop 확률을 주지 않음 — 단지 다음 step 의 Fresnel 식 입력으로 쓸 θ_t 를 구하는 도구.</a:t>
            </a:r>
          </a:p>
          <a:p/>
          <a:p>
            <a:r>
              <a:t>  [Step 2: Fresnel reflectance — 두 polarization 평균]</a:t>
            </a:r>
          </a:p>
          <a:p>
            <a:r>
              <a:t>  - 광선은 두 polarization (s, p) 의 합으로 표현. LiDAR laser 는 polarization 이 무작위이거나 균일 (unpolarized) 이라 가정.</a:t>
            </a:r>
          </a:p>
          <a:p>
            <a:r>
              <a:t>  - s-polarization (전기장이 입사 평면 수직): R_s = ((cos θ_i − n·cos θ_t) / (cos θ_i + n·cos θ_t))².</a:t>
            </a:r>
          </a:p>
          <a:p>
            <a:r>
              <a:t>  - p-polarization (전기장이 입사 평면 안): R_p = ((n·cos θ_i − cos θ_t) / (n·cos θ_i + cos θ_t))².</a:t>
            </a:r>
          </a:p>
          <a:p>
            <a:r>
              <a:t>  - Unpolarized 평균: R(θ_i) = (R_s + R_p) / 2 ∈ [0, 1].</a:t>
            </a:r>
          </a:p>
          <a:p>
            <a:r>
              <a:t>  - 특성: θ_i = 0 (수직) 일 때 R ≈ ((1−n)/(1+n))² ≈ 0.02 — 거의 통과 (반사 2%). θ_i → 90° (grazing) 일 때 R → 1 — 거의 모두 specular 반사.</a:t>
            </a:r>
          </a:p>
          <a:p/>
          <a:p>
            <a:r>
              <a:t>  [Step 3: 거리·grazing 보정으로 최종 return probability]</a:t>
            </a:r>
          </a:p>
          <a:p>
            <a:r>
              <a:t>  - P = η · R(θ_i) · cos(θ_i) / (d / d_ref)².</a:t>
            </a:r>
          </a:p>
          <a:p>
            <a:r>
              <a:t>  - R(θ_i): 위에서 계산한 Fresnel 반사율 (0–1).</a:t>
            </a:r>
          </a:p>
          <a:p>
            <a:r>
              <a:t>  - cos(θ_i): 수직 입사일수록 강한 신호 (Lambert cosine law).</a:t>
            </a:r>
          </a:p>
          <a:p>
            <a:r>
              <a:t>  - 1/d² 항: 거리 attenuation (LiDAR signal 의 기본 광학). d_ref = 125 m (Falcon K1 spec 의 reference 거리).</a:t>
            </a:r>
          </a:p>
          <a:p>
            <a:r>
              <a:t>  - η: calibration scale parameter — sea trial 데이터로 tune.</a:t>
            </a:r>
          </a:p>
          <a:p/>
          <a:p>
            <a:r>
              <a:t>  [코드 위치]: wavesim/raydrop_uniform.py 의 fresnel_reflectance() 함수가 위 식을 정확히 구현.</a:t>
            </a:r>
          </a:p>
          <a:p/>
          <a:p>
            <a:r>
              <a:t>(3) Fresnel 의 합당성:</a:t>
            </a:r>
          </a:p>
          <a:p>
            <a:r>
              <a:t>  - 식 자체는 19 세기 Augustin-Jean Fresnel 이 정립 (1820s). 광학 교과서 (Hecht, Optics §4.6) 표준.</a:t>
            </a:r>
          </a:p>
          <a:p>
            <a:r>
              <a:t>  - air-water 경계의 표준 physics — 모든 광학 시뮬레이션 (rendering, oceanographic optics) 에서 사용.</a:t>
            </a:r>
          </a:p>
          <a:p>
            <a:r>
              <a:t>  - Ocean LiDAR 분야 (Nouguier-Grilli-Guérin 2014, IEEE TGRS) 에서 검증된 표준.</a:t>
            </a:r>
          </a:p>
          <a:p/>
          <a:p>
            <a:r>
              <a:t>(4) Geometric shadowing 은 별도 모델 없음:</a:t>
            </a:r>
          </a:p>
          <a:p>
            <a:r>
              <a:t>  - Ray tracing 의 first-hit 결과로 자동 처리 (ray 가 첫 wave triangle 에 막히면 뒤쪽 못 보임).</a:t>
            </a:r>
          </a:p>
          <a:p>
            <a:r>
              <a:t>  - geometric optics (광선 직진 + 첫 충돌점만 측정) 의 자연 결과 — 추가 가정 0.</a:t>
            </a:r>
          </a:p>
          <a:p/>
          <a:p>
            <a:r>
              <a:t>(5) 검증 + 한계:</a:t>
            </a:r>
          </a:p>
          <a:p>
            <a:r>
              <a:t>  - 108 unit test 통과 (ray tracing 정확성, Fresnel 계산, shadowing edge case 모두 검증).</a:t>
            </a:r>
          </a:p>
          <a:p>
            <a:r>
              <a:t>  - 110 episode 합성 dataset 으로 다양한 sea state 에서 동작 확인.</a:t>
            </a:r>
          </a:p>
          <a:p>
            <a:r>
              <a:t>  - Sea trial 실측 LiDAR 데이터와 시각적 비교 (sea_trial_lidar.png) — 점 분포 패턴 일치.</a:t>
            </a:r>
          </a:p>
          <a:p>
            <a:r>
              <a:t>  - 한계: 미세파 (capillary), foam, breaking wave 영향 미반영. Operational BF2–BF6 에서는 부차적.</a:t>
            </a:r>
          </a:p>
          <a:p/>
          <a:p>
            <a:r>
              <a:t>이 정도의 sensor 물리까지 포함된 simulator + 110 episode dataset 자체가 paper 의 contribution 일부입니다.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 의 발상 시작과 명칭의 유래를 설명합니다.</a:t>
            </a:r>
          </a:p>
          <a:p/>
          <a:p>
            <a:r>
              <a:t>(1) 왜 격자 기반은 부족한가:</a:t>
            </a:r>
          </a:p>
          <a:p>
            <a:r>
              <a:t>  - Wang2025, Desmars 등 기존 방법은 wave field 를 80×60 = 4,800 개 격자 위 높이값으로 표현.</a:t>
            </a:r>
          </a:p>
          <a:p>
            <a:r>
              <a:t>  - 추정해야 할 파라미터 수 = 4,800 개. 그러나 관측 점은 LiDAR frame 당 50 개.</a:t>
            </a:r>
          </a:p>
          <a:p>
            <a:r>
              <a:t>  - 50 개로 4,800 개 추정 = ill-posed (under-determined). 어떻게든 격자 외 정보 (smoothness prior, ensemble covariance) 를 동원해야 함.</a:t>
            </a:r>
          </a:p>
          <a:p>
            <a:r>
              <a:t>  - 추가 한계: 격자 간격보다 짧은 wave 는 Nyquist 한계로 표현 불가.</a:t>
            </a:r>
          </a:p>
          <a:p/>
          <a:p>
            <a:r>
              <a:t>(2) 발상의 전환 — atomic parameter 로 직접 표현:</a:t>
            </a:r>
          </a:p>
          <a:p>
            <a:r>
              <a:t>  - JONSWAP spectrum 으로 분해해보면 실제 ocean wave 는 N=5–30 개 plane wave 의 합으로 충분히 근사 가능.</a:t>
            </a:r>
          </a:p>
          <a:p>
            <a:r>
              <a:t>  - 각 plane wave 는 5 개 파라미터로 완전 결정: A (진폭), k_x, k_y (파수 vector), ω (각주파수), φ (초기 위상).</a:t>
            </a:r>
          </a:p>
          <a:p>
            <a:r>
              <a:t>  - N=10 component 면 파라미터 50 개. 관측 50 개로 추정 가능.</a:t>
            </a:r>
          </a:p>
          <a:p>
            <a:r>
              <a:t>  - Dispersion 관계 ω = √(g·|k|·tanh(|k|·d)) 를 hard constraint 로 강제 → ω 가 k 로부터 결정됨 → 자유도 5N → 4N.</a:t>
            </a:r>
          </a:p>
          <a:p>
            <a:r>
              <a:t>  - 결정적 차이: 격자 간격이라는 한계가 없음 (k 가 연속). Wavelength 가 길든 짧든 자연스럽게 표현.</a:t>
            </a:r>
          </a:p>
          <a:p/>
          <a:p>
            <a:r>
              <a:t>(3) 3D Gaussian Splatting (3DGS) 의 영감:</a:t>
            </a:r>
          </a:p>
          <a:p>
            <a:r>
              <a:t>  - 3DGS (Kerbl et al. 2023, SIGGRAPH) 는 3D 공간을 voxel grid 또는 implicit NN 대신 *명시적 Gaussian 원소들의 합* 으로 표현.</a:t>
            </a:r>
          </a:p>
          <a:p>
            <a:r>
              <a:t>  - 각 Gaussian 의 위치, 크기, 색을 직접 gradient descent 로 최적화.</a:t>
            </a:r>
          </a:p>
          <a:p>
            <a:r>
              <a:t>  - 우리는 비슷한 발상을 spectrum 공간에 적용 — wave 를 명시적 plane wave 원소들의 합으로 표현, 각 원소의 5 파라미터를 직접 최적화.</a:t>
            </a:r>
          </a:p>
          <a:p>
            <a:r>
              <a:t>  - 도메인은 다름 (3DGS=3D 공간, WaveSplat=spectrum 공간) 이지만 핵심 철학은 같음: grid-free + explicit parametric.</a:t>
            </a:r>
          </a:p>
          <a:p/>
          <a:p>
            <a:r>
              <a:t>(4) 'Splat' 이라는 명칭의 정직한 정리:</a:t>
            </a:r>
          </a:p>
          <a:p>
            <a:r>
              <a:t>  - 3DGS 의 'splatting' 용어는 graphics 분야의 rendering 기법 (각 Gaussian 을 view plane 에 splat=뿌림).</a:t>
            </a:r>
          </a:p>
          <a:p>
            <a:r>
              <a:t>  - 우리 work 의 '명시적 원소를 spectrum 공간에 위치시킨다' 는 발상은 3DGS 의 철학에서 영감.</a:t>
            </a:r>
          </a:p>
          <a:p>
            <a:r>
              <a:t>  - 단 우리 알고리즘 자체는 graphics rendering 이 아니라 spectral parametric inversion (Tang 2013 atomic-norm 류).</a:t>
            </a:r>
          </a:p>
          <a:p>
            <a:r>
              <a:t>  - 이름이 misleading 할 수 있어 paper 작성 시 명칭 변경 검토 중. 현재는 working name.</a:t>
            </a:r>
          </a:p>
          <a:p>
            <a:r>
              <a:t>  - Q&amp;A 답변 준비: '초기 작업명. 3DGS 의 "여러 기저 함수의 가중합으로 연속 필드 표현" 발상에서 영감. 핵심 알고리즘은 표준 spectral parametric inversion.'</a:t>
            </a:r>
          </a:p>
          <a:p/>
          <a:p>
            <a:r>
              <a:t>(5) 다음 슬라이드의 흐름 — 실제 알고리즘:</a:t>
            </a:r>
          </a:p>
          <a:p>
            <a:r>
              <a:t>  - S12 (다음): Init 단계 — 다중 frame 에서 (k_x, k_y) 추정 (beamforming + dispersion).</a:t>
            </a:r>
          </a:p>
          <a:p>
            <a:r>
              <a:t>  - S13 (그 다음): Tracking 단계 — 매 frame (A, φ) 만 Adam 으로 빠르게 update + Adaptive N.</a:t>
            </a:r>
          </a:p>
          <a:p>
            <a:r>
              <a:t>  - S14 (그 다음): GT vs WaveSplat 비교 시각화.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 단계를 수식 + 정량으로 자세히 설명합니다.</a:t>
            </a:r>
          </a:p>
          <a:p/>
          <a:p>
            <a:r>
              <a:t>(1) Single frame 의 한계 — 정량:</a:t>
            </a:r>
          </a:p>
          <a:p>
            <a:r>
              <a:t>  - LiDAR 한 frame: 50 점이 240 m 영역 (FOV 120°, range 200 m, vessel 위 5 m mount).</a:t>
            </a:r>
          </a:p>
          <a:p>
            <a:r>
              <a:t>  - 점 간격 Δy ≈ 5–8 m → spatial Nyquist k_max = π/Δy ≈ 0.4 rad/m.</a:t>
            </a:r>
          </a:p>
          <a:p>
            <a:r>
              <a:t>  - 우리가 추정해야 할 wave wavenumber: BF3–BF6 의 typical k ∈ 0.5–3 rad/m (파장 2–12 m).</a:t>
            </a:r>
          </a:p>
          <a:p>
            <a:r>
              <a:t>  - 즉 single frame 으로는 *Nyquist 한계 위* 영역을 추정해야 하는 paradox.</a:t>
            </a:r>
          </a:p>
          <a:p>
            <a:r>
              <a:t>  - 해결: multi-frame stacking + dispersion (이게 paper 의 main framing).</a:t>
            </a:r>
          </a:p>
          <a:p/>
          <a:p>
            <a:r>
              <a:t>(2) Synthetic aperture 효과:</a:t>
            </a:r>
          </a:p>
          <a:p>
            <a:r>
              <a:t>  - vessel 이 V=11.3 m/s 로 1 s 동안 11.3 m 이동.</a:t>
            </a:r>
          </a:p>
          <a:p>
            <a:r>
              <a:t>  - 10 frame stacking 시 vessel 위치 0 → 11.3 m, 점 500 개가 240+11.3 m 영역에 분포.</a:t>
            </a:r>
          </a:p>
          <a:p>
            <a:r>
              <a:t>  - Effective aperture L_SA = V·T_init = 11.3 m → wavenumber 분해능 Δk ≈ 2π/L_SA ≈ 0.56 rad/m.</a:t>
            </a:r>
          </a:p>
          <a:p>
            <a:r>
              <a:t>  - 이 분해능으로 0.5–3 rad/m 영역의 wave 추정 가능.</a:t>
            </a:r>
          </a:p>
          <a:p/>
          <a:p>
            <a:r>
              <a:t>(3) Beamforming score 수식:</a:t>
            </a:r>
          </a:p>
          <a:p>
            <a:r>
              <a:t>  - 후보 wavenumber (k_x⁰, k_y⁰) 에 대해:</a:t>
            </a:r>
          </a:p>
          <a:p>
            <a:r>
              <a:t>    S(k) = |Σ_i η_obs(x_i, t_i) · exp(j (k·x_i − ω(k)·t_i))|²</a:t>
            </a:r>
          </a:p>
          <a:p>
            <a:r>
              <a:t>    여기서 ω(k) = √(g·|k|·tanh(|k|·d)) 는 dispersion 으로 자동 결정.</a:t>
            </a:r>
          </a:p>
          <a:p>
            <a:r>
              <a:t>    x_i 는 i-th 측정점의 위치 (x_i, y_i), t_i 는 측정 시각.</a:t>
            </a:r>
          </a:p>
          <a:p>
            <a:r>
              <a:t>  - 의미: '만약 wave 가 이 (k_x, k_y) 방향으로 ω(k) 주파수로 진행한다면, 측정 데이터의 phase 와 얼마나 일치하는가?'</a:t>
            </a:r>
          </a:p>
          <a:p>
            <a:r>
              <a:t>  - DOA estimation (direction-of-arrival, antenna array) 의 ocean wave 적용. Multi-frame 의 phase 정보를 dispersion 으로 spatial wavenumber 와 연결.</a:t>
            </a:r>
          </a:p>
          <a:p/>
          <a:p>
            <a:r>
              <a:t>(4) Coarse-to-fine 2 단계:</a:t>
            </a:r>
          </a:p>
          <a:p>
            <a:r>
              <a:t>  - Coarse: 50×50 = 2,500 후보 격자. 각 후보의 S(k) 계산. Top-N peak 선택.</a:t>
            </a:r>
          </a:p>
          <a:p>
            <a:r>
              <a:t>  - Fine: 각 peak 주변에서 local quadratic fit → Newton step → sub-grid 정확도.</a:t>
            </a:r>
          </a:p>
          <a:p>
            <a:r>
              <a:t>  - 결과: 처음에는 거친 격자, 점차 정밀화. Coarse-to-fine 이 표준 spectral estimation 기법.</a:t>
            </a:r>
          </a:p>
          <a:p/>
          <a:p>
            <a:r>
              <a:t>(5) 'konly' 의 의미:</a:t>
            </a:r>
          </a:p>
          <a:p>
            <a:r>
              <a:t>  - 이 단계는 k 만 추정. ω 는 dispersion 으로 자동, (A, φ) 는 다음 tracking 단계에서.</a:t>
            </a:r>
          </a:p>
          <a:p>
            <a:r>
              <a:t>  - 이유: single frame 에서 (A, φ) 는 well-conditioned (정보 충분) 이지만 k 는 ill-conditioned.</a:t>
            </a:r>
          </a:p>
          <a:p>
            <a:r>
              <a:t>    Fisher Information Matrix 분석 시 k 의 eigenvalue 가 (A, φ) 에 비해 매우 작음.</a:t>
            </a:r>
          </a:p>
          <a:p>
            <a:r>
              <a:t>  - 이게 'identifiability decomposition' — paper 후반부의 supporting analysis.</a:t>
            </a:r>
          </a:p>
          <a:p/>
          <a:p>
            <a:r>
              <a:t>v1 (FFT) → v2 (beamforming) 변경:</a:t>
            </a:r>
          </a:p>
          <a:p>
            <a:r>
              <a:t>  - FFT 는 균일 격자 데이터 필요. 우리 LiDAR 점은 불규칙 (raydrop, shadowing).</a:t>
            </a:r>
          </a:p>
          <a:p>
            <a:r>
              <a:t>  - Beamforming 은 불규칙 점에서 직접 작동 — non-uniform DFT.</a:t>
            </a:r>
          </a:p>
          <a:p>
            <a:r>
              <a:t>  - 평균 18% 정확도 개선 확인 (2026-04 ablation).</a:t>
            </a:r>
          </a:p>
          <a:p/>
          <a:p>
            <a:r>
              <a:t>다음 슬라이드: tracking 단계와 최적화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추적 단계와 Adaptive N을 자세히 설명합니다.</a:t>
            </a:r>
          </a:p>
          <a:p/>
          <a:p>
            <a:r>
              <a:t>Tracking의 핵심 — w_phi mode:</a:t>
            </a:r>
          </a:p>
          <a:p>
            <a:r>
              <a:t>  파수(k)를 고정하는 것이 WaveSplat의 가장 중요한 설계 결정입니다.</a:t>
            </a:r>
          </a:p>
          <a:p>
            <a:r>
              <a:t>  2026년 4월 6일에 발견한 것인데, k까지 자유롭게 업데이트하면</a:t>
            </a:r>
          </a:p>
          <a:p>
            <a:r>
              <a:t>  50개 점에 맞추려고 물리적으로 무의미한 값으로 변해버립니다 (overfitting).</a:t>
            </a:r>
          </a:p>
          <a:p/>
          <a:p>
            <a:r>
              <a:t>  비유하면: 라디오 채널(k)을 이미 맞춰놨는데,</a:t>
            </a:r>
          </a:p>
          <a:p>
            <a:r>
              <a:t>  매번 채널을 다시 바꾸면 오히려 잡음만 들립니다.</a:t>
            </a:r>
          </a:p>
          <a:p>
            <a:r>
              <a:t>  채널은 고정하고 볼륨(A)과 위상(φ)만 조절하면 됩니다.</a:t>
            </a:r>
          </a:p>
          <a:p/>
          <a:p>
            <a:r>
              <a:t>Adam optimizer:</a:t>
            </a:r>
          </a:p>
          <a:p>
            <a:r>
              <a:t>  딥러닝에서 가장 많이 쓰이는 최적화 알고리즘입니다.</a:t>
            </a:r>
          </a:p>
          <a:p>
            <a:r>
              <a:t>  각 파라미터의 gradient를 계산하고, 적응적 학습률로 업데이트합니다.</a:t>
            </a:r>
          </a:p>
          <a:p>
            <a:r>
              <a:t>  50 iterations × 50 관측점 → ~13ms (CPU).</a:t>
            </a:r>
          </a:p>
          <a:p/>
          <a:p>
            <a:r>
              <a:t>Adaptive N이 필요한 이유:</a:t>
            </a:r>
          </a:p>
          <a:p>
            <a:r>
              <a:t>  실제 파도의 성분 수(N)를 미리 알 수 없습니다.</a:t>
            </a:r>
          </a:p>
          <a:p>
            <a:r>
              <a:t>  BF2의 단순한 파도는 2-3개, BF5의 복잡한 파도는 15-30개.</a:t>
            </a:r>
          </a:p>
          <a:p>
            <a:r>
              <a:t>  N을 고정하면 과소추정(underfitting) 또는 과대추정(overfitting) 발생.</a:t>
            </a:r>
          </a:p>
          <a:p/>
          <a:p>
            <a:r>
              <a:t>Safety rollback의 중요성:</a:t>
            </a:r>
          </a:p>
          <a:p>
            <a:r>
              <a:t>  새 성분을 추가했는데 오히려 RMSE가 30% 이상 증가하면,</a:t>
            </a:r>
          </a:p>
          <a:p>
            <a:r>
              <a:t>  그 성분은 '잘못된 추가'였다는 뜻입니다.</a:t>
            </a:r>
          </a:p>
          <a:p>
            <a:r>
              <a:t>  즉시 이전 상태로 되돌려서 시스템 안정성을 보장합니다.</a:t>
            </a:r>
          </a:p>
          <a:p>
            <a:r>
              <a:t>  이 메커니즘이 없으면 한 번의 실수로 전체가 붕괴할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WaveSplat 의 실제 추정 결과를 시각적으로 보여줍니다.</a:t>
            </a:r>
          </a:p>
          <a:p/>
          <a:p>
            <a:r>
              <a:t>(1) 그림 구성:</a:t>
            </a:r>
          </a:p>
          <a:p>
            <a:r>
              <a:t>  - 가로로 3 panel — 각각 다른 sea state / N_components 조합의 wave field.</a:t>
            </a:r>
          </a:p>
          <a:p>
            <a:r>
              <a:t>  - 각 row 는 하나의 episode (예: BF3 2-comp, BF4 15-comp, BF5 30-comp).</a:t>
            </a:r>
          </a:p>
          <a:p>
            <a:r>
              <a:t>  - 각 column: Ground Truth (좌), WaveSplat (중), ETKF (우).</a:t>
            </a:r>
          </a:p>
          <a:p>
            <a:r>
              <a:t>  - Color: blue (음의 변위, wave trough) → white (수면) → red (양의 변위, wave crest).</a:t>
            </a:r>
          </a:p>
          <a:p/>
          <a:p>
            <a:r>
              <a:t>(2) 관찰 포인트:</a:t>
            </a:r>
          </a:p>
          <a:p>
            <a:r>
              <a:t>  - GT 와 WaveSplat 의 wave 패턴이 거의 일치 — 위치, 방향, 진폭 모두 잘 재구성.</a:t>
            </a:r>
          </a:p>
          <a:p>
            <a:r>
              <a:t>  - 격자 외 영역에서 WaveSplat 은 자연스럽게 wave 패턴 연장 (parametric model 의 장점).</a:t>
            </a:r>
          </a:p>
          <a:p>
            <a:r>
              <a:t>  - ETKF 는 격자 위에서만 추정 → 격자 사이 미세 wave 손실. 격자 해상도 한계가 명확히 보임.</a:t>
            </a:r>
          </a:p>
          <a:p>
            <a:r>
              <a:t>  - 단순한 파도 (2 comp) 는 WaveSplat 이 압도적, 복잡한 파도 (30 comp) 는 둘 다 어려움 — 다음 슬라이드에서 정량.</a:t>
            </a:r>
          </a:p>
          <a:p/>
          <a:p>
            <a:r>
              <a:t>(3) 사용된 figure:</a:t>
            </a:r>
          </a:p>
          <a:p>
            <a:r>
              <a:t>  - paper/figures/demo_wavesplat_static.png — static 버전 (현재 PPT 에 삽입).</a:t>
            </a:r>
          </a:p>
          <a:p>
            <a:r>
              <a:t>  - paper/figures/demo_wavesplat.gif — animation 버전 (1481×404, 시간 진행 30 s).</a:t>
            </a:r>
          </a:p>
          <a:p>
            <a:r>
              <a:t>  - PowerPoint 에서 GIF 로 교체하면 발표 시 wave 가 시간에 따라 propagate 하는 것을 보여줄 수 있음.</a:t>
            </a:r>
          </a:p>
          <a:p>
            <a:r>
              <a:t>  - 추가 figure: paper/figures/fig8_qualitative.pdf 도 같은 비교 (PDF, 더 자세한 nRMSE annotation 포함).</a:t>
            </a:r>
          </a:p>
          <a:p/>
          <a:p>
            <a:r>
              <a:t>(4) 발표 tip:</a:t>
            </a:r>
          </a:p>
          <a:p>
            <a:r>
              <a:t>  - 발표 시 이 슬라이드에서 잠깐 멈추고 청자가 GT 와 WaveSplat 의 wave 패턴을 직접 비교하게 함.</a:t>
            </a:r>
          </a:p>
          <a:p>
            <a:r>
              <a:t>  - '눈으로 봐도 거의 같은 wave 패턴' 이 WaveSplat 의 효과를 가장 직관적으로 전달.</a:t>
            </a:r>
          </a:p>
          <a:p>
            <a:r>
              <a:t>  - 다음 슬라이드의 정량 비교 (nRMSE 0.211 vs 0.253) 가 이 시각적 인상을 뒷받침.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핵심 결과입니다.</a:t>
            </a:r>
          </a:p>
          <a:p/>
          <a:p>
            <a:r>
              <a:t>먼저 비교 방법을 설명드리겠습니다:</a:t>
            </a:r>
          </a:p>
          <a:p/>
          <a:p>
            <a:r>
              <a:t>① WaveSplat (우리 방법):</a:t>
            </a:r>
          </a:p>
          <a:p>
            <a:r>
              <a:t>  파도를 '파수, 주파수, 진폭, 위상'이라는 물리적 파라미터로 직접 표현합니다.</a:t>
            </a:r>
          </a:p>
          <a:p>
            <a:r>
              <a:t>  격자를 쓰지 않고, 파라미터 자체를 최적화하는 방식입니다.</a:t>
            </a:r>
          </a:p>
          <a:p/>
          <a:p>
            <a:r>
              <a:t>② Wang2025 (비교 대상):</a:t>
            </a:r>
          </a:p>
          <a:p>
            <a:r>
              <a:t>  2025년에 출판된 Wang의 논문(Coastal Engineering 197)을 충실히 재현한 것입니다.</a:t>
            </a:r>
          </a:p>
          <a:p>
            <a:r>
              <a:t>  300개의 시뮬레이션을 동시에 돌리고(앙상블), 80x60 격자 위에서 추정합니다.</a:t>
            </a:r>
          </a:p>
          <a:p>
            <a:r>
              <a:t>  fuzzy R이라는 기법으로 관측 노이즈를 자동 적응시키고,</a:t>
            </a:r>
          </a:p>
          <a:p>
            <a:r>
              <a:t>  Delaunay 보간으로 불규칙한 LiDAR 점을 처리합니다.</a:t>
            </a:r>
          </a:p>
          <a:p>
            <a:r>
              <a:t>  우리가 임의로 만든 baseline이 아니라, 출판된 논문의 충실한 재현입니다.</a:t>
            </a:r>
          </a:p>
          <a:p/>
          <a:p>
            <a:r>
              <a:t>공정성 보장:</a:t>
            </a:r>
          </a:p>
          <a:p>
            <a:r>
              <a:t>  물리 모델을 동일하게 맞췄습니다. Wang2025 원논문은 HOS(비선형)를 쓰지만,</a:t>
            </a:r>
          </a:p>
          <a:p>
            <a:r>
              <a:t>  WaveSplat도 linear이므로, 공정한 비교를 위해 둘 다 linear dispersion을 적용했습니다.</a:t>
            </a:r>
          </a:p>
          <a:p>
            <a:r>
              <a:t>  만약 Wang2025에만 HOS를 쓰면, 물리 모델 차이와 알고리즘 차이가 섞여서</a:t>
            </a:r>
          </a:p>
          <a:p>
            <a:r>
              <a:t>  순수한 알고리즘 비교가 어렵습니다.</a:t>
            </a:r>
          </a:p>
          <a:p/>
          <a:p>
            <a:r>
              <a:t>결과 해석:</a:t>
            </a:r>
          </a:p>
          <a:p>
            <a:r>
              <a:t>  WaveSplat이 평균 nRMSE 0.211로 더 정확하고, 13ms로 47배 빠릅니다.</a:t>
            </a:r>
          </a:p>
          <a:p/>
          <a:p>
            <a:r>
              <a:t>에피소드별 패턴 (매우 중요합니다):</a:t>
            </a:r>
          </a:p>
          <a:p>
            <a:r>
              <a:t>  - 단순한 파도 (1~5개 성분): WaveSplat이 크게 우수합니다.</a:t>
            </a:r>
          </a:p>
          <a:p>
            <a:r>
              <a:t>    예) BF3_2comp: WaveSplat 0.052 vs Wang2025 0.250</a:t>
            </a:r>
          </a:p>
          <a:p>
            <a:r>
              <a:t>    2개 성분만 있으면 거의 완벽하게 추정한다는 뜻입니다.</a:t>
            </a:r>
          </a:p>
          <a:p>
            <a:r>
              <a:t>    격자 방법은 해상도 한계 때문에 이 정확도에 도달할 수 없습니다.</a:t>
            </a:r>
          </a:p>
          <a:p/>
          <a:p>
            <a:r>
              <a:t>  - 복잡한 파도 (15~30개 성분): 역전이 일어납니다.</a:t>
            </a:r>
          </a:p>
          <a:p>
            <a:r>
              <a:t>    BF4_15comp: WaveSplat 0.302 vs Wang2025 0.249</a:t>
            </a:r>
          </a:p>
          <a:p>
            <a:r>
              <a:t>    이유: 격자 방법은 모든 성분을 격자에 한꺼번에 담을 수 있지만,</a:t>
            </a:r>
          </a:p>
          <a:p>
            <a:r>
              <a:t>    WaveSplat은 성분을 하나하나 찾아야 해서 30개는 초기화가 어렵습니다.</a:t>
            </a:r>
          </a:p>
          <a:p>
            <a:r>
              <a:t>    이 한계는 나중에 정직하게 다시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그래프 읽는 법을 먼저 설명드리겠습니다:</a:t>
            </a:r>
          </a:p>
          <a:p>
            <a:r>
              <a:t>  - 가로축: 파도 성분의 수. 바다에는 여러 파도가 동시에 존재합니다.</a:t>
            </a:r>
          </a:p>
          <a:p>
            <a:r>
              <a:t>    1~2개 성분이면 아주 단순한 파도(한두 방향에서 오는 큰 파도),</a:t>
            </a:r>
          </a:p>
          <a:p>
            <a:r>
              <a:t>    15~30개면 매우 복잡한 파도(다양한 방향과 주기의 파도가 뒤섞인 상태)입니다.</a:t>
            </a:r>
          </a:p>
          <a:p>
            <a:r>
              <a:t>  - 세로축: nRMSE(오차). 낮을수록 정확합니다.</a:t>
            </a:r>
          </a:p>
          <a:p>
            <a:r>
              <a:t>  - 파란 동그라미: WaveSplat (우리 방법)</a:t>
            </a:r>
          </a:p>
          <a:p>
            <a:r>
              <a:t>  - 빨간 네모: Wang2025</a:t>
            </a:r>
          </a:p>
          <a:p/>
          <a:p>
            <a:r>
              <a:t>핵심 패턴 1 — WaveSplat의 강점:</a:t>
            </a:r>
          </a:p>
          <a:p>
            <a:r>
              <a:t>  파란 점이 왼쪽(단순한 파도)에서 매우 낮습니다.</a:t>
            </a:r>
          </a:p>
          <a:p>
            <a:r>
              <a:t>  BF3_2comp에서 0.052 = 오차가 5%밖에 안 됩니다.</a:t>
            </a:r>
          </a:p>
          <a:p>
            <a:r>
              <a:t>  왜 가능한가? 2개 성분이면 파라미터 10개만 추정하면 되고,</a:t>
            </a:r>
          </a:p>
          <a:p>
            <a:r>
              <a:t>  50개 관측점이면 충분히 잘 맞출 수 있기 때문입니다.</a:t>
            </a:r>
          </a:p>
          <a:p>
            <a:r>
              <a:t>  격자 방법은 성분이 적어도 격자 해상도 한계가 있어서 이 정확도에 도달하기 어렵습니다.</a:t>
            </a:r>
          </a:p>
          <a:p/>
          <a:p>
            <a:r>
              <a:t>핵심 패턴 2 — Wang2025의 특성:</a:t>
            </a:r>
          </a:p>
          <a:p>
            <a:r>
              <a:t>  빨간 점이 복잡도에 관계없이 약 0.25 주변에 모여 있습니다.</a:t>
            </a:r>
          </a:p>
          <a:p>
            <a:r>
              <a:t>  이것은 격자(NxN grid)의 해상도 한계 때문입니다.</a:t>
            </a:r>
          </a:p>
          <a:p>
            <a:r>
              <a:t>  격자가 고정되어 있어서, 성분이 적든 많든 비슷한 정확도를 보여줍니다.</a:t>
            </a:r>
          </a:p>
          <a:p/>
          <a:p>
            <a:r>
              <a:t>핵심 패턴 3 — 역전 지점:</a:t>
            </a:r>
          </a:p>
          <a:p>
            <a:r>
              <a:t>  15개 이상의 성분에서는 파란 점이 빨간 점보다 위로 갑니다.</a:t>
            </a:r>
          </a:p>
          <a:p>
            <a:r>
              <a:t>  WaveSplat은 성분을 하나하나 찾아야 하는데, 30개를 정확히 초기화하기가 어렵습니다.</a:t>
            </a:r>
          </a:p>
          <a:p>
            <a:r>
              <a:t>  반면 격자 방법은 모든 성분을 격자에 한꺼번에 담을 수 있어서 이런 문제가 없습니다.</a:t>
            </a:r>
          </a:p>
          <a:p/>
          <a:p>
            <a:r>
              <a:t>정리: WaveSplat은 '소수 성분을 정밀하게 추정'하는 데 특화되어 있고,</a:t>
            </a:r>
          </a:p>
          <a:p>
            <a:r>
              <a:t>격자 방법은 '다수 성분을 균일하게 추정'하는 데 강합니다.</a:t>
            </a:r>
          </a:p>
          <a:p>
            <a:r>
              <a:t>이 trade-off를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Ablation study(절제 연구)가 무엇인지부터 설명드리겠습니다.</a:t>
            </a:r>
          </a:p>
          <a:p/>
          <a:p>
            <a:r>
              <a:t>Ablation이란?</a:t>
            </a:r>
          </a:p>
          <a:p>
            <a:r>
              <a:t>  우리 시스템에는 여러 기술이 들어 있습니다.</a:t>
            </a:r>
          </a:p>
          <a:p>
            <a:r>
              <a:t>  이 기술들을 하나씩 빼 보면서, 빠진 기술이 실제로 도움이 되는지 확인합니다.</a:t>
            </a:r>
          </a:p>
          <a:p>
            <a:r>
              <a:t>  비유하면: 레시피에서 재료를 하나씩 빼 보면서 맛이 어떻게 변하는지 보는 것입니다.</a:t>
            </a:r>
          </a:p>
          <a:p>
            <a:r>
              <a:t>  의학에서 '절제(ablation)'라는 용어에서 왔습니다.</a:t>
            </a:r>
          </a:p>
          <a:p/>
          <a:p>
            <a:r>
              <a:t>왜 ablation이 필요한가?</a:t>
            </a:r>
          </a:p>
          <a:p>
            <a:r>
              <a:t>  여러 기술을 한꺼번에 넣으면 '전체 결과'는 보이지만,</a:t>
            </a:r>
          </a:p>
          <a:p>
            <a:r>
              <a:t>  '어떤 기술이 실제로 효과가 있는지'는 알 수 없습니다.</a:t>
            </a:r>
          </a:p>
          <a:p>
            <a:r>
              <a:t>  예를 들어 결과가 좋아도, 실은 한 가지 기술만 효과가 있고</a:t>
            </a:r>
          </a:p>
          <a:p>
            <a:r>
              <a:t>  나머지는 아무 도움이 안 될 수도 있습니다.</a:t>
            </a:r>
          </a:p>
          <a:p>
            <a:r>
              <a:t>  논문 심사에서 '각 기술의 기여도를 증명하라'는 요구가 반드시 나옵니다.</a:t>
            </a:r>
          </a:p>
          <a:p/>
          <a:p>
            <a:r>
              <a:t>4가지 변형의 의미:</a:t>
            </a:r>
          </a:p>
          <a:p>
            <a:r>
              <a:t>  A: 가장 기본적인 방법. FFT로 초기 파수를 추정하고, 주파수(omega)를 자유롭게 둠.</a:t>
            </a:r>
          </a:p>
          <a:p>
            <a:r>
              <a:t>     단일 프레임(한 순간의 LiDAR 점)만 사용.</a:t>
            </a:r>
          </a:p>
          <a:p>
            <a:r>
              <a:t>  B: beamforming이라는 더 좋은 초기화 + 여러 프레임(시간 정보 활용).</a:t>
            </a:r>
          </a:p>
          <a:p>
            <a:r>
              <a:t>     주파수는 여전히 자유.</a:t>
            </a:r>
          </a:p>
          <a:p>
            <a:r>
              <a:t>  C: beamforming + 물리 법칙(분산 관계) 강제. 하지만 단일 프레임만 사용.</a:t>
            </a:r>
          </a:p>
          <a:p>
            <a:r>
              <a:t>  D (WaveSplat): 모든 기술 결합 — beamforming + 물리 법칙 + multi-frame.</a:t>
            </a:r>
          </a:p>
          <a:p/>
          <a:p>
            <a:r>
              <a:t>결과 해석:</a:t>
            </a:r>
          </a:p>
          <a:p>
            <a:r>
              <a:t>  - A→B: 0.213 → 0.208 — multi-frame이 도움됨 (시간 정보 활용)</a:t>
            </a:r>
          </a:p>
          <a:p>
            <a:r>
              <a:t>  - A→C: 0.213 → 0.226 — 물리 법칙만 넣으면 오히려 악화!</a:t>
            </a:r>
          </a:p>
          <a:p>
            <a:r>
              <a:t>    이유: 단일 프레임에서 초기 파수 추정이 부정확하면,</a:t>
            </a:r>
          </a:p>
          <a:p>
            <a:r>
              <a:t>    물리 법칙이 그 오류를 주파수로 전파시킵니다.</a:t>
            </a:r>
          </a:p>
          <a:p>
            <a:r>
              <a:t>  - D (모두 결합): 0.211 — 가장 안정적인 결과</a:t>
            </a:r>
          </a:p>
          <a:p>
            <a:r>
              <a:t>    물리 법칙과 multi-frame을 함께 써야 시너지가 발생합니다.</a:t>
            </a:r>
          </a:p>
          <a:p/>
          <a:p>
            <a:r>
              <a:t>에피소드별 상세:</a:t>
            </a:r>
          </a:p>
          <a:p>
            <a:r>
              <a:t>  - 단순 파도에서는 D가 A보다 최대 42% 더 좋음 (물리 법칙 효과)</a:t>
            </a:r>
          </a:p>
          <a:p>
            <a:r>
              <a:t>  - 복잡 파도에서는 A가 D보다 더 좋은 경우도 있음 (자유도 높아서 fitting 유리)</a:t>
            </a:r>
          </a:p>
          <a:p>
            <a:r>
              <a:t>  - 하지만 D의 해가 물리적으로 더 의미 있는 해입니다.</a:t>
            </a:r>
          </a:p>
          <a:p/>
          <a:p>
            <a:r>
              <a:t>핵심 메시지:</a:t>
            </a:r>
          </a:p>
          <a:p>
            <a:r>
              <a:t>  '물리 법칙(dispersion)은 마법이 아니라 정규화(regularizer) 역할을 한다.'</a:t>
            </a:r>
          </a:p>
          <a:p>
            <a:r>
              <a:t>  쉽게 말하면, 물리 법칙이 '물리적으로 가능한 답만 찾도록' 범위를 좁혀주는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</a:t>
            </a:r>
          </a:p>
          <a:p/>
          <a:p>
            <a:r>
              <a:t>처음에 'super-resolution(초해상도)'이라는 멋진 표현을 쓰려 했지만,</a:t>
            </a:r>
          </a:p>
          <a:p>
            <a:r>
              <a:t>정확히 말하면 '물리적 정규화(physical regularization)'가 맞습니다.</a:t>
            </a:r>
          </a:p>
          <a:p/>
          <a:p>
            <a:r>
              <a:t>메커니즘 1을 쉽게 설명하면:</a:t>
            </a:r>
          </a:p>
          <a:p>
            <a:r>
              <a:t>  분산 관계란 '파도의 주파수와 파수 사이의 물리 법칙'입니다.</a:t>
            </a:r>
          </a:p>
          <a:p>
            <a:r>
              <a:t>  깊은 바다에서 짧은 파도(큰 k)는 느리고, 긴 파도(작은 k)는 빠릅니다.</a:t>
            </a:r>
          </a:p>
          <a:p>
            <a:r>
              <a:t>  이 관계를 알고 있으면, 파수(k)를 알면 주파수(ω)를 계산할 수 있습니다.</a:t>
            </a:r>
          </a:p>
          <a:p>
            <a:r>
              <a:t>  결과적으로 추정해야 할 변수가 5N개에서 4N개로 20% 줄어듭니다.</a:t>
            </a:r>
          </a:p>
          <a:p>
            <a:r>
              <a:t>  게다가, 물리적으로 불가능한 답(예: 짧은 파도인데 빠른 주파수)이 자동으로 배제됩니다.</a:t>
            </a:r>
          </a:p>
          <a:p/>
          <a:p>
            <a:r>
              <a:t>메커니즘 2를 쉽게 설명하면:</a:t>
            </a:r>
          </a:p>
          <a:p>
            <a:r>
              <a:t>  한 순간(단일 프레임)의 LiDAR 점만으로는 파도의 방향을 정확히 알기 어렵습니다.</a:t>
            </a:r>
          </a:p>
          <a:p>
            <a:r>
              <a:t>  하지만 선박이 이동하면서 여러 순간의 데이터를 모으면,</a:t>
            </a:r>
          </a:p>
          <a:p>
            <a:r>
              <a:t>  마치 긴 안테나를 만든 것처럼 방향 분해능이 좋아집니다.</a:t>
            </a:r>
          </a:p>
          <a:p>
            <a:r>
              <a:t>  이것을 'synthetic aperture(합성 개구)'라고 부릅니다.</a:t>
            </a:r>
          </a:p>
          <a:p>
            <a:r>
              <a:t>  레이더 분야의 SAR(Synthetic Aperture Radar)과 같은 원리입니다.</a:t>
            </a:r>
          </a:p>
          <a:p/>
          <a:p>
            <a:r>
              <a:t>Ablation에서 핵심 발견:</a:t>
            </a:r>
          </a:p>
          <a:p>
            <a:r>
              <a:t>  물리 법칙과 multi-frame은 각각 단독으로는 불완전합니다.</a:t>
            </a:r>
          </a:p>
          <a:p>
            <a:r>
              <a:t>  물리 법칙만 쓰면(C): 초기 파수 추정이 틀렸을 때, 그 오류가 주파수로 전파됩니다.</a:t>
            </a:r>
          </a:p>
          <a:p>
            <a:r>
              <a:t>  multi-frame만 쓰면(B): 개선되지만 물리적 제약 없이 자유도가 너무 높아 불안정합니다.</a:t>
            </a:r>
          </a:p>
          <a:p>
            <a:r>
              <a:t>  둘을 함께 쓰면(D): 시너지가 발생합니다.</a:t>
            </a:r>
          </a:p>
          <a:p>
            <a:r>
              <a:t>  — multi-frame으로 파수를 잘 추정하고,</a:t>
            </a:r>
          </a:p>
          <a:p>
            <a:r>
              <a:t>  — 물리 법칙으로 물리적으로 가능한 해만 탐색하고,</a:t>
            </a:r>
          </a:p>
          <a:p>
            <a:r>
              <a:t>  — 결과적으로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'왜 2단계 설계가 자연스러운가'를 설명합니다.</a:t>
            </a:r>
          </a:p>
          <a:p/>
          <a:p>
            <a:r>
              <a:t>핵심 관찰을 쉽게 설명하겠습니다:</a:t>
            </a:r>
          </a:p>
          <a:p/>
          <a:p>
            <a:r>
              <a:t>  파수(k)란 '파도의 공간적 패턴'입니다.</a:t>
            </a:r>
          </a:p>
          <a:p>
            <a:r>
              <a:t>  한 순간의 LiDAR 스캔(50개 점)만으로는 이 패턴을 정확히 파악하기 어렵습니다.</a:t>
            </a:r>
          </a:p>
          <a:p>
            <a:r>
              <a:t>  왜냐하면 50개 점이 커버하는 영역(5~8m)이 파도 파장(50~300m)보다 훨씬 짧기 때문입니다.</a:t>
            </a:r>
          </a:p>
          <a:p>
            <a:r>
              <a:t>  하지만 선박이 이동하면서 여러 순간의 데이터를 모으면,</a:t>
            </a:r>
          </a:p>
          <a:p>
            <a:r>
              <a:t>  관측 영역이 효과적으로 넓어져서 파수를 정확히 추정할 수 있습니다.</a:t>
            </a:r>
          </a:p>
          <a:p/>
          <a:p>
            <a:r>
              <a:t>  반면 진폭(A)이나 위상(φ)은 한 순간의 데이터로도 충분합니다.</a:t>
            </a:r>
          </a:p>
          <a:p>
            <a:r>
              <a:t>  파도의 '크기'와 '현재 위치'는 한 순간만 봐도 알 수 있기 때문입니다.</a:t>
            </a:r>
          </a:p>
          <a:p/>
          <a:p>
            <a:r>
              <a:t>그래서 자연스럽게 2단계로 나뉩니다:</a:t>
            </a:r>
          </a:p>
          <a:p>
            <a:r>
              <a:t>  (1) 초기화(Init): 여러 프레임을 모아서 파수 k를 정확히 결정합니다.</a:t>
            </a:r>
          </a:p>
          <a:p>
            <a:r>
              <a:t>      이 단계는 한 번만 하면 되고, 1초 이내에 끝납니다.</a:t>
            </a:r>
          </a:p>
          <a:p>
            <a:r>
              <a:t>  (2) 추적(Track): 파수를 고정하고, 매 프레임마다 진폭·위상만 업데이트합니다.</a:t>
            </a:r>
          </a:p>
          <a:p>
            <a:r>
              <a:t>      이 단계는 13ms 이내에 끝나서 실시간으로 작동합니다.</a:t>
            </a:r>
          </a:p>
          <a:p/>
          <a:p>
            <a:r>
              <a:t>비유하면: 라디오 주파수 맞추기와 비슷합니다.</a:t>
            </a:r>
          </a:p>
          <a:p>
            <a:r>
              <a:t>  - 처음에 주파수(채널)를 찾는 건 시간이 좀 걸리지만 (= Init)</a:t>
            </a:r>
          </a:p>
          <a:p>
            <a:r>
              <a:t>  - 일단 찾으면 볼륨만 조절하면 됩니다 (= Track)</a:t>
            </a:r>
          </a:p>
          <a:p/>
          <a:p>
            <a:r>
              <a:t>Adaptive N은 '파도 성분의 수를 자동으로 조정'하는 기능입니다:</a:t>
            </a:r>
          </a:p>
          <a:p>
            <a:r>
              <a:t>  - 너무 작은 성분은 제거 (pruning)</a:t>
            </a:r>
          </a:p>
          <a:p>
            <a:r>
              <a:t>  - 오차가 크면 새 성분 추가 (growth)</a:t>
            </a:r>
          </a:p>
          <a:p>
            <a:r>
              <a:t>  - 추가했더니 오히려 나빠지면 원래 상태로 복원 (safety rollback)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한계를 정직하게 공유하는 시간입니다.</a:t>
            </a:r>
          </a:p>
          <a:p>
            <a:r>
              <a:t>연구의 신뢰도를 높이려면, 잘 되는 점뿐 아니라 한계도 먼저 인정해야 합니다.</a:t>
            </a:r>
          </a:p>
          <a:p/>
          <a:p>
            <a:r>
              <a:t>(1) 선형 근사 — 가장 근본적인 한계입니다.</a:t>
            </a:r>
          </a:p>
          <a:p>
            <a:r>
              <a:t>  쉽게 말하면, 우리는 파도를 '사인파의 합'으로 표현합니다.</a:t>
            </a:r>
          </a:p>
          <a:p>
            <a:r>
              <a:t>  실제 바다 파도는 사인파보다 복잡합니다.</a:t>
            </a:r>
          </a:p>
          <a:p>
            <a:r>
              <a:t>  (꼭대기가 뾰족하고, 골이 넓고, 높은 파도일수록 비대칭적입니다.)</a:t>
            </a:r>
          </a:p>
          <a:p>
            <a:r>
              <a:t>  하지만 적당한 파고까지는 이 근사가 충분히 잘 맞습니다.</a:t>
            </a:r>
          </a:p>
          <a:p/>
          <a:p>
            <a:r>
              <a:t>  Klein 2020이라는 논문에서 4가지 파도 모델을 정량 비교했는데:</a:t>
            </a:r>
          </a:p>
          <a:p>
            <a:r>
              <a:t>    HOSM &gt; NLSE2 &gt; NLSE &gt; LWT (정확도 순)</a:t>
            </a:r>
          </a:p>
          <a:p>
            <a:r>
              <a:t>  우리는 LWT(Linear Wave Theory) family로 가장 단순합니다.</a:t>
            </a:r>
          </a:p>
          <a:p>
            <a:r>
              <a:t>  ε(epsilon, 파도의 가파름 정도)이 0.07 이하일 때 신뢰할 수 있고,</a:t>
            </a:r>
          </a:p>
          <a:p>
            <a:r>
              <a:t>  BF6(풍력 6, 상당히 거친 바다)까지는 이 조건을 만족합니다.</a:t>
            </a:r>
          </a:p>
          <a:p>
            <a:r>
              <a:t>  향후 Stokes 2차 보정을 추가하면 적용 범위를 더 넓힐 수 있습니다.</a:t>
            </a:r>
          </a:p>
          <a:p/>
          <a:p>
            <a:r>
              <a:t>(2) 복잡한 파도에서의 역전 — 이번 비교 실험에서 발견된 한계입니다.</a:t>
            </a:r>
          </a:p>
          <a:p>
            <a:r>
              <a:t>  파도 성분이 15~30개로 많아지면, 격자 방법(Wang2025)이 더 나아집니다.</a:t>
            </a:r>
          </a:p>
          <a:p>
            <a:r>
              <a:t>  이유를 쉽게 설명하면:</a:t>
            </a:r>
          </a:p>
          <a:p>
            <a:r>
              <a:t>    격자 방법: 바둑판처럼 모든 성분을 한꺼번에 담을 수 있습니다.</a:t>
            </a:r>
          </a:p>
          <a:p>
            <a:r>
              <a:t>    WaveSplat: 성분을 하나하나 찾아야 합니다. 30개를 정확히 찾기는 어렵습니다.</a:t>
            </a:r>
          </a:p>
          <a:p>
            <a:r>
              <a:t>  대응: 격자로 대략적인 성분을 먼저 찾고, 그걸 파라미터 초기값으로 정밀화하는</a:t>
            </a:r>
          </a:p>
          <a:p>
            <a:r>
              <a:t>  '2단계 초기화(hybrid init)'를 연구할 예정입니다.</a:t>
            </a:r>
          </a:p>
          <a:p/>
          <a:p>
            <a:r>
              <a:t>(3) 파도 파쇄와 유속장 — 우리 방법의 적용 범위 밖입니다.</a:t>
            </a:r>
          </a:p>
          <a:p>
            <a:r>
              <a:t>  파도가 깨지는 현상(breaking)이나 수중 유속(velocity field)은</a:t>
            </a:r>
          </a:p>
          <a:p>
            <a:r>
              <a:t>  비선형 시뮬레이션(VOF-EnKF, PFT-PINN) 같은 방법만 처리할 수 있습니다.</a:t>
            </a:r>
          </a:p>
          <a:p>
            <a:r>
              <a:t>  하지만 이들은 30분~수시간이 걸려서 실시간 제어에는 쓸 수 없습니다.</a:t>
            </a:r>
          </a:p>
          <a:p>
            <a:r>
              <a:t>  결론: 우리 방법과 비선형 방법은 서로 다른 응용 영역을 담당합니다.</a:t>
            </a:r>
          </a:p>
          <a:p>
            <a:r>
              <a:t>  (우리 = 실시간 제어, 그들 = 정밀 분석)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향후 연구 방향을 3가지로 정리했습니다.</a:t>
            </a:r>
          </a:p>
          <a:p/>
          <a:p>
            <a:r>
              <a:t>(1) 고복잡도 파도 대응:</a:t>
            </a:r>
          </a:p>
          <a:p>
            <a:r>
              <a:t>  지금까지의 실험에서, 파도 성분이 15개 이상이면 정확도가 떨어지는 것을 확인했습니다.</a:t>
            </a:r>
          </a:p>
          <a:p>
            <a:r>
              <a:t>  원인은 beamforming 초기화가 많은 성분을 동시에 분리하기 어렵기 때문입니다.</a:t>
            </a:r>
          </a:p>
          <a:p>
            <a:r>
              <a:t>  해결 방향 1: hybrid init — 먼저 격자(grid) 방법으로 대략적인 성분을 찾고,</a:t>
            </a:r>
          </a:p>
          <a:p>
            <a:r>
              <a:t>    그 결과를 파라미터 초기값으로 사용하여 정밀하게 최적화합니다.</a:t>
            </a:r>
          </a:p>
          <a:p>
            <a:r>
              <a:t>  해결 방향 2: learned init — 신경망(NN)을 활용하여</a:t>
            </a:r>
          </a:p>
          <a:p>
            <a:r>
              <a:t>    LiDAR 점으로부터 초기 파도 성분을 바로 추정합니다.</a:t>
            </a:r>
          </a:p>
          <a:p>
            <a:r>
              <a:t>  기대 효과: 현재 고복잡도에서의 역전 현상을 해소할 수 있습니다.</a:t>
            </a:r>
          </a:p>
          <a:p/>
          <a:p>
            <a:r>
              <a:t>(2) 비선형 파도 확장:</a:t>
            </a:r>
          </a:p>
          <a:p>
            <a:r>
              <a:t>  현재는 파도를 사인파의 합(Linear Wave Theory)으로 표현합니다.</a:t>
            </a:r>
          </a:p>
          <a:p>
            <a:r>
              <a:t>  실제 파도는 비선형적이어서(꼭대기가 뾰족, 골이 넓음),</a:t>
            </a:r>
          </a:p>
          <a:p>
            <a:r>
              <a:t>  높은 파도에서는 정확도가 떨어집니다.</a:t>
            </a:r>
          </a:p>
          <a:p>
            <a:r>
              <a:t>  Stokes 2차 보정을 추가하면, 파도의 비대칭성을 일부 반영할 수 있습니다.</a:t>
            </a:r>
          </a:p>
          <a:p>
            <a:r>
              <a:t>  Klein 2020 논문에 따르면, 이 보정으로 적용 범위가 크게 넓어집니다.</a:t>
            </a:r>
          </a:p>
          <a:p/>
          <a:p>
            <a:r>
              <a:t>(3) 실측 데이터 검증:</a:t>
            </a:r>
          </a:p>
          <a:p>
            <a:r>
              <a:t>  현재까지의 결과는 모두 시뮬레이터(합성 데이터)에서 나온 것입니다.</a:t>
            </a:r>
          </a:p>
          <a:p>
            <a:r>
              <a:t>  실제 바다에서 실제 LiDAR로 측정한 데이터로 검증해야 합니다.</a:t>
            </a:r>
          </a:p>
          <a:p>
            <a:r>
              <a:t>  가장 큰 도전은 'ground-truth(정답)'를 어떻게 확보하느냐입니다.</a:t>
            </a:r>
          </a:p>
          <a:p>
            <a:r>
              <a:t>  Wave buoy(파고계)나 X-band radar로 동시 측정하는 방법을 고려하고 있습니다.</a:t>
            </a:r>
          </a:p>
          <a:p/>
          <a:p>
            <a:r>
              <a:t>최종 목표:</a:t>
            </a:r>
          </a:p>
          <a:p>
            <a:r>
              <a:t>  선박에 탑재된 LiDAR로 주변 파도를 실시간(13ms 이내)으로 추정하고,</a:t>
            </a:r>
          </a:p>
          <a:p>
            <a:r>
              <a:t>  이 정보를 활용하여 선박 제어(hydrofoil ride control, 자율운항 등)에</a:t>
            </a:r>
          </a:p>
          <a:p>
            <a:r>
              <a:t>  직접 활용할 수 있는 시스템을 만드는 것입니다.</a:t>
            </a:r>
          </a:p>
          <a:p/>
          <a:p>
            <a:r>
              <a:t>이상으로 발표를 마치겠습니다. 질문이나 피드백을 환영합니다.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— 정독한 13 편의 prior art 와 algorithmic foundation 을 한 표로 정리.</a:t>
            </a:r>
          </a:p>
          <a:p/>
          <a:p>
            <a:r>
              <a:t>Wave estimation prior art 11 편:</a:t>
            </a:r>
          </a:p>
          <a:p>
            <a:r>
              <a:t>  - Desmars family (2018, 2020, 2023): LIDAR/optical + variational + HOS-OCM 의 발전.</a:t>
            </a:r>
          </a:p>
          <a:p>
            <a:r>
              <a:t>  - Wang-Pan / Wang family (2021, 2022, 2025): EnKF-HOS 의 발전. Wang 2025 가 우리 baseline.</a:t>
            </a:r>
          </a:p>
          <a:p>
            <a:r>
              <a:t>  - Klein 2020: wave model 정량 비교. 우리 LWT operational range 정당화.</a:t>
            </a:r>
          </a:p>
          <a:p>
            <a:r>
              <a:t>  - Ehlers 2023, 2025: ML supervised (FNO) 와 unsupervised (PFT-PINN). 같은 그룹의 진화.</a:t>
            </a:r>
          </a:p>
          <a:p>
            <a:r>
              <a:t>  - Yan 2025: 가장 정확한 wave breaking 처리 (offline only).</a:t>
            </a:r>
          </a:p>
          <a:p/>
          <a:p>
            <a:r>
              <a:t>Algorithmic foundation 2 편:</a:t>
            </a:r>
          </a:p>
          <a:p>
            <a:r>
              <a:t>  - Tang-Bhaskar-Recht 2013: off-grid CS 이론. 우리 parametric 접근의 영감.</a:t>
            </a:r>
          </a:p>
          <a:p>
            <a:r>
              <a:t>  - Möller-Trumbore 1997: ray-triangle intersection. WaveSim ray tracing 의 표준.</a:t>
            </a:r>
          </a:p>
          <a:p/>
          <a:p>
            <a:r>
              <a:t>Hunt 2007 LETKF 도 algorithmic foundation 으로 EnKF 변형 의 출발.</a:t>
            </a:r>
          </a:p>
          <a:p/>
          <a:p>
            <a:r>
              <a:t>각 paper 의 detail 은 본문 슬라이드 (S5-S9, top 5 detail) + docs/strategic_repositioning.md (§17-§31)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— WaveSim 의 110 episode 합성 dataset 구성을 한 눈에 정리한 표.</a:t>
            </a:r>
          </a:p>
          <a:p/>
          <a:p>
            <a:r>
              <a:t>Sea state 별 episode 수:</a:t>
            </a:r>
          </a:p>
          <a:p>
            <a:r>
              <a:t>  - BF2-BF5: 각 sea state × 다양한 N_components × seed 0-4 (5 개씩) = 통계 평가 가능.</a:t>
            </a:r>
          </a:p>
          <a:p>
            <a:r>
              <a:t>  - BF6-BF7: 극한 sea state. Seed 0 (1 개) 만 — operational range 한계 확인용.</a:t>
            </a:r>
          </a:p>
          <a:p>
            <a:r>
              <a:t>  - Calibration: raydrop η scale 등 sensor 모델 calibration 용 별도 episode.</a:t>
            </a:r>
          </a:p>
          <a:p/>
          <a:p>
            <a:r>
              <a:t>Per-episode 데이터:</a:t>
            </a:r>
          </a:p>
          <a:p>
            <a:r>
              <a:t>  - 30 초 시뮬레이션, 0.1 초 간격 → frame 300 개.</a:t>
            </a:r>
          </a:p>
          <a:p>
            <a:r>
              <a:t>  - Ground-truth η field 50×50 격자 — 평가 시 참값.</a:t>
            </a:r>
          </a:p>
          <a:p>
            <a:r>
              <a:t>  - LiDAR scan: raydrop / shadowing / Fresnel 적용 후 frame 당 ~50 valid 점.</a:t>
            </a:r>
          </a:p>
          <a:p>
            <a:r>
              <a:t>  - HDF5 format. 총 5 GB.</a:t>
            </a:r>
          </a:p>
          <a:p/>
          <a:p>
            <a:r>
              <a:t>Reproducibility 보장:</a:t>
            </a:r>
          </a:p>
          <a:p>
            <a:r>
              <a:t>  - Seed 저장. Wave generator (Gerstner+JONSWAP) 와 LiDAR raydrop 모두 deterministic.</a:t>
            </a:r>
          </a:p>
          <a:p>
            <a:r>
              <a:t>  - 53 + 55 = 108 unit test — simulator 와 estimator 모두 검증.</a:t>
            </a:r>
          </a:p>
          <a:p>
            <a:r>
              <a:t>  - Generator script (scripts/generate_episodes.py) 로 누구나 재현 가능.</a:t>
            </a:r>
          </a:p>
          <a:p/>
          <a:p>
            <a:r>
              <a:t>이 dataset 자체가 paper 의 contribution 일부 — Ehlers 2023 의 1D radar dataset 보다 풍부한 setup (2D directional + LiDAR sensor + 다양한 sea state).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Wang-Pan 2021/22
Wang 2025
Yan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2021/22 (JFM) + Wang 2025 (Coastal Eng) — EnKF family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Forecast 단계: 각 ensemble member 가 wave model 로 시간 진행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Analysis 단계: ensemble 의 covariance 와 measurement 로 베이지안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— Linear Wave Theory (LWT) 의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표면 boundary condition 의 비선형 항 (wave-wave interaction) 까지 spectral 표현으로 계산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steepness ε ~ 0.1 까지 처리 가능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Dommermuth &amp; Yue 1987, West et al. 1987 에서 출발한 표준 비선형 wave model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Wang 2025 (Coastal Eng 197)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 적응, Delaunay 보간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LiDAR 모사 (1/2: 어떻게)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LiDAR 센서를 어떻게 시뮬레이션했나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Gerstner wave (JONSWAP 분포) + ray tracing + vessel motion 분리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7772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수면 model — Gerstner wave (회전 정확해, Tessendorf 2001 식)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단순 sinusoidal (LWT) 가 아니라 Gerstner — 입자가 원/타원 궤적으로 회전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η(x, y, t) = Σ_n A_n cos(k_xn·x + k_yn·y − ω_n·t + φ_n) (수면 변위)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추가 변위: x, y 방향으로 −Q_n·A_n·(k/|k|)·sin(...) (Gerstner 특성, 비선형)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Q ∈ [0, 1] = steepness — Q=0 이면 LWT, Q&gt;0 이면 Stokes-1 류 비선형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Dispersion: ω_n = √(g·|k_n|·tanh(|k_n|·d))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Spectrum — JONSWAP (Hasselmann 1973, 북해 표준)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S(ω) = α·g²·ω⁻⁵·exp(−5/4·(ω_p/ω)⁴) · γ^r — H_s, T_p, γ 로 결정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N 개 component 의 (A_n, ω_n, k_n) 가 이 spectrum 으로부터 sampling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LiDAR 센서 모사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1) Ray emit (광선 발사)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vessel 위 5 m LiDAR mount 에서 발사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Falcon-class LiDAR spec: horizontal FOV </a:t>
            </a:r>
            <a:r>
              <a:rPr sz="1000" b="1">
                <a:solidFill>
                  <a:srgbClr val="1A1A2E"/>
                </a:solidFill>
                <a:latin typeface="Calibri"/>
              </a:rPr>
              <a:t>120°</a:t>
            </a:r>
            <a:r>
              <a:rPr sz="1000" b="0">
                <a:solidFill>
                  <a:srgbClr val="1A1A2E"/>
                </a:solidFill>
                <a:latin typeface="Calibri"/>
              </a:rPr>
              <a:t>, vertical FOV </a:t>
            </a:r>
            <a:r>
              <a:rPr sz="1000" b="1">
                <a:solidFill>
                  <a:srgbClr val="1A1A2E"/>
                </a:solidFill>
                <a:latin typeface="Calibri"/>
              </a:rPr>
              <a:t>±5°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32 channels (vertical) × 360 beams (horizontal) per scan = 11,520 ray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range 10–200 m (전 방향 360° 아님, 선수 방향 반구만)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2) Ray tracing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laser ray 가 wave 표면에 부딪힌 첫 점을 찾음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ray 마다 wave 표면 (격자) 과의 교차 검사 후 first-hit 반환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3) Vessel motion</a:t>
            </a:r>
            <a:r>
              <a:rPr sz="1000" b="0">
                <a:solidFill>
                  <a:srgbClr val="1A1A2E"/>
                </a:solidFill>
                <a:latin typeface="Calibri"/>
              </a:rPr>
              <a:t>: wave 격자는 world frame 에 고정, vessel 만 이동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 자체가 시간 t 에 따라 propagate, vessel 위치 (ray emit 점) 는 매 frame 1.13 m 전진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별도 좌표계 변환 없이, ray emit 위치만 frame 별로 update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566160" cy="23808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LiDAR 모사 (2/2: 합당성)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— Fresnel 식의 단계별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입사각 θ_i → Snell 로 굴절각 θ_t → Fresnel reflectance R → return probability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Raydrop 의 물리</a:t>
            </a:r>
            <a:r>
              <a:rPr sz="1000" b="0">
                <a:solidFill>
                  <a:srgbClr val="1A1A2E"/>
                </a:solidFill>
                <a:latin typeface="Calibri"/>
              </a:rPr>
              <a:t>: 파도 표면이 매끄러우면 specular 반사 — ray 가 LiDAR 가 아닌 방향으로 가서 return 없음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입사각 θ_i 에 따라 specular 비중이 다름 → Fresnel 식으로 정확히 계산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계산 step 1 — Snell 의 법칙으로 굴절각 θ_t 구함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air n₁=1 → water n₂=n=1.318 (Falcon K1 의 1550 nm 파장 기준 굴절률)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n₁ sin θ_i = n₂ sin θ_t  →  sin θ_t = sin θ_i / n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cos θ_t = √(1 − sin²θ_t)   (Snell 은 굴절각 구하는 도구일 뿐, raydrop 계산은 Fresnel)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계산 step 2 — Fresnel reflectance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(unpolarized 가정):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    (s-polarization)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    (p-polarization)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R(θ_i) = (R_s + R_p) / 2 ∈ [0, 1]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특성: θ_i = 0 (수직 입사) 에서 R ≈ 0.02 (낮음, 대부분 통과). θ_i → 90° (grazing) 에서 R → 1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계산 step 3 — Return probability 종합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 = η · R(θ_i) · cos(θ_i) / (d / d_ref)²    (return likelihood)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R(θ_i): Fresnel 반사율 (위에서 계산)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cos(θ_i): grazing 보정 (수직 입사일수록 강한 신호)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1/d² 항: 거리 attenuation (Falcon K1 의 d_ref = 125 m)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η: calibration scale (sea trial 데이터로 tune)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앞쪽 wave 가 뒤쪽 가림 — ray tracing 의 first-hit 결과로 자동 처리 (별도 모델 없음)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통과 + 110 episode dataset + sea trial LiDAR 데이터와 분포 패턴 일치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(capillary, mm 단위), foam, breaking wave 영향 미반영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명칭의 유래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 없이 파라미터 자체를 추정하는가? 왜 'Splat' 이라는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7772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아이디어 시작 — 격자 기반의 본질적 제약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Wang/Desmars 류는 파도를 격자 위 높이값 4,800 개 (80×60) 로 표현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관측 점은 frame 당 50 개 — 파라미터 4,800 개 추정에 턱없이 부족 → ill-posed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격자 간격보다 짧은 wave 는 표현 불가 (Nyquist 한계)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발상의 전환 — wave 의 atomic parameter 로 직접 표현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실제 ocean wave 는 소수 (N=5–30) 의 plane wave 의 합으로 충분히 근사 (JONSWAP 분해)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각 plane wave 는 5 개 물리량: A (진폭), k_x, k_y (파수), ω (주파수), φ (위상)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N=10 이면 파라미터 50 개 — 관측 50 개로 추정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Dispersion 으로 ω 가 k 에 의해 결정됨: 5N → 4N 자유도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3D Gaussian Splatting (3DGS) 의 영감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3DGS: 3D 공간을 명시적 Gaussian 원소들의 합으로 표현, 각 원소를 직접 최적화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WaveSplat: spectrum 공간 (k, ω) 을 명시적 plane wave 원소들의 합으로 표현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핵심 발상 동일: 격자/볼륨 대신 explicit parametric form 으로 직접 최적화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3DGS 처럼 명시적 원소 (component) 를 직접 최적화하되,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</a:t>
            </a:r>
            <a:r>
              <a:rPr sz="1100" b="0">
                <a:solidFill>
                  <a:srgbClr val="1A1A2E"/>
                </a:solidFill>
                <a:latin typeface="Calibri"/>
              </a:rPr>
              <a:t>격자/볼륨 대신 </a:t>
            </a:r>
            <a:r>
              <a:rPr sz="1100" b="1">
                <a:solidFill>
                  <a:srgbClr val="1A1A2E"/>
                </a:solidFill>
                <a:latin typeface="Calibri"/>
              </a:rPr>
              <a:t>spectrum 공간 (k_x, k_y, ω)</a:t>
            </a:r>
            <a:r>
              <a:rPr sz="1100" b="0">
                <a:solidFill>
                  <a:srgbClr val="1A1A2E"/>
                </a:solidFill>
                <a:latin typeface="Calibri"/>
              </a:rPr>
              <a:t> 에 각 원소가 'splat' 됨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Grid-free + Explicit parametric form (3DGS 와 같은 철학, 다른 도메인)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3566160" cy="14677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단계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다중 frame beamforming 으로 (k_x, k_y)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multi-frame 인가? 어떻게 작동하는가? 수식까지 단계별로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Init 이 어려운가</a:t>
            </a:r>
            <a:r>
              <a:rPr sz="1000" b="0">
                <a:solidFill>
                  <a:srgbClr val="1A1A2E"/>
                </a:solidFill>
                <a:latin typeface="Calibri"/>
              </a:rPr>
              <a:t> (정량 설명):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frame: LiDAR 50 점이 커버하는 영역 ~ 240 m (FOV 120°, range 200 m)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 Δy ≈ 5–8 m → spatial Nyquist k_max = π/Δy ≈ 0.4 rad/m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필요한 wave wavenumber k ∈ 0.5–3 rad/m → single frame 으론 추정 불가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Multi-frame stacking (Synthetic Aperture)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V=11.3 m/s 로 1 s 동안 11.3 m 이동 → 10 frames × 50 점 = 500 점, 영역 확장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Effective aperture = V·T_init = 11.3 m, Δk_aperture ≈ 2π/11.3 ≈ 0.56 rad/m 분해능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v2_konly Beamforming — 2 단계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Coarse</a:t>
            </a:r>
            <a:r>
              <a:rPr sz="1000" b="0">
                <a:solidFill>
                  <a:srgbClr val="1A1A2E"/>
                </a:solidFill>
                <a:latin typeface="Calibri"/>
              </a:rPr>
              <a:t>: (k_x, k_y) 후보 격자 생성 (예: 50×50 = 2,500 개)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후보 (k_x⁰, k_y⁰) 에 대해 score: S(k) = |Σ_i η_obs(x_i, t_i) · exp(j(k·x_i − ω(k)·t_i))|²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는 dispersion 관계로 자동: ω(k) = √(g·|k|·tanh(|k|·d))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가 큰 peak N 개를 초기 파수로 선택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Fine</a:t>
            </a:r>
            <a:r>
              <a:rPr sz="1000" b="0">
                <a:solidFill>
                  <a:srgbClr val="1A1A2E"/>
                </a:solidFill>
                <a:latin typeface="Calibri"/>
              </a:rPr>
              <a:t>: 선택된 peak 주변에서 sub-grid resolution 으로 정밀 탐색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Local quadratic fit + Newton step → (k_x*, k_y*) 정확도 향상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'konly'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 이 단계에서는 *k 만* 초기화. ω 는 dispersion 으로 자동, (A, φ) 는 다음 단계 (track) 에서 최적화.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이전 v1 (FFT 기반) 대비 평균 18% 개선 (불규칙 LiDAR 점에 직접 적용 가능)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L(θ) = Σ_i [η_model(x_i, t; θ) − η_obs(x_i,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N 개 component 의 wave 합산 vs LiDAR 측정값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 = Σ_n A_n cos(k_n·x − ω_n·t + φ_n)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Optimizer — Adam (Kingma &amp; Ba 2014)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= 0.01 (현재 default)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50 iterations × ∇L 계산 / frame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 의 adaptive learning rate 가 (A, φ) 의 다른 scale 처리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Coarse-to-fine 학습률 스케줄 (option)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Stage 1 (lr 0.05, 20 iter): 큰 step 으로 빠른 수렴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Stage 2 (lr 0.01, 30 iter): 작은 step 으로 미세 조정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안정적 추정 + paper 의 main contribution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매 K frame 마다 (default K=10):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|A_n| &lt; ε_prune (= 0.05·max|A|) → 제거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에너지 기여 낮은 component 정리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Residual ‖η_obs − η_model‖ &gt; threshold: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 추출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Test coverage</a:t>
            </a:r>
            <a:r>
              <a:rPr sz="1000" b="0">
                <a:solidFill>
                  <a:srgbClr val="007ACC"/>
                </a:solidFill>
                <a:latin typeface="Calibri"/>
              </a:rPr>
              <a:t>: rollback path 가 unit test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18 wavesplat tests 중 4 개가 adaptive N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reconstruction — 실제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BF3/BF4/BF5 episode 의 wave field 재구성: 좌측 GT, 중앙 WaveSplat, 우측 ETKF</a:t>
            </a:r>
          </a:p>
        </p:txBody>
      </p:sp>
      <p:pic>
        <p:nvPicPr>
          <p:cNvPr id="5" name="Picture 4" descr="demo_wavesplat_st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179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좌</a:t>
            </a:r>
            <a:r>
              <a:rPr sz="1100" b="0">
                <a:solidFill>
                  <a:srgbClr val="1A1A2E"/>
                </a:solidFill>
                <a:latin typeface="Calibri"/>
              </a:rPr>
              <a:t>: Ground Truth η(x, y, t=15s) — 50×50 격자 위 wave 표면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중</a:t>
            </a:r>
            <a:r>
              <a:rPr sz="1100" b="0">
                <a:solidFill>
                  <a:srgbClr val="1A1A2E"/>
                </a:solidFill>
                <a:latin typeface="Calibri"/>
              </a:rPr>
              <a:t>: WaveSplat reconstruction — N component 의 합 — 격자 외 영역까지 자연스럽게 표현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우</a:t>
            </a:r>
            <a:r>
              <a:rPr sz="1100" b="0">
                <a:solidFill>
                  <a:srgbClr val="1A1A2E"/>
                </a:solidFill>
                <a:latin typeface="Calibri"/>
              </a:rPr>
              <a:t>: ETKF reconstruction — 80×60 격자 위 추정 — 격자 해상도 한계로 미세 wave 손실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각 panel 의 색상: blue (음의 변위, trough) → white (수면) → red (양의 변위, crest)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🎬 paper/figures/demo_wavesplat.gif — animation 버전 (PowerPoint 에서 GIF 로 교체 가능)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2025 (Coastal Eng 197)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Ne=300 + fuzzy R + Delaunay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Stereo camera 2D 실시간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충실 재현 대상**, 격자 한계, 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2023 (Ocean Eng)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2025 PFT-PINN (PRF)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2025 (arXiv VOF-EnKF)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용도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단순 wave, 알고리즘 sanity check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low complexity, 통계 평가용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operational sea state 중심 평가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high complexity boundary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operational 한계 검증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extreme sea state, LWT 한계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raydrop η, scale 등 calibration 용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5 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