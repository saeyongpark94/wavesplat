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두 부분으로 나뉩니다. 앞 절반은 우리가 6개월 동안 진행한 exploration phase 의 결과 — 어떤 prior art 가 있고, 우리가 만든 simulator (WaveSim) 와 estimator (WaveSplat) 이 어떻게 작동하는지. 뒤 절반은 그 과정에서 발견한 본질적 mechanism — vessel motion 과 dispersion 의 결합이 어떻게 spatial Nyquist 한계를 우회하는지, 그리고 이를 main contribution 으로 격상시킬 publication plan. 외부 청자라 해서 도메인 background 부터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layer 가 있습니다. 첫째 statistical estimation — H_s, T_p, JONSWAP spectrum 같은 통계량. 둘째 phase-resolved estimation — η(x,y,t) 자체를 시공간상에서 결정론적으로 추정. 통계는 design 에 필수지만 실시간 control 에는 부족합니다. 어디에 큰 파도가 오는지 알아야 ride control, hydrofoil, autonomous navigation 같은 응용이 가능. 응용으로는 hydrofoil ride control 이 가장 직접적입니다.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3가지가 동시에 만족되어야 하는 setup 은 prior art 에 거의 없습니다. sparse non-uniform — LiDAR 가 wave gauge 나 dense radar 와 다르게 frame 당 50점 정도, 거리 따라 density 다름. real-time — control loop 에 들어가야 하므로 &lt; 100 ms. 2D directional — 실제 바다는 directional spectrum. 다음 슬라이드부터 prior art 12편을 검토한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paper 정독 결과 5 카테고리로 분류 가능합니다. 첫 4개는 기존 paradigm — variational on-grid, EnKF ensemble, ML supervised, physics-informed unsupervised. 우리는 5번째 카테고리, parametric off-grid 입니다. 다른 카테고리들은 grid 또는 NN 으로 wave field 를 표현하지만, 우리는 spectral parameter 자체를 직접 추정. 이게 가능한 이유는 dispersion 제약을 hard constraint 로 강제하기 때문 — 다음 5 슬라이드에서 가장 가까운 prior art 5 편을 detail 로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paper 중 우리와 가장 가까운 prior art. Setup 자체가 거의 동일 — 선박 mounted optical sensor 로 phase-resolved wave 를 추정하고 HOS 로 predict. 차이는 1D vs 우리 2D, on-grid vs 우리 off-grid, sensor model detail. 우리 paper 의 main reference 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EnKF-HOS family 는 우리 ETKF baseline 의 직접적 prior art. Wang &amp; Pan 2021 이 처음으로 HOS 와 EnKF 를 결합했고, 2022 에서 current estimation 으로 확장. 한계는 ensemble 비용으로 real-time 어렵고, dense obs 가정이라 sparse LiDAR setup 에 직접 적용 안 됨. 우리는 이 baseline 을 sparse-input 으로 tune 해서 비교.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supervised 카테고리의 SOTA. 1.9 ms 의 inference 속도가 인상적이지만 3120 HOS sample 학습이 필요하고 out-of-distribution sea state 에 약함. 우리는 training 자체가 없어 generalization 문제 없음. 1D 만 처리, 우리는 2D directional. 둘 다 real-time 영역인 점에서 paper 1 의 main competitor.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art. Physics-informed unsupervised 라는 점에서 우리와 근본 철학 같습니다 — training data 없이 dispersion + BCs 를 enforce. 다만 1D + t 만 다루고, 30분 training 필요. Future work 가 명시적으로 2D extension + real-time speedup 인데, 같은 그룹이 1-3년 안에 이걸 발표하면 우리 niche 가 좁아짐. 따라서 빨리 publish + 응용 영역 차별화 (PINN = design-time, 우리 = real-time control) 으로 대응.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극단의 prior art — full physics fidelity 추구. Plunging breaker 처리 가능한 유일한 method 지만 50 ensemble × OpenFOAM 으로 fundamentally offline. 우리와 응용 영역 다름 — 우리는 real-time control loop, VOF-EnKF 는 design-time digital twin. 정직하게 인정할 점은 우리가 wave breaking 못 처리한다는 점, future work 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매트릭스가 우리 paper 의 positioning 핵심. 모든 항목을 만족하는 method 는 없습니다 — 각자의 specialty 가 있어요. 우리 specialty 는 real-time + 2D directional + sparse LiDAR 의 unique 조합. 응용 영역으로 보면 PFT-PINN / VOF-EnKF 와 경쟁 안 함 — 그들은 design-time analysis tool, 우리는 real-time control component. 한계도 명시 — wave breaking, velocity inference, full nonlinear 는 우리 영역 밖. 다음부터는 우리가 만든 것을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은 우리가 만든 simulator. Physics 는 linear superposition 으로 시작 — Klein 2020 가 정량 비교한 LWT/NLSE/HOSM 중 가장 단순한 LWT family. 한계는 이후 슬라이드에서 정직 disclosure. 하지만 sensor model 은 매우 정확하게 구현 — Möller-Trumbore ray-triangle intersection, Fresnel reflectance 기반 raydrop, geometric shadowing, vessel motion correction 까지. 12 paper 중 이 정도 sensor model 을 simulate 한 prior art 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 episodes 의 controlled benchmark 를 구축했습니다. Sea state × N_components × directional spreading 의 grid. Reproducibility 보장 — seed 까지 저장. 39 + 18 = 57 unit tests 가 simulator + estimator 의 정확성 보증. 이 인프라 자체가 paper 의 contribution 일부 — Ehlers 2023 도 비슷한 synthetic benchmark 만들었지만 1D 였음.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의 exploration phase 알고리즘. 핵심은 N component 의 spectral parameter 를 직접 추정 — 5 parameter × N. 단 dispersion 으로 4 자유도. Two-stage 가 핵심 — single frame 에서 k 가 ill-conditioned 라서 multi-frame init 으로 한 번에 잡고, 이후 track 단계에서 per-frame ω, A, φ 만 update. 이게 다음에 보일 main framing 의 motivation 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episode 비교 결과. WaveSplat 이 unsupervised methods 중 best average — ETKF, GPR 모두 능가. 속도는 더 명확 — 10× 차이. 단 이게 *exploration phase* 결과라는 점에 주목 — 우리가 처음에 만든 알고리즘이 *왜 이렇게 잘 작동하는가* 를 분석하면서 본질적 mechanism 을 발견. 다음 슬라이드부터 그 mechanism 의 본질을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가장 중요한 발견. Single-frame LiDAR 의 spatial Nyquist 가 0.4 rad/m 정도. 그런데 ocean wave 의 typical wavenumber 는 0.5–3 rad/m. 즉 *per-frame 에서는 추정 불가능한 영역*. 그런데 WaveSplat 은 이걸 추정합니다. 어떻게? 이게 우리 main framing 의 출발점 — vessel motion 과 dispersion 의 결합이 spatial Nyquist 한계를 우회하는 mechanism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이게 우리 paper 1 의 main contribution claim. Per-frame spatial Nyquist 가 0.4 rad/m 인데 우리가 추정하는 wavenumber 가 0.5–3 rad/m, 즉 3–7× 우회. Mechanism 은 두 가지 — vessel motion 으로 synthetic aperture (SA) 형성 + dispersion 의 ω → |k| 1-to-1 매핑 으로 temporal info 가 spatial 로 전환. 이 두 mechanism 이 함께 작용해야 작동. 단일 mechanism 만으로는 부족 — Phase 1 ablation 으로 정량 증명할 계획.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supporting insight. 첫째 identifiability — k 는 multi-frame 에서 identifiable, ω·φ·A 는 per-frame identifiable. 이 분해가 우리 init/track two-stage 설계의 정당화. Fisher Information 정량 분석은 Phase 1 추가 작업. 둘째 — combined story 로 main framing 과 연결. Init 에서 SA+dispersion 으로 k 잡고, track 에서 per-frame 으로 빠르게 update. Adaptive N + safety rollback 으로 robustness 확보.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정직한 disclosure. Linear approximation 의 한계 — Klein 2020 가 정량 비교. Operational range 명시 + Stokes correction 을 Phase 2 에. Wave breaking 은 응용 영역 분리로 정당화. Threat — Ehlers 그룹이 2D+realtime PINN 으로 올 가능성. 대응: 빨리 publish + 응용 차별화.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Publication plan. Phase 1 (2개월) 으로 OE-ready, 7월 말 decision gate 에서 super-res factor 검증 후 JFM 도전 vs OE submit 결정. Phase 2 (3개월) 는 JFM upgrade — sample complexity bound, Stokes correction, FIM 정량. 최종 submit 11월-12월. 이게 5일 후 lab meeting 끝나고 즉시 시작할 plan.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Phase-resolved waves enable look-ahead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Statistical descriptions are not enough — we need where each crest is,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Statistical (H_s, T_p, JONSWAP):</a:t>
            </a:r>
            <a:r>
              <a:rPr sz="1500" b="0">
                <a:solidFill>
                  <a:srgbClr val="1A1A2E"/>
                </a:solidFill>
                <a:latin typeface="Calibri"/>
              </a:rPr>
              <a:t> good for design, insufficient for real-time control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Phase-resolved η(x, y, t):</a:t>
            </a:r>
            <a:r>
              <a:rPr sz="1500" b="0">
                <a:solidFill>
                  <a:srgbClr val="1A1A2E"/>
                </a:solidFill>
                <a:latin typeface="Calibri"/>
              </a:rPr>
              <a:t> deterministic, enables look-ahead window (0–30 s)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Direct applications: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- Hydrofoil ride control — wave preview → feed-forward → ride RMS ↓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- Autonomous vessel — hazardous wave avoidance, course planning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- Offshore operations — lifting / heli landing window decisions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  - Wave-energy converter — optimal damping tuning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A1A2E"/>
                </a:solidFill>
                <a:latin typeface="Calibri"/>
              </a:rPr>
              <a:t>Common requirement:</a:t>
            </a:r>
            <a:r>
              <a:rPr sz="1500" b="0">
                <a:solidFill>
                  <a:srgbClr val="1A1A2E"/>
                </a:solidFill>
                <a:latin typeface="Calibri"/>
              </a:rPr>
              <a:t> real-time + look-ahead window &gt; horizon of control loop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840480"/>
            <a:ext cx="3931920" cy="13860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Three compounding challenges of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Sparse · Real-time · 2D directional — three conditions, simultaneously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Challenge 1 — Sparse, non-uniform measurements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~50 valid points / frame after raydrop, shadowing, Fresnel filtering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Distance-dependent density: 근거리 dense, 원거리 sparse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Range-limited ~250 m vs ocean wavelength 50–300 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Challenge 2 — Real-time constraint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Control loop horizon: ~10 Hz update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Per-frame budget: &lt; 100 ms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Offline CFD/PINN/EnKF 들은 분~시간 단위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Challenge 3 — 2D directional sea state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Real ocean: short-crested, multi-directional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- 2D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Phase-resolved wave estimation — 5 categories of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12 paper review — we belong to the 5th: parametric off-grid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Strength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Variational / grid-based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Desmars 2018-23, Aragh 2008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Mature theory,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predefined k-grid,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Ensemble Kalman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Wang-Pan 2021/22, Yan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Full nonlinear physics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Offline,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ML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Ehlers 2023 FNO, 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Fast inference (1.9 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Training data, generalization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Physics-informed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Ehlers 2025 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No training data, full nonlinear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~30 min/instance,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Parametric off-grid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Real-time + 2D + LiDAR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Linear approximation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Axis: fidelity (linear → fully nonlinear) × inference speed (offline → real-time). We sit at top-left + add 2D + LiDAR.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Desmars et al. 2023 (JFM 975, A8) — HOS-OCM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First vessel-mounted optical</a:t>
            </a:r>
            <a:r>
              <a:rPr sz="1300" b="0">
                <a:solidFill>
                  <a:srgbClr val="1A1A2E"/>
                </a:solidFill>
                <a:latin typeface="Calibri"/>
              </a:rPr>
              <a:t> phase-resolved reconstruction + prediction with HOS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Setup: shipborne LiDAR/camera, 1D longitudinal, predefined k-grid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Variational DA → cost function inversion → HOS predict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554480"/>
            <a:ext cx="4114800" cy="2468879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Limitations (our perspective)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On-grid k-band assumption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wavenumber 가 predefined grid 에 묶임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1D unidirectional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2D directional sea state 처리 안 함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Optical sensor model</a:t>
            </a:r>
            <a:r>
              <a:rPr sz="1300" b="0">
                <a:solidFill>
                  <a:srgbClr val="1A1A2E"/>
                </a:solidFill>
                <a:latin typeface="Calibri"/>
              </a:rPr>
              <a:t> 명시 없음 — raydrop/shadowing/Fresnel 가정 미상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300" b="1">
                <a:solidFill>
                  <a:srgbClr val="1A1A2E"/>
                </a:solidFill>
                <a:latin typeface="Calibri"/>
              </a:rPr>
              <a:t>off-grid continuous (k_x, k_y)</a:t>
            </a:r>
            <a:r>
              <a:rPr sz="1300" b="0">
                <a:solidFill>
                  <a:srgbClr val="1A1A2E"/>
                </a:solidFill>
                <a:latin typeface="Calibri"/>
              </a:rPr>
              <a:t> + </a:t>
            </a:r>
            <a:r>
              <a:rPr sz="13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300" b="0">
                <a:solidFill>
                  <a:srgbClr val="1A1A2E"/>
                </a:solidFill>
                <a:latin typeface="Calibri"/>
              </a:rPr>
              <a:t> + </a:t>
            </a:r>
            <a:r>
              <a:rPr sz="1300" b="1">
                <a:solidFill>
                  <a:srgbClr val="1A1A2E"/>
                </a:solidFill>
                <a:latin typeface="Calibri"/>
              </a:rPr>
              <a:t>full LiDAR sensor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Wang &amp; Pan 2021 (JFM 918) + 2022 (JFM 949) — EnKF-HOS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First EnKF + HOS integration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ensemble-based DA on phase-resolved waves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2022 extension: EnKF-HOS-C with </a:t>
            </a:r>
            <a:r>
              <a:rPr sz="1300" b="1">
                <a:solidFill>
                  <a:srgbClr val="1A1A2E"/>
                </a:solidFill>
                <a:latin typeface="Calibri"/>
              </a:rPr>
              <a:t>current estimation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GPU implementation, near-real-time (단 dense observation 가정)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554480"/>
            <a:ext cx="4114800" cy="2468879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Limitations (our perspective)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Dense observation 가정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sparse LiDAR setup 직접 적용 어려움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1D wave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2D directional 처리 안 함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Ensemble cost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50–100 members × HOS time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300" b="1">
                <a:solidFill>
                  <a:srgbClr val="1A1A2E"/>
                </a:solidFill>
                <a:latin typeface="Calibri"/>
              </a:rPr>
              <a:t>sparse LiDAR input</a:t>
            </a:r>
            <a:r>
              <a:rPr sz="1300" b="0">
                <a:solidFill>
                  <a:srgbClr val="1A1A2E"/>
                </a:solidFill>
                <a:latin typeface="Calibri"/>
              </a:rPr>
              <a:t> + </a:t>
            </a:r>
            <a:r>
              <a:rPr sz="13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300" b="0">
                <a:solidFill>
                  <a:srgbClr val="1A1A2E"/>
                </a:solidFill>
                <a:latin typeface="Calibri"/>
              </a:rPr>
              <a:t> + </a:t>
            </a:r>
            <a:r>
              <a:rPr sz="1300" b="1">
                <a:solidFill>
                  <a:srgbClr val="1A1A2E"/>
                </a:solidFill>
                <a:latin typeface="Calibri"/>
              </a:rPr>
              <a:t>&lt;100 ms inference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Note: Wang 2025 (Coastal Eng 197) 정독 → paper 작성 단계 (Case A/B/C 결정)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Ehlers et al. 2023 (Ocean Eng) — Fourier Neural Operator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First ML-based phase-resolved reconstruction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from sparse X-band radar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FNO architecture (Fourier global mapping) outperforms U-Net (CNN local)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Inference 1.9 ms</a:t>
            </a:r>
            <a:r>
              <a:rPr sz="1300" b="0">
                <a:solidFill>
                  <a:srgbClr val="1A1A2E"/>
                </a:solidFill>
                <a:latin typeface="Calibri"/>
              </a:rPr>
              <a:t> / instance — 빠름. 단 supervised pre-training 필요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554480"/>
            <a:ext cx="4114800" cy="2468879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Limitations (our perspective)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Supervised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3120 HOS samples 학습, distribution shift risk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1D unidirectional</a:t>
            </a:r>
            <a:r>
              <a:rPr sz="1300" b="0">
                <a:solidFill>
                  <a:srgbClr val="1A1A2E"/>
                </a:solidFill>
                <a:latin typeface="Calibri"/>
              </a:rPr>
              <a:t>, no 2D directional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Black-box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physical interpretability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300" b="1">
                <a:solidFill>
                  <a:srgbClr val="1A1A2E"/>
                </a:solidFill>
                <a:latin typeface="Calibri"/>
              </a:rPr>
              <a:t>unsupervised</a:t>
            </a:r>
            <a:r>
              <a:rPr sz="1300" b="0">
                <a:solidFill>
                  <a:srgbClr val="1A1A2E"/>
                </a:solidFill>
                <a:latin typeface="Calibri"/>
              </a:rPr>
              <a:t> (no training), </a:t>
            </a:r>
            <a:r>
              <a:rPr sz="1300" b="1">
                <a:solidFill>
                  <a:srgbClr val="1A1A2E"/>
                </a:solidFill>
                <a:latin typeface="Calibri"/>
              </a:rPr>
              <a:t>interpretable parametric</a:t>
            </a:r>
            <a:r>
              <a:rPr sz="1300" b="0">
                <a:solidFill>
                  <a:srgbClr val="1A1A2E"/>
                </a:solidFill>
                <a:latin typeface="Calibri"/>
              </a:rPr>
              <a:t>, </a:t>
            </a:r>
            <a:r>
              <a:rPr sz="1300" b="1">
                <a:solidFill>
                  <a:srgbClr val="1A1A2E"/>
                </a:solidFill>
                <a:latin typeface="Calibri"/>
              </a:rPr>
              <a:t>2D directional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Speed comparable: ~13 ms vs 1.9 ms — 둘 다 real-time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Two parallel NNs</a:t>
            </a:r>
            <a:r>
              <a:rPr sz="1300" b="0">
                <a:solidFill>
                  <a:srgbClr val="1A1A2E"/>
                </a:solidFill>
                <a:latin typeface="Calibri"/>
              </a:rPr>
              <a:t> (η-net + Φ-net) + Laplace + 3 BCs via auto-diff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300" b="0">
                <a:solidFill>
                  <a:srgbClr val="1A1A2E"/>
                </a:solidFill>
                <a:latin typeface="Calibri"/>
              </a:rPr>
              <a:t>: η̃ = M(x,t) + R(x,t)·N_η̃ — measurements hard-encoded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Validated on MARATHON wave flume —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554480"/>
            <a:ext cx="4114800" cy="2468879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Limitations (our perspective)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~30 min training / instance</a:t>
            </a:r>
            <a:r>
              <a:rPr sz="1300" b="0">
                <a:solidFill>
                  <a:srgbClr val="1A1A2E"/>
                </a:solidFill>
                <a:latin typeface="Calibri"/>
              </a:rPr>
              <a:t> (RTX 3090, 40K+ epochs)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300" b="0">
                <a:solidFill>
                  <a:srgbClr val="1A1A2E"/>
                </a:solidFill>
                <a:latin typeface="Calibri"/>
              </a:rPr>
              <a:t>, future work: 2D + t extension explicitly stated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Buoy time-series only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Speed: 13 ms (ours) vs ~30 min (PFT-PINN)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130,000× difference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300" b="1">
                <a:solidFill>
                  <a:srgbClr val="1A1A2E"/>
                </a:solidFill>
                <a:latin typeface="Calibri"/>
              </a:rPr>
              <a:t>2D + t already</a:t>
            </a:r>
            <a:r>
              <a:rPr sz="1300" b="0">
                <a:solidFill>
                  <a:srgbClr val="1A1A2E"/>
                </a:solidFill>
                <a:latin typeface="Calibri"/>
              </a:rPr>
              <a:t>, </a:t>
            </a:r>
            <a:r>
              <a:rPr sz="1300" b="1">
                <a:solidFill>
                  <a:srgbClr val="1A1A2E"/>
                </a:solidFill>
                <a:latin typeface="Calibri"/>
              </a:rPr>
              <a:t>LiDAR raydrop sensor model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Threat</a:t>
            </a:r>
            <a:r>
              <a:rPr sz="1300" b="0">
                <a:solidFill>
                  <a:srgbClr val="1A1A2E"/>
                </a:solidFill>
                <a:latin typeface="Calibri"/>
              </a:rPr>
              <a:t>: same group (TUHH+Imperial) likely to publish 2D + real-time PINN in 1-3 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Yan, Che, Li 2025 (arXiv 2510.14356) — VOF-EnKF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858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First VOF-NS + EnKF integration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full Navier-Stokes + ensemble DA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POD reduction: M=4.8e4 cells → ~30 modes (level-set 4 modes)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Plunging breaker reconstruction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assimilate upstream linear, CFD evolves breaking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554480"/>
            <a:ext cx="4114800" cy="2468879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Limitations (our perspective)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Offline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50 members × full OpenFOAM = orders of magnitude slower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1D xz-plane only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2D directional 처리 안 함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Inlet boundary handling 어려움 — near-inlet RMS 0.228 H_s vs downstream 0.090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Speed: 13 ms (ours) vs offline (VOF-EnKF)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응용 영역 분리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300" b="1">
                <a:solidFill>
                  <a:srgbClr val="1A1A2E"/>
                </a:solidFill>
                <a:latin typeface="Calibri"/>
              </a:rPr>
              <a:t>2D directional</a:t>
            </a:r>
            <a:r>
              <a:rPr sz="1300" b="0">
                <a:solidFill>
                  <a:srgbClr val="1A1A2E"/>
                </a:solidFill>
                <a:latin typeface="Calibri"/>
              </a:rPr>
              <a:t>, VOF-EnKF: 1D xz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>
                <a:solidFill>
                  <a:srgbClr val="1A1A2E"/>
                </a:solidFill>
                <a:latin typeface="Calibri"/>
              </a:rPr>
              <a:t>Their strength: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 breaking</a:t>
            </a:r>
            <a:r>
              <a:rPr sz="1300" b="0">
                <a:solidFill>
                  <a:srgbClr val="1A1A2E"/>
                </a:solidFill>
                <a:latin typeface="Calibri"/>
              </a:rPr>
              <a:t> (we acknowledge this limitation as future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Where does WaveSplat fit? — Application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two distinct application zones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7373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Application requirement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EnKF-HOS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Real-time control loop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directional phase-resolved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 (1D)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Wave breaking, plunging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Wave-structure interaction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Velocity field full inference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Bathymetry inversion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 ext.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Training-free unsupervised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Sparse LiDAR sensor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Our niche: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Real-time + 2D directional + sparse LiDAR + unsupervised</a:t>
            </a:r>
            <a:r>
              <a:rPr sz="1200" b="0">
                <a:solidFill>
                  <a:srgbClr val="1A1A2E"/>
                </a:solidFill>
                <a:latin typeface="Calibri"/>
              </a:rPr>
              <a:t> = unique combination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Application: 선박 ride control, hydrofoil FF preview, autonomous navigation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WaveSim — physics + LiDAR sensor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Linear superposition + dispersion + JONSWAP, plus full LiDAR raydrop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Physics</a:t>
            </a:r>
            <a:r>
              <a:rPr sz="1400" b="0">
                <a:solidFill>
                  <a:srgbClr val="1A1A2E"/>
                </a:solidFill>
                <a:latin typeface="Calibri"/>
              </a:rPr>
              <a:t>: η(x,y,t) = Σ_n A_n cos(k_xn·x + k_yn·y − ω_n·t + φ_n)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Dispersion (deep water)</a:t>
            </a:r>
            <a:r>
              <a:rPr sz="14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Spectrum</a:t>
            </a:r>
            <a:r>
              <a:rPr sz="1400" b="0">
                <a:solidFill>
                  <a:srgbClr val="1A1A2E"/>
                </a:solidFill>
                <a:latin typeface="Calibri"/>
              </a:rPr>
              <a:t>: JONSWAP-2D (Hasselmann + spreading), N_components 가변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LiDAR sensor model</a:t>
            </a:r>
            <a:r>
              <a:rPr sz="1400" b="0">
                <a:solidFill>
                  <a:srgbClr val="1A1A2E"/>
                </a:solidFill>
                <a:latin typeface="Calibri"/>
              </a:rPr>
              <a:t> (이 부분이 우리 unique contribution):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Ray-triangle intersection (Möller-Trumbore 1997)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Raydrop probability — Fresnel reflectance (specular vs diffuse)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Shadowing — closer wave occludes far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Vessel motion + ego-velocity correction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Validation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39 unit tests passing, 100 episodes generated</a:t>
            </a:r>
          </a:p>
        </p:txBody>
      </p:sp>
      <p:pic>
        <p:nvPicPr>
          <p:cNvPr id="6" name="Picture 5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730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100 episodes — controlled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Reproducible, varying complexity, ground-truth η + LiDAR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Episode parameters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Sea state: BF3 (mild), BF4 (moderate), BF6 (rough)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N_components: 1, 5, 15 (low / mid / high complexity)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Spreading: uniform / unimodal / bimodal directional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Per episode</a:t>
            </a:r>
            <a:r>
              <a:rPr sz="1400" b="0">
                <a:solidFill>
                  <a:srgbClr val="1A1A2E"/>
                </a:solidFill>
                <a:latin typeface="Calibri"/>
              </a:rPr>
              <a:t>: T = 30 s, Δt = 0.1 s (300 frames)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Ground-truth η field on 50×50 grid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LiDAR scan (~50 valid pts/frame after raydrop)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HDF5 format — 100 files, ~5 GB total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Tests</a:t>
            </a:r>
            <a:r>
              <a:rPr sz="1400" b="0">
                <a:solidFill>
                  <a:srgbClr val="1A1A2E"/>
                </a:solidFill>
                <a:latin typeface="Calibri"/>
              </a:rPr>
              <a:t>: 39 unit tests passing (wavesim/) + 18 (wavesplat/) = 57 total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6250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exploration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WaveSplat algorithm — parametric off-grid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Continuous spectral parameters (k_x, k_y, ω, A, φ) with dispersion as hard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State</a:t>
            </a:r>
            <a:r>
              <a:rPr sz="1400" b="0">
                <a:solidFill>
                  <a:srgbClr val="1A1A2E"/>
                </a:solidFill>
                <a:latin typeface="Calibri"/>
              </a:rPr>
              <a:t>: N components × {A_n, k_xn, k_yn, ω_n, φ_n}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Reduced to 4N free parameters via dispersion: ω_n = √(g·|k_n|·tanh(|k_n|·d))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Two-stage estimation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</a:t>
            </a:r>
            <a:r>
              <a:rPr sz="1400" b="1">
                <a:solidFill>
                  <a:srgbClr val="1A1A2E"/>
                </a:solidFill>
                <a:latin typeface="Calibri"/>
              </a:rPr>
              <a:t>Init</a:t>
            </a:r>
            <a:r>
              <a:rPr sz="1400" b="0">
                <a:solidFill>
                  <a:srgbClr val="1A1A2E"/>
                </a:solidFill>
                <a:latin typeface="Calibri"/>
              </a:rPr>
              <a:t> — multi-frame: 2-stage beamforming (k-only init), all components together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</a:t>
            </a:r>
            <a:r>
              <a:rPr sz="1400" b="1">
                <a:solidFill>
                  <a:srgbClr val="1A1A2E"/>
                </a:solidFill>
                <a:latin typeface="Calibri"/>
              </a:rPr>
              <a:t>Track</a:t>
            </a:r>
            <a:r>
              <a:rPr sz="1400" b="0">
                <a:solidFill>
                  <a:srgbClr val="1A1A2E"/>
                </a:solidFill>
                <a:latin typeface="Calibri"/>
              </a:rPr>
              <a:t> — per-frame: freeze (k_x, k_y), update (ω, A, φ) via Adam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Adaptive N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Energy-based pruning + residual-triggered growth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Safety rollback when RMSE &gt; 130%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Loss</a:t>
            </a:r>
            <a:r>
              <a:rPr sz="1400" b="0">
                <a:solidFill>
                  <a:srgbClr val="1A1A2E"/>
                </a:solidFill>
                <a:latin typeface="Calibri"/>
              </a:rPr>
              <a:t>: ‖η_LiDAR − η_model(θ)‖² + λ_disp · dispersion penalty (hard)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618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exploration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Exploration phase results — 12 episode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WaveSplat ≈ best avg nRMSE; ETKF/GPR for context (tuned)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Avg 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Per-frame time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Setup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13.4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parametric off-grid + dispersion hard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GPR (single + window)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&gt;200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Gaussian process, dense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ETKF-grid (tuned, Ne=100)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0.319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132.6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Hunt 2007 LETKF, grid-spatial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Oracle (lower bound)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ground-truth components, fit only A,φ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Speed advantage</a:t>
            </a:r>
            <a:r>
              <a:rPr sz="1300" b="0">
                <a:solidFill>
                  <a:srgbClr val="1A1A2E"/>
                </a:solidFill>
                <a:latin typeface="Calibri"/>
              </a:rPr>
              <a:t>: 13 ms vs 132 ms (ETKF) vs &gt;200 ms (GPR)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10× faster than ETKF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Accuracy advantage</a:t>
            </a:r>
            <a:r>
              <a:rPr sz="1300" b="0">
                <a:solidFill>
                  <a:srgbClr val="1A1A2E"/>
                </a:solidFill>
                <a:latin typeface="Calibri"/>
              </a:rPr>
              <a:t>: 0.223 vs 0.276 vs 0.319 — </a:t>
            </a:r>
            <a:r>
              <a:rPr sz="1300" b="1">
                <a:solidFill>
                  <a:srgbClr val="1A1A2E"/>
                </a:solidFill>
                <a:latin typeface="Calibri"/>
              </a:rPr>
              <a:t>best average among unsupervised methods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Oracle 0.087 = irreducible noise floor (sensor + numerical)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These results are exploration phase — main framing comes from analyzing how WaveSplat achieves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The essential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The key question — why does parametric work so well?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Per-frame spatial Nyquist is way too small for ocean 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A1A2E"/>
                </a:solidFill>
                <a:latin typeface="Calibri"/>
              </a:rPr>
              <a:t>Per-frame LiDAR effective sampling</a:t>
            </a:r>
            <a:r>
              <a:rPr sz="16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  - ~50 valid pts / 240 m FOV → effective Δy ≈ 5–8 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  - </a:t>
            </a:r>
            <a:r>
              <a:rPr sz="1600" b="0">
                <a:solidFill>
                  <a:srgbClr val="1A1A2E"/>
                </a:solidFill>
                <a:latin typeface="Calibri"/>
              </a:rPr>
              <a:t>Spatial Nyquist: k_Nyq = π/Δy ≈ </a:t>
            </a:r>
            <a:r>
              <a:rPr sz="1600" b="1">
                <a:solidFill>
                  <a:srgbClr val="1A1A2E"/>
                </a:solidFill>
                <a:latin typeface="Calibri"/>
              </a:rPr>
              <a:t>0.4 rad/m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A1A2E"/>
                </a:solidFill>
                <a:latin typeface="Calibri"/>
              </a:rPr>
              <a:t>Required wavenumber range</a:t>
            </a:r>
            <a:r>
              <a:rPr sz="1600" b="0">
                <a:solidFill>
                  <a:srgbClr val="1A1A2E"/>
                </a:solidFill>
                <a:latin typeface="Calibri"/>
              </a:rPr>
              <a:t> (BF3-BF6 sea states):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  - </a:t>
            </a:r>
            <a:r>
              <a:rPr sz="1600" b="0">
                <a:solidFill>
                  <a:srgbClr val="1A1A2E"/>
                </a:solidFill>
                <a:latin typeface="Calibri"/>
              </a:rPr>
              <a:t>λ ∈ 5–25 m → k ∈ </a:t>
            </a:r>
            <a:r>
              <a:rPr sz="1600" b="1">
                <a:solidFill>
                  <a:srgbClr val="1A1A2E"/>
                </a:solidFill>
                <a:latin typeface="Calibri"/>
              </a:rPr>
              <a:t>0.5–3 rad/m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A1A2E"/>
                </a:solidFill>
                <a:latin typeface="Calibri"/>
              </a:rPr>
              <a:t>🚨 The paradox</a:t>
            </a:r>
            <a:r>
              <a:rPr sz="1600" b="0">
                <a:solidFill>
                  <a:srgbClr val="1A1A2E"/>
                </a:solidFill>
                <a:latin typeface="Calibri"/>
              </a:rPr>
              <a:t>: required k is 1.25–7.5× </a:t>
            </a:r>
            <a:r>
              <a:rPr sz="1600" b="1">
                <a:solidFill>
                  <a:srgbClr val="1A1A2E"/>
                </a:solidFill>
                <a:latin typeface="Calibri"/>
              </a:rPr>
              <a:t>beyond per-frame Nyquist!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A1A2E"/>
                </a:solidFill>
                <a:latin typeface="Calibri"/>
              </a:rPr>
              <a:t>Yet, WaveSplat recovers them. How?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  - Hint: we use multi-frame data and dispersion physics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  - → Next slide: 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Main framing 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Dispersion-Coupled Spatio-Temporal Inversion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1A1A2E"/>
                </a:solidFill>
                <a:latin typeface="Calibri"/>
              </a:defRPr>
            </a:pPr>
            <a:r>
              <a:t>"Vessel motion (synthetic aperture) and dispersion physics jointly resolve ocean wavenumbers 3–7× beyond the per-frame spatial Nyquist of shipboard LiDAR."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Synthetic aperture (SA)</a:t>
            </a:r>
            <a:r>
              <a:rPr sz="1300" b="0">
                <a:solidFill>
                  <a:srgbClr val="1A1A2E"/>
                </a:solidFill>
                <a:latin typeface="Calibri"/>
              </a:rPr>
              <a:t>: Δx_SA = V · T_init = 11.3 m/s × 1 s = </a:t>
            </a:r>
            <a:r>
              <a:rPr sz="1300" b="1">
                <a:solidFill>
                  <a:srgbClr val="1A1A2E"/>
                </a:solidFill>
                <a:latin typeface="Calibri"/>
              </a:rPr>
              <a:t>11.3 m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(vs single-frame Δy ≈ 5–8 m → 1.5–2× larger effective aperture)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Dispersion 1-to-1 mapping</a:t>
            </a:r>
            <a:r>
              <a:rPr sz="1300" b="0">
                <a:solidFill>
                  <a:srgbClr val="1A1A2E"/>
                </a:solidFill>
                <a:latin typeface="Calibri"/>
              </a:rPr>
              <a:t>: ω = √(g·|k|·tanh(|k|·d))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Each ω uniquely determines |k| → temporal info → spatial wavenumber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Joint mechanism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Multi-frame stacking → multi-temporal coherence → ω resolution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ω → |k| via dispersion → spatial wavenumber even beyond Nyquist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Quantitative claim</a:t>
            </a:r>
            <a:r>
              <a:rPr sz="1300" b="0">
                <a:solidFill>
                  <a:srgbClr val="1A1A2E"/>
                </a:solidFill>
                <a:latin typeface="Calibri"/>
              </a:rPr>
              <a:t>: super-resolution factor </a:t>
            </a:r>
            <a:r>
              <a:rPr sz="1300" b="1">
                <a:solidFill>
                  <a:srgbClr val="1A1A2E"/>
                </a:solidFill>
                <a:latin typeface="Calibri"/>
              </a:rPr>
              <a:t>3–7×</a:t>
            </a:r>
            <a:r>
              <a:rPr sz="1300" b="0">
                <a:solidFill>
                  <a:srgbClr val="1A1A2E"/>
                </a:solidFill>
                <a:latin typeface="Calibri"/>
              </a:rPr>
              <a:t> beyond per-frame Nyquist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Validated by 4-way ablation on 100-episode benchmark (Phase 1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Two complementary insights — why init/track separation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Identifiability decomposition + dispersion-coupled super-resolution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Identifiability (per-parameter Fisher Information)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k = (k_x, k_y) — multi-frame identifiable (needs aperture)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(ω, φ, A) — per-frame identifiable (single snapshot enough)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→ Justifies our two-stage design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Init (multi-frame) — solve k from temporal coherence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Track (per-frame) — update (ω, A, φ) cheaply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Combined story</a:t>
            </a:r>
            <a:r>
              <a:rPr sz="14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Init phase: SA + dispersion → resolve k beyond per-frame Nyquist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Track phase: per-frame Adam keeps inference &lt; 100 ms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  - Adaptive N + safety rollback: robust to changing component count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Limitations &amp;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Honest limitations &amp; response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Linear approximation, no breaking, threat from PFT-PINN scale-up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 1 — Linear approximation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Klein 2020 정량: HOSM &gt; NLSE₂ &gt; LWT (우리 family)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Operational range: ε &lt; 0.07 (valid for control loop sea states)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Future: Stokes ε² correction (Phase 2, JFM upgrade)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Limitation 2 — No breaking, no velocity inference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VOF-EnKF, PFT-PINN handle these — different application zones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Future: hybrid linear-realtime + on-demand CFD refinement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Threat — PFT-PINN extension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Same group (TUHH+Imperial) likely 2D + real-time PINN in 1-3 yr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</a:t>
            </a:r>
            <a:r>
              <a:rPr sz="1300" b="0">
                <a:solidFill>
                  <a:srgbClr val="1A1A2E"/>
                </a:solidFill>
                <a:latin typeface="Calibri"/>
              </a:rPr>
              <a:t>Response 1: </a:t>
            </a:r>
            <a:r>
              <a:rPr sz="1300" b="1">
                <a:solidFill>
                  <a:srgbClr val="1A1A2E"/>
                </a:solidFill>
                <a:latin typeface="Calibri"/>
              </a:rPr>
              <a:t>publish fast</a:t>
            </a:r>
            <a:r>
              <a:rPr sz="1300" b="0">
                <a:solidFill>
                  <a:srgbClr val="1A1A2E"/>
                </a:solidFill>
                <a:latin typeface="Calibri"/>
              </a:rPr>
              <a:t> (OE-ready by 7월, JFM upgrade option)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</a:t>
            </a:r>
            <a:r>
              <a:rPr sz="1300" b="0">
                <a:solidFill>
                  <a:srgbClr val="1A1A2E"/>
                </a:solidFill>
                <a:latin typeface="Calibri"/>
              </a:rPr>
              <a:t>Response 2: </a:t>
            </a:r>
            <a:r>
              <a:rPr sz="1300" b="1">
                <a:solidFill>
                  <a:srgbClr val="1A1A2E"/>
                </a:solidFill>
                <a:latin typeface="Calibri"/>
              </a:rPr>
              <a:t>application separation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(PINN = design-time, ours = real-time control)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A1A2E"/>
                </a:solidFill>
                <a:latin typeface="Calibri"/>
              </a:defRPr>
            </a:pPr>
            <a:r>
              <a:t>Publication plan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Phase 1 (2 mo) → Decision gate → Phase 2 (3 mo) →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 1 — OE-ready (5월–7월)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- 4-way ablation (single / multi-spatial / multi-disp-post / multi-disp-first)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Theoretical bound (1-page derivation)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Paper rewrite: Dispersion-Coupled Spatio-Temporal Inversion framing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Decision gate (7월 말)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Super-res factor 3–7× confirmed → JFM/PRF 도전 (Phase 2)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Else → OE submit immediately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 2 — JFM/PRF upgrade (8월–10월)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Sample complexity bound (atomic-norm-inspired)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Stokes ε² correction (linear → 2nd order)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- Identifiability FIM 정량 분석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Submit</a:t>
            </a:r>
            <a:r>
              <a:rPr sz="1300" b="0">
                <a:solidFill>
                  <a:srgbClr val="1A1A2E"/>
                </a:solidFill>
                <a:latin typeface="Calibri"/>
              </a:rPr>
              <a:t>: 11월–12월 (OE 또는 JFM/PRF)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007ACC"/>
                </a:solidFill>
                <a:latin typeface="Calibri"/>
              </a:defRPr>
            </a:pPr>
            <a:r>
              <a:t>Questions &amp; discussion — feedback most welcomed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2018 (OMAE) — LIDAR + ICWM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Setup</a:t>
            </a:r>
            <a:r>
              <a:rPr sz="1400" b="0">
                <a:solidFill>
                  <a:srgbClr val="1A1A2E"/>
                </a:solidFill>
                <a:latin typeface="Calibri"/>
              </a:rPr>
              <a:t>: scanning LIDAR + Improved Choppy Wave Model (ICWM)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Predefined k-grid, variational inversion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1D, on-grid, simulator only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precursor to Desmars 2023 JFM (HOS-OCM)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2020 (Ocean Eng 212) — wave gauge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First experimental validation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 of phase-resolved DA in wave tank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Wave gauge array, dispersion correction post-processing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1D longitudinal only, gauge ≠ LiDAR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empirical anchor for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Klein et al. 2020 (Fluids 5(1), 9) — wave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Quantitative</a:t>
            </a:r>
            <a:r>
              <a:rPr sz="1400" b="0">
                <a:solidFill>
                  <a:srgbClr val="1A1A2E"/>
                </a:solidFill>
                <a:latin typeface="Calibri"/>
              </a:rPr>
              <a:t>: HOSM &gt; NLSE₂ &gt; NLSE &gt; LWT (decreasing fidelity)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Wave tank validation, SSP metric standardization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Implication for us</a:t>
            </a:r>
            <a:r>
              <a:rPr sz="1400" b="0">
                <a:solidFill>
                  <a:srgbClr val="1A1A2E"/>
                </a:solidFill>
                <a:latin typeface="Calibri"/>
              </a:rPr>
              <a:t>: linear (LWT) operational range ε &lt; 0.07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source of Stokes ε² correction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Hunt, Kostelich, Szunyogh 2007 (Tellus A) — LETKF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Foundational</a:t>
            </a:r>
            <a:r>
              <a:rPr sz="1400" b="0">
                <a:solidFill>
                  <a:srgbClr val="1A1A2E"/>
                </a:solidFill>
                <a:latin typeface="Calibri"/>
              </a:rPr>
              <a:t>: Local Ensemble Transform Kalman Filter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Gauge of all EnKF wave reconstruction work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Our use</a:t>
            </a:r>
            <a:r>
              <a:rPr sz="1400" b="0">
                <a:solidFill>
                  <a:srgbClr val="1A1A2E"/>
                </a:solidFill>
                <a:latin typeface="Calibri"/>
              </a:rPr>
              <a:t>: ETKF baseline implements this with grid-spatial obs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Wang-Pan 2021/22 + Yan 2025 derive from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Tang, Bhaskar, Recht 2013 (IEEE TIT) — atomic norm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Off-grid compressed sensing</a:t>
            </a:r>
            <a:r>
              <a:rPr sz="1400" b="0">
                <a:solidFill>
                  <a:srgbClr val="1A1A2E"/>
                </a:solidFill>
                <a:latin typeface="Calibri"/>
              </a:rPr>
              <a:t> with continuous parameter space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SDP formulation, theoretical recovery bounds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Inspiration for us</a:t>
            </a:r>
            <a:r>
              <a:rPr sz="1400" b="0">
                <a:solidFill>
                  <a:srgbClr val="1A1A2E"/>
                </a:solidFill>
                <a:latin typeface="Calibri"/>
              </a:rPr>
              <a:t>: parametric off-grid spectral inversion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Future direction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sample complexity bound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Möller-Trumbore 1997 (JGT) — Ray-triangle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Standard ray-triangle algorithm</a:t>
            </a:r>
            <a:r>
              <a:rPr sz="1400" b="0">
                <a:solidFill>
                  <a:srgbClr val="1A1A2E"/>
                </a:solidFill>
                <a:latin typeface="Calibri"/>
              </a:rPr>
              <a:t> for graphics + simulation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Robust, fast, no preprocessing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Our use</a:t>
            </a:r>
            <a:r>
              <a:rPr sz="1400" b="0">
                <a:solidFill>
                  <a:srgbClr val="1A1A2E"/>
                </a:solidFill>
                <a:latin typeface="Calibri"/>
              </a:rPr>
              <a:t>: WaveSim LiDAR ray-mesh intersection (verified against this paper)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numerical correctness of sensor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Nouguier, Grilli, Guérin 2014 (IEEE TGRS) — flash LIDAR foundational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Historical first</a:t>
            </a:r>
            <a:r>
              <a:rPr sz="1400" b="0">
                <a:solidFill>
                  <a:srgbClr val="1A1A2E"/>
                </a:solidFill>
                <a:latin typeface="Calibri"/>
              </a:rPr>
              <a:t>: flash LIDAR for ocean wave reconstruction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Paywalled, not fully read — cited as foundational reference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Implication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LIDAR for waves predates Desmars by ~5 years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A1A2E"/>
                </a:solidFill>
                <a:latin typeface="Calibri"/>
              </a:rPr>
              <a:t>Relation</a:t>
            </a:r>
            <a:r>
              <a:rPr sz="1400" b="0">
                <a:solidFill>
                  <a:srgbClr val="1A1A2E"/>
                </a:solidFill>
                <a:latin typeface="Calibri"/>
              </a:rPr>
              <a:t>: bibliographic anchor in our prior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