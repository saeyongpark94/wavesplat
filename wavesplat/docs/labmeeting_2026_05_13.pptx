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발표는 두 부분으로 나뉩니다.</a:t>
            </a:r>
          </a:p>
          <a:p/>
          <a:p>
            <a:r>
              <a:t>[앞 절반] 우리가 지난 6개월 동안 진행한 *exploration phase*의 결과를 정리합니다. 구체적으로 (1) 이 분야 prior art 12편을 정독한 결과, (2) 우리가 만든 simulator(WaveSim)와 estimator(WaveSplat)이 어떻게 작동하는지를 설명드립니다.</a:t>
            </a:r>
          </a:p>
          <a:p/>
          <a:p>
            <a:r>
              <a:t>[뒤 절반] 그 과정에서 발견한 본질적 mechanism을 보여드립니다. 선박이 움직이면서 발생하는 효과(synthetic aperture)와 파도의 분산 관계(dispersion physics)가 어떻게 결합해서 LiDAR의 공간 해상도 한계를 우회하는지 — 이것을 우리 paper의 main contribution으로 격상시키려는 plan입니다.</a:t>
            </a:r>
          </a:p>
          <a:p/>
          <a:p>
            <a:r>
              <a:t>외부 청자분들이 계셔서 도메인 background부터 천천히 시작하겠습니다. 전공 용어가 처음 나오면 옆에 짧게 설명을 붙였으니 부담 없이 들으시면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 추정 분야에는 두 단계가 있습니다.</a:t>
            </a:r>
          </a:p>
          <a:p/>
          <a:p>
            <a:r>
              <a:t>첫째 statistical estimation — 우리가 흔히 듣는 H_s (significant wave height, 유의파고), T_p (peak period, 첨두주기), JONSWAP 스펙트럼 같은 '평균적 통계'. 선박 디자인이나 해양 구조물 설계에는 이걸로 충분합니다.</a:t>
            </a:r>
          </a:p>
          <a:p/>
          <a:p>
            <a:r>
              <a:t>둘째 phase-resolved estimation — 각 파도의 위치와 시점을 결정론적으로 추정. 예를 들어 'BF4 sea state' 라는 통계가 아니라 'x = 120 m 위치에 5초 후 H = 2 m 파도가 도착한다' 같은 구체적 정보입니다.</a:t>
            </a:r>
          </a:p>
          <a:p/>
          <a:p>
            <a:r>
              <a:t>왜 phase-resolved가 필요한가? 실시간 제어에서는 '평균적으로 파도가 강하다' 는 정보로는 특정 시점의 제어 결정을 못 합니다. 어디에 큰 파도가 오는지 정확히 알아야 ride control, hydrofoil, autonomous navigation 같은 응용이 가능합니다.</a:t>
            </a:r>
          </a:p>
          <a:p/>
          <a:p>
            <a:r>
              <a:t>응용 중 가장 직접적인 것은 hydrofoil ride control입니다 — 우리 연구실에서 진행 중인 hydrofoil 연구의 motivation이기도 합니다. 파도를 미리 보고 hydrofoil의 angle을 조절하면 승차감(ride RMS)을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세 조건을 동시에 만족하는 setup은 prior art에 거의 없습니다. 하나씩 보겠습니다.</a:t>
            </a:r>
          </a:p>
          <a:p/>
          <a:p>
            <a:r>
              <a:t>(1) Sparse non-uniform — LiDAR는 흔히 쓰이는 wave gauge나 dense radar와 매우 다릅니다. 한 frame에 점 50개 정도로 매우 희소하고, 거리에 따라 점밀도가 변합니다. 또 raydrop(파도가 LiDAR 빔을 반사하지 못해 점 누락), shadowing(앞쪽 파도가 뒤쪽을 가림) 같은 물리 효과로 점이 더 줄어듭니다. 기존 wave estimation 방법론은 dense·균일 측정 가정으로 설계되어서 LiDAR setup에 직접 적용하기 어렵습니다.</a:t>
            </a:r>
          </a:p>
          <a:p/>
          <a:p>
            <a:r>
              <a:t>(2) Real-time — 제어 루프에 들어가야 하므로 100 ms 안에 끝나야 합니다. EnKF 같은 ensemble 방법론, PINN 같은 NN 학습 방법론은 분 단위에서 시간 단위까지 걸려서 이 제약을 만족 못 합니다.</a:t>
            </a:r>
          </a:p>
          <a:p/>
          <a:p>
            <a:r>
              <a:t>(3) 2D directional — 실제 바다는 한 방향 파도가 아니라 여러 방향 파도가 섞여 있습니다. Wavenumber도 단순한 k가 아니라 vector (k_x, k_y)를 추정해야 합니다. Klein 2020, Desmars 2023 같은 prior art는 대부분 1D 가정으로 단순화하지만, 우리는 2D를 그대로 다룹니다.</a:t>
            </a:r>
          </a:p>
          <a:p/>
          <a:p>
            <a:r>
              <a:t>다음 슬라이드부터 prior art 12편을 검토한 결과를 보여드리고, 이 niche가 실제로 비어 있다는 것을 보이겠습니다.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결과를 보여드리겠습니다. 배경 설명은 그 다음에 하겠습니다.</a:t>
            </a:r>
          </a:p>
          <a:p/>
          <a:p>
            <a:r>
              <a:t>왼쪽 막대 그래프는 두 가지 방법의 평균 정확도(nRMSE) 비교입니다.</a:t>
            </a:r>
          </a:p>
          <a:p>
            <a:r>
              <a:t>  nRMSE란 무엇인가? '정규화된 평균 제곱근 오차'입니다.</a:t>
            </a:r>
          </a:p>
          <a:p>
            <a:r>
              <a:t>  쉽게 말하면 0에 가까울수록 좋고, 1에 가까울수록 나쁩니다.</a:t>
            </a:r>
          </a:p>
          <a:p>
            <a:r>
              <a:t>  예를 들어 nRMSE 0.2는 '실제 파도의 80% 정도를 맞춘다'고 이해하시면 됩니다.</a:t>
            </a:r>
          </a:p>
          <a:p/>
          <a:p>
            <a:r>
              <a:t>  - WaveSplat (우리 방법): 0.211 — 약 79% 수준으로 맞춤</a:t>
            </a:r>
          </a:p>
          <a:p>
            <a:r>
              <a:t>  - Wang2025 (최신 선행연구를 충실히 재현한 것): 0.253 — 약 75% 수준</a:t>
            </a:r>
          </a:p>
          <a:p/>
          <a:p>
            <a:r>
              <a:t>비교 대상인 Wang2025는 우리가 임의로 만든 baseline이 아니라,</a:t>
            </a:r>
          </a:p>
          <a:p>
            <a:r>
              <a:t>2025년에 출판된 논문(Wang, Coastal Engineering 197)의 방법을</a:t>
            </a:r>
          </a:p>
          <a:p>
            <a:r>
              <a:t>그대로 재현한 것입니다. 앙상블 300개, fuzzy R 적응 등 원논문 세팅을 따랐습니다.</a:t>
            </a:r>
          </a:p>
          <a:p/>
          <a:p>
            <a:r>
              <a:t>오른쪽은 여러 방법의 속도를 로그 스케일로 비교한 그래프입니다.</a:t>
            </a:r>
          </a:p>
          <a:p>
            <a:r>
              <a:t>  - 빨간 점선이 '실시간 기준선' (100ms)입니다. 이 왼쪽에 있어야 제어에 쓸 수 있습니다.</a:t>
            </a:r>
          </a:p>
          <a:p>
            <a:r>
              <a:t>  - WaveSplat 13ms = 초당 약 75번 추정 가능 → 10Hz 제어 루프에 충분히 여유 있습니다</a:t>
            </a:r>
          </a:p>
          <a:p>
            <a:r>
              <a:t>  - Wang2025 632ms = 실시간으로는 쓸 수 없는 속도입니다</a:t>
            </a:r>
          </a:p>
          <a:p>
            <a:r>
              <a:t>  - PFT-PINN 30분 = 완전히 오프라인 전용입니다 (Ehlers 2025, RTX 3090 기준)</a:t>
            </a:r>
          </a:p>
          <a:p/>
          <a:p>
            <a:r>
              <a:t>핵심 메시지: 우리 방법이 '더 정확하면서 47배 빠른' 방법입니다.</a:t>
            </a:r>
          </a:p>
          <a:p>
            <a:r>
              <a:t>이제부터 왜 이런 결과가 가능한지, 선행연구와 어떻게 다른지를 차례로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13편의 논문을 정독한 결과를 5가지 접근법으로 분류했습니다.</a:t>
            </a:r>
          </a:p>
          <a:p>
            <a:r>
              <a:t>각 카테고리를 쉽게 설명하겠습니다.</a:t>
            </a:r>
          </a:p>
          <a:p/>
          <a:p>
            <a:r>
              <a:t>(1) 격자 기반 최적화 — 가장 전통적인 방법입니다.</a:t>
            </a:r>
          </a:p>
          <a:p>
            <a:r>
              <a:t>  비유: 바둑판 위에 파도를 그리는 것과 비슷합니다.</a:t>
            </a:r>
          </a:p>
          <a:p>
            <a:r>
              <a:t>  공간을 일정 간격의 격자로 나누고, 각 격자 점에서 파고를 추정합니다.</a:t>
            </a:r>
          </a:p>
          <a:p>
            <a:r>
              <a:t>  '내가 추정한 파도'와 '실제 관측한 점'의 차이를 줄이도록 최적화합니다.</a:t>
            </a:r>
          </a:p>
          <a:p>
            <a:r>
              <a:t>  Desmars 2018/2020/2023이 대표적이고, 우리와 문제 설정이 가장 비슷합니다.</a:t>
            </a:r>
          </a:p>
          <a:p>
            <a:r>
              <a:t>  한계: 격자 간격보다 짧은 파도는 표현할 수 없습니다 (Nyquist 한계).</a:t>
            </a:r>
          </a:p>
          <a:p/>
          <a:p>
            <a:r>
              <a:t>(2) 앙상블 칼만 필터 — 확률론적 방법입니다.</a:t>
            </a:r>
          </a:p>
          <a:p>
            <a:r>
              <a:t>  비유: '300명이 각자 파도를 추측하고, 실제 관측을 보면서 다 함께 고치는' 방식입니다.</a:t>
            </a:r>
          </a:p>
          <a:p>
            <a:r>
              <a:t>  Wang-Pan 2021이 처음 시도, Wang 2025가 최신 변형입니다.</a:t>
            </a:r>
          </a:p>
          <a:p>
            <a:r>
              <a:t>  Yan 2025는 가장 정확한 유체역학(Navier-Stokes)에 이 필터를 적용했습니다.</a:t>
            </a:r>
          </a:p>
          <a:p>
            <a:r>
              <a:t>  물리적으로 가장 정확하지만, 수백 개 시뮬레이션 비용 때문에 느립니다.</a:t>
            </a:r>
          </a:p>
          <a:p/>
          <a:p>
            <a:r>
              <a:t>(3) 지도학습 신경망 — 미리 학습된 인공지능으로 빠르게 추정합니다.</a:t>
            </a:r>
          </a:p>
          <a:p>
            <a:r>
              <a:t>  Ehlers 2023의 FNO가 1.9ms로 가장 빠릅니다.</a:t>
            </a:r>
          </a:p>
          <a:p>
            <a:r>
              <a:t>  하지만 학습 데이터 3120개가 필요하고, 학습하지 않은 환경에서는 성능이 떨어집니다.</a:t>
            </a:r>
          </a:p>
          <a:p/>
          <a:p>
            <a:r>
              <a:t>(4) 물리 기반 비지도 NN — 학습 데이터 없이 물리 법칙만으로 학습합니다.</a:t>
            </a:r>
          </a:p>
          <a:p>
            <a:r>
              <a:t>  Ehlers 2025의 PFT-PINN이 대표적입니다.</a:t>
            </a:r>
          </a:p>
          <a:p>
            <a:r>
              <a:t>  비선형 파도까지 처리할 수 있지만, 한 번 추정에 약 30분이 걸립니다.</a:t>
            </a:r>
          </a:p>
          <a:p/>
          <a:p>
            <a:r>
              <a:t>(5) 연속 파라미터 추정 — 우리 WaveSplat의 접근법입니다.</a:t>
            </a:r>
          </a:p>
          <a:p>
            <a:r>
              <a:t>  격자를 쓰지 않고, 파도 하나하나를 '파수, 주파수, 진폭, 위상'이라는</a:t>
            </a:r>
          </a:p>
          <a:p>
            <a:r>
              <a:t>  물리적 파라미터로 직접 표현합니다.</a:t>
            </a:r>
          </a:p>
          <a:p>
            <a:r>
              <a:t>  핵심 비결: 분산 관계(dispersion relation)라는 물리 법칙을 강제합니다.</a:t>
            </a:r>
          </a:p>
          <a:p>
            <a:r>
              <a:t>  ω = √(g·|k|·tanh(|k|·d)) — 이 관계 덕분에 추정해야 할 변수가 줄어들고,</a:t>
            </a:r>
          </a:p>
          <a:p>
            <a:r>
              <a:t>  50개 관측점만으로도 파도장을 추정할 수 있습니다.</a:t>
            </a:r>
          </a:p>
          <a:p/>
          <a:p>
            <a:r>
              <a:t>다음 슬라이드에서 가장 중요한 선행연구 2편을 자세히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family가 우리의 가장 직접적인 비교 대상입니다.</a:t>
            </a:r>
          </a:p>
          <a:p/>
          <a:p>
            <a:r>
              <a:t>EnKF(앙상블 칼만 필터)를 쉽게 설명하면:</a:t>
            </a:r>
          </a:p>
          <a:p>
            <a:r>
              <a:t>  '시뮬레이션 300개를 동시에 돌리고, 실제 관측을 받을 때마다</a:t>
            </a:r>
          </a:p>
          <a:p>
            <a:r>
              <a:t>   각 시뮬레이션을 확률적으로 보정하는 필터'입니다.</a:t>
            </a:r>
          </a:p>
          <a:p>
            <a:r>
              <a:t>  원래 날씨 예보에서 쓰이던 기법인데, 파도 추정에도 적용된 것입니다.</a:t>
            </a:r>
          </a:p>
          <a:p/>
          <a:p>
            <a:r>
              <a:t>이 family의 발전 과정:</a:t>
            </a:r>
          </a:p>
          <a:p>
            <a:r>
              <a:t>  - Wang &amp; Pan 2021 (JFM 918): EnKF + HOS를 처음 결합</a:t>
            </a:r>
          </a:p>
          <a:p>
            <a:r>
              <a:t>  - Wang &amp; Pan 2022 (JFM 949): 해류(current)까지 동시 추정하도록 확장</a:t>
            </a:r>
          </a:p>
          <a:p>
            <a:r>
              <a:t>  - Wang 2025 (Coastal Eng 197): 앙상블 300개, fuzzy R(노이즈 자동 적응),</a:t>
            </a:r>
          </a:p>
          <a:p>
            <a:r>
              <a:t>    Delaunay 보간(불규칙 관측점 처리)으로 개선</a:t>
            </a:r>
          </a:p>
          <a:p/>
          <a:p>
            <a:r>
              <a:t>우리는 Wang 2025를 코드로 충실하게 재현했습니다:</a:t>
            </a:r>
          </a:p>
          <a:p>
            <a:r>
              <a:t>  - Ne=300, 80x60 격자(dx=3m), fuzzy R, Delaunay, sub-state ETKF</a:t>
            </a:r>
          </a:p>
          <a:p>
            <a:r>
              <a:t>  - 원논문과의 차이: HOS 대신 linear dispersion 사용</a:t>
            </a:r>
          </a:p>
          <a:p>
            <a:r>
              <a:t>    (우리 방법도 linear이므로, 공정한 비교를 위해 같은 물리 모델을 적용)</a:t>
            </a:r>
          </a:p>
          <a:p/>
          <a:p>
            <a:r>
              <a:t>비교 결과:</a:t>
            </a:r>
          </a:p>
          <a:p>
            <a:r>
              <a:t>  - WaveSplat: 0.211 nRMSE / 13ms (더 정확하고 훨씬 빠름)</a:t>
            </a:r>
          </a:p>
          <a:p>
            <a:r>
              <a:t>  - Wang2025: 0.253 nRMSE / 632ms (격자 한계로 0.25 아래로 못 내려감)</a:t>
            </a:r>
          </a:p>
          <a:p/>
          <a:p>
            <a:r>
              <a:t>에피소드별 패턴 (뒤에서 자세히 보여드립니다):</a:t>
            </a:r>
          </a:p>
          <a:p>
            <a:r>
              <a:t>  - 단순한 파도(1~5개 성분): WaveSplat이 압도적으로 우수</a:t>
            </a:r>
          </a:p>
          <a:p>
            <a:r>
              <a:t>    예) BF3_2comp: WaveSplat 0.052 vs Wang 0.250</a:t>
            </a:r>
          </a:p>
          <a:p>
            <a:r>
              <a:t>  - 복잡한 파도(15~30개 성분): Wang2025가 더 나은 경우도 있음</a:t>
            </a:r>
          </a:p>
          <a:p>
            <a:r>
              <a:t>  - 이 trade-off는 정직하게 보고할 예정입니다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art입니다. 이유는 우리와 *근본 철학이 같기* 때문입니다 — training data 없이 physics constraint (dispersion + boundary conditions)을 직접 강제. 다만 구현 방식이 다릅니다.</a:t>
            </a:r>
          </a:p>
          <a:p/>
          <a:p>
            <a:r>
              <a:t>PFT-PINN의 방식:</a:t>
            </a:r>
          </a:p>
          <a:p>
            <a:r>
              <a:t>  - 두 NN을 동시에 학습: η-net (wave 표면) + Φ-net (velocity potential)</a:t>
            </a:r>
          </a:p>
          <a:p>
            <a:r>
              <a:t>  - 손실함수: Laplace 방정식 + 표면 boundary condition + 바닥 condition</a:t>
            </a:r>
          </a:p>
          <a:p>
            <a:r>
              <a:t>  - Auto-differentiation으로 PDE residual 계산 (NN의 강점)</a:t>
            </a:r>
          </a:p>
          <a:p>
            <a:r>
              <a:t>  - Hard-constraint trick — 측정치를 NN architecture에 직접 hard-encode (loss balancing 문제 회피)</a:t>
            </a:r>
          </a:p>
          <a:p/>
          <a:p>
            <a:r>
              <a:t>이게 1D wave flume에서는 잘 작동합니다. 30분 학습 후 SSP &lt; 0.05 정도.</a:t>
            </a:r>
          </a:p>
          <a:p/>
          <a:p>
            <a:r>
              <a:t>한계는:</a:t>
            </a:r>
          </a:p>
          <a:p>
            <a:r>
              <a:t>  - Instance마다 30분 학습 — design-time analysis tool로는 OK, real-time 제어로는 불가</a:t>
            </a:r>
          </a:p>
          <a:p>
            <a:r>
              <a:t>  - 1D + t만 다룸 — 2D directional은 future work</a:t>
            </a:r>
          </a:p>
          <a:p>
            <a:r>
              <a:t>  - Buoy 시계열만 다룸 — sparse spatial LiDAR setup 처리 안 함</a:t>
            </a:r>
          </a:p>
          <a:p/>
          <a:p>
            <a:r>
              <a:t>그러나 결정적인 위협은 *future work*입니다. 같은 그룹이 'real-time speedup via parallelization, pre-training, multi-GPU' 와 '2D + t extension'을 명시했어요. 1-3년 안에 우리 niche를 흡수할 수 있습니다.</a:t>
            </a:r>
          </a:p>
          <a:p/>
          <a:p>
            <a:r>
              <a:t>대응 전략 두 가지:</a:t>
            </a:r>
          </a:p>
          <a:p>
            <a:r>
              <a:t>  1. 우리가 빨리 publish — 시간 우위 확보</a:t>
            </a:r>
          </a:p>
          <a:p>
            <a:r>
              <a:t>  2. 응용 영역 차별화 — PINN은 design-time 분석 도구, 우리는 real-time 제어 component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'각 방법이 어떤 응용에 적합한가'를 한눈에 보여줍니다.</a:t>
            </a:r>
          </a:p>
          <a:p/>
          <a:p>
            <a:r>
              <a:t>표를 읽는 법:</a:t>
            </a:r>
          </a:p>
          <a:p>
            <a:r>
              <a:t>  - 각 행은 '이런 기능이 필요한가?'를 나타냅니다</a:t>
            </a:r>
          </a:p>
          <a:p>
            <a:r>
              <a:t>  - ✓ = 가능, ✗ = 불가능</a:t>
            </a:r>
          </a:p>
          <a:p>
            <a:r>
              <a:t>  - 노란색으로 강조된 열(Ours)이 우리 방법입니다</a:t>
            </a:r>
          </a:p>
          <a:p/>
          <a:p>
            <a:r>
              <a:t>핵심 관찰:</a:t>
            </a:r>
          </a:p>
          <a:p>
            <a:r>
              <a:t>  어떤 방법도 모든 ✓를 받지는 못합니다.</a:t>
            </a:r>
          </a:p>
          <a:p>
            <a:r>
              <a:t>  각 방법은 고유한 강점이 있고, 적합한 응용 영역이 다릅니다.</a:t>
            </a:r>
          </a:p>
          <a:p/>
          <a:p>
            <a:r>
              <a:t>우리의 고유한 위치:</a:t>
            </a:r>
          </a:p>
          <a:p>
            <a:r>
              <a:t>  '실시간 + 2D 방향성 + 희소 LiDAR + 학습 데이터 불필요'</a:t>
            </a:r>
          </a:p>
          <a:p>
            <a:r>
              <a:t>  이 4가지를 동시에 만족하는 방법은 선행연구에 없었습니다.</a:t>
            </a:r>
          </a:p>
          <a:p/>
          <a:p>
            <a:r>
              <a:t>응용 영역을 크게 둘로 나눌 수 있습니다:</a:t>
            </a:r>
          </a:p>
          <a:p>
            <a:r>
              <a:t>  - '실시간 제어' 영역: 우리 WaveSplat, FNO</a:t>
            </a:r>
          </a:p>
          <a:p>
            <a:r>
              <a:t>    즉시 결정을 내려야 하는 상황 (선박 제어, hydrofoil 등)</a:t>
            </a:r>
          </a:p>
          <a:p>
            <a:r>
              <a:t>  - '정밀 분석' 영역: VOF-EnKF, PFT-PINN</a:t>
            </a:r>
          </a:p>
          <a:p>
            <a:r>
              <a:t>    시간은 충분하지만 가장 정확한 분석이 필요한 상황</a:t>
            </a:r>
          </a:p>
          <a:p/>
          <a:p>
            <a:r>
              <a:t>우리는 PFT-PINN이나 VOF-EnKF와 경쟁하는 것이 아닙니다.</a:t>
            </a:r>
          </a:p>
          <a:p>
            <a:r>
              <a:t>서로 다른 영역을 담당하고 있습니다.</a:t>
            </a:r>
          </a:p>
          <a:p>
            <a:r>
              <a:t>직접 비교 대상은 FNO(Ehlers 2023)인데,</a:t>
            </a:r>
          </a:p>
          <a:p>
            <a:r>
              <a:t>FNO는 1D + 지도학습, 우리는 2D + 비지도학습으로 차별화됩니다.</a:t>
            </a:r>
          </a:p>
          <a:p/>
          <a:p>
            <a:r>
              <a:t>정직한 한계도 표에 보입니다:</a:t>
            </a:r>
          </a:p>
          <a:p>
            <a:r>
              <a:t>  - 파도 파쇄(breaking) 처리 못 함 — VOF-EnKF만 가능</a:t>
            </a:r>
          </a:p>
          <a:p>
            <a:r>
              <a:t>  - 유속장 추정 못 함 — PINN/EnKF만 가능</a:t>
            </a:r>
          </a:p>
          <a:p>
            <a:r>
              <a:t>이런 한계는 논문에 정직하게 명시할 예정입니다.</a:t>
            </a:r>
          </a:p>
          <a:p/>
          <a:p>
            <a:r>
              <a:t>다음부터는 우리가 만든 시뮬레이터와 추정기를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WaveSim은 우리가 만든 simulator입니다. 두 부분으로 나뉩니다.</a:t>
            </a:r>
          </a:p>
          <a:p/>
          <a:p>
            <a:r>
              <a:t>(1) 수면 model (physics):</a:t>
            </a:r>
          </a:p>
          <a:p>
            <a:r>
              <a:t>  - Linear Wave Theory — N개 plane wave의 선형 중첩으로 수면 표현</a:t>
            </a:r>
          </a:p>
          <a:p>
            <a:r>
              <a:t>  - Dispersion relation — frequency ω와 wavenumber k의 관계 (깊은 물에서 ω² = g·k·tanh(kd))</a:t>
            </a:r>
          </a:p>
          <a:p>
            <a:r>
              <a:t>  - JONSWAP-2D 스펙트럼 — 실제 바다의 통계적 특성 모방</a:t>
            </a:r>
          </a:p>
          <a:p/>
          <a:p>
            <a:r>
              <a:t>한계는 정직하게 인정합니다 — Klein 2020이 정량 비교한 HOSM &gt; NLSE &gt; LWT 중 우리는 LWT family로 가장 단순. ε (steepness) &lt; 0.07 영역에서만 신뢰 가능.</a:t>
            </a:r>
          </a:p>
          <a:p/>
          <a:p>
            <a:r>
              <a:t>(2) LiDAR sensor model — 이게 우리의 unique contribution:</a:t>
            </a:r>
          </a:p>
          <a:p>
            <a:r>
              <a:t>  - Ray-triangle intersection: LiDAR ray가 mesh와 만나는 점을 계산. Möller-Trumbore 1997 알고리즘 사용 (그래픽 분야 표준)</a:t>
            </a:r>
          </a:p>
          <a:p>
            <a:r>
              <a:t>  - Raydrop: 파도 표면에서 ray가 반사되어 LiDAR에 못 돌아오는 확률. Fresnel reflectance 사용 (specular = 거울 반사, diffuse = 산란)</a:t>
            </a:r>
          </a:p>
          <a:p>
            <a:r>
              <a:t>  - Shadowing: 앞쪽 파도가 뒤쪽 파도를 가림</a:t>
            </a:r>
          </a:p>
          <a:p>
            <a:r>
              <a:t>  - Vessel motion: 선박이 V=11.3 m/s로 움직이므로 매 frame 다른 위치에서 관측</a:t>
            </a:r>
          </a:p>
          <a:p/>
          <a:p>
            <a:r>
              <a:t>12편 prior art 중 이 정도 sensor model을 simulate한 것은 없습니다. 39개 unit test로 simulator 정확성 검증, 100 episode를 합성 dataset으로 생성했습니다.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110 episode의 통제된 benchmark를 구축했습니다.</a:t>
            </a:r>
          </a:p>
          <a:p/>
          <a:p>
            <a:r>
              <a:t>Episode 설계:</a:t>
            </a:r>
          </a:p>
          <a:p>
            <a:r>
              <a:t>  - Sea state: BF2 (아주 잔잔) ~ BF7 (매우 거친) — 6단계 Beaufort scale</a:t>
            </a:r>
          </a:p>
          <a:p>
            <a:r>
              <a:t>  - N_components: 1 ~ 30 — 알고리즘이 component 수에 robust한지 검증</a:t>
            </a:r>
          </a:p>
          <a:p>
            <a:r>
              <a:t>  - Sensor type: uniform (균등 분포), slope (거리 비례 분포)</a:t>
            </a:r>
          </a:p>
          <a:p>
            <a:r>
              <a:t>  - Seeds: BF2-BF5는 seed 0-4 (5개씩), BF6-BF7은 seed 0 (1개씩)</a:t>
            </a:r>
          </a:p>
          <a:p/>
          <a:p>
            <a:r>
              <a:t>Episode당 데이터:</a:t>
            </a:r>
          </a:p>
          <a:p>
            <a:r>
              <a:t>  - 30초 시뮬레이션, 0.1초 간격 → 300 frame</a:t>
            </a:r>
          </a:p>
          <a:p>
            <a:r>
              <a:t>  - Ground-truth η field 50×50 격자 — 평가 시 참값</a:t>
            </a:r>
          </a:p>
          <a:p>
            <a:r>
              <a:t>  - LiDAR scan은 raydrop/shadowing 적용 후 frame당 ~50점</a:t>
            </a:r>
          </a:p>
          <a:p/>
          <a:p>
            <a:r>
              <a:t>전체 110 episode를 HDF5 파일로 저장.</a:t>
            </a:r>
          </a:p>
          <a:p/>
          <a:p>
            <a:r>
              <a:t>Reproducibility 보장:</a:t>
            </a:r>
          </a:p>
          <a:p>
            <a:r>
              <a:t>  - Seed 저장 — 동일 seed로 재실행 시 동일 결과</a:t>
            </a:r>
          </a:p>
          <a:p>
            <a:r>
              <a:t>  - 53 + 55 = 108개 unit test — simulator와 estimator 모두 검증</a:t>
            </a:r>
          </a:p>
          <a:p/>
          <a:p>
            <a:r>
              <a:t>이 dataset 자체가 paper의 contribution 일부입니다. Ehlers 2023도 비슷한 합성 benchmark를 만들었지만 1D였고, 우리는 2D directional + LiDAR sensor model까지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WaveSplat의 탐색 단계 알고리즘입니다. 핵심 아이디어:</a:t>
            </a:r>
          </a:p>
          <a:p/>
          <a:p>
            <a:r>
              <a:t>(1) State 표현 — N개 component × 5 파라미터 = 5N 자유도. Dispersion 관계로 ω가 k에 의해 결정되므로 실제 자유도는 4N. 매우 compact.</a:t>
            </a:r>
          </a:p>
          <a:p/>
          <a:p>
            <a:r>
              <a:t>(2) Two-stage 추정 — 단일 frame에서 (k_x, k_y)는 ill-conditioned (정보 부족). 그래서 init 단계는 multi-frame으로 (k_x, k_y)만 정확히 추정하고, track 단계는 (k_x, k_y) 고정 후 매 frame (ω, A, φ)만 update. 이게 후반부 main framing 'identifiability decomposition'의 motivation입니다.</a:t>
            </a:r>
          </a:p>
          <a:p/>
          <a:p>
            <a:r>
              <a:t>(3) Adaptive N — 처음에는 N을 모르고, episode마다 N이 다를 수 있음.   - Pruning: amplitude 작은 component 제거</a:t>
            </a:r>
          </a:p>
          <a:p>
            <a:r>
              <a:t>  - Growth: residual 크면 새 component 추가</a:t>
            </a:r>
          </a:p>
          <a:p>
            <a:r>
              <a:t>  - Safety rollback: 새 component가 잘못되어 RMSE 폭증하면 원상복구</a:t>
            </a:r>
          </a:p>
          <a:p/>
          <a:p>
            <a:r>
              <a:t>(4) Loss — 측정치-모델 차이 squared error + dispersion penalty. Dispersion은 항상 만족하도록 hard constraint.</a:t>
            </a:r>
          </a:p>
          <a:p/>
          <a:p>
            <a:r>
              <a:t>이 알고리즘이 *왜 작동하는지*에 대한 분석이 다음 슬라이드부터의 main framing입니다.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핵심 결과입니다.</a:t>
            </a:r>
          </a:p>
          <a:p/>
          <a:p>
            <a:r>
              <a:t>먼저 비교 방법을 설명드리겠습니다:</a:t>
            </a:r>
          </a:p>
          <a:p/>
          <a:p>
            <a:r>
              <a:t>① WaveSplat (우리 방법):</a:t>
            </a:r>
          </a:p>
          <a:p>
            <a:r>
              <a:t>  파도를 '파수, 주파수, 진폭, 위상'이라는 물리적 파라미터로 직접 표현합니다.</a:t>
            </a:r>
          </a:p>
          <a:p>
            <a:r>
              <a:t>  격자를 쓰지 않고, 파라미터 자체를 최적화하는 방식입니다.</a:t>
            </a:r>
          </a:p>
          <a:p/>
          <a:p>
            <a:r>
              <a:t>② Wang2025 (비교 대상):</a:t>
            </a:r>
          </a:p>
          <a:p>
            <a:r>
              <a:t>  2025년에 출판된 Wang의 논문(Coastal Engineering 197)을 충실히 재현한 것입니다.</a:t>
            </a:r>
          </a:p>
          <a:p>
            <a:r>
              <a:t>  300개의 시뮬레이션을 동시에 돌리고(앙상블), 80x60 격자 위에서 추정합니다.</a:t>
            </a:r>
          </a:p>
          <a:p>
            <a:r>
              <a:t>  fuzzy R이라는 기법으로 관측 노이즈를 자동 적응시키고,</a:t>
            </a:r>
          </a:p>
          <a:p>
            <a:r>
              <a:t>  Delaunay 보간으로 불규칙한 LiDAR 점을 처리합니다.</a:t>
            </a:r>
          </a:p>
          <a:p>
            <a:r>
              <a:t>  우리가 임의로 만든 baseline이 아니라, 출판된 논문의 충실한 재현입니다.</a:t>
            </a:r>
          </a:p>
          <a:p/>
          <a:p>
            <a:r>
              <a:t>공정성 보장:</a:t>
            </a:r>
          </a:p>
          <a:p>
            <a:r>
              <a:t>  물리 모델을 동일하게 맞췄습니다. Wang2025 원논문은 HOS(비선형)를 쓰지만,</a:t>
            </a:r>
          </a:p>
          <a:p>
            <a:r>
              <a:t>  WaveSplat도 linear이므로, 공정한 비교를 위해 둘 다 linear dispersion을 적용했습니다.</a:t>
            </a:r>
          </a:p>
          <a:p>
            <a:r>
              <a:t>  만약 Wang2025에만 HOS를 쓰면, 물리 모델 차이와 알고리즘 차이가 섞여서</a:t>
            </a:r>
          </a:p>
          <a:p>
            <a:r>
              <a:t>  순수한 알고리즘 비교가 어렵습니다.</a:t>
            </a:r>
          </a:p>
          <a:p/>
          <a:p>
            <a:r>
              <a:t>결과 해석:</a:t>
            </a:r>
          </a:p>
          <a:p>
            <a:r>
              <a:t>  WaveSplat이 평균 nRMSE 0.211로 더 정확하고, 13ms로 47배 빠릅니다.</a:t>
            </a:r>
          </a:p>
          <a:p/>
          <a:p>
            <a:r>
              <a:t>에피소드별 패턴 (매우 중요합니다):</a:t>
            </a:r>
          </a:p>
          <a:p>
            <a:r>
              <a:t>  - 단순한 파도 (1~5개 성분): WaveSplat이 크게 우수합니다.</a:t>
            </a:r>
          </a:p>
          <a:p>
            <a:r>
              <a:t>    예) BF3_2comp: WaveSplat 0.052 vs Wang2025 0.250</a:t>
            </a:r>
          </a:p>
          <a:p>
            <a:r>
              <a:t>    2개 성분만 있으면 거의 완벽하게 추정한다는 뜻입니다.</a:t>
            </a:r>
          </a:p>
          <a:p>
            <a:r>
              <a:t>    격자 방법은 해상도 한계 때문에 이 정확도에 도달할 수 없습니다.</a:t>
            </a:r>
          </a:p>
          <a:p/>
          <a:p>
            <a:r>
              <a:t>  - 복잡한 파도 (15~30개 성분): 역전이 일어납니다.</a:t>
            </a:r>
          </a:p>
          <a:p>
            <a:r>
              <a:t>    BF4_15comp: WaveSplat 0.302 vs Wang2025 0.249</a:t>
            </a:r>
          </a:p>
          <a:p>
            <a:r>
              <a:t>    이유: 격자 방법은 모든 성분을 격자에 한꺼번에 담을 수 있지만,</a:t>
            </a:r>
          </a:p>
          <a:p>
            <a:r>
              <a:t>    WaveSplat은 성분을 하나하나 찾아야 해서 30개는 초기화가 어렵습니다.</a:t>
            </a:r>
          </a:p>
          <a:p>
            <a:r>
              <a:t>    이 한계는 나중에 정직하게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그래프 읽는 법을 먼저 설명드리겠습니다:</a:t>
            </a:r>
          </a:p>
          <a:p>
            <a:r>
              <a:t>  - 가로축: 파도 성분의 수. 바다에는 여러 파도가 동시에 존재합니다.</a:t>
            </a:r>
          </a:p>
          <a:p>
            <a:r>
              <a:t>    1~2개 성분이면 아주 단순한 파도(한두 방향에서 오는 큰 파도),</a:t>
            </a:r>
          </a:p>
          <a:p>
            <a:r>
              <a:t>    15~30개면 매우 복잡한 파도(다양한 방향과 주기의 파도가 뒤섞인 상태)입니다.</a:t>
            </a:r>
          </a:p>
          <a:p>
            <a:r>
              <a:t>  - 세로축: nRMSE(오차). 낮을수록 정확합니다.</a:t>
            </a:r>
          </a:p>
          <a:p>
            <a:r>
              <a:t>  - 파란 동그라미: WaveSplat (우리 방법)</a:t>
            </a:r>
          </a:p>
          <a:p>
            <a:r>
              <a:t>  - 빨간 네모: Wang2025</a:t>
            </a:r>
          </a:p>
          <a:p/>
          <a:p>
            <a:r>
              <a:t>핵심 패턴 1 — WaveSplat의 강점:</a:t>
            </a:r>
          </a:p>
          <a:p>
            <a:r>
              <a:t>  파란 점이 왼쪽(단순한 파도)에서 매우 낮습니다.</a:t>
            </a:r>
          </a:p>
          <a:p>
            <a:r>
              <a:t>  BF3_2comp에서 0.052 = 오차가 5%밖에 안 됩니다.</a:t>
            </a:r>
          </a:p>
          <a:p>
            <a:r>
              <a:t>  왜 가능한가? 2개 성분이면 파라미터 10개만 추정하면 되고,</a:t>
            </a:r>
          </a:p>
          <a:p>
            <a:r>
              <a:t>  50개 관측점이면 충분히 잘 맞출 수 있기 때문입니다.</a:t>
            </a:r>
          </a:p>
          <a:p>
            <a:r>
              <a:t>  격자 방법은 성분이 적어도 격자 해상도 한계가 있어서 이 정확도에 도달하기 어렵습니다.</a:t>
            </a:r>
          </a:p>
          <a:p/>
          <a:p>
            <a:r>
              <a:t>핵심 패턴 2 — Wang2025의 특성:</a:t>
            </a:r>
          </a:p>
          <a:p>
            <a:r>
              <a:t>  빨간 점이 복잡도에 관계없이 약 0.25 주변에 모여 있습니다.</a:t>
            </a:r>
          </a:p>
          <a:p>
            <a:r>
              <a:t>  이것은 격자(NxN grid)의 해상도 한계 때문입니다.</a:t>
            </a:r>
          </a:p>
          <a:p>
            <a:r>
              <a:t>  격자가 고정되어 있어서, 성분이 적든 많든 비슷한 정확도를 보여줍니다.</a:t>
            </a:r>
          </a:p>
          <a:p/>
          <a:p>
            <a:r>
              <a:t>핵심 패턴 3 — 역전 지점:</a:t>
            </a:r>
          </a:p>
          <a:p>
            <a:r>
              <a:t>  15개 이상의 성분에서는 파란 점이 빨간 점보다 위로 갑니다.</a:t>
            </a:r>
          </a:p>
          <a:p>
            <a:r>
              <a:t>  WaveSplat은 성분을 하나하나 찾아야 하는데, 30개를 정확히 초기화하기가 어렵습니다.</a:t>
            </a:r>
          </a:p>
          <a:p>
            <a:r>
              <a:t>  반면 격자 방법은 모든 성분을 격자에 한꺼번에 담을 수 있어서 이런 문제가 없습니다.</a:t>
            </a:r>
          </a:p>
          <a:p/>
          <a:p>
            <a:r>
              <a:t>정리: WaveSplat은 '소수 성분을 정밀하게 추정'하는 데 특화되어 있고,</a:t>
            </a:r>
          </a:p>
          <a:p>
            <a:r>
              <a:t>격자 방법은 '다수 성분을 균일하게 추정'하는 데 강합니다.</a:t>
            </a:r>
          </a:p>
          <a:p>
            <a:r>
              <a:t>이 trade-off를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Ablation study(절제 연구)가 무엇인지부터 설명드리겠습니다.</a:t>
            </a:r>
          </a:p>
          <a:p/>
          <a:p>
            <a:r>
              <a:t>Ablation이란?</a:t>
            </a:r>
          </a:p>
          <a:p>
            <a:r>
              <a:t>  우리 시스템에는 여러 기술이 들어 있습니다.</a:t>
            </a:r>
          </a:p>
          <a:p>
            <a:r>
              <a:t>  이 기술들을 하나씩 빼 보면서, 빠진 기술이 실제로 도움이 되는지 확인합니다.</a:t>
            </a:r>
          </a:p>
          <a:p>
            <a:r>
              <a:t>  비유하면: 레시피에서 재료를 하나씩 빼 보면서 맛이 어떻게 변하는지 보는 것입니다.</a:t>
            </a:r>
          </a:p>
          <a:p>
            <a:r>
              <a:t>  의학에서 '절제(ablation)'라는 용어에서 왔습니다.</a:t>
            </a:r>
          </a:p>
          <a:p/>
          <a:p>
            <a:r>
              <a:t>왜 ablation이 필요한가?</a:t>
            </a:r>
          </a:p>
          <a:p>
            <a:r>
              <a:t>  여러 기술을 한꺼번에 넣으면 '전체 결과'는 보이지만,</a:t>
            </a:r>
          </a:p>
          <a:p>
            <a:r>
              <a:t>  '어떤 기술이 실제로 효과가 있는지'는 알 수 없습니다.</a:t>
            </a:r>
          </a:p>
          <a:p>
            <a:r>
              <a:t>  예를 들어 결과가 좋아도, 실은 한 가지 기술만 효과가 있고</a:t>
            </a:r>
          </a:p>
          <a:p>
            <a:r>
              <a:t>  나머지는 아무 도움이 안 될 수도 있습니다.</a:t>
            </a:r>
          </a:p>
          <a:p>
            <a:r>
              <a:t>  논문 심사에서 '각 기술의 기여도를 증명하라'는 요구가 반드시 나옵니다.</a:t>
            </a:r>
          </a:p>
          <a:p/>
          <a:p>
            <a:r>
              <a:t>4가지 변형의 의미:</a:t>
            </a:r>
          </a:p>
          <a:p>
            <a:r>
              <a:t>  A: 가장 기본적인 방법. FFT로 초기 파수를 추정하고, 주파수(omega)를 자유롭게 둠.</a:t>
            </a:r>
          </a:p>
          <a:p>
            <a:r>
              <a:t>     단일 프레임(한 순간의 LiDAR 점)만 사용.</a:t>
            </a:r>
          </a:p>
          <a:p>
            <a:r>
              <a:t>  B: beamforming이라는 더 좋은 초기화 + 여러 프레임(시간 정보 활용).</a:t>
            </a:r>
          </a:p>
          <a:p>
            <a:r>
              <a:t>     주파수는 여전히 자유.</a:t>
            </a:r>
          </a:p>
          <a:p>
            <a:r>
              <a:t>  C: beamforming + 물리 법칙(분산 관계) 강제. 하지만 단일 프레임만 사용.</a:t>
            </a:r>
          </a:p>
          <a:p>
            <a:r>
              <a:t>  D (WaveSplat): 모든 기술 결합 — beamforming + 물리 법칙 + multi-frame.</a:t>
            </a:r>
          </a:p>
          <a:p/>
          <a:p>
            <a:r>
              <a:t>결과 해석:</a:t>
            </a:r>
          </a:p>
          <a:p>
            <a:r>
              <a:t>  - A→B: 0.213 → 0.208 — multi-frame이 도움됨 (시간 정보 활용)</a:t>
            </a:r>
          </a:p>
          <a:p>
            <a:r>
              <a:t>  - A→C: 0.213 → 0.226 — 물리 법칙만 넣으면 오히려 악화!</a:t>
            </a:r>
          </a:p>
          <a:p>
            <a:r>
              <a:t>    이유: 단일 프레임에서 초기 파수 추정이 부정확하면,</a:t>
            </a:r>
          </a:p>
          <a:p>
            <a:r>
              <a:t>    물리 법칙이 그 오류를 주파수로 전파시킵니다.</a:t>
            </a:r>
          </a:p>
          <a:p>
            <a:r>
              <a:t>  - D (모두 결합): 0.211 — 가장 안정적인 결과</a:t>
            </a:r>
          </a:p>
          <a:p>
            <a:r>
              <a:t>    물리 법칙과 multi-frame을 함께 써야 시너지가 발생합니다.</a:t>
            </a:r>
          </a:p>
          <a:p/>
          <a:p>
            <a:r>
              <a:t>에피소드별 상세:</a:t>
            </a:r>
          </a:p>
          <a:p>
            <a:r>
              <a:t>  - 단순 파도에서는 D가 A보다 최대 42% 더 좋음 (물리 법칙 효과)</a:t>
            </a:r>
          </a:p>
          <a:p>
            <a:r>
              <a:t>  - 복잡 파도에서는 A가 D보다 더 좋은 경우도 있음 (자유도 높아서 fitting 유리)</a:t>
            </a:r>
          </a:p>
          <a:p>
            <a:r>
              <a:t>  - 하지만 D의 해가 물리적으로 더 의미 있는 해입니다.</a:t>
            </a:r>
          </a:p>
          <a:p/>
          <a:p>
            <a:r>
              <a:t>핵심 메시지:</a:t>
            </a:r>
          </a:p>
          <a:p>
            <a:r>
              <a:t>  '물리 법칙(dispersion)은 마법이 아니라 정규화(regularizer) 역할을 한다.'</a:t>
            </a:r>
          </a:p>
          <a:p>
            <a:r>
              <a:t>  쉽게 말하면, 물리 법칙이 '물리적으로 가능한 답만 찾도록' 범위를 좁혀주는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</a:t>
            </a:r>
          </a:p>
          <a:p/>
          <a:p>
            <a:r>
              <a:t>처음에 'super-resolution(초해상도)'이라는 멋진 표현을 쓰려 했지만,</a:t>
            </a:r>
          </a:p>
          <a:p>
            <a:r>
              <a:t>정확히 말하면 '물리적 정규화(physical regularization)'가 맞습니다.</a:t>
            </a:r>
          </a:p>
          <a:p/>
          <a:p>
            <a:r>
              <a:t>메커니즘 1을 쉽게 설명하면:</a:t>
            </a:r>
          </a:p>
          <a:p>
            <a:r>
              <a:t>  분산 관계란 '파도의 주파수와 파수 사이의 물리 법칙'입니다.</a:t>
            </a:r>
          </a:p>
          <a:p>
            <a:r>
              <a:t>  깊은 바다에서 짧은 파도(큰 k)는 느리고, 긴 파도(작은 k)는 빠릅니다.</a:t>
            </a:r>
          </a:p>
          <a:p>
            <a:r>
              <a:t>  이 관계를 알고 있으면, 파수(k)를 알면 주파수(ω)를 계산할 수 있습니다.</a:t>
            </a:r>
          </a:p>
          <a:p>
            <a:r>
              <a:t>  결과적으로 추정해야 할 변수가 5N개에서 4N개로 20% 줄어듭니다.</a:t>
            </a:r>
          </a:p>
          <a:p>
            <a:r>
              <a:t>  게다가, 물리적으로 불가능한 답(예: 짧은 파도인데 빠른 주파수)이 자동으로 배제됩니다.</a:t>
            </a:r>
          </a:p>
          <a:p/>
          <a:p>
            <a:r>
              <a:t>메커니즘 2를 쉽게 설명하면:</a:t>
            </a:r>
          </a:p>
          <a:p>
            <a:r>
              <a:t>  한 순간(단일 프레임)의 LiDAR 점만으로는 파도의 방향을 정확히 알기 어렵습니다.</a:t>
            </a:r>
          </a:p>
          <a:p>
            <a:r>
              <a:t>  하지만 선박이 이동하면서 여러 순간의 데이터를 모으면,</a:t>
            </a:r>
          </a:p>
          <a:p>
            <a:r>
              <a:t>  마치 긴 안테나를 만든 것처럼 방향 분해능이 좋아집니다.</a:t>
            </a:r>
          </a:p>
          <a:p>
            <a:r>
              <a:t>  이것을 'synthetic aperture(합성 개구)'라고 부릅니다.</a:t>
            </a:r>
          </a:p>
          <a:p>
            <a:r>
              <a:t>  레이더 분야의 SAR(Synthetic Aperture Radar)과 같은 원리입니다.</a:t>
            </a:r>
          </a:p>
          <a:p/>
          <a:p>
            <a:r>
              <a:t>Ablation에서 핵심 발견:</a:t>
            </a:r>
          </a:p>
          <a:p>
            <a:r>
              <a:t>  물리 법칙과 multi-frame은 각각 단독으로는 불완전합니다.</a:t>
            </a:r>
          </a:p>
          <a:p>
            <a:r>
              <a:t>  물리 법칙만 쓰면(C): 초기 파수 추정이 틀렸을 때, 그 오류가 주파수로 전파됩니다.</a:t>
            </a:r>
          </a:p>
          <a:p>
            <a:r>
              <a:t>  multi-frame만 쓰면(B): 개선되지만 물리적 제약 없이 자유도가 너무 높아 불안정합니다.</a:t>
            </a:r>
          </a:p>
          <a:p>
            <a:r>
              <a:t>  둘을 함께 쓰면(D): 시너지가 발생합니다.</a:t>
            </a:r>
          </a:p>
          <a:p>
            <a:r>
              <a:t>  — multi-frame으로 파수를 잘 추정하고,</a:t>
            </a:r>
          </a:p>
          <a:p>
            <a:r>
              <a:t>  — 물리 법칙으로 물리적으로 가능한 해만 탐색하고,</a:t>
            </a:r>
          </a:p>
          <a:p>
            <a:r>
              <a:t>  — 결과적으로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'왜 2단계 설계가 자연스러운가'를 설명합니다.</a:t>
            </a:r>
          </a:p>
          <a:p/>
          <a:p>
            <a:r>
              <a:t>핵심 관찰을 쉽게 설명하겠습니다:</a:t>
            </a:r>
          </a:p>
          <a:p/>
          <a:p>
            <a:r>
              <a:t>  파수(k)란 '파도의 공간적 패턴'입니다.</a:t>
            </a:r>
          </a:p>
          <a:p>
            <a:r>
              <a:t>  한 순간의 LiDAR 스캔(50개 점)만으로는 이 패턴을 정확히 파악하기 어렵습니다.</a:t>
            </a:r>
          </a:p>
          <a:p>
            <a:r>
              <a:t>  왜냐하면 50개 점이 커버하는 영역(5~8m)이 파도 파장(50~300m)보다 훨씬 짧기 때문입니다.</a:t>
            </a:r>
          </a:p>
          <a:p>
            <a:r>
              <a:t>  하지만 선박이 이동하면서 여러 순간의 데이터를 모으면,</a:t>
            </a:r>
          </a:p>
          <a:p>
            <a:r>
              <a:t>  관측 영역이 효과적으로 넓어져서 파수를 정확히 추정할 수 있습니다.</a:t>
            </a:r>
          </a:p>
          <a:p/>
          <a:p>
            <a:r>
              <a:t>  반면 진폭(A)이나 위상(φ)은 한 순간의 데이터로도 충분합니다.</a:t>
            </a:r>
          </a:p>
          <a:p>
            <a:r>
              <a:t>  파도의 '크기'와 '현재 위치'는 한 순간만 봐도 알 수 있기 때문입니다.</a:t>
            </a:r>
          </a:p>
          <a:p/>
          <a:p>
            <a:r>
              <a:t>그래서 자연스럽게 2단계로 나뉩니다:</a:t>
            </a:r>
          </a:p>
          <a:p>
            <a:r>
              <a:t>  (1) 초기화(Init): 여러 프레임을 모아서 파수 k를 정확히 결정합니다.</a:t>
            </a:r>
          </a:p>
          <a:p>
            <a:r>
              <a:t>      이 단계는 한 번만 하면 되고, 1초 이내에 끝납니다.</a:t>
            </a:r>
          </a:p>
          <a:p>
            <a:r>
              <a:t>  (2) 추적(Track): 파수를 고정하고, 매 프레임마다 진폭·위상만 업데이트합니다.</a:t>
            </a:r>
          </a:p>
          <a:p>
            <a:r>
              <a:t>      이 단계는 13ms 이내에 끝나서 실시간으로 작동합니다.</a:t>
            </a:r>
          </a:p>
          <a:p/>
          <a:p>
            <a:r>
              <a:t>비유하면: 라디오 주파수 맞추기와 비슷합니다.</a:t>
            </a:r>
          </a:p>
          <a:p>
            <a:r>
              <a:t>  - 처음에 주파수(채널)를 찾는 건 시간이 좀 걸리지만 (= Init)</a:t>
            </a:r>
          </a:p>
          <a:p>
            <a:r>
              <a:t>  - 일단 찾으면 볼륨만 조절하면 됩니다 (= Track)</a:t>
            </a:r>
          </a:p>
          <a:p/>
          <a:p>
            <a:r>
              <a:t>Adaptive N은 '파도 성분의 수를 자동으로 조정'하는 기능입니다:</a:t>
            </a:r>
          </a:p>
          <a:p>
            <a:r>
              <a:t>  - 너무 작은 성분은 제거 (pruning)</a:t>
            </a:r>
          </a:p>
          <a:p>
            <a:r>
              <a:t>  - 오차가 크면 새 성분 추가 (growth)</a:t>
            </a:r>
          </a:p>
          <a:p>
            <a:r>
              <a:t>  - 추가했더니 오히려 나빠지면 원래 상태로 복원 (safety rollback)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한계를 정직하게 공유하는 시간입니다.</a:t>
            </a:r>
          </a:p>
          <a:p>
            <a:r>
              <a:t>연구의 신뢰도를 높이려면, 잘 되는 점뿐 아니라 한계도 먼저 인정해야 합니다.</a:t>
            </a:r>
          </a:p>
          <a:p/>
          <a:p>
            <a:r>
              <a:t>(1) 선형 근사 — 가장 근본적인 한계입니다.</a:t>
            </a:r>
          </a:p>
          <a:p>
            <a:r>
              <a:t>  쉽게 말하면, 우리는 파도를 '사인파의 합'으로 표현합니다.</a:t>
            </a:r>
          </a:p>
          <a:p>
            <a:r>
              <a:t>  실제 바다 파도는 사인파보다 복잡합니다.</a:t>
            </a:r>
          </a:p>
          <a:p>
            <a:r>
              <a:t>  (꼭대기가 뾰족하고, 골이 넓고, 높은 파도일수록 비대칭적입니다.)</a:t>
            </a:r>
          </a:p>
          <a:p>
            <a:r>
              <a:t>  하지만 적당한 파고까지는 이 근사가 충분히 잘 맞습니다.</a:t>
            </a:r>
          </a:p>
          <a:p/>
          <a:p>
            <a:r>
              <a:t>  Klein 2020이라는 논문에서 4가지 파도 모델을 정량 비교했는데:</a:t>
            </a:r>
          </a:p>
          <a:p>
            <a:r>
              <a:t>    HOSM &gt; NLSE2 &gt; NLSE &gt; LWT (정확도 순)</a:t>
            </a:r>
          </a:p>
          <a:p>
            <a:r>
              <a:t>  우리는 LWT(Linear Wave Theory) family로 가장 단순합니다.</a:t>
            </a:r>
          </a:p>
          <a:p>
            <a:r>
              <a:t>  ε(epsilon, 파도의 가파름 정도)이 0.07 이하일 때 신뢰할 수 있고,</a:t>
            </a:r>
          </a:p>
          <a:p>
            <a:r>
              <a:t>  BF6(풍력 6, 상당히 거친 바다)까지는 이 조건을 만족합니다.</a:t>
            </a:r>
          </a:p>
          <a:p>
            <a:r>
              <a:t>  향후 Stokes 2차 보정을 추가하면 적용 범위를 더 넓힐 수 있습니다.</a:t>
            </a:r>
          </a:p>
          <a:p/>
          <a:p>
            <a:r>
              <a:t>(2) 복잡한 파도에서의 역전 — 이번 비교 실험에서 발견된 한계입니다.</a:t>
            </a:r>
          </a:p>
          <a:p>
            <a:r>
              <a:t>  파도 성분이 15~30개로 많아지면, 격자 방법(Wang2025)이 더 나아집니다.</a:t>
            </a:r>
          </a:p>
          <a:p>
            <a:r>
              <a:t>  이유를 쉽게 설명하면:</a:t>
            </a:r>
          </a:p>
          <a:p>
            <a:r>
              <a:t>    격자 방법: 바둑판처럼 모든 성분을 한꺼번에 담을 수 있습니다.</a:t>
            </a:r>
          </a:p>
          <a:p>
            <a:r>
              <a:t>    WaveSplat: 성분을 하나하나 찾아야 합니다. 30개를 정확히 찾기는 어렵습니다.</a:t>
            </a:r>
          </a:p>
          <a:p>
            <a:r>
              <a:t>  대응: 격자로 대략적인 성분을 먼저 찾고, 그걸 파라미터 초기값으로 정밀화하는</a:t>
            </a:r>
          </a:p>
          <a:p>
            <a:r>
              <a:t>  '2단계 초기화(hybrid init)'를 연구할 예정입니다.</a:t>
            </a:r>
          </a:p>
          <a:p/>
          <a:p>
            <a:r>
              <a:t>(3) 파도 파쇄와 유속장 — 우리 방법의 적용 범위 밖입니다.</a:t>
            </a:r>
          </a:p>
          <a:p>
            <a:r>
              <a:t>  파도가 깨지는 현상(breaking)이나 수중 유속(velocity field)은</a:t>
            </a:r>
          </a:p>
          <a:p>
            <a:r>
              <a:t>  비선형 시뮬레이션(VOF-EnKF, PFT-PINN) 같은 방법만 처리할 수 있습니다.</a:t>
            </a:r>
          </a:p>
          <a:p>
            <a:r>
              <a:t>  하지만 이들은 30분~수시간이 걸려서 실시간 제어에는 쓸 수 없습니다.</a:t>
            </a:r>
          </a:p>
          <a:p>
            <a:r>
              <a:t>  결론: 우리 방법과 비선형 방법은 서로 다른 응용 영역을 담당합니다.</a:t>
            </a:r>
          </a:p>
          <a:p>
            <a:r>
              <a:t>  (우리 = 실시간 제어, 그들 = 정밀 분석)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연구 방향을 3가지로 정리했습니다.</a:t>
            </a:r>
          </a:p>
          <a:p/>
          <a:p>
            <a:r>
              <a:t>(1) 고복잡도 파도 대응:</a:t>
            </a:r>
          </a:p>
          <a:p>
            <a:r>
              <a:t>  지금까지의 실험에서, 파도 성분이 15개 이상이면 정확도가 떨어지는 것을 확인했습니다.</a:t>
            </a:r>
          </a:p>
          <a:p>
            <a:r>
              <a:t>  원인은 beamforming 초기화가 많은 성분을 동시에 분리하기 어렵기 때문입니다.</a:t>
            </a:r>
          </a:p>
          <a:p>
            <a:r>
              <a:t>  해결 방향 1: hybrid init — 먼저 격자(grid) 방법으로 대략적인 성분을 찾고,</a:t>
            </a:r>
          </a:p>
          <a:p>
            <a:r>
              <a:t>    그 결과를 파라미터 초기값으로 사용하여 정밀하게 최적화합니다.</a:t>
            </a:r>
          </a:p>
          <a:p>
            <a:r>
              <a:t>  해결 방향 2: learned init — 신경망(NN)을 활용하여</a:t>
            </a:r>
          </a:p>
          <a:p>
            <a:r>
              <a:t>    LiDAR 점으로부터 초기 파도 성분을 바로 추정합니다.</a:t>
            </a:r>
          </a:p>
          <a:p>
            <a:r>
              <a:t>  기대 효과: 현재 고복잡도에서의 역전 현상을 해소할 수 있습니다.</a:t>
            </a:r>
          </a:p>
          <a:p/>
          <a:p>
            <a:r>
              <a:t>(2) 비선형 파도 확장:</a:t>
            </a:r>
          </a:p>
          <a:p>
            <a:r>
              <a:t>  현재는 파도를 사인파의 합(Linear Wave Theory)으로 표현합니다.</a:t>
            </a:r>
          </a:p>
          <a:p>
            <a:r>
              <a:t>  실제 파도는 비선형적이어서(꼭대기가 뾰족, 골이 넓음),</a:t>
            </a:r>
          </a:p>
          <a:p>
            <a:r>
              <a:t>  높은 파도에서는 정확도가 떨어집니다.</a:t>
            </a:r>
          </a:p>
          <a:p>
            <a:r>
              <a:t>  Stokes 2차 보정을 추가하면, 파도의 비대칭성을 일부 반영할 수 있습니다.</a:t>
            </a:r>
          </a:p>
          <a:p>
            <a:r>
              <a:t>  Klein 2020 논문에 따르면, 이 보정으로 적용 범위가 크게 넓어집니다.</a:t>
            </a:r>
          </a:p>
          <a:p/>
          <a:p>
            <a:r>
              <a:t>(3) 실측 데이터 검증:</a:t>
            </a:r>
          </a:p>
          <a:p>
            <a:r>
              <a:t>  현재까지의 결과는 모두 시뮬레이터(합성 데이터)에서 나온 것입니다.</a:t>
            </a:r>
          </a:p>
          <a:p>
            <a:r>
              <a:t>  실제 바다에서 실제 LiDAR로 측정한 데이터로 검증해야 합니다.</a:t>
            </a:r>
          </a:p>
          <a:p>
            <a:r>
              <a:t>  가장 큰 도전은 'ground-truth(정답)'를 어떻게 확보하느냐입니다.</a:t>
            </a:r>
          </a:p>
          <a:p>
            <a:r>
              <a:t>  Wave buoy(파고계)나 X-band radar로 동시 측정하는 방법을 고려하고 있습니다.</a:t>
            </a:r>
          </a:p>
          <a:p/>
          <a:p>
            <a:r>
              <a:t>최종 목표:</a:t>
            </a:r>
          </a:p>
          <a:p>
            <a:r>
              <a:t>  선박에 탑재된 LiDAR로 주변 파도를 실시간(13ms 이내)으로 추정하고,</a:t>
            </a:r>
          </a:p>
          <a:p>
            <a:r>
              <a:t>  이 정보를 활용하여 선박 제어(hydrofoil ride control, 자율운항 등)에</a:t>
            </a:r>
          </a:p>
          <a:p>
            <a:r>
              <a:t>  직접 활용할 수 있는 시스템을 만드는 것입니다.</a:t>
            </a:r>
          </a:p>
          <a:p/>
          <a:p>
            <a:r>
              <a:t>이상으로 발표를 마치겠습니다. 질문이나 피드백을 환영합니다.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2018 OMAE 상세:</a:t>
            </a:r>
          </a:p>
          <a:p/>
          <a:p>
            <a:r>
              <a:t>이 논문은 선박에 scanning LIDAR를 장착하여 파도를 측정하고, 그 데이터를 역변환(inversion)하여 phase-resolved 파도장을 재구성하는 개념을 처음 제안했습니다.</a:t>
            </a:r>
          </a:p>
          <a:p/>
          <a:p>
            <a:r>
              <a:t>ICWM (Improved Choppy Wave Model)은 선형파 이론(LWT)에 1차 비선형 보정을 추가한 모델로, Lagrangian 좌표계에서 파도면 변위를 기술합니다. 기존 LWT보다 가파른 파도를 더 잘 표현합니다.</a:t>
            </a:r>
          </a:p>
          <a:p/>
          <a:p>
            <a:r>
              <a:t>방법론: k-space를 미리 정의된 격자로 이산화하고, 각 격자점의 spectral coefficient를 variational optimization으로 추정합니다. 관측된 파도면 높이와 모델 예측의 차이(mismatch)를 cost function으로 정의하고 이를 최소화합니다.</a:t>
            </a:r>
          </a:p>
          <a:p/>
          <a:p>
            <a:r>
              <a:t>한계: (1) 1D만 처리 (종방향 단면), (2) 격자 해상도가 정확도의 상한을 결정, (3) 실험 검증 없이 HOS synthetic data로만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2020 Ocean Engineering 상세:</a:t>
            </a:r>
          </a:p>
          <a:p/>
          <a:p>
            <a:r>
              <a:t>이전 Desmars 2018이 simulator에서만 검증했다면, 이 논문은 실제 wave tank에서 phase-resolved 파도 추정의 정확도를 검증한 첫 논문입니다.</a:t>
            </a:r>
          </a:p>
          <a:p/>
          <a:p>
            <a:r>
              <a:t>7개의 wave gauge를 일렬로 배치하여 해수면 높이를 동시 측정합니다. gauge 간의 위상차를 분석하여 각 주파수 성분의 파수(k)를 추정하고, dispersion relation을 사용하여 보정합니다.</a:t>
            </a:r>
          </a:p>
          <a:p/>
          <a:p>
            <a:r>
              <a:t>dispersion correction: 측정된 k와 이론적 k(ω)의 차이를 보정하는 후처리. 이를 통해 propagation 예측의 정확도가 크게 개선됩니다.</a:t>
            </a:r>
          </a:p>
          <a:p/>
          <a:p>
            <a:r>
              <a:t>실험 결과 SSP(Surface Similarity Parameter) 기준 0.05~0.15 정도의 정확도를 달성했으며, gauge 수가 많을수록 정확도가 향상됨을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Klein 2020 Fluids 상세:</a:t>
            </a:r>
          </a:p>
          <a:p/>
          <a:p>
            <a:r>
              <a:t>이 논문은 파도 물리 모델 4종을 동일 조건에서 비교한 benchmark study입니다.</a:t>
            </a:r>
          </a:p>
          <a:p/>
          <a:p>
            <a:r>
              <a:t>4가지 모델:</a:t>
            </a:r>
          </a:p>
          <a:p>
            <a:r>
              <a:t>1. LWT (Linear Wave Theory): 가장 단순, 선형 중첩</a:t>
            </a:r>
          </a:p>
          <a:p>
            <a:r>
              <a:t>2. NLSE (Nonlinear Schrödinger Equation): 좁은 bandwidth 비선형 효과</a:t>
            </a:r>
          </a:p>
          <a:p>
            <a:r>
              <a:t>3. NLSE₂: NLSE의 2차 확장</a:t>
            </a:r>
          </a:p>
          <a:p>
            <a:r>
              <a:t>4. HOSM (High-Order Spectral Method): 가장 정확, M차 비선형</a:t>
            </a:r>
          </a:p>
          <a:p/>
          <a:p>
            <a:r>
              <a:t>SSP (Surface Similarity Parameter) 정의:</a:t>
            </a:r>
          </a:p>
          <a:p>
            <a:r>
              <a:t>  두 파도면의 Fourier 스펙트럼 차이를 정규화한 것. SSP=0이면 완벽 일치, SSP=1이면 완전 불일치.</a:t>
            </a:r>
          </a:p>
          <a:p>
            <a:r>
              <a:t>  위상, 진폭, 주파수 오류를 모두 포함하는 종합 지표.</a:t>
            </a:r>
          </a:p>
          <a:p/>
          <a:p>
            <a:r>
              <a:t>핵심 발견: LWT는 wave steepness ε &lt; 0.07에서만 SSP &lt; 0.1을 달성합니다.</a:t>
            </a:r>
          </a:p>
          <a:p>
            <a:r>
              <a:t>이는 선형파 이론의 operational envelope을 정량적으로 규명한 중요한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Hunt et al. 2007 Tellus A 상세:</a:t>
            </a:r>
          </a:p>
          <a:p/>
          <a:p>
            <a:r>
              <a:t>LETKF는 Data Assimilation의 핵심 알고리즘 중 하나입니다.</a:t>
            </a:r>
          </a:p>
          <a:p/>
          <a:p>
            <a:r>
              <a:t>기본 아이디어:</a:t>
            </a:r>
          </a:p>
          <a:p>
            <a:r>
              <a:t>1. Ne개의 앙상블 멤버로 상태공간의 불확실성을 표현</a:t>
            </a:r>
          </a:p>
          <a:p>
            <a:r>
              <a:t>2. 관측이 들어오면, 관측 주변의 local domain에서만 분석(analysis) 수행</a:t>
            </a:r>
          </a:p>
          <a:p>
            <a:r>
              <a:t>3. 앙상블 멤버를 관측 공간으로 변환(transform)하여 update weights 계산</a:t>
            </a:r>
          </a:p>
          <a:p>
            <a:r>
              <a:t>4. 새로운 앙상블 = 배경 앙상블 + weighted correction</a:t>
            </a:r>
          </a:p>
          <a:p/>
          <a:p>
            <a:r>
              <a:t>localization이 중요한 이유:</a:t>
            </a:r>
          </a:p>
          <a:p>
            <a:r>
              <a:t>  앙상블 크기가 유한하면, 멀리 떨어진 격자점 간에 물리적으로 무의미한 상관관계(spurious correlation)가   나타납니다. local domain으로 제한하면 이를 방지할 수 있습니다.</a:t>
            </a:r>
          </a:p>
          <a:p/>
          <a:p>
            <a:r>
              <a:t>이 알고리즘이 파도 추정에 적용된 사례: Wang &amp; Pan 2022/2025 (EnKF-HOS), Yan et al. 2025 (VOF-EnKF) 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 et al. 2013 IEEE TIT 상세:</a:t>
            </a:r>
          </a:p>
          <a:p/>
          <a:p>
            <a:r>
              <a:t>기존 compressed sensing (CS)의 한계:</a:t>
            </a:r>
          </a:p>
          <a:p>
            <a:r>
              <a:t>  CS는 신호가 '어떤 basis 위에서 sparse'하다고 가정합니다.</a:t>
            </a:r>
          </a:p>
          <a:p>
            <a:r>
              <a:t>  하지만 실제 주파수는 격자점 위에 정확히 놓이지 않습니다 (basis mismatch).</a:t>
            </a:r>
          </a:p>
          <a:p>
            <a:r>
              <a:t>  격자를 세밀하게 만들면 계산 비용이 폭증하고, coherence 조건이 악화됩니다.</a:t>
            </a:r>
          </a:p>
          <a:p/>
          <a:p>
            <a:r>
              <a:t>atomic norm의 아이디어:</a:t>
            </a:r>
          </a:p>
          <a:p>
            <a:r>
              <a:t>  ℓ₁ norm은 '이산 벡터의 sparsity'를 측정합니다.</a:t>
            </a:r>
          </a:p>
          <a:p>
            <a:r>
              <a:t>  atomic norm은 '연속 원자(atom) 집합 위의 sparsity'를 측정합니다.</a:t>
            </a:r>
          </a:p>
          <a:p>
            <a:r>
              <a:t>  파도 문제에서 atom = 특정 주파수의 sinusoid입니다.</a:t>
            </a:r>
          </a:p>
          <a:p/>
          <a:p>
            <a:r>
              <a:t>이론적 보장: K개의 주파수 성분이 최소 간격 조건을 만족하면,</a:t>
            </a:r>
          </a:p>
          <a:p>
            <a:r>
              <a:t>M = O(K log K) 개의 무작위 관측만으로 exact recovery가 가능합니다.</a:t>
            </a:r>
          </a:p>
          <a:p/>
          <a:p>
            <a:r>
              <a:t>한계: 2D 이상으로 확장하면 SDP 크기가 급격히 커지며, real-time 적용에는 속도가 부족합니다.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Möller-Trumbore 1997 상세:</a:t>
            </a:r>
          </a:p>
          <a:p/>
          <a:p>
            <a:r>
              <a:t>ray-triangle intersection은 ray tracing의 가장 기본적인 연산입니다.</a:t>
            </a:r>
          </a:p>
          <a:p/>
          <a:p>
            <a:r>
              <a:t>알고리즘 핵심:</a:t>
            </a:r>
          </a:p>
          <a:p>
            <a:r>
              <a:t>1. ray를 O + tD (원점 + t × 방향)로 표현</a:t>
            </a:r>
          </a:p>
          <a:p>
            <a:r>
              <a:t>2. triangle을 barycentric coordinates (u, v)로 표현</a:t>
            </a:r>
          </a:p>
          <a:p>
            <a:r>
              <a:t>3. 연립방정식을 Cramér's rule로 풀어 t, u, v를 한번에 계산</a:t>
            </a:r>
          </a:p>
          <a:p>
            <a:r>
              <a:t>4. early rejection: determinant이 0에 가까우면 평행, u나 v가 범위 밖이면 빗나감</a:t>
            </a:r>
          </a:p>
          <a:p/>
          <a:p>
            <a:r>
              <a:t>이 알고리즘이 중요한 이유:</a:t>
            </a:r>
          </a:p>
          <a:p>
            <a:r>
              <a:t>  전처리(pre-stored edge 등)가 불필요하여 메모리 효율적이고,</a:t>
            </a:r>
          </a:p>
          <a:p>
            <a:r>
              <a:t>  branch 조건이 적어 SIMD/GPU에서도 효율적입니다.</a:t>
            </a:r>
          </a:p>
          <a:p>
            <a:r>
              <a:t>  1997년 이후 거의 모든 ray tracing 구현에서 사용됩니다.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PFT-PINN 상세:</a:t>
            </a:r>
          </a:p>
          <a:p/>
          <a:p>
            <a:r>
              <a:t>PINN (Physics-Informed Neural Network):</a:t>
            </a:r>
          </a:p>
          <a:p>
            <a:r>
              <a:t>  일반적인 NN은 데이터로부터 학습하지만, PINN은 물리 법칙(PDE)을 loss function에 포함합니다.</a:t>
            </a:r>
          </a:p>
          <a:p>
            <a:r>
              <a:t>  따라서 학습 데이터가 적거나 없어도 물리적으로 일관된 해를 찾을 수 있습니다.</a:t>
            </a:r>
          </a:p>
          <a:p/>
          <a:p>
            <a:r>
              <a:t>2개의 병렬 네트워크:</a:t>
            </a:r>
          </a:p>
          <a:p>
            <a:r>
              <a:t>  η-net: (x, t) → η(x,t) 표면 높이</a:t>
            </a:r>
          </a:p>
          <a:p>
            <a:r>
              <a:t>  Φ-net: (x, z, t) → Φ(x,z,t) 속도 포텐셜</a:t>
            </a:r>
          </a:p>
          <a:p/>
          <a:p>
            <a:r>
              <a:t>5개의 물리 loss term:</a:t>
            </a:r>
          </a:p>
          <a:p>
            <a:r>
              <a:t>  1. Laplace: ∇²Φ = 0 (비압축성 유체)</a:t>
            </a:r>
          </a:p>
          <a:p>
            <a:r>
              <a:t>  2. KFSBC (Kinematic Free Surface BC): ∂η/∂t = ∂Φ/∂z - ∂η/∂x · ∂Φ/∂x at z=η</a:t>
            </a:r>
          </a:p>
          <a:p>
            <a:r>
              <a:t>  3. DFSBC (Dynamic Free Surface BC): ∂Φ/∂t + gη + ½|∇Φ|² = 0 at z=η</a:t>
            </a:r>
          </a:p>
          <a:p>
            <a:r>
              <a:t>  4. Bottom BC: ∂Φ/∂z = 0 at z=-d</a:t>
            </a:r>
          </a:p>
          <a:p>
            <a:r>
              <a:t>  5. Data fidelity: radar 관측과 예측의 차이</a:t>
            </a:r>
          </a:p>
          <a:p/>
          <a:p>
            <a:r>
              <a:t>ReLoBRaLo (Relative Loss Balancing with Random Lookback):</a:t>
            </a:r>
          </a:p>
          <a:p>
            <a:r>
              <a:t>  각 loss term의 gradient magnitude를 추적하여 가중치를 동적으로 조절합니다.</a:t>
            </a:r>
          </a:p>
          <a:p>
            <a:r>
              <a:t>  gradient가 작은 term에 더 큰 가중치를 줘서 균형을 맞춥니다.</a:t>
            </a:r>
          </a:p>
          <a:p/>
          <a:p>
            <a:r>
              <a:t>핵심 한계: 30분 소요는 근본적으로 PINN의 per-instance optimization 때문입니다.</a:t>
            </a:r>
          </a:p>
          <a:p>
            <a:r>
              <a:t>매 관측마다 수만 번의 gradient descent를 수행해야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2023 JFM 975 상세:</a:t>
            </a:r>
          </a:p>
          <a:p/>
          <a:p>
            <a:r>
              <a:t>OCM (Observation-Conditioned Model) 3단계:</a:t>
            </a:r>
          </a:p>
          <a:p/>
          <a:p>
            <a:r>
              <a:t>1단계 — spectral decomposition:</a:t>
            </a:r>
          </a:p>
          <a:p>
            <a:r>
              <a:t>  관측된 파도면 높이를 미리 정의된 k-grid 위의 Fourier 계수로 분해합니다.</a:t>
            </a:r>
          </a:p>
          <a:p>
            <a:r>
              <a:t>  k-grid의 범위와 해상도가 추정 가능한 파도 성분의 범위를 결정합니다.</a:t>
            </a:r>
          </a:p>
          <a:p/>
          <a:p>
            <a:r>
              <a:t>2단계 — assimilation window:</a:t>
            </a:r>
          </a:p>
          <a:p>
            <a:r>
              <a:t>  단일 시점이 아닌 여러 시점(T_a 동안)의 관측을 모아서 cost function을 구성합니다.</a:t>
            </a:r>
          </a:p>
          <a:p>
            <a:r>
              <a:t>  시간 정보를 활용하여 주파수 분해능을 높이는 효과가 있습니다.</a:t>
            </a:r>
          </a:p>
          <a:p>
            <a:r>
              <a:t>  T_a가 길면 더 정확하지만, 초기화 지연이 커집니다.</a:t>
            </a:r>
          </a:p>
          <a:p/>
          <a:p>
            <a:r>
              <a:t>3단계 — HOS propagation:</a:t>
            </a:r>
          </a:p>
          <a:p>
            <a:r>
              <a:t>  추정된 초기 스펙트럼으로 HOS (High-Order Spectral Method)를 돌려서</a:t>
            </a:r>
          </a:p>
          <a:p>
            <a:r>
              <a:t>  관측 영역 바깥의 미래 파도를 예측합니다.</a:t>
            </a:r>
          </a:p>
          <a:p>
            <a:r>
              <a:t>  M=3이면 3차까지의 비선형 파도-파도 상호작용을 포함합니다.</a:t>
            </a:r>
          </a:p>
          <a:p/>
          <a:p>
            <a:r>
              <a:t>wave model 비교: M=1(선형), M=2(2차), M=3(3차)을 비교하여</a:t>
            </a:r>
          </a:p>
          <a:p>
            <a:r>
              <a:t>높은 차수가 실질적으로 정확도를 개선하는 조건을 분석했습니다.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2023 Ocean Engineering 상세:</a:t>
            </a:r>
          </a:p>
          <a:p/>
          <a:p>
            <a:r>
              <a:t>FNO (Fourier Neural Operator)의 핵심 아이디어:</a:t>
            </a:r>
          </a:p>
          <a:p>
            <a:r>
              <a:t>  CNN은 공간 영역에서 local convolution을 수행하지만,</a:t>
            </a:r>
          </a:p>
          <a:p>
            <a:r>
              <a:t>  FNO는 Fourier 영역에서 global convolution을 수행합니다.</a:t>
            </a:r>
          </a:p>
          <a:p>
            <a:r>
              <a:t>  각 Fourier layer: v_{j+1} = σ(F⁻¹(R_j · F(v_j)) + W_j · v_j)</a:t>
            </a:r>
          </a:p>
          <a:p>
            <a:r>
              <a:t>  R_j는 Fourier 계수를 스케일링하는 학습 가능한 행렬입니다.</a:t>
            </a:r>
          </a:p>
          <a:p/>
          <a:p>
            <a:r>
              <a:t>U-Net vs FNO 비교:</a:t>
            </a:r>
          </a:p>
          <a:p>
            <a:r>
              <a:t>  U-Net: kernel size s_k=5로 local 정보를 처리 → shadowed area에서 정보 부족</a:t>
            </a:r>
          </a:p>
          <a:p>
            <a:r>
              <a:t>  FNO: Fourier 변환으로 전체 domain의 global 정보를 활용 → shadowed area도 보간 가능</a:t>
            </a:r>
          </a:p>
          <a:p/>
          <a:p>
            <a:r>
              <a:t>radar shadowing 문제:</a:t>
            </a:r>
          </a:p>
          <a:p>
            <a:r>
              <a:t>  X-band radar는 높은 파도가 뒤의 낮은 영역을 가리는 shadowing이 발생합니다.</a:t>
            </a:r>
          </a:p>
          <a:p>
            <a:r>
              <a:t>  ε=0.01이면 ~9%, ε=0.10이면 ~70%가 shadowed area입니다.</a:t>
            </a:r>
          </a:p>
          <a:p>
            <a:r>
              <a:t>  FNO는 이 shadowed area를 U-Net보다 더 균일하게 재구성합니다.</a:t>
            </a:r>
          </a:p>
          <a:p/>
          <a:p>
            <a:r>
              <a:t>속도: FNO 1.9ms (custom implementation) vs U-Net 37ms (PyTorch standard).</a:t>
            </a:r>
          </a:p>
          <a:p>
            <a:r>
              <a:t>RTX 3050 Ti Laptop GPU 기준. FNO가 20배 빠른 이유는 Fourier layer의 병렬성 때문입니다.</a:t>
            </a:r>
          </a:p>
          <a:p/>
          <a:p>
            <a:r>
              <a:t>정확도: 전체 평균 nL2 기준으로는 U-Net(0.123)이 FNO(0.153)보다 약간 우수하지만,</a:t>
            </a:r>
          </a:p>
          <a:p>
            <a:r>
              <a:t>shadowed/visible area 간 균일성에서는 FNO가 우수합니다.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Yan et al. 2025 arXiv 상세:</a:t>
            </a:r>
          </a:p>
          <a:p/>
          <a:p>
            <a:r>
              <a:t>VOF (Volume of Fluid):</a:t>
            </a:r>
          </a:p>
          <a:p>
            <a:r>
              <a:t>  각 격자 셀에 'fluid fraction' α ∈ [0,1]을 저장합니다.</a:t>
            </a:r>
          </a:p>
          <a:p>
            <a:r>
              <a:t>  α=1이면 물, α=0이면 공기, 0&lt;α&lt;1이면 자유 표면입니다.</a:t>
            </a:r>
          </a:p>
          <a:p>
            <a:r>
              <a:t>  Navier-Stokes 방정식을 풀면서 α의 시간 변화를 추적합니다.</a:t>
            </a:r>
          </a:p>
          <a:p>
            <a:r>
              <a:t>  이 방법은 파도가 부서지거나 합쳐지는 등 topology 변화를 자연스럽게 처리합니다.</a:t>
            </a:r>
          </a:p>
          <a:p/>
          <a:p>
            <a:r>
              <a:t>EnKF 적용 방법:</a:t>
            </a:r>
          </a:p>
          <a:p>
            <a:r>
              <a:t>  50개 앙상블 멤버 = 50개의 독립적인 OpenFOAM 시뮬레이션.</a:t>
            </a:r>
          </a:p>
          <a:p>
            <a:r>
              <a:t>  각 멤버는 약간 다른 초기/경계 조건으로 시작합니다.</a:t>
            </a:r>
          </a:p>
          <a:p>
            <a:r>
              <a:t>  관측(wave gauge 등)이 들어오면 EnKF가 50개 멤버의 상태(α, u, v, p)를 update합니다.</a:t>
            </a:r>
          </a:p>
          <a:p/>
          <a:p>
            <a:r>
              <a:t>POD (Proper Orthogonal Decomposition):</a:t>
            </a:r>
          </a:p>
          <a:p>
            <a:r>
              <a:t>  VOF field는 수만 개의 격자 셀로 구성되어 직접 EnKF를 적용하면 차원이 너무 높습니다.</a:t>
            </a:r>
          </a:p>
          <a:p>
            <a:r>
              <a:t>  POD로 주요 모드(패턴) 몇 개만 추출하여 저차원 공간에서 update합니다.</a:t>
            </a:r>
          </a:p>
          <a:p/>
          <a:p>
            <a:r>
              <a:t>핵심 성과: plunging breaker — 파도의 꼭대기가 앞으로 넘어가며 부서지는 현상.</a:t>
            </a:r>
          </a:p>
          <a:p>
            <a:r>
              <a:t>이를 DA로 재구성한 것은 이 논문이 최초입니다.</a:t>
            </a:r>
          </a:p>
          <a:p/>
          <a:p>
            <a:r>
              <a:t>근본적 한계: 50개 CFD 시뮬레이션을 병렬로 돌려야 하므로</a:t>
            </a:r>
          </a:p>
          <a:p>
            <a:r>
              <a:t>HPC 자원이 필수적이고, real-time은 원리적으로 불가능합니다.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Wang &amp; Pan 2025 Coastal Engineering 197 상세:</a:t>
            </a:r>
          </a:p>
          <a:p/>
          <a:p>
            <a:r>
              <a:t>핵심 알고리즘 구조:</a:t>
            </a:r>
          </a:p>
          <a:p>
            <a:r>
              <a:t>1. Forecast: 현재 앙상블의 spectral coefficients를 HOS로 다음 시간까지 propagation</a:t>
            </a:r>
          </a:p>
          <a:p>
            <a:r>
              <a:t>2. Analysis: 새 관측이 들어오면 ETKF로 앙상블 update</a:t>
            </a:r>
          </a:p>
          <a:p/>
          <a:p>
            <a:r>
              <a:t>Fuzzy R (관측 오차 적응):</a:t>
            </a:r>
          </a:p>
          <a:p>
            <a:r>
              <a:t>  기존 EnKF는 관측 오차 R을 고정값으로 설정합니다.</a:t>
            </a:r>
          </a:p>
          <a:p>
            <a:r>
              <a:t>  Wang은 앙상블의 spread(분산)에 따라 R을 동적으로 조절합니다.</a:t>
            </a:r>
          </a:p>
          <a:p>
            <a:r>
              <a:t>  앙상블이 관측과 크게 어긋나면 R을 키워서(관측을 덜 신뢰) filter divergence를 방지합니다.</a:t>
            </a:r>
          </a:p>
          <a:p/>
          <a:p>
            <a:r>
              <a:t>Sub-state ETKF:</a:t>
            </a:r>
          </a:p>
          <a:p>
            <a:r>
              <a:t>  전체 상태 [η, ∂η/∂t]를 한꺼번에 update하면 cross-correlation이 noisy합니다.</a:t>
            </a:r>
          </a:p>
          <a:p>
            <a:r>
              <a:t>  η만 먼저 update하고, ∂η/∂t는 물리 관계를 통해 간접 update합니다.</a:t>
            </a:r>
          </a:p>
          <a:p/>
          <a:p>
            <a:r>
              <a:t>Delaunay interpolation:</a:t>
            </a:r>
          </a:p>
          <a:p>
            <a:r>
              <a:t>  stereo camera의 관측점은 불규칙하게 분포합니다.</a:t>
            </a:r>
          </a:p>
          <a:p>
            <a:r>
              <a:t>  Delaunay 삼각분할 → 격자점으로 보간하여 ETKF에 입력합니다.</a:t>
            </a:r>
          </a:p>
          <a:p/>
          <a:p>
            <a:r>
              <a:t>계산 비용: Ne=300, 80x60 grid일 때 각 time step에서</a:t>
            </a:r>
          </a:p>
          <a:p>
            <a:r>
              <a:t>300개 FFT propagation + ETKF analysis = ~632ms/frame (CPU).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접근법에는 고유한 강점과 한계가 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 (정독)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 최적화
(공간을 격자로 나누고
차이를 최소화)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 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성숙한 이론
실험 검증됨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해상도 한계
1D 위주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 칼만 필터
(수백 개 시뮬레이션을
동시에 돌려 보정)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높은 물리 충실도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실시간 불가
(앙상블 비용)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 신경망
(데이터로 미리 학습한
NN으로 빠르게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(FNO)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매우 빠름 (1.9 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필요
1D, 일반화 한계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 비지도 NN
(학습 데이터 없이
물리 법칙으로 학습)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(PFT-PINN)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불필요
비선형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~30 분/instance
1D 위주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 추정 (Ours)
(격자 없이 파도 성분의
물리 파라미터를 직접 최적화)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실시간 + 2D
+ LiDAR 센서 모델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선형 근사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007ACC"/>
                </a:solidFill>
                <a:latin typeface="Calibri"/>
              </a:defRPr>
            </a:pPr>
            <a:r>
              <a:t>핵심: 실시간(100ms 이내) + 2D 방향성 + 희소 LiDAR + 비지도학습을 모두 만족하는 선행연구는 없었습니다. 우리 WaveSplat이 이 조합을 처음 시도합니다.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칼만 필터(EnKF) + 파도 시뮬레이터(HOS) 첫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쉽게 말해: 300개의 시뮬레이션을 동시에 돌리고, 관측값으로 보정하는 방식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날씨 예보에서 출발한 기법이 파도 추정에 쓰이게 된 것입니다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우리가 원논문 방법을 충실히 재현하여 12개 에피소드에서 비교했습니다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nRMSE가 ~0.25 아래로 내려가지 않음 (격자 밖 파수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Ne=300개 시뮬레이션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ms/frame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(실시간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 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13ms  vs  Wang2025 0.253 / 632ms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(GPU 없이, CPU만으로도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우리가 만든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physics + LiDAR sensor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선형 중첩 + 분산 + JONSWAP 스펙트럼, 그리고 LiDAR raydrop 물리까지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 (수면 모델)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η(x, y, t) = Σ_n A_n cos(k_xn·x + k_yn·y − ω_n·t + φ_n)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N개 plane wave의 선형 중첩 (Linear Wave Theory, LWT)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Dispersion relation (분산 관계, 깊은 물)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ω_n = √(g·|k_n|·tanh(|k_n|·d))   — 주파수와 wavenumber의 1-to-1 매핑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Spectrum</a:t>
            </a:r>
            <a:r>
              <a:rPr sz="1200" b="0">
                <a:solidFill>
                  <a:srgbClr val="1A1A2E"/>
                </a:solidFill>
                <a:latin typeface="Calibri"/>
              </a:rPr>
              <a:t>: JONSWAP-2D (Hasselmann 1973 + 방향 spreading), N_components 가변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sensor model</a:t>
            </a:r>
            <a:r>
              <a:rPr sz="1200" b="0">
                <a:solidFill>
                  <a:srgbClr val="1A1A2E"/>
                </a:solidFill>
                <a:latin typeface="Calibri"/>
              </a:rPr>
              <a:t> (이 부분이 우리의 unique contribution):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Ray-triangle intersection (Möller-Trumbore 1997, 검증된 알고리즘)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Raydrop probability — Fresnel reflectance (specular vs diffuse 선택)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Geometric shadowing — 가까운 파도가 먼 파도를 가림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Vessel motion + ego-velocity correction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: 108 unit test 통과, 110 episode 합성 dataset 생성</a:t>
            </a:r>
          </a:p>
        </p:txBody>
      </p:sp>
      <p:pic>
        <p:nvPicPr>
          <p:cNvPr id="6" name="Picture 5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730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합성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110 episode — 통제된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재현 가능, 다양한 복잡도, ground-truth η + LiDAR 점 모두 보존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Episode 변수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Sea state: BF2–BF7 (6단계 Beaufort scale, 잔잔 → 매우 거친)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N_components: 1, 2, 5, 15, 20, 30 (저/중/고 복잡도)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Sensor type: uniform / slope (LiDAR scan 분포)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Seeds: 0–4 (BF2–5), 0 (BF6–7) — 재현성 보장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Episode당 데이터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T = 30 s, Δt = 0.1 s → 300 frames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Ground-truth η field: 50×50 격자 (참값으로 평가용)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scan: ~50 valid pts/frame (raydrop 후)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HDF5 format, 110 files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Test coverage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</a:t>
            </a:r>
            <a:r>
              <a:rPr sz="1300" b="0">
                <a:solidFill>
                  <a:srgbClr val="1A1A2E"/>
                </a:solidFill>
                <a:latin typeface="Calibri"/>
              </a:rPr>
              <a:t>53 unit test (wavesim/) + 55 (wavesplat/) = </a:t>
            </a:r>
            <a:r>
              <a:rPr sz="1300" b="1">
                <a:solidFill>
                  <a:srgbClr val="1A1A2E"/>
                </a:solidFill>
                <a:latin typeface="Calibri"/>
              </a:rPr>
              <a:t>108 total, 모두 통과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simulator + estimator의 정확성 보증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6250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parametric off-grid estimator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5N 파라미터 (k_x, k_y, ω, A, φ) × N개 component를 직접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State 표현</a:t>
            </a:r>
            <a:r>
              <a:rPr sz="1200" b="0">
                <a:solidFill>
                  <a:srgbClr val="1A1A2E"/>
                </a:solidFill>
                <a:latin typeface="Calibri"/>
              </a:rPr>
              <a:t>: N개 component × {A_n, k_xn, k_yn, ω_n, φ_n}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 적용 후: ω_n = √(g·|k_n|·tanh(|k_n|·d))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자유도 감소: 5N → 4N (ω가 k에 의해 결정됨)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Two-stage estimation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 (이게 후반부 main framing의 motivation):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Init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다중 frame: 2-stage beamforming으로 (k_x, k_y)만 추정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Track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매 frame: (k_x, k_y) 고정, (ω, A, φ)만 Adam으로 update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Adaptive N (component 수 동적 조정)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Energy-based pruning — 작은 amplitude component 제거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Residual-triggered growth — 잔여 오차 크면 새 component 추가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Safety rollback — RMSE &gt; 130%면 이전 상태로 복귀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Loss</a:t>
            </a:r>
            <a:r>
              <a:rPr sz="1200" b="0">
                <a:solidFill>
                  <a:srgbClr val="1A1A2E"/>
                </a:solidFill>
                <a:latin typeface="Calibri"/>
              </a:rPr>
              <a:t>: ‖η_LiDAR − η_model(θ)‖² + λ·(dispersion penalty)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Dispersion은 hard constraint로 강제 (LWT family 가정)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618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2018 (OMAE) — LIDAR + ICWM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scanning LIDAR로 파도면 측정 → phase-resolved 파도장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Improved Choppy Wave Model (ICWM = LWT + 1차 nonlinear 보정)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predefined k-grid 위에서 variational cost function 최소화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관측-모델 mismatch를 최소화하는 spectral coefficients 탐색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합성 데이터 (HOS simulator) 에서 개념 검증 성공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LIDAR + variational wave inversion 개념을 최초 제안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이후 Desmars 2020, 2023으로 이어지는 연구 시리즈의 출발점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종방향만 처리, 격자 기반 (해상도 한계), simulator 검증만 (실측 없음)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A2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2020 (Ocean Eng 212) — Wave tank 실험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phase-resolved 파도 추정의 첫 실험실 검증 (wave tank)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 gauge array (7개 gauge, 간격 ~0.5m) 로 표면 높이 측정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spectral decomposition + dispersion correction 후처리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gauge 간 위상차를 이용하여 파수(k) 추정 → 분산관계로 보정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SSP ≈ 0.05~0.15 (sea state 의존), gauge 수 증가 → 정확도 향상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simulator가 아닌 실제 wave tank에서 검증한 최초 사례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 correction이 accuracy 개선에 효과적임을 실증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종방향, wave gauge ≠ LiDAR (다른 sensor modality)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고정 설치 sensor (선박 탑재 아님), 실해역 검증 아님 (wave tank 제한)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A3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Klein 2020 (Fluids 5(1), 9) — 파도 모델 4종 정량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4개 wave model의 정확도를 wave tank에서 정량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LWT (선형파), NLSE (비선형 Schrödinger), NLSE₂ (2차 NLSE), HOSM (High-Order Spectral)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초기 조건 고정 → 각 모델로 propagation → wave gauge 관측과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SSP (Surface Similarity Parameter) 를 표준 정량 지표로 사용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정확도 순서 HOSM &gt; NLSE₂ &gt; NLSE &gt; LWT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LWT는 ε &lt; 0.07 (wave steepness) 에서만 SSP &lt; 0.1 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HOSM은 ε = 0.10 이상에서도 높은 정확도 유지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SSP metric을 wave reconstruction 분야에서 표준화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각 모델의 유효 범위(operational envelope)를 정량적으로 규명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wave tank 실험만, 2D 방향성 파도 미고려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reconstruction 자체가 아닌 propagation model 비교에 국한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A4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Hunt et al. 2007 (Tellus A 59) — LETKF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Local Ensemble Transform Kalman Filter 제안 — 대규모 DA의 핵심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앙상블 멤버를 local subspace로 변환(transform) 후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 주변 local domain에서만 분석 → 고차원 상태공간 처리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배경 오차 공분산을 앙상블로부터 추정 (명시적 공분산 행렬 불필요)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기상학 Lorenz-96 모델에서 기존 EnKF 대비 안정적 성능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localization으로 spurious correlation 제거 → 수렴 안정성 확보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EnKF의 localization 문제를 체계적으로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이후 기상, 해양, CFD 등 다양한 DA 분야의 기반 알고리즘이 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앙상블 크기(Ne)에 따라 계산 비용 선형 증가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비선형성이 강한 시스템에서는 Gaussian 가정이 깨질 수 있음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A5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Tang et al. 2013 (IEEE TIT) — Atomic Norm Compressed Sensing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격자 없이(off-grid) 연속 파라미터 공간에서 sparse signal recovery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atomic norm minimization via Semidefinite Programming (SDP)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atoms = continuous sinusoids, atomic norm = ℓ₁의 연속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Vandermonde decomposition으로 SDP를 효율적으로 풀 수 있음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M = O(K log K) 관측으로 K개 주파수 성분의 exact recovery 보장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격자 기반 CS 대비 basis mismatch 문제 완전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off-grid compressed sensing의 이론적 토대 확립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spectral super-resolution의 수학적 보장 최초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주파수 추정에 한정, 2D 확장은 NP-hard에 가까움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SDP solver 계산 비용이 커서 real-time 적용 어려움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A6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Möller-Trumbore 1997 (JGT) — Ray-Triangle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3D ray와 triangle의 교차점을 계산하는 고속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barycentric coordinates를 직접 계산 (Cramér's rule)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ray: O + tD,  triangle: V₀, V₁, V₂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교차 조건: O + tD = (1-u-v)V₀ + uV₁ + vV₂  →  [−D, E₁, E₂][t,u,v] = 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t &gt; 0, u ≥ 0, v ≥ 0, u+v ≤ 1 이면 교차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기존 방법 대비 ~20% 빠른 연산 (전처리 불필요)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컴퓨터 그래픽스의 de facto standard ray-triangle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GPU ray tracing, physics simulation 등 광범위하게 사용됨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단일 삼각형 기준이므로, 대규모 mesh에는 BVH 등 가속 구조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A7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2025 (Ocean Eng) — PFT-PINN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Physics-Informed NN으로 radar 데이터에서 파도면 + velocity potential 동시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2개 병렬 NN — η-net(표면 높이), Φ-net(속도 포텐셜)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Loss = data fidelity + Laplace(∇²Φ=0) + KFSBC + DFSBC + bottom BC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ReLoBRaLo: 각 loss term의 gradient magnitude에 따라 가중치 자동 조절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 = 관측 데이터 1개에 대해 수만 iteration Adam optimization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nL2 ≈ 0.08~0.15 (1D, 합성 radar 데이터 기준)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U-Net/FNO 대비 shadowed area 재구성 quality 우수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30분 소요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 기준) — supervised ML의 ms 단위와 대조적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PINN으로 wave reconstruction을 푼 최초 시도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unsupervised (학습 데이터 불필요) + 물리 법칙 hard constraint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파도 물리 5개 경계조건을 loss로 직접 반영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1D만 처리, ~30분 소요 (real-time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각 관측마다 처음부터 학습해야 함 (transfer 불가)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A8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2023 (JFM 975) — HOS-OCM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센서(LIDAR/카메라)로 1D 파도장 추정 + HOS 기반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Observation-Conditioned Model (OCM) — 3단계 파이프라인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① spectral decomposition: 관측을 predefined k-grid 위의 계수로 분해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② assimilation window: 여러 시간 프레임의 관측을 cost function으로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③ HOS propagation: 추정된 초기 조건으로 비선형 파도 예측 수행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model: M=1 (linear) ~ M=3 (3차 비선형) 까지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M=3 HOS에서 SSP ≈ 0.03~0.10 (합성 데이터, sea state 의존)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 영역 밖 수백m까지 예측 가능 (HOS propagation 덕분)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기반 센서 + phase-resolved 추정 + 비선형 예측을 일관된 프레임워크로 통합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assimilation window 길이의 trade-off 분석 (길면 정확 but 초기화 지연)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종방향만, predefined k-grid (해상도 한계)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sensor model 없음 (raydrop, shadowing, 빔 확산 등 미고려)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실해역 검증 없음 (HOS synthetic data로만 검증)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A9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2023 (Ocean Eng) — FNO for Wave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Fourier Neural Operator로 X-band radar 이미지에서 파도면 재구성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supervised learning — HOS synthetic radar → wave surface 매핑 학습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FNO 구조: Fourier layer 3개 (spectral domain에서 global convolution)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U-Net과 비교: local (CNN) vs global (Fourier) inductive bias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입력: n_s개 연속 radar snapshot (n_r=512 grid points × n_s channels)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학습: N_train=2496, N_test=624, Adam optimizer, 800 epochs, RTX 3050 Ti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FNO M_{F,9} (9 snapshots) — nL2=0.153, SSP=0.077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 M_{U,10} (10 snapshots) — nL2=0.123, SSP=0.061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Inference: FNO 1.9ms vs U-Net 37ms</a:t>
            </a:r>
            <a:r>
              <a:rPr sz="1200" b="0">
                <a:solidFill>
                  <a:srgbClr val="1A1A2E"/>
                </a:solidFill>
                <a:latin typeface="Calibri"/>
              </a:rPr>
              <a:t> (20배 빠름)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FNO가 shadowed area 재구성에서 더 균일한 품질 (nL2_shad/nL2_vis 비율 낮음)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FNO의 global inductive bias가 radar shadowing 처리에 유리함을 입증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1.9ms inference로 real-time wave reconstruction 가능성 제시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supervised (3120 sample 학습 필요), 1D만 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 분포 밖의 sea state에서 distribution shift 위험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black-box — 추정 결과의 물리적 해석 불가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A10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Yan et al. 2025 (arXiv) — VOF-EnKF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Navier-Stokes(VOF) + EnKF로 wave breaking까지 포함한 파도장 동화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Volume of Fluid (VOF) — OpenFOAM 기반 2상 유체 시뮬레이션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50개 앙상블 멤버 각각이 독립적 OpenFOAM CFD 시뮬레이션 실행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관측이 들어오면 EnKF로 50개 멤버의 VOF field + velocity field 동시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POD (Proper Orthogonal Decomposition) 로 고차원 상태를 저차원으로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plunging breaker (쇄파) 재구성 성공 — 물리 최고 난이도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파도가 부서지는 과정의 공간 분포를 정확하게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비선형 효과가 강한 영역에서 기존 방법(LWT 기반) 대비 큰 우위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 breaking이라는 극한 비선형 현상의 DA를 최초 시도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VOF + EnKF 조합으로 자유 표면의 topology 변화(breaking)까지 처리 가능함을 증명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offline only — 50개 OpenFOAM × 수백 time step = 수시간~수일 소요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1D xz-plane만 처리 (2D 수평면 불가), real-time 적용 근본적으로 불가능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POD mode 수 선택에 따라 결과 민감도 존재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A11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2025 (Coastal Eng 197) — EnKF-HOS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stereo camera 관측 기반 2D 파도장 실시간 추정 + HOS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Ensemble Kalman Filter + HOS (High-Order Spectral) propagation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상태 변수: NxN spectral grid 위의 η(x,y) + ∂η/∂t (sub-state 분리)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Ne=300 앙상블 멤버, spectral propagation으로 forecast step 수행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Fuzzy R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 오차 공분산을 앙상블 spread 기반으로 자동 적응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Delaunay interpolation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불규칙 관측점을 격자로 매핑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Sub-state localization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η와 ∂η/∂t를 분리 update하여 안정성 확보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stereo camera 실험에서 SSP ≈ 0.05~0.15 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3분 prediction horizon까지 유효한 파도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2D 방향성 파도의 실시간 추정을 stereo camera로 구현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fuzzy R + sub-state ETKF 조합으로 EnKF의 filter divergence 문제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 → 계산 비용 높음 (격자 크기에 의존)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격자 해상도가 추정 정확도의 상한을 결정 (sub-grid scale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stereo camera 전제 (수천 관측점) — sparse sensor에서는 미검증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