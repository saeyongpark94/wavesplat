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발표는 두 부분으로 나뉩니다.</a:t>
            </a:r>
          </a:p>
          <a:p/>
          <a:p>
            <a:r>
              <a:t>[앞 절반] 우리가 지난 6개월 동안 진행한 *exploration phase*의 결과를 정리합니다. 구체적으로 (1) 이 분야 prior art 12편을 정독한 결과, (2) 우리가 만든 simulator(WaveSim)와 estimator(WaveSplat)이 어떻게 작동하는지를 설명드립니다.</a:t>
            </a:r>
          </a:p>
          <a:p/>
          <a:p>
            <a:r>
              <a:t>[뒤 절반] 그 과정에서 발견한 본질적 mechanism을 보여드립니다. 선박이 움직이면서 발생하는 효과(synthetic aperture)와 파도의 분산 관계(dispersion physics)가 어떻게 결합해서 LiDAR의 공간 해상도 한계를 우회하는지 — 이것을 우리 paper의 main contribution으로 격상시키려는 plan입니다.</a:t>
            </a:r>
          </a:p>
          <a:p/>
          <a:p>
            <a:r>
              <a:t>외부 청자분들이 계셔서 도메인 background부터 천천히 시작하겠습니다. 전공 용어가 처음 나오면 옆에 짧게 설명을 붙였으니 부담 없이 들으시면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 추정 분야에는 두 단계가 있습니다.</a:t>
            </a:r>
          </a:p>
          <a:p/>
          <a:p>
            <a:r>
              <a:t>첫째 statistical estimation — 우리가 흔히 듣는 H_s (significant wave height, 유의파고), T_p (peak period, 첨두주기), JONSWAP 스펙트럼 같은 '평균적 통계'. 선박 디자인이나 해양 구조물 설계에는 이걸로 충분합니다.</a:t>
            </a:r>
          </a:p>
          <a:p/>
          <a:p>
            <a:r>
              <a:t>둘째 phase-resolved estimation — 각 파도의 위치와 시점을 결정론적으로 추정. 예를 들어 'BF4 sea state' 라는 통계가 아니라 'x = 120 m 위치에 5초 후 H = 2 m 파도가 도착한다' 같은 구체적 정보입니다.</a:t>
            </a:r>
          </a:p>
          <a:p/>
          <a:p>
            <a:r>
              <a:t>왜 phase-resolved가 필요한가? 실시간 제어에서는 '평균적으로 파도가 강하다' 는 정보로는 특정 시점의 제어 결정을 못 합니다. 어디에 큰 파도가 오는지 정확히 알아야 ride control, hydrofoil, autonomous navigation 같은 응용이 가능합니다.</a:t>
            </a:r>
          </a:p>
          <a:p/>
          <a:p>
            <a:r>
              <a:t>응용 중 가장 직접적인 것은 hydrofoil ride control입니다 — 우리 연구실에서 진행 중인 hydrofoil 연구의 motivation이기도 합니다. 파도를 미리 보고 hydrofoil의 angle을 조절하면 승차감(ride RMS)을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세 조건을 동시에 만족하는 setup은 prior art에 거의 없습니다. 하나씩 보겠습니다.</a:t>
            </a:r>
          </a:p>
          <a:p/>
          <a:p>
            <a:r>
              <a:t>(1) Sparse non-uniform — LiDAR는 흔히 쓰이는 wave gauge나 dense radar와 매우 다릅니다. 한 frame에 점 50개 정도로 매우 희소하고, 거리에 따라 점밀도가 변합니다. 또 raydrop(파도가 LiDAR 빔을 반사하지 못해 점 누락), shadowing(앞쪽 파도가 뒤쪽을 가림) 같은 물리 효과로 점이 더 줄어듭니다. 기존 wave estimation 방법론은 dense·균일 측정 가정으로 설계되어서 LiDAR setup에 직접 적용하기 어렵습니다.</a:t>
            </a:r>
          </a:p>
          <a:p/>
          <a:p>
            <a:r>
              <a:t>(2) Real-time — 제어 루프에 들어가야 하므로 100 ms 안에 끝나야 합니다. EnKF 같은 ensemble 방법론, PINN 같은 NN 학습 방법론은 분 단위에서 시간 단위까지 걸려서 이 제약을 만족 못 합니다.</a:t>
            </a:r>
          </a:p>
          <a:p/>
          <a:p>
            <a:r>
              <a:t>(3) 2D directional — 실제 바다는 한 방향 파도가 아니라 여러 방향 파도가 섞여 있습니다. Wavenumber도 단순한 k가 아니라 vector (k_x, k_y)를 추정해야 합니다. Klein 2020, Desmars 2023 같은 prior art는 대부분 1D 가정으로 단순화하지만, 우리는 2D를 그대로 다룹니다.</a:t>
            </a:r>
          </a:p>
          <a:p/>
          <a:p>
            <a:r>
              <a:t>다음 슬라이드부터 prior art 12편을 검토한 결과를 보여드리고, 이 niche가 실제로 비어 있다는 것을 보이겠습니다.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12편을 정독해서 5개 카테고리로 분류했습니다.</a:t>
            </a:r>
          </a:p>
          <a:p/>
          <a:p>
            <a:r>
              <a:t>(1) Variational/grid-based — 가장 전통적인 방법입니다. 공간을 격자로 나누고, 관측치와 모델의 차이를 비용함수로 정의 후 최소화. Desmars 2018-2023이 대표적이고 우리와 가장 가까운 setup입니다.</a:t>
            </a:r>
          </a:p>
          <a:p/>
          <a:p>
            <a:r>
              <a:t>(2) Ensemble Kalman filter — 50-100개의 시뮬레이션을 동시에 돌리고 관측치로 보정. Wang-Pan 2021/22가 대표적, 가장 최근 Yan 2025는 VOF (full Navier-Stokes)에 EnKF를 결합. 물리 충실도는 높지만 ensemble 비용으로 offline.</a:t>
            </a:r>
          </a:p>
          <a:p/>
          <a:p>
            <a:r>
              <a:t>(3) ML supervised — pre-trained NN으로 빠르게 추정. Ehlers 2023의 FNO가 1.9 ms로 가장 빠름. 단점은 학습 데이터 필요와 distribution shift risk.</a:t>
            </a:r>
          </a:p>
          <a:p/>
          <a:p>
            <a:r>
              <a:t>(4) Physics-informed unsupervised — PINN을 써서 학습 데이터 없이 물리 손실로 학습. Ehlers 2025 PFT-PINN이 대표적. 비선형 처리 가능하지만 instance마다 30분 학습 필요.</a:t>
            </a:r>
          </a:p>
          <a:p/>
          <a:p>
            <a:r>
              <a:t>(5) Parametric off-grid — 우리 위치. Spectral 파라미터 (k_x, k_y, ω, A, φ)를 직접 추정. 다른 카테고리들은 grid나 NN으로 wave field를 표현하지만, 우리는 파라미터 자체를 추정. 이게 가능한 이유는 dispersion 제약을 hard constraint로 강제하기 때문입니다.</a:t>
            </a:r>
          </a:p>
          <a:p/>
          <a:p>
            <a:r>
              <a:t>다음 5 슬라이드에서 가장 가까운 prior art 5편을 detail로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12편 중 우리와 setup이 가장 비슷한 prior art입니다. 선박에 광학 센서(LiDAR나 카메라)를 달고 phase-resolved wave를 추정하고 HOS로 predict — 거의 동일한 problem statement입니다.</a:t>
            </a:r>
          </a:p>
          <a:p/>
          <a:p>
            <a:r>
              <a:t>차이점은 세 가지:</a:t>
            </a:r>
          </a:p>
          <a:p>
            <a:r>
              <a:t>  - 1D vs 우리 2D: 한 방향 파도 가정이라 directional 정보 손실</a:t>
            </a:r>
          </a:p>
          <a:p>
            <a:r>
              <a:t>  - On-grid vs 우리 off-grid: 격자에 묶여서 격자 사이 wavenumber는 표현 불가</a:t>
            </a:r>
          </a:p>
          <a:p>
            <a:r>
              <a:t>  - Sensor model: raydrop, Fresnel, shadowing 같은 LiDAR 물리 효과를 명시하지 않음</a:t>
            </a:r>
          </a:p>
          <a:p/>
          <a:p>
            <a:r>
              <a:t>이 paper가 우리 paper의 main reference가 됩니다 — 'closest prior art는 무엇이고, 우리가 무엇을 더 했는가'를 명확히 보여주는 비교 대상.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EnKF-HOS family는 우리 ETKF baseline의 직접적 prior art입니다. EnKF가 무엇인가 — '시뮬레이션 50개를 동시에 돌리고, 관측치를 받을 때마다 평균과 분산을 베이지안으로 갱신' 하는 필터입니다. 기상학에서 출발해서 wave estimation에도 적용된 방법론.</a:t>
            </a:r>
          </a:p>
          <a:p/>
          <a:p>
            <a:r>
              <a:t>Wang &amp; Pan 2021이 처음으로 HOS와 EnKF를 결합했고, 2022에서 current estimation으로 확장. 한계는 두 가지:</a:t>
            </a:r>
          </a:p>
          <a:p>
            <a:r>
              <a:t>  - Ensemble 비용으로 real-time이 어려움 (GPU 써도 수백 ms 단위)</a:t>
            </a:r>
          </a:p>
          <a:p>
            <a:r>
              <a:t>  - Dense obs 가정이라 sparse LiDAR setup에 직접 적용 안 됨 (격자 위 모든 점에 측정값 필요)</a:t>
            </a:r>
          </a:p>
          <a:p/>
          <a:p>
            <a:r>
              <a:t>우리는 이 baseline을 sparse-input으로 tune해서 비교했습니다. 자세한 결과는 Slide 14에서 보여드립니다.</a:t>
            </a:r>
          </a:p>
          <a:p/>
          <a:p>
            <a:r>
              <a:t>또한 Wang 2025 (Coastal Eng 197)이라는 더 최근 변형이 있는데, 이건 paper 작성 단계에서 정독해서 'Case A/B/C 결정' (우리 baseline이 그들과 같은 family인지 다른지)을 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 supervised 카테고리의 SOTA입니다. 1.9 ms의 inference 속도가 가장 빠르지만 trade-off가 있습니다.</a:t>
            </a:r>
          </a:p>
          <a:p/>
          <a:p>
            <a:r>
              <a:t>장점은 분명합니다 — 1.9 ms는 real-time 제어에 매우 충분한 속도. FNO (Fourier Neural Operator)는 Fourier 공간에서 global mapping을 학습하는 구조라 U-Net 같은 지역 CNN보다 wave 패턴에 더 잘 맞습니다.</a:t>
            </a:r>
          </a:p>
          <a:p/>
          <a:p>
            <a:r>
              <a:t>단점:</a:t>
            </a:r>
          </a:p>
          <a:p>
            <a:r>
              <a:t>  - 3120개의 HOS 합성 sample로 학습해야 함 — 학습 데이터 자체를 만드는 비용</a:t>
            </a:r>
          </a:p>
          <a:p>
            <a:r>
              <a:t>  - Distribution shift — 학습 안 된 sea state나 sensor 조건에서는 성능 저하</a:t>
            </a:r>
          </a:p>
          <a:p>
            <a:r>
              <a:t>  - Black-box — 왜 그렇게 추정했는지 해석 어려움</a:t>
            </a:r>
          </a:p>
          <a:p/>
          <a:p>
            <a:r>
              <a:t>우리 차별점:</a:t>
            </a:r>
          </a:p>
          <a:p>
            <a:r>
              <a:t>  - Unsupervised (학습 데이터 0개) — 새로운 sea state에서도 즉시 작동</a:t>
            </a:r>
          </a:p>
          <a:p>
            <a:r>
              <a:t>  - Interpretable — (k_x, k_y, ω, A, φ) 5개 파라미터의 의미가 명확</a:t>
            </a:r>
          </a:p>
          <a:p>
            <a:r>
              <a:t>  - 2D directional — FNO는 1D만</a:t>
            </a:r>
          </a:p>
          <a:p/>
          <a:p>
            <a:r>
              <a:t>둘 다 real-time 영역이라 paper 1의 main competitor 중 하나입니다.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art입니다. 이유는 우리와 *근본 철학이 같기* 때문입니다 — training data 없이 physics constraint (dispersion + boundary conditions)을 직접 강제. 다만 구현 방식이 다릅니다.</a:t>
            </a:r>
          </a:p>
          <a:p/>
          <a:p>
            <a:r>
              <a:t>PFT-PINN의 방식:</a:t>
            </a:r>
          </a:p>
          <a:p>
            <a:r>
              <a:t>  - 두 NN을 동시에 학습: η-net (wave 표면) + Φ-net (velocity potential)</a:t>
            </a:r>
          </a:p>
          <a:p>
            <a:r>
              <a:t>  - 손실함수: Laplace 방정식 + 표면 boundary condition + 바닥 condition</a:t>
            </a:r>
          </a:p>
          <a:p>
            <a:r>
              <a:t>  - Auto-differentiation으로 PDE residual 계산 (NN의 강점)</a:t>
            </a:r>
          </a:p>
          <a:p>
            <a:r>
              <a:t>  - Hard-constraint trick — 측정치를 NN architecture에 직접 hard-encode (loss balancing 문제 회피)</a:t>
            </a:r>
          </a:p>
          <a:p/>
          <a:p>
            <a:r>
              <a:t>이게 1D wave flume에서는 잘 작동합니다. 30분 학습 후 SSP &lt; 0.05 정도.</a:t>
            </a:r>
          </a:p>
          <a:p/>
          <a:p>
            <a:r>
              <a:t>한계는:</a:t>
            </a:r>
          </a:p>
          <a:p>
            <a:r>
              <a:t>  - Instance마다 30분 학습 — design-time analysis tool로는 OK, real-time 제어로는 불가</a:t>
            </a:r>
          </a:p>
          <a:p>
            <a:r>
              <a:t>  - 1D + t만 다룸 — 2D directional은 future work</a:t>
            </a:r>
          </a:p>
          <a:p>
            <a:r>
              <a:t>  - Buoy 시계열만 다룸 — sparse spatial LiDAR setup 처리 안 함</a:t>
            </a:r>
          </a:p>
          <a:p/>
          <a:p>
            <a:r>
              <a:t>그러나 결정적인 위협은 *future work*입니다. 같은 그룹이 'real-time speedup via parallelization, pre-training, multi-GPU' 와 '2D + t extension'을 명시했어요. 1-3년 안에 우리 niche를 흡수할 수 있습니다.</a:t>
            </a:r>
          </a:p>
          <a:p/>
          <a:p>
            <a:r>
              <a:t>대응 전략 두 가지:</a:t>
            </a:r>
          </a:p>
          <a:p>
            <a:r>
              <a:t>  1. 우리가 빨리 publish — 시간 우위 확보</a:t>
            </a:r>
          </a:p>
          <a:p>
            <a:r>
              <a:t>  2. 응용 영역 차별화 — PINN은 design-time 분석 도구, 우리는 real-time 제어 component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극단의 prior art입니다 — full physics fidelity (가장 정확한 물리)를 추구.</a:t>
            </a:r>
          </a:p>
          <a:p/>
          <a:p>
            <a:r>
              <a:t>방법론:</a:t>
            </a:r>
          </a:p>
          <a:p>
            <a:r>
              <a:t>  - VOF (Volume Of Fluid) - 자유 표면을 fluid volume fraction α로 표현. α=1 (물), 0 (공기), 0.5 (계면)</a:t>
            </a:r>
          </a:p>
          <a:p>
            <a:r>
              <a:t>  - Navier-Stokes 풀이 (OpenFOAM) - 가장 정확한 fluid dynamics</a:t>
            </a:r>
          </a:p>
          <a:p>
            <a:r>
              <a:t>  - EnKF로 데이터 동화 - 50 ensemble을 동시에 propagate</a:t>
            </a:r>
          </a:p>
          <a:p>
            <a:r>
              <a:t>  - POD 차원 축소 - 격자 cell 4.8만 개를 30 modes로 압축 (계산 가능하게)</a:t>
            </a:r>
          </a:p>
          <a:p/>
          <a:p>
            <a:r>
              <a:t>강점:</a:t>
            </a:r>
          </a:p>
          <a:p>
            <a:r>
              <a:t>  - Plunging breaker (부서지는 파도)까지 처리 — wave physics의 가장 어려운 영역</a:t>
            </a:r>
          </a:p>
          <a:p>
            <a:r>
              <a:t>  - Wave-structure interaction까지 확장 가능 (선박/구조물 포함)</a:t>
            </a:r>
          </a:p>
          <a:p>
            <a:r>
              <a:t>  - 물리적으로 가장 정확</a:t>
            </a:r>
          </a:p>
          <a:p/>
          <a:p>
            <a:r>
              <a:t>한계:</a:t>
            </a:r>
          </a:p>
          <a:p>
            <a:r>
              <a:t>  - Offline 외에 다른 게 없음 — 50 OpenFOAM 시뮬레이션을 매 step마다 돌림</a:t>
            </a:r>
          </a:p>
          <a:p>
            <a:r>
              <a:t>  - 1D xz-plane만 — 2D directional sea state 처리 안 함</a:t>
            </a:r>
          </a:p>
          <a:p>
            <a:r>
              <a:t>  - Inlet boundary 근처 정확도 떨어짐 (boundary가 state에 포함 안 됨)</a:t>
            </a:r>
          </a:p>
          <a:p/>
          <a:p>
            <a:r>
              <a:t>응용 영역이 본질적으로 다릅니다:</a:t>
            </a:r>
          </a:p>
          <a:p>
            <a:r>
              <a:t>  - VOF-EnKF: design-time digital twin (사후 분석, 매우 정확하게)</a:t>
            </a:r>
          </a:p>
          <a:p>
            <a:r>
              <a:t>  - 우리: real-time control component (즉시 결정, 충분히 정확하게)</a:t>
            </a:r>
          </a:p>
          <a:p/>
          <a:p>
            <a:r>
              <a:t>정직한 인정 — 우리는 wave breaking을 처리 못 합니다. 이건 paper의 limitation 섹션에 명시하고 future work로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매트릭스가 우리 paper의 positioning 핵심입니다. 8개 응용 요구사항 × 7개 method를 비교했고, 어떤 method도 모든 요구사항을 만족하지 못합니다 — 각자의 specialty가 있습니다.</a:t>
            </a:r>
          </a:p>
          <a:p/>
          <a:p>
            <a:r>
              <a:t>우리 specialty (highlighted column): real-time + 2D directional + sparse LiDAR + unsupervised. 이 4개 조건의 조합이 12편 prior art 중 0개에서만 만족. 이게 우리 niche의 본질입니다.</a:t>
            </a:r>
          </a:p>
          <a:p/>
          <a:p>
            <a:r>
              <a:t>응용 영역으로 바라보면 두 갈래로 나뉩니다:</a:t>
            </a:r>
          </a:p>
          <a:p>
            <a:r>
              <a:t>  - 'Design-time analysis' 영역: VOF-EnKF, PFT-PINN — 사후 분석, 가장 정확하게, 시간 무관</a:t>
            </a:r>
          </a:p>
          <a:p>
            <a:r>
              <a:t>  - 'Real-time control' 영역: 우리, FNO — 즉시 결정, 충분히 정확하게</a:t>
            </a:r>
          </a:p>
          <a:p/>
          <a:p>
            <a:r>
              <a:t>우리는 PFT-PINN이나 VOF-EnKF와 *경쟁하지 않습니다* — 그들은 다른 응용 영역. 직접 경쟁자는 FNO (1D supervised) — 우리는 2D unsupervised로 차별화.</a:t>
            </a:r>
          </a:p>
          <a:p/>
          <a:p>
            <a:r>
              <a:t>정직한 한계:</a:t>
            </a:r>
          </a:p>
          <a:p>
            <a:r>
              <a:t>  - Wave breaking 못함 — VOF-EnKF만 가능</a:t>
            </a:r>
          </a:p>
          <a:p>
            <a:r>
              <a:t>  - Velocity field 추정 못함 — PINN/EnKF 가능</a:t>
            </a:r>
          </a:p>
          <a:p>
            <a:r>
              <a:t>  - Full nonlinear 못함 — Klein 2020가 정량 비교한 HOSM &gt; NLSE &gt; LWT 중 우리는 LWT family</a:t>
            </a:r>
          </a:p>
          <a:p/>
          <a:p>
            <a:r>
              <a:t>이런 한계는 paper의 limitation 섹션에 정직히 명시. 다음부터는 *우리가 만든 것*을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WaveSim은 우리가 만든 simulator입니다. 두 부분으로 나뉩니다.</a:t>
            </a:r>
          </a:p>
          <a:p/>
          <a:p>
            <a:r>
              <a:t>(1) 수면 model (physics):</a:t>
            </a:r>
          </a:p>
          <a:p>
            <a:r>
              <a:t>  - Linear Wave Theory — N개 plane wave의 선형 중첩으로 수면 표현</a:t>
            </a:r>
          </a:p>
          <a:p>
            <a:r>
              <a:t>  - Dispersion relation — frequency ω와 wavenumber k의 관계 (깊은 물에서 ω² = g·k·tanh(kd))</a:t>
            </a:r>
          </a:p>
          <a:p>
            <a:r>
              <a:t>  - JONSWAP-2D 스펙트럼 — 실제 바다의 통계적 특성 모방</a:t>
            </a:r>
          </a:p>
          <a:p/>
          <a:p>
            <a:r>
              <a:t>한계는 정직하게 인정합니다 — Klein 2020이 정량 비교한 HOSM &gt; NLSE &gt; LWT 중 우리는 LWT family로 가장 단순. ε (steepness) &lt; 0.07 영역에서만 신뢰 가능.</a:t>
            </a:r>
          </a:p>
          <a:p/>
          <a:p>
            <a:r>
              <a:t>(2) LiDAR sensor model — 이게 우리의 unique contribution:</a:t>
            </a:r>
          </a:p>
          <a:p>
            <a:r>
              <a:t>  - Ray-triangle intersection: LiDAR ray가 mesh와 만나는 점을 계산. Möller-Trumbore 1997 알고리즘 사용 (그래픽 분야 표준)</a:t>
            </a:r>
          </a:p>
          <a:p>
            <a:r>
              <a:t>  - Raydrop: 파도 표면에서 ray가 반사되어 LiDAR에 못 돌아오는 확률. Fresnel reflectance 사용 (specular = 거울 반사, diffuse = 산란)</a:t>
            </a:r>
          </a:p>
          <a:p>
            <a:r>
              <a:t>  - Shadowing: 앞쪽 파도가 뒤쪽 파도를 가림</a:t>
            </a:r>
          </a:p>
          <a:p>
            <a:r>
              <a:t>  - Vessel motion: 선박이 V=11.3 m/s로 움직이므로 매 frame 다른 위치에서 관측</a:t>
            </a:r>
          </a:p>
          <a:p/>
          <a:p>
            <a:r>
              <a:t>12편 prior art 중 이 정도 sensor model을 simulate한 것은 없습니다. 39개 unit test로 simulator 정확성 검증, 100 episode를 합성 dataset으로 생성했습니다.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 episode의 통제된 benchmark를 구축했습니다.</a:t>
            </a:r>
          </a:p>
          <a:p/>
          <a:p>
            <a:r>
              <a:t>Episode 설계:</a:t>
            </a:r>
          </a:p>
          <a:p>
            <a:r>
              <a:t>  - Sea state: BF3 (잔잔, ε~0.03), BF4 (보통, ε~0.05), BF6 (거친, ε~0.08) — 모두 우리 LWT 신뢰 영역</a:t>
            </a:r>
          </a:p>
          <a:p>
            <a:r>
              <a:t>  - N_components: 1 (단순), 5 (중간), 15 (복잡) — 알고리즘이 component 수에 robust한지 검증</a:t>
            </a:r>
          </a:p>
          <a:p>
            <a:r>
              <a:t>  - Directional spreading: uniform (전 방향 균등), unimodal (한 방향 집중), bimodal (두 방향 swell+wind)</a:t>
            </a:r>
          </a:p>
          <a:p/>
          <a:p>
            <a:r>
              <a:t>Episode당 데이터:</a:t>
            </a:r>
          </a:p>
          <a:p>
            <a:r>
              <a:t>  - 30초 시뮬레이션, 0.1초 간격 → 300 frame</a:t>
            </a:r>
          </a:p>
          <a:p>
            <a:r>
              <a:t>  - Ground-truth η field 50×50 격자 — 평가 시 참값</a:t>
            </a:r>
          </a:p>
          <a:p>
            <a:r>
              <a:t>  - LiDAR scan은 raydrop/shadowing 적용 후 frame당 ~50점</a:t>
            </a:r>
          </a:p>
          <a:p/>
          <a:p>
            <a:r>
              <a:t>전체 100 episode를 HDF5 파일로 저장 (~5 GB).</a:t>
            </a:r>
          </a:p>
          <a:p/>
          <a:p>
            <a:r>
              <a:t>Reproducibility 보장:</a:t>
            </a:r>
          </a:p>
          <a:p>
            <a:r>
              <a:t>  - Seed 저장 — 동일 seed로 재실행 시 동일 결과</a:t>
            </a:r>
          </a:p>
          <a:p>
            <a:r>
              <a:t>  - 39 + 18 = 57개 unit test — simulator와 estimator 모두 검증</a:t>
            </a:r>
          </a:p>
          <a:p/>
          <a:p>
            <a:r>
              <a:t>이 dataset 자체가 paper의 contribution 일부입니다. Ehlers 2023도 비슷한 합성 benchmark를 만들었지만 1D였고, 우리는 2D directional + LiDAR sensor model까지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WaveSplat의 탐색 단계 알고리즘입니다. 핵심 아이디어:</a:t>
            </a:r>
          </a:p>
          <a:p/>
          <a:p>
            <a:r>
              <a:t>(1) State 표현 — N개 component × 5 파라미터 = 5N 자유도. Dispersion 관계로 ω가 k에 의해 결정되므로 실제 자유도는 4N. 매우 compact.</a:t>
            </a:r>
          </a:p>
          <a:p/>
          <a:p>
            <a:r>
              <a:t>(2) Two-stage 추정 — 단일 frame에서 (k_x, k_y)는 ill-conditioned (정보 부족). 그래서 init 단계는 multi-frame으로 (k_x, k_y)만 정확히 추정하고, track 단계는 (k_x, k_y) 고정 후 매 frame (ω, A, φ)만 update. 이게 후반부 main framing 'identifiability decomposition'의 motivation입니다.</a:t>
            </a:r>
          </a:p>
          <a:p/>
          <a:p>
            <a:r>
              <a:t>(3) Adaptive N — 처음에는 N을 모르고, episode마다 N이 다를 수 있음.   - Pruning: amplitude 작은 component 제거</a:t>
            </a:r>
          </a:p>
          <a:p>
            <a:r>
              <a:t>  - Growth: residual 크면 새 component 추가</a:t>
            </a:r>
          </a:p>
          <a:p>
            <a:r>
              <a:t>  - Safety rollback: 새 component가 잘못되어 RMSE 폭증하면 원상복구</a:t>
            </a:r>
          </a:p>
          <a:p/>
          <a:p>
            <a:r>
              <a:t>(4) Loss — 측정치-모델 차이 squared error + dispersion penalty. Dispersion은 항상 만족하도록 hard constraint.</a:t>
            </a:r>
          </a:p>
          <a:p/>
          <a:p>
            <a:r>
              <a:t>이 알고리즘이 *왜 작동하는지*에 대한 분석이 다음 슬라이드부터의 main framing입니다.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episode 비교 결과입니다. 표를 보시면:</a:t>
            </a:r>
          </a:p>
          <a:p/>
          <a:p>
            <a:r>
              <a:t>  - WaveSplat (우리): nRMSE 0.223, 13.4 ms — 가장 정확하면서 가장 빠름</a:t>
            </a:r>
          </a:p>
          <a:p>
            <a:r>
              <a:t>  - GPR: nRMSE 0.276, &gt;200 ms — Gaussian Process baseline, 정확도 떨어지고 속도도 느림</a:t>
            </a:r>
          </a:p>
          <a:p>
            <a:r>
              <a:t>  - ETKF (tuned): nRMSE 0.319, 132.6 ms — Wang-Pan family의 simplified implementation, 100개 ensemble로 tune</a:t>
            </a:r>
          </a:p>
          <a:p>
            <a:r>
              <a:t>  - Oracle: 0.087 — ground-truth components 알고 있을 때의 lower bound (sensor noise floor)</a:t>
            </a:r>
          </a:p>
          <a:p/>
          <a:p>
            <a:r>
              <a:t>결과 해석:</a:t>
            </a:r>
          </a:p>
          <a:p>
            <a:r>
              <a:t>  - 정확도: WaveSplat이 unsupervised method 중 best (0.223). Oracle 0.087과의 gap은 알고리즘 추정 오차.</a:t>
            </a:r>
          </a:p>
          <a:p>
            <a:r>
              <a:t>  - 속도: 13.4 ms는 10 Hz control loop에 충분. ETKF의 132 ms는 빡빡하고, GPR 200 ms는 불가능.</a:t>
            </a:r>
          </a:p>
          <a:p/>
          <a:p>
            <a:r>
              <a:t>여기서 '잠깐'하고 멈춰야 합니다 — 이 결과 자체가 main contribution이 아닙니다. 이건 *탐색 단계* 결과 — 우리가 알고리즘을 만들고 돌려본 결과. Main contribution은 다음에 보일 *왜 이렇게 잘 되는가*에 대한 본질적 분석입니다.</a:t>
            </a:r>
          </a:p>
          <a:p/>
          <a:p>
            <a:r>
              <a:t>그 분석에서 흥미로운 발견이 있었습니다. 우리 알고리즘이 *불가능해 보이는 일을 하고 있다*는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가장 중요한 발견이 나옵니다. 알고리즘을 분석하면서 우리가 깨달은 것 — *우리가 불가능해 보이는 일을 하고 있다*.</a:t>
            </a:r>
          </a:p>
          <a:p/>
          <a:p>
            <a:r>
              <a:t>이론적 한계를 봅시다:</a:t>
            </a:r>
          </a:p>
          <a:p/>
          <a:p>
            <a:r>
              <a:t>(1) Per-frame LiDAR가 유효 점 50개를 240 m FOV에 가지고 있으면 유효 점 간격은 5-8 m. Nyquist-Shannon 정리에 따르면 single frame으로 추정 가능한 spatial frequency 한계는 k_Nyq = π/Δy ≈ 0.4 rad/m. 즉 이 이상 큰 wavenumber는 single frame으로 못 추정합니다.</a:t>
            </a:r>
          </a:p>
          <a:p/>
          <a:p>
            <a:r>
              <a:t>(2) 그런데 ocean wave의 typical wavenumber는 0.5-3 rad/m. BF3 (잔잔)에서도 k ≈ 0.5-1, BF6 (거친)에서는 k ≈ 1-3. 이건 per-frame Nyquist의 1.25-7.5배.</a:t>
            </a:r>
          </a:p>
          <a:p/>
          <a:p>
            <a:r>
              <a:t>(3) 그런데 WaveSplat은 이걸 추정합니다. 12 episode에서 nRMSE 0.223. 어떻게 가능한가?</a:t>
            </a:r>
          </a:p>
          <a:p/>
          <a:p>
            <a:r>
              <a:t>여기에 우리 main framing의 핵심이 있습니다 — 두 가지 mechanism이 결합해서 spatial Nyquist 한계를 우회합니다:</a:t>
            </a:r>
          </a:p>
          <a:p>
            <a:r>
              <a:t>  1. 선박이 움직이면서 발생하는 synthetic aperture 효과</a:t>
            </a:r>
          </a:p>
          <a:p>
            <a:r>
              <a:t>  2. 파도의 dispersion 관계 (ω → |k|의 1-to-1 매핑)</a:t>
            </a:r>
          </a:p>
          <a:p/>
          <a:p>
            <a:r>
              <a:t>이 두 mechanism의 결합이 다음 슬라이드의 main contribution claim입니다.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이게 우리 paper 1의 main contribution claim입니다. Per-frame spatial Nyquist 한계를 우회하는 mechanism 둘:</a:t>
            </a:r>
          </a:p>
          <a:p/>
          <a:p>
            <a:r>
              <a:t>(1) Synthetic aperture — SAR (synthetic aperture radar) 분야에서 유명한 원리. 위성/항공기가 움직이면서 매 시점 다른 위치에서 관측하면, 짧은 antenna로도 큰 antenna 효과를 얻습니다. 우리는 이걸 ocean LiDAR에 적용 — 선박이 11.3 m/s로 움직이며 1초간 11.3 m 이동. 이게 sigle-frame Δy 5-8 m보다 1.5-2배 큰 effective aperture.</a:t>
            </a:r>
          </a:p>
          <a:p/>
          <a:p>
            <a:r>
              <a:t>(2) Dispersion 1-to-1 매핑 — 깊은 물에서 ω² = g·|k|·tanh(|k|·d). 이게 무엇을 의미하나? *각 frequency ω는 유일한 wavenumber |k|를 결정*. Time-series에서 ω는 frame rate (10 Hz, Nyquist 5 Hz)로 추정 가능 — 매우 큼. 그 ω를 dispersion에 넣으면 |k|가 결정. 이게 temporal info를 spatial로 전환하는 기적.</a:t>
            </a:r>
          </a:p>
          <a:p/>
          <a:p>
            <a:r>
              <a:t>(3) Joint mechanism — 두 mechanism이 함께 작용해야 작동. 단독으로는 부족:</a:t>
            </a:r>
          </a:p>
          <a:p>
            <a:r>
              <a:t>  - Synthetic aperture만: aperture는 1.5-2x 증가, 충분치 않음 (Nyquist 우회 불가)</a:t>
            </a:r>
          </a:p>
          <a:p>
            <a:r>
              <a:t>  - Dispersion만: |k|는 알아도 (k_x, k_y) 방향은 별도 정보 필요</a:t>
            </a:r>
          </a:p>
          <a:p>
            <a:r>
              <a:t>  - 결합 시: ω → |k| + multi-frame coherence → (k_x, k_y) 방향 sweep으로 모두 결정</a:t>
            </a:r>
          </a:p>
          <a:p/>
          <a:p>
            <a:r>
              <a:t>Quantitative claim:</a:t>
            </a:r>
          </a:p>
          <a:p>
            <a:r>
              <a:t>  - Per-frame Nyquist 0.4 rad/m</a:t>
            </a:r>
          </a:p>
          <a:p>
            <a:r>
              <a:t>  - 우리가 추정하는 k 범위 0.5-3 rad/m</a:t>
            </a:r>
          </a:p>
          <a:p>
            <a:r>
              <a:t>  - Super-res factor = 3 / 0.4 = 7.5x (worst), 0.5 / 0.4 = 1.25x (best)</a:t>
            </a:r>
          </a:p>
          <a:p/>
          <a:p>
            <a:r>
              <a:t>Phase 1 작업으로 4-way ablation (single-frame / multi-frame-spatial-only / multi-frame-disp-postproc / multi-frame-disp-first) 을 100 episode에서 돌려서 이 mechanism을 정량 증명할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가지 supporting insight를 더합니다.</a:t>
            </a:r>
          </a:p>
          <a:p/>
          <a:p>
            <a:r>
              <a:t>(1) Identifiability decomposition — Fisher Information Matrix (FIM) 분석으로:</a:t>
            </a:r>
          </a:p>
          <a:p>
            <a:r>
              <a:t>  - k = (k_x, k_y)는 single frame에서 ill-conditioned (FIM eigenvalue 작음)</a:t>
            </a:r>
          </a:p>
          <a:p>
            <a:r>
              <a:t>    → multi-frame coherence가 있어야 identifiable</a:t>
            </a:r>
          </a:p>
          <a:p>
            <a:r>
              <a:t>  - (ω, φ, A)는 single frame에서도 well-conditioned</a:t>
            </a:r>
          </a:p>
          <a:p>
            <a:r>
              <a:t>    → snapshot 하나로 충분히 추정 가능</a:t>
            </a:r>
          </a:p>
          <a:p/>
          <a:p>
            <a:r>
              <a:t>이게 우리 init/track two-stage 설계의 *theoretical justification*입니다. 현재는 직관적 설계 — Phase 1에서 FIM 정량 분석으로 증명할 예정.</a:t>
            </a:r>
          </a:p>
          <a:p/>
          <a:p>
            <a:r>
              <a:t>(2) Combined story — main framing과 연결:</a:t>
            </a:r>
          </a:p>
          <a:p>
            <a:r>
              <a:t>  - Init phase는 multi-frame이라 무겁지만 &lt; 1초. Synthetic aperture + dispersion으로 k 추정.</a:t>
            </a:r>
          </a:p>
          <a:p>
            <a:r>
              <a:t>  - Track phase는 per-frame이라 가벼움 &lt; 100 ms. k 고정 후 (ω, A, φ)만 Adam으로 update.</a:t>
            </a:r>
          </a:p>
          <a:p>
            <a:r>
              <a:t>  - Adaptive N + safety rollback이 component 수 변화에 robust성 보장.</a:t>
            </a:r>
          </a:p>
          <a:p/>
          <a:p>
            <a:r>
              <a:t>이 정도가 우리 paper 1의 main contribution입니다 — '우리가 한 일이 이거다'를 명확히 하고, '왜 이렇게 잘 작동하는지'를 mechanism으로 설명, '이게 prior art와 어떻게 다른지'를 매트릭스로 정리.</a:t>
            </a:r>
          </a:p>
          <a:p/>
          <a:p>
            <a:r>
              <a:t>Phase 1 작업이 끝나면:</a:t>
            </a:r>
          </a:p>
          <a:p>
            <a:r>
              <a:t>  - 4-way ablation으로 super-resolution factor 정량 증명</a:t>
            </a:r>
          </a:p>
          <a:p>
            <a:r>
              <a:t>  - FIM 분석으로 identifiability 정량 증명</a:t>
            </a:r>
          </a:p>
          <a:p>
            <a:r>
              <a:t>  - Theoretical bound (1-page derivation)</a:t>
            </a:r>
          </a:p>
          <a:p/>
          <a:p>
            <a:r>
              <a:t>이 셋이 paper 1을 OE(Ocean Engineering) 수준으로 격상시키는 작업입니다.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정직한 disclosure 시간입니다.</a:t>
            </a:r>
          </a:p>
          <a:p/>
          <a:p>
            <a:r>
              <a:t>(1) Linear approximation — 가장 큰 한계입니다. Klein 2020이 정량 비교했어요:</a:t>
            </a:r>
          </a:p>
          <a:p>
            <a:r>
              <a:t>  - HOSM (가장 정확): ε &gt; 0.1까지 처리</a:t>
            </a:r>
          </a:p>
          <a:p>
            <a:r>
              <a:t>  - NLSE2 (중간): ε ~ 0.05-0.07</a:t>
            </a:r>
          </a:p>
          <a:p>
            <a:r>
              <a:t>  - LWT (우리, 가장 단순): ε &lt; 0.07에서만 신뢰</a:t>
            </a:r>
          </a:p>
          <a:p>
            <a:r>
              <a:t>Operational range 명시 — BF6 (ε~0.08)까지는 신뢰 가능. 그 이상의 거친 sea state는 risk. Phase 2 작업으로 Stokes ε² correction 추가 — 두 번째 차수까지 보정해서 ε ~ 0.10까지 확장.</a:t>
            </a:r>
          </a:p>
          <a:p/>
          <a:p>
            <a:r>
              <a:t>(2) Wave breaking, velocity field 추정 — 우리 영역 밖. VOF-EnKF가 wave breaking 처리, PFT-PINN/EnKF가 velocity field 추정. Future work: hybrid linear-realtime estimator + 필요 시 CFD refinement.</a:t>
            </a:r>
          </a:p>
          <a:p/>
          <a:p>
            <a:r>
              <a:t>(3) Threat — Ehlers 2025 PFT-PINN 그룹의 future work에 명시:</a:t>
            </a:r>
          </a:p>
          <a:p>
            <a:r>
              <a:t>  - 'Improving training speed via parallelization, multi-GPU, pre-training'</a:t>
            </a:r>
          </a:p>
          <a:p>
            <a:r>
              <a:t>  - '2D + t extension'</a:t>
            </a:r>
          </a:p>
          <a:p>
            <a:r>
              <a:t>둘 다 만족하는 PFT-PINN-2D-realtime이 1-3년 안에 발표 가능. 그러면 우리 niche (real-time + 2D)가 흡수될 수 있습니다.</a:t>
            </a:r>
          </a:p>
          <a:p/>
          <a:p>
            <a:r>
              <a:t>대응 전략:</a:t>
            </a:r>
          </a:p>
          <a:p>
            <a:r>
              <a:t>  1. 빨리 publish — 7월 OE-ready, 12월 submit. 시간 우위 확보.</a:t>
            </a:r>
          </a:p>
          <a:p>
            <a:r>
              <a:t>  2. 응용 영역 차별화 — PINN은 본질적으로 30분 학습이라 design-time analysis tool 영역.      우리는 real-time control component 영역. 두 영역의 응용 demand가 분리되어 있다는 것을 paper에 명시.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Publication plan 정리:</a:t>
            </a:r>
          </a:p>
          <a:p/>
          <a:p>
            <a:r>
              <a:t>Phase 1 (5월-7월, 2개월): OE-ready 만들기. 핵심 작업:</a:t>
            </a:r>
          </a:p>
          <a:p>
            <a:r>
              <a:t>  - 4-way ablation script — single-frame / multi-frame-spatial-only / multi-frame-dispersion-postproc / multi-frame-dispersion-first</a:t>
            </a:r>
          </a:p>
          <a:p>
            <a:r>
              <a:t>    이 4개 비교로 *어느 mechanism이 super-res에 기여하는지* 정량 분리</a:t>
            </a:r>
          </a:p>
          <a:p>
            <a:r>
              <a:t>  - 100 episode 실험</a:t>
            </a:r>
          </a:p>
          <a:p>
            <a:r>
              <a:t>  - Theoretical bound 1-page 수학 — 'V, T_init이 주어지면 recoverable k_max는?'</a:t>
            </a:r>
          </a:p>
          <a:p>
            <a:r>
              <a:t>  - Paper 본문 재작성 — abstract/intro/method/result/discussion 모두 새 framing으로</a:t>
            </a:r>
          </a:p>
          <a:p/>
          <a:p>
            <a:r>
              <a:t>Decision gate (7월 말):</a:t>
            </a:r>
          </a:p>
          <a:p>
            <a:r>
              <a:t>  - Super-res factor 3-7x 정량 확인 → JFM 도전</a:t>
            </a:r>
          </a:p>
          <a:p>
            <a:r>
              <a:t>  - 약하면 (예: 2-3x만) → OE 빨리 submit (안전한 venue)</a:t>
            </a:r>
          </a:p>
          <a:p/>
          <a:p>
            <a:r>
              <a:t>Phase 2 (8월-10월, 3개월, 선택):</a:t>
            </a:r>
          </a:p>
          <a:p>
            <a:r>
              <a:t>  - Sample complexity bound — atomic-norm-inspired (Tang 2013 기반)</a:t>
            </a:r>
          </a:p>
          <a:p>
            <a:r>
              <a:t>  - Stokes ε² correction — 2차 비선형 보정으로 LWT 한계 극복</a:t>
            </a:r>
          </a:p>
          <a:p>
            <a:r>
              <a:t>  - FIM identifiability 정량 분석</a:t>
            </a:r>
          </a:p>
          <a:p/>
          <a:p>
            <a:r>
              <a:t>Submit (11월-12월):</a:t>
            </a:r>
          </a:p>
          <a:p>
            <a:r>
              <a:t>  - Phase 1만 끝낸 경우: OE/AOR (Ocean Engineering, Applied Ocean Research)</a:t>
            </a:r>
          </a:p>
          <a:p>
            <a:r>
              <a:t>  - Phase 2까지: JFM/PRF (Journal of Fluid Mechanics, Physical Review Fluids)</a:t>
            </a:r>
          </a:p>
          <a:p/>
          <a:p>
            <a:r>
              <a:t>이게 5/13 lab meeting 끝나고 즉시 시작할 plan입니다. 발표는 여기서 마치고, 질문 받겠습니다 — 특히 mechanism이나 framing에 대한 feedback 환영합니다.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2018은 Desmars 2023 JFM의 precursor입니다. ICWM라는 LWT의 1차 비선형 보정을 사용했고, scanning LIDAR setup을 처음 제안. 격자 기반 + 1D + simulator 검증만이라 한계 있음.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2020은 Desmars 2018/2023과 같은 group의 wave tank 실험 paper. Wave gauge array (선박 mounted 아님)로 dispersion correction 후처리 사용. Sensor 종류는 다르지만 family 전체의 empirical anchor 역할.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Klein 2020 Fluids는 wave model 4개 (LWT, NLSE, NLSE2, HOSM)를 정량 비교한 paper. SSP metric을 표준화. 우리는 LWT family로 가장 단순한 model — Klein 결과로 ε &lt; 0.07 operational range를 정당화하고, Phase 2의 Stokes ε² correction motivation 제공.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Hunt 2007은 LETKF (Local ETKF)의 foundational paper. 기상학에서 출발했지만 wave reconstruction의 EnKF 계열 (Wang-Pan, Yan 2025) 모두가 이 paper에서 derive. 우리 ETKF baseline도 이 paper 기반.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 2013은 off-grid compressed sensing의 foundational paper. 기존 CS는 격자 위 sparse signal을 추정하는데 이 paper는 연속 parameter (e.g. 주파수)에서 sparse recovery. 우리 parametric off-grid 방식의 spirit이 이 paper와 같음. Phase 2의 sample complexity bound 도출 시 기반으로 사용.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Möller-Trumbore 1997은 ray-triangle intersection의 standard algorithm. 그래픽/시뮬레이션 분야에서 거의 모든 ray tracing이 사용. 우리 WaveSim의 LiDAR ray-mesh intersection도 이 알고리즘으로 구현, 39 unit test로 정확성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Nouguier 2014는 flash LIDAR를 ocean wave 재구성에 처음 적용한 historical paper. Paywall로 본문 정독 못 했지만 abstract로 핵심 확인. Desmars (2018)보다 5년 앞선 work. Bibliographic reference로 우리 paper에 'LIDAR for ocean wave estimation 첫 사례'로 인용.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12편 정독 후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카테고리로 분류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12편 정독 결과 — 우리 위치는 5번째 카테고리 (parametric off-grid)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Category (접근법)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대표 paper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Strength (강점)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Limitation (한계)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Variational / grid-based
(격자 위 비용함수 최소화)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Desmars 2018-23
Aragh 2008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성숙한 이론,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Predefined k-grid, 1D 위주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Ensemble Kalman filter
(앙상블 베이지안 필터)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Wang-Pan 2021/22
Yan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Full nonlinear physics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Offline (앙상블 비용)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ML supervised
(지도학습 NN)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Ehlers 2023 (FNO)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Fast inference (1.9 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필요, generalization 한계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Physics-informed unsupervised
(물리 기반 NN, 비지도)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Ehlers 2025 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불필요, 비선형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~30 분/instance, 1D 위주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Parametric off-grid (Ours) ⭐
(연속 spectral 파라미터)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Real-time + 2D + LiDAR sensor model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Linear approximation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Axis: x=fidelity (linear → fully nonlinear), y=inference speed. 우리는 top-left + 추가 차원 (2D directional + LiDAR sensor)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et al. 2023 (JFM 975, A8) — HOS-OCM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선박 mounted optical sensor</a:t>
            </a:r>
            <a:r>
              <a:rPr sz="1200" b="0">
                <a:solidFill>
                  <a:srgbClr val="1A1A2E"/>
                </a:solidFill>
                <a:latin typeface="Calibri"/>
              </a:rPr>
              <a:t>로 phase-resolved wave 추정 + 예측 (HOS 기반)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HOS = High-Order Spectral method,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Setup: shipborne LiDAR/camera, 1D longitudinal (선박 진행 방향만), 사전정의 격자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방법: 관측치-모델 mismatch를 비용함수로 정의 → 최소화 → HOS로 미래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On-grid k-band assumption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wavenumber가 미리 정의된 격자에 묶임 (off-grid 아님)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unidirectional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한 방향 파도만 가정, 2D directional 처리 안 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Sensor model 명시 없음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raydrop/shadowing/Fresnel 가정 미상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연속 (k_x, k_y)</a:t>
            </a:r>
            <a:r>
              <a:rPr sz="1200" b="0">
                <a:solidFill>
                  <a:srgbClr val="1A1A2E"/>
                </a:solidFill>
                <a:latin typeface="Calibri"/>
              </a:rPr>
              <a:t> (격자 없음) + </a:t>
            </a:r>
            <a:r>
              <a:rPr sz="1200" b="1">
                <a:solidFill>
                  <a:srgbClr val="1A1A2E"/>
                </a:solidFill>
                <a:latin typeface="Calibri"/>
              </a:rPr>
              <a:t>2D directional</a:t>
            </a:r>
            <a:r>
              <a:rPr sz="1200" b="0">
                <a:solidFill>
                  <a:srgbClr val="1A1A2E"/>
                </a:solidFill>
                <a:latin typeface="Calibri"/>
              </a:rPr>
              <a:t> + </a:t>
            </a:r>
            <a:r>
              <a:rPr sz="1200" b="1">
                <a:solidFill>
                  <a:srgbClr val="1A1A2E"/>
                </a:solidFill>
                <a:latin typeface="Calibri"/>
              </a:rPr>
              <a:t>full LiDAR sensor model 포함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 (JFM 918, A19) + 2022 (JFM 949, A31) — EnKF-HOS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+ HOS 첫 결합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Ensemble Kalman Filter로 phase-resolved wave를 데이터 동화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EnKF = 50-100개 시뮬레이션을 평행하게 돌리고 관측치로 보정하는 베이지안 필터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2022년 확장: EnKF-HOS-C — 해류(current) 도 동시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GPU 구현, near-real-time (단, 관측치가 dense 격자라는 가정)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Dense observation 가정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LiDAR setup에 직접 적용 어려움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wave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2D directional 미처리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Ensemble cost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50–100 members × HOS 시간 통합 (GPU에도 ~수백 ms)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sparse LiDAR input</a:t>
            </a:r>
            <a:r>
              <a:rPr sz="1200" b="0">
                <a:solidFill>
                  <a:srgbClr val="1A1A2E"/>
                </a:solidFill>
                <a:latin typeface="Calibri"/>
              </a:rPr>
              <a:t> + </a:t>
            </a:r>
            <a:r>
              <a:rPr sz="1200" b="1">
                <a:solidFill>
                  <a:srgbClr val="1A1A2E"/>
                </a:solidFill>
                <a:latin typeface="Calibri"/>
              </a:rPr>
              <a:t>2D directional</a:t>
            </a:r>
            <a:r>
              <a:rPr sz="1200" b="0">
                <a:solidFill>
                  <a:srgbClr val="1A1A2E"/>
                </a:solidFill>
                <a:latin typeface="Calibri"/>
              </a:rPr>
              <a:t> + </a:t>
            </a:r>
            <a:r>
              <a:rPr sz="1200" b="1">
                <a:solidFill>
                  <a:srgbClr val="1A1A2E"/>
                </a:solidFill>
                <a:latin typeface="Calibri"/>
              </a:rPr>
              <a:t>&lt;100 ms (GPU 없이)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Note: Wang 2025 (Coastal Eng 197, ETKF 변형)은 paper 작성 단계에서 정독 예정 — Case A/B/C 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2023 (Ocean Eng) — Fourier Neural Operator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ML 기반 phase-resolved 첫 사례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X-band radar로 wave field 학습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FNO architecture</a:t>
            </a:r>
            <a:r>
              <a:rPr sz="1200" b="0">
                <a:solidFill>
                  <a:srgbClr val="1A1A2E"/>
                </a:solidFill>
                <a:latin typeface="Calibri"/>
              </a:rPr>
              <a:t> (Fourier 공간에서 전역 mapping) &gt; U-Net (CNN 지역 처리)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Inference 1.9 ms</a:t>
            </a:r>
            <a:r>
              <a:rPr sz="1200" b="0">
                <a:solidFill>
                  <a:srgbClr val="1A1A2E"/>
                </a:solidFill>
                <a:latin typeface="Calibri"/>
              </a:rPr>
              <a:t> / instance — 매우 빠름. 단 supervised pre-training 필요 (3120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Supervised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3120개 HOS 합성 데이터로 학습. 학습 분포 밖에서는 약함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unidirectional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2D directional 미처리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Black-box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physical interpretability 부족 (왜 그렇게 추정하는지 이해 어려움)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unsupervised</a:t>
            </a:r>
            <a:r>
              <a:rPr sz="1200" b="0">
                <a:solidFill>
                  <a:srgbClr val="1A1A2E"/>
                </a:solidFill>
                <a:latin typeface="Calibri"/>
              </a:rPr>
              <a:t> (학습 데이터 0개), </a:t>
            </a:r>
            <a:r>
              <a:rPr sz="1200" b="1">
                <a:solidFill>
                  <a:srgbClr val="1A1A2E"/>
                </a:solidFill>
                <a:latin typeface="Calibri"/>
              </a:rPr>
              <a:t>interpretable parametric model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2D directional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속도 비교: Ours ~13 ms vs FNO 1.9 ms — 둘 다 real-time 영역, 같은 분류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Yan, Che, Li 2025 (arXiv 2510.14356) — VOF-EnKF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VOF + Navier-Stokes + EnKF 첫 결합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full CFD 시뮬레이션을 데이터 동화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VOF = Volume Of Fluid, 자유 표면 (water-air 경계) 추적 방법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POD 차원 축소</a:t>
            </a:r>
            <a:r>
              <a:rPr sz="1200" b="0">
                <a:solidFill>
                  <a:srgbClr val="1A1A2E"/>
                </a:solidFill>
                <a:latin typeface="Calibri"/>
              </a:rPr>
              <a:t>: 격자 4.8e4 cells → 30 modes (level-set 4 modes)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POD = Proper Orthogonal Decomposition, 주성분 분석과 유사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Plunging breaker 재구성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부서지는 파도까지 처리. 단, breaking 이전 upstream에서만 동화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Offline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50 ensemble × full OpenFOAM (Navier-Stokes solver) = 매우 느림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xz-plane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2D directional 미처리 (xz는 진행 방향과 수직 단면만)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Inlet boundary 처리 어려움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입구 근처 RMS 0.228 H_s vs 하류 0.090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속도: Ours 13 ms vs VOF-EnKF (offline) — </a:t>
            </a:r>
            <a:r>
              <a:rPr sz="1200" b="1">
                <a:solidFill>
                  <a:srgbClr val="1A1A2E"/>
                </a:solidFill>
                <a:latin typeface="Calibri"/>
              </a:rPr>
              <a:t>응용 영역이 본질적으로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directional</a:t>
            </a:r>
            <a:r>
              <a:rPr sz="1200" b="0">
                <a:solidFill>
                  <a:srgbClr val="1A1A2E"/>
                </a:solidFill>
                <a:latin typeface="Calibri"/>
              </a:rPr>
              <a:t>, VOF-EnKF: 1D xz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그들의 강점: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breaking</a:t>
            </a:r>
            <a:r>
              <a:rPr sz="1200" b="0">
                <a:solidFill>
                  <a:srgbClr val="1A1A2E"/>
                </a:solidFill>
                <a:latin typeface="Calibri"/>
              </a:rPr>
              <a:t> (우리는 이걸 limitation으로 인정하고 future work로 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EnKF-HOS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Real-time 제어 루프 (선박/hydrofoil)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directional phase-resolved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 (1D)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Wave breaking, plunging (부서지는 파도)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Wave-structure interaction (구조물 하중)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Velocity field 전체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Bathymetry inversion (수심 추정)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 ext.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Training-free unsupervised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Sparse LiDAR sensor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→ 우리 niche: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Real-time + 2D directional + sparse LiDAR + unsupervised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12편 prior art 중 0개가 모두 만족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응용: 선박 ride control, hydrofoil FF preview, autonomous navigation (real-time 제어 영역)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우리가 만든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physics + LiDAR sensor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선형 중첩 + 분산 + JONSWAP 스펙트럼, 그리고 LiDAR raydrop 물리까지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 (수면 모델)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η(x, y, t) = Σ_n A_n cos(k_xn·x + k_yn·y − ω_n·t + φ_n)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N개 plane wave의 선형 중첩 (Linear Wave Theory, LWT)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Dispersion relation (분산 관계, 깊은 물)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ω_n = √(g·|k_n|·tanh(|k_n|·d))   — 주파수와 wavenumber의 1-to-1 매핑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Spectrum</a:t>
            </a:r>
            <a:r>
              <a:rPr sz="1200" b="0">
                <a:solidFill>
                  <a:srgbClr val="1A1A2E"/>
                </a:solidFill>
                <a:latin typeface="Calibri"/>
              </a:rPr>
              <a:t>: JONSWAP-2D (Hasselmann 1973 + 방향 spreading), N_components 가변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sensor model</a:t>
            </a:r>
            <a:r>
              <a:rPr sz="1200" b="0">
                <a:solidFill>
                  <a:srgbClr val="1A1A2E"/>
                </a:solidFill>
                <a:latin typeface="Calibri"/>
              </a:rPr>
              <a:t> (이 부분이 우리의 unique contribution):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Ray-triangle intersection (Möller-Trumbore 1997, 검증된 알고리즘)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Raydrop probability — Fresnel reflectance (specular vs diffuse 선택)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Geometric shadowing — 가까운 파도가 먼 파도를 가림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Vessel motion + ego-velocity correction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: 39 unit test 통과, 100 episode 합성 dataset 생성</a:t>
            </a:r>
          </a:p>
        </p:txBody>
      </p:sp>
      <p:pic>
        <p:nvPicPr>
          <p:cNvPr id="6" name="Picture 5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730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합성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100 episode — 통제된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재현 가능, 다양한 복잡도, ground-truth η + LiDAR 점 모두 보존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Episode 변수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Sea state: BF3 (잔잔), BF4 (보통), BF6 (거친) — Beaufort scale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N_components: 1, 5, 15 (저/중/고 복잡도)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Spreading (방향성): uniform / unimodal / bimodal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Episode당 데이터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T = 30 s, Δt = 0.1 s → 300 frames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Ground-truth η field: 50×50 격자 (참값으로 평가용)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scan: ~50 valid pts/frame (raydrop 후)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HDF5 format, 100 files, 총 ~5 GB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Test coverage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</a:t>
            </a:r>
            <a:r>
              <a:rPr sz="1300" b="0">
                <a:solidFill>
                  <a:srgbClr val="1A1A2E"/>
                </a:solidFill>
                <a:latin typeface="Calibri"/>
              </a:rPr>
              <a:t>39 unit test (wavesim/) + 18 (wavesplat/) = </a:t>
            </a:r>
            <a:r>
              <a:rPr sz="1300" b="1">
                <a:solidFill>
                  <a:srgbClr val="1A1A2E"/>
                </a:solidFill>
                <a:latin typeface="Calibri"/>
              </a:rPr>
              <a:t>57 total, 모두 통과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simulator + estimator의 정확성 보증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6250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parametric off-grid estimator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5N 파라미터 (k_x, k_y, ω, A, φ) × N개 component를 직접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State 표현</a:t>
            </a:r>
            <a:r>
              <a:rPr sz="1200" b="0">
                <a:solidFill>
                  <a:srgbClr val="1A1A2E"/>
                </a:solidFill>
                <a:latin typeface="Calibri"/>
              </a:rPr>
              <a:t>: N개 component × {A_n, k_xn, k_yn, ω_n, φ_n}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 적용 후: ω_n = √(g·|k_n|·tanh(|k_n|·d))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자유도 감소: 5N → 4N (ω가 k에 의해 결정됨)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Two-stage estimation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 (이게 후반부 main framing의 motivation):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Init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다중 frame: 2-stage beamforming으로 (k_x, k_y)만 추정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Track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매 frame: (k_x, k_y) 고정, (ω, A, φ)만 Adam으로 update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Adaptive N (component 수 동적 조정)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Energy-based pruning — 작은 amplitude component 제거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Residual-triggered growth — 잔여 오차 크면 새 component 추가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Safety rollback — RMSE &gt; 130%면 이전 상태로 복귀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Loss</a:t>
            </a:r>
            <a:r>
              <a:rPr sz="1200" b="0">
                <a:solidFill>
                  <a:srgbClr val="1A1A2E"/>
                </a:solidFill>
                <a:latin typeface="Calibri"/>
              </a:rPr>
              <a:t>: ‖η_LiDAR − η_model(θ)‖² + λ·(dispersion penalty)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Dispersion은 hard constraint로 강제 (LWT family 가정)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618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탐색 단계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탐색 단계 결과 — 12 episode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WaveSplat이 best avg nRMSE; ETKF/GPR보다 정확하면서 10× 빠름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Avg 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Per-frame time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Setup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13.4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parametric off-grid + dispersion hard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GPR (single + window)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&gt;200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Gaussian Process, dense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ETKF-grid (tuned, Ne=100)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0.319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132.6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Hunt 2007 LETKF, grid-spatial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Oracle (lower bound)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ground-truth components, fit only A,φ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속도 우위</a:t>
            </a:r>
            <a:r>
              <a:rPr sz="1300" b="0">
                <a:solidFill>
                  <a:srgbClr val="1A1A2E"/>
                </a:solidFill>
                <a:latin typeface="Calibri"/>
              </a:rPr>
              <a:t>: 13 ms vs 132 ms (ETKF) vs &gt;200 ms (GPR) — </a:t>
            </a:r>
            <a:r>
              <a:rPr sz="1300" b="1">
                <a:solidFill>
                  <a:srgbClr val="1A1A2E"/>
                </a:solidFill>
                <a:latin typeface="Calibri"/>
              </a:rPr>
              <a:t>ETKF보다 10× 빠름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정확도 우위</a:t>
            </a:r>
            <a:r>
              <a:rPr sz="1300" b="0">
                <a:solidFill>
                  <a:srgbClr val="1A1A2E"/>
                </a:solidFill>
                <a:latin typeface="Calibri"/>
              </a:rPr>
              <a:t>: 0.223 vs 0.276 vs 0.319 — </a:t>
            </a:r>
            <a:r>
              <a:rPr sz="1300" b="1">
                <a:solidFill>
                  <a:srgbClr val="1A1A2E"/>
                </a:solidFill>
                <a:latin typeface="Calibri"/>
              </a:rPr>
              <a:t>unsupervised method 중 best average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Oracle 0.087 = 환원 불가능한 noise floor (sensor + 수치 오차) — 이론적 하한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Important</a:t>
            </a:r>
            <a:r>
              <a:rPr sz="1300" b="0">
                <a:solidFill>
                  <a:srgbClr val="1A1A2E"/>
                </a:solidFill>
                <a:latin typeface="Calibri"/>
              </a:rPr>
              <a:t>: 이 결과는 *탐색 단계* (현재 알고리즘) — main framing은 *왜 잘 되는가*의 분석에서 나옴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The essential insight — 본질적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질문 — 우리 parametric 모델이 왜 이렇게 잘 작동하는가?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Per-frame spatial Nyquist는 ocean wave 추정에 너무 작은데도, WaveSplat은 추정에 성공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Per-frame LiDAR 유효 sampling</a:t>
            </a:r>
            <a:r>
              <a:rPr sz="15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 – ~50 valid 점 / 240 m FOV → 유효 점 간격 Δy ≈ 5–8 m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 – </a:t>
            </a:r>
            <a:r>
              <a:rPr sz="1500" b="0">
                <a:solidFill>
                  <a:srgbClr val="1A1A2E"/>
                </a:solidFill>
                <a:latin typeface="Calibri"/>
              </a:rPr>
              <a:t>Spatial Nyquist 한계: k_Nyq = π/Δy ≈ </a:t>
            </a:r>
            <a:r>
              <a:rPr sz="1500" b="1">
                <a:solidFill>
                  <a:srgbClr val="1A1A2E"/>
                </a:solidFill>
                <a:latin typeface="Calibri"/>
              </a:rPr>
              <a:t>0.4 rad/m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 – → 이론적으로 이 이상 큰 wavenumber는 single frame으로 추정 불가능</a:t>
            </a:r>
          </a:p>
          <a:p>
            <a:pPr>
              <a:spcAft>
                <a:spcPts val="500"/>
              </a:spcAft>
            </a:pPr>
            <a:r>
              <a:rPr sz="700"/>
              <a:t> 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필요한 wavenumber 범위 (BF3-BF6 sea state)</a:t>
            </a:r>
            <a:r>
              <a:rPr sz="15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 – </a:t>
            </a:r>
            <a:r>
              <a:rPr sz="1500" b="0">
                <a:solidFill>
                  <a:srgbClr val="1A1A2E"/>
                </a:solidFill>
                <a:latin typeface="Calibri"/>
              </a:rPr>
              <a:t>파장 λ ∈ 5–25 m → wavenumber k ∈ </a:t>
            </a:r>
            <a:r>
              <a:rPr sz="1500" b="1">
                <a:solidFill>
                  <a:srgbClr val="1A1A2E"/>
                </a:solidFill>
                <a:latin typeface="Calibri"/>
              </a:rPr>
              <a:t>0.5–3 rad/m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 – → Nyquist 한계의 1.25×–7.5× 범위</a:t>
            </a:r>
          </a:p>
          <a:p>
            <a:pPr>
              <a:spcAft>
                <a:spcPts val="500"/>
              </a:spcAft>
            </a:pPr>
            <a:r>
              <a:rPr sz="700"/>
              <a:t> 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🚨 Paradox</a:t>
            </a:r>
            <a:r>
              <a:rPr sz="1500" b="0">
                <a:solidFill>
                  <a:srgbClr val="1A1A2E"/>
                </a:solidFill>
                <a:latin typeface="Calibri"/>
              </a:rPr>
              <a:t>: 우리가 추정하려는 k는 per-frame Nyquist를 1.25–7.5× 초과!</a:t>
            </a:r>
          </a:p>
          <a:p>
            <a:pPr>
              <a:spcAft>
                <a:spcPts val="500"/>
              </a:spcAft>
            </a:pPr>
            <a:r>
              <a:rPr sz="700"/>
              <a:t> 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그런데 WaveSplat은 이걸 추정합니다. 어떻게?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 – Hint: 우리는 multi-frame (시계열) data와 dispersion physics를 사용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 – → 다음 슬라이드: mechanism의 본질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Main framing ⭐⭐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Dispersion-Coupled Spatio-Temporal Inversion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1">
                <a:solidFill>
                  <a:srgbClr val="1A1A2E"/>
                </a:solidFill>
                <a:latin typeface="Calibri"/>
              </a:defRPr>
            </a:pPr>
            <a:r>
              <a:t>"Vessel motion (synthetic aperture) and dispersion physics jointly resolve ocean wavenumbers 3–7× beyond the per-frame spatial Nyquist of shipboard LiDAR."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Mechanism 1 — Synthetic aperture (선박 움직임을 활용)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1초 동안 11.3 m 이동 → 유효 spatial coverage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Δx_SA = V · T_init = 11.3 m   (vs single-frame Δy ≈ 5–8 m)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SAR (synthetic aperture radar)와 같은 원리, ocean LiDAR에 첫 적용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Mechanism 2 — Dispersion 1-to-1 매핑 (물리법칙 활용)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ω = √(g·|k|·tanh(|k|·d))   — 깊은 물 dispersion 관계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각 ω는 유일한 |k|를 결정 → temporal info를 spatial wavenumber로 전환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Joint mechanism (두 mechanism의 결합)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 stacking → temporal coherence → ω resolution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ω → |k| via dispersion → spatial wavenumber (Nyquist 우회)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Direction sweep → (k_x, k_y) 결정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Quantitative claim</a:t>
            </a:r>
            <a:r>
              <a:rPr sz="1200" b="0">
                <a:solidFill>
                  <a:srgbClr val="1A1A2E"/>
                </a:solidFill>
                <a:latin typeface="Calibri"/>
              </a:rPr>
              <a:t>: super-resolution factor </a:t>
            </a:r>
            <a:r>
              <a:rPr sz="1200" b="1">
                <a:solidFill>
                  <a:srgbClr val="1A1A2E"/>
                </a:solidFill>
                <a:latin typeface="Calibri"/>
              </a:rPr>
              <a:t>3–7×</a:t>
            </a:r>
            <a:r>
              <a:rPr sz="1200" b="0">
                <a:solidFill>
                  <a:srgbClr val="1A1A2E"/>
                </a:solidFill>
                <a:latin typeface="Calibri"/>
              </a:rPr>
              <a:t> beyond per-frame Nyquist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Phase 1에서 4-way ablation으로 정량 증명 예정 (100 episode)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Mechanism — supporting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추가 통찰 — 왜 init/track 분리가 자연스러운가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Identifiability decomposition + dispersion-coupled super-resolution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Identifiability analysis (Fisher Information 관점)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 = (k_x, k_y) — multi-frame 에서만 identifiable (aperture 필요)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(ω, φ, A) — single frame에서도 identifiable (snapshot 하나로 충분)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→ 이 분해가 우리 two-stage 설계의 정당화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Init phase (multi-frame, 무거움): synthetic aperture + dispersion으로 k 한 번에 결정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Track phase (per-frame, 가벼움): k 고정 후 (ω, A, φ)만 Adam으로 cheap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Init은 &lt; 1초 (오프라인 가능), Track은 &lt; 100 ms (real-time 보장)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story 정리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Init: SA + dispersion → k_max 3-7× 우회 (super-resolution)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Track: per-frame Adam으로 inference &lt; 100 ms 유지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Adaptive N + safety rollback: component 수 변화에 robust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Phase 1 추가 작업</a:t>
            </a:r>
            <a:r>
              <a:rPr sz="1200" b="0">
                <a:solidFill>
                  <a:srgbClr val="1A1A2E"/>
                </a:solidFill>
                <a:latin typeface="Calibri"/>
              </a:rPr>
              <a:t>: FIM 정량 분석으로 identifiability 정량 증명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대응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정직한 한계 + 위협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Linear approximation, no breaking, PFT-PINN의 잠재적 위협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Limitation 1 — Linear approximation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Klein 2020 정량 비교: HOSM &gt; NLSE₂ &gt; LWT (우리 family는 가장 단순)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Operational range: ε &lt; 0.07 (BF6까지는 신뢰 가능, 그 이상은 위험)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Future: Stokes ε² correction 추가 (Phase 2, JFM upgrade)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Limitation 2 — No wave breaking, no velocity inference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VOF-EnKF, PFT-PINN은 이걸 처리 — 응용 영역이 본질적으로 다름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Future: hybrid linear-realtime + on-demand CFD refinement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Threat — PFT-PINN의 2D + real-time 확장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Same group (TUHH+Imperial)이 1-3년 안에 발표 가능 (future work에 명시됨)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</a:t>
            </a:r>
            <a:r>
              <a:rPr sz="1300" b="0">
                <a:solidFill>
                  <a:srgbClr val="1A1A2E"/>
                </a:solidFill>
                <a:latin typeface="Calibri"/>
              </a:rPr>
              <a:t>Response 1: </a:t>
            </a:r>
            <a:r>
              <a:rPr sz="1300" b="1">
                <a:solidFill>
                  <a:srgbClr val="1A1A2E"/>
                </a:solidFill>
                <a:latin typeface="Calibri"/>
              </a:rPr>
              <a:t>빨리 publish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OE-ready by 7월, JFM upgrade option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</a:t>
            </a:r>
            <a:r>
              <a:rPr sz="1300" b="0">
                <a:solidFill>
                  <a:srgbClr val="1A1A2E"/>
                </a:solidFill>
                <a:latin typeface="Calibri"/>
              </a:rPr>
              <a:t>Response 2: </a:t>
            </a:r>
            <a:r>
              <a:rPr sz="1300" b="1">
                <a:solidFill>
                  <a:srgbClr val="1A1A2E"/>
                </a:solidFill>
                <a:latin typeface="Calibri"/>
              </a:rPr>
              <a:t>응용 영역 차별화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PINN = design-time, 우리 = real-time control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Plan — publish 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Publication plan — Phase 1 → Decision gate →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5월–12월 timeline, OE/AOR submit (JFM upgrade option)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Phase 1 — OE-ready (5월–7월, 2 개월)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4-way ablation 코드 (single / multi-spatial / multi-disp-post / multi-disp-first)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100 episode에서 super-res factor 정량 측정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Theoretical bound derivation (1-page math)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Paper 본문 재작성 — Dispersion-Coupled Spatio-Temporal Inversion framing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Decision gate (7월 말)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Super-res factor 3–7× 정량 증명 성공 → JFM/PRF 도전 (Phase 2)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결과 약하면 → OE 빠르게 submit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Phase 2 — JFM/PRF upgrade (8월–10월, 3 개월, 선택)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Sample complexity bound (atomic-norm 기반)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Stokes ε² correction (linear → 2nd order)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Identifiability FIM 정량 분석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Submit</a:t>
            </a:r>
            <a:r>
              <a:rPr sz="1200" b="0">
                <a:solidFill>
                  <a:srgbClr val="1A1A2E"/>
                </a:solidFill>
                <a:latin typeface="Calibri"/>
              </a:rPr>
              <a:t>: 11월–12월 (OE/AOR 또는 JFM/PRF)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007ACC"/>
                </a:solidFill>
                <a:latin typeface="Calibri"/>
              </a:defRPr>
            </a:pPr>
            <a:r>
              <a:t>Questions &amp; discussion — feedback most welcomed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2018 (OMAE) — LIDAR + ICWM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Setup</a:t>
            </a:r>
            <a:r>
              <a:rPr sz="1300" b="0">
                <a:solidFill>
                  <a:srgbClr val="1A1A2E"/>
                </a:solidFill>
                <a:latin typeface="Calibri"/>
              </a:rPr>
              <a:t>: scanning LIDAR + Improved Choppy Wave Model (ICWM)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ICWM = LWT의 nonlinear 1차 보정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Method</a:t>
            </a:r>
            <a:r>
              <a:rPr sz="1300" b="0">
                <a:solidFill>
                  <a:srgbClr val="1A1A2E"/>
                </a:solidFill>
                <a:latin typeface="Calibri"/>
              </a:rPr>
              <a:t>: predefined k-grid + variational inversion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1D, on-grid, simulator only (실측 없음)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Desmars 2023 JFM의 precursor — concept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A2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2020 (Ocean Eng 212) — Wave gauge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첫 wave tank 실험 검증</a:t>
            </a:r>
            <a:r>
              <a:rPr sz="1300" b="0">
                <a:solidFill>
                  <a:srgbClr val="1A1A2E"/>
                </a:solidFill>
                <a:latin typeface="Calibri"/>
              </a:rPr>
              <a:t> of phase-resolved DA (이전 simulator 검증과 차별)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Setup</a:t>
            </a:r>
            <a:r>
              <a:rPr sz="1300" b="0">
                <a:solidFill>
                  <a:srgbClr val="1A1A2E"/>
                </a:solidFill>
                <a:latin typeface="Calibri"/>
              </a:rPr>
              <a:t>: wave gauge array (선박 mounted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Method</a:t>
            </a:r>
            <a:r>
              <a:rPr sz="1300" b="0">
                <a:solidFill>
                  <a:srgbClr val="1A1A2E"/>
                </a:solidFill>
                <a:latin typeface="Calibri"/>
              </a:rPr>
              <a:t>: dispersion correction post-processing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1D longitudinal, gauge ≠ LiDAR (다른 sensor)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우리 family의 empirical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A3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Klein 2020 (Fluids 5(1), 9) — Wave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Quantitative comparison</a:t>
            </a:r>
            <a:r>
              <a:rPr sz="1300" b="0">
                <a:solidFill>
                  <a:srgbClr val="1A1A2E"/>
                </a:solidFill>
                <a:latin typeface="Calibri"/>
              </a:rPr>
              <a:t>: HOSM &gt; NLSE₂ &gt; NLSE &gt; LWT (정확도 순)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 tank validation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다양한 sea state에서 4 model 비교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SSP metric standardization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spatial similarity parameter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Implication for us</a:t>
            </a:r>
            <a:r>
              <a:rPr sz="1300" b="0">
                <a:solidFill>
                  <a:srgbClr val="1A1A2E"/>
                </a:solidFill>
                <a:latin typeface="Calibri"/>
              </a:rPr>
              <a:t>: linear (LWT) operational range ε &lt; 0.07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우리 Stokes ε² correction motivation의 출처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A4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Hunt-Kostelich-Szunyogh 2007 (Tellus A) — LETKF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Foundational paper</a:t>
            </a:r>
            <a:r>
              <a:rPr sz="1300" b="0">
                <a:solidFill>
                  <a:srgbClr val="1A1A2E"/>
                </a:solidFill>
                <a:latin typeface="Calibri"/>
              </a:rPr>
              <a:t>: Local Ensemble Transform Kalman Filter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Mechanism</a:t>
            </a:r>
            <a:r>
              <a:rPr sz="1300" b="0">
                <a:solidFill>
                  <a:srgbClr val="1A1A2E"/>
                </a:solidFill>
                <a:latin typeface="Calibri"/>
              </a:rPr>
              <a:t>: ensemble을 local subspace에 transform 후 update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 estimation foundation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Wang-Pan EnKF-HOS, Yan VOF-EnKF 모두 derive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Our use</a:t>
            </a:r>
            <a:r>
              <a:rPr sz="1300" b="0">
                <a:solidFill>
                  <a:srgbClr val="1A1A2E"/>
                </a:solidFill>
                <a:latin typeface="Calibri"/>
              </a:rPr>
              <a:t>: ETKF baseline implementation 기반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A5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Tang-Bhaskar-Recht 2013 (IEEE TIT) — Atomic norm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Off-grid compressed sensing</a:t>
            </a:r>
            <a:r>
              <a:rPr sz="1300" b="0">
                <a:solidFill>
                  <a:srgbClr val="1A1A2E"/>
                </a:solidFill>
                <a:latin typeface="Calibri"/>
              </a:rPr>
              <a:t>: 연속 parameter space에서 sparse recovery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SDP formulation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semidefinite programming으로 atomic norm 최소화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Theoretical bound</a:t>
            </a:r>
            <a:r>
              <a:rPr sz="1300" b="0">
                <a:solidFill>
                  <a:srgbClr val="1A1A2E"/>
                </a:solidFill>
                <a:latin typeface="Calibri"/>
              </a:rPr>
              <a:t>: M = O(K log K) measurements suffice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Inspiration for us</a:t>
            </a:r>
            <a:r>
              <a:rPr sz="1300" b="0">
                <a:solidFill>
                  <a:srgbClr val="1A1A2E"/>
                </a:solidFill>
                <a:latin typeface="Calibri"/>
              </a:rPr>
              <a:t>: parametric off-grid spectral inversion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Future direction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Phase 2의 sample complexity bound 기반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A6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Möller-Trumbore 1997 (JGT) — Ray-triangle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Standard ray-triangle algorithm</a:t>
            </a:r>
            <a:r>
              <a:rPr sz="1300" b="0">
                <a:solidFill>
                  <a:srgbClr val="1A1A2E"/>
                </a:solidFill>
                <a:latin typeface="Calibri"/>
              </a:rPr>
              <a:t>: 그래픽 분야 표준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Properties</a:t>
            </a:r>
            <a:r>
              <a:rPr sz="1300" b="0">
                <a:solidFill>
                  <a:srgbClr val="1A1A2E"/>
                </a:solidFill>
                <a:latin typeface="Calibri"/>
              </a:rPr>
              <a:t>: robust, fast, no preprocessing required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Our use</a:t>
            </a:r>
            <a:r>
              <a:rPr sz="1300" b="0">
                <a:solidFill>
                  <a:srgbClr val="1A1A2E"/>
                </a:solidFill>
                <a:latin typeface="Calibri"/>
              </a:rPr>
              <a:t>: WaveSim LiDAR ray-mesh intersection 구현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Verification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39 unit test 중 일부가 이 알고리즘 정확성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A7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Nouguier-Grilli-Guérin 2014 (IEEE TGRS) — Flash LIDAR foundational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Historical first</a:t>
            </a:r>
            <a:r>
              <a:rPr sz="1300" b="0">
                <a:solidFill>
                  <a:srgbClr val="1A1A2E"/>
                </a:solidFill>
                <a:latin typeface="Calibri"/>
              </a:rPr>
              <a:t>: flash LIDAR for ocean wave reconstruction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Status</a:t>
            </a:r>
            <a:r>
              <a:rPr sz="1300" b="0">
                <a:solidFill>
                  <a:srgbClr val="1A1A2E"/>
                </a:solidFill>
                <a:latin typeface="Calibri"/>
              </a:rPr>
              <a:t>: paywall로 본문 정독 못 함, abstract만 검토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Implication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 LIDAR for ocean waves는 Desmars (2018)보다 5년 빠름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Our use</a:t>
            </a:r>
            <a:r>
              <a:rPr sz="1300" b="0">
                <a:solidFill>
                  <a:srgbClr val="1A1A2E"/>
                </a:solidFill>
                <a:latin typeface="Calibri"/>
              </a:rPr>
              <a:t>: bibliographic anchor — 'flash LIDAR 첫 적용' 인용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