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선박이 움직이면서 생기는 효과와 파도의 분산 관계가 결합해서 LiDAR 의 공간 해상도 한계를 어떻게 우회하는지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가 0.253 입니다. Wang2025 는 2025 년에 출판된 논문 (Coastal Engineering 197) 의 방법을 — 앙상블 300 개, fuzzy R 적응 등 —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Wang-Pan 2021/22, Wang 2025, Yan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EnKF — 앙상블 칼만 필터입니다. 50 에서 300 개의 wave simulation 을 동시에 진행하면서, 측정값이 들어올 때마다 베이지안 업데이트로 갱신하는 방식입니다. Forecast 단계에서는 각 ensemble member 가 wave model 로 시간을 진행하고, Analysis 단계에서는 ensemble 평균과 covariance 로부터 Kalman gain 을 계산해 update 합니다. 원래 기상학 데이터 동화에서 출발한 기법인데 Wang-Pan 2021 이 wave estimation 에 처음 적용했습니다.</a:t>
            </a:r>
          </a:p>
          <a:p/>
          <a:p>
            <a:r>
              <a:t>HOS — High-Order Spectral method 라고 부르는 비선형 wave model 입니다. 우리가 쓰는 LWT 는 plane wave 의 단순 선형 중첩으로만 표현해서 ε &lt; 0.07 에서만 정확합니다. 반면 HOS 는 표면 경계 조건의 비선형 항 — 두 파도가 만나서 생기는 추가 파도 같은 wave-wave interaction — 까지 spectral 로 계산해서 ε ~ 0.1 까지 처리 가능합니다. Dommermuth &amp; Yue 1987 과 West et al. 1987 이 독립적으로 제안한 후 ocean engineering 의 표준이 됐고요, Klein 2020 의 정량 비교에서 HOSM &gt; NLSE2 &gt; NLSE &gt; LWT 순으로 정확도가 정리됐습니다.</a:t>
            </a:r>
          </a:p>
          <a:p/>
          <a:p>
            <a:r>
              <a:t>이 family 의 발전 과정을 보면 — Wang &amp; Pan 2021 이 EnKF + HOS 를 처음 결합했고, 2022 에서 current 까지 동시 추정하도록 확장 (EnKF-HOS-C), 그리고 가장 최근 Wang 2025 가 앙상블 300 개에 fuzzy R (측정 노이즈 자동 적응) 과 Delaunay 보간 (불규칙 측정점 처리) 을 추가했습니다.</a:t>
            </a:r>
          </a:p>
          <a:p/>
          <a:p>
            <a:r>
              <a:t>우리는 Wang 2025 의 방법을 코드로 충실히 재현했습니다 — Ne=300, 80×60 격자, dx=3m, fuzzy R, Delaunay 모두 포함. 원논문과의 차이는 forecast 모델로 HOS 대신 linear dispersion 을 사용한 것인데요, 이건 우리 WaveSplat 도 linear 이므로 공정 비교를 위해서입니다.</a:t>
            </a:r>
          </a:p>
          <a:p/>
          <a:p>
            <a:r>
              <a:t>비교 결과 WaveSplat 이 nRMSE 0.211 에 13 ms 인 반면 Wang2025 는 0.253 에 632 ms 입니다. 에피소드별로 보면 단순 파도 (1-5 성분) 에서는 WaveSplat 이 압도적이지만 — 예를 들어 BF3 2-comp 에서 0.052 vs 0.250 — 복잡한 파도 (15-30 성분) 에서는 Wang2025 가 더 나은 경우도 있어서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 ±5°: 수평 기준 ±5° 좁음 (먼 거리 surface 측정용).</a:t>
            </a:r>
          </a:p>
          <a:p>
            <a:r>
              <a:t>  - 32 채널 × 360 horizontal beam = 11,520 ray / scan, range 10–200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사용자 질문의 답 ('관측 창만 이동') 맞음:</a:t>
            </a:r>
          </a:p>
          <a:p>
            <a:r>
              <a:t>  - 파도 field 는 충분히 큰 world frame 격자 (예: 500 m × 500 m) 에 고정. 시뮬레이션 시작 시 한 번 만들고 변경 없음.</a:t>
            </a:r>
          </a:p>
          <a:p>
            <a:r>
              <a:t>  - Vessel (LiDAR mount 점) 만 그 격자 안을 V=11.3 m/s 로 이동.</a:t>
            </a:r>
          </a:p>
          <a:p>
            <a:r>
              <a:t>  - 매 frame Δt=0.1 s 동안 vessel 위치가 1.13 m 전진. LiDAR FOV (관측 창) 도 함께 이동 — 매 frame 다른 영역 관측.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다른 vessel 위치에서 wave 의 다른 부분을 관측 — 이게 paper 의 main framing 인 synthetic aperture 효과의 원천.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1.318 은 광학 표준 데이터.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240 m 영역에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 입니다.</a:t>
            </a:r>
          </a:p>
          <a:p/>
          <a:p>
            <a:r>
              <a:t>그런데 우리가 추정해야 할 wavenumber 는 그것보다 훨씬 큽니다. 파도 파장 λ 는 BF3 swell 이 약 12 m, BF4 wind wave 가 6 m, BF6 short wave 가 2 m 정도입니다. wavenumber k = 2π/λ 식에 넣으면 k 가 0.52 부터 3.14 rad/m 까지입니다. 즉 single-frame Nyquist (0.4) 의 1.25 배에서 7.5 배 초과 영역이죠.</a:t>
            </a:r>
          </a:p>
          <a:p/>
          <a:p>
            <a:r>
              <a:t>이게 *paradox* 입니다 — 이론상 single frame 으로는 추정 불가능한 영역의 wave 를 우리는 추정해야 합니다. 어떻게 가능할까요?</a:t>
            </a:r>
          </a:p>
          <a:p/>
          <a:p>
            <a:r>
              <a:t>해결책은 *multi-frame stacking* 입니다. Vessel 이 11.3 m/s 로 1 초 동안 11.3 m 이동하면서 10 frame 의 데이터를 누적하면 점이 500 개로 늘고 영역도 약간 확장됩니다. 그런데 *핵심은 점 수 증가가 아니라 시간 정보가 phase 기준점을 제공한다* 는 점입니다.</a:t>
            </a:r>
          </a:p>
          <a:p/>
          <a:p>
            <a:r>
              <a:t>각 점이 단순한 (x, y, η) 가 아니라 *시간까지 포함한 (x, y, t, η) 4D 좌표* 를 갖게 되고요, wave 가 시간에 따라 propagate 하는 phase 진화를 보면서 *wavenumber 의 모호성을 해소* 할 수 있게 됩니다. 이게 synthetic aperture 효과의 핵심입니다.</a:t>
            </a:r>
          </a:p>
          <a:p/>
          <a:p>
            <a:r>
              <a:t>정량적으로 — effective aperture L_SA = V × T_init = 11.3 m 로, wavenumber 분해능이 약 0.56 rad/m 가 됩니다. 이 분해능으로 0.5 에서 3 rad/m 영역의 wave 를 추정할 수 있게 되는 거죠. Nyquist 한계 0.4 를 우회한 셈입니다.</a:t>
            </a:r>
          </a:p>
          <a:p/>
          <a:p>
            <a:r>
              <a:t>다음 슬라이드에서 *어떻게* — 즉 beamforming 식과 coarse-to-fine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Beamforming 의 직관부터 말씀드리면 — 각 후보 wavenumber 에 대해 *만약 실제 wave 가 이 방향으로 이 주파수로 진행한다고 가정* 했을 때, 측정 데이터의 phase 와 얼마나 잘 맞는지를 점수로 평가하는 방법입니다. 점수가 가장 높은 후보를 선택하는 거죠. 직관적으로는 '코러스 효과' 같은 거예요 — 모든 점들이 *동시에* 일치하면 신호가 강해지고, 다르면 random 하게 cancel 되어 약해집니다.</a:t>
            </a:r>
          </a:p>
          <a:p/>
          <a:p>
            <a:r>
              <a:t>수식을 보시면 — S(k_x⁰, k_y⁰) = | Σ_i η_obs · exp(j(k⁰·x_i − ω(k⁰)·t_i)) |² 입니다. i 는 누적된 모든 점 (500 점), η_obs 는 i-th 점에서 측정한 wave 변위, k⁰·x_i 는 후보 wavenumber 와 점 위치의 내적이고요, ω(k⁰) 는 분산 관계로 자동 결정됩니다. exp(j·...) 가 가정한 wave 의 phase factor 입니다.</a:t>
            </a:r>
          </a:p>
          <a:p/>
          <a:p>
            <a:r>
              <a:t>해석은 명확합니다. 만약 실제 wave 가 우리가 가정한 (k_x⁰, k_y⁰) 방향이라면 모든 점의 phase 가 *일치* 합니다. 그러면 sum 의 절댓값이 커지고요, S(k) 가 peak 가 됩니다. 반면 실제 wave 가 다른 방향이라면 phase 가 random 하게 cancel 되어 S(k) 가 작아집니다. 결국 S(k) 가 큰 후보들이 실제 wavenumber 인 거죠.</a:t>
            </a:r>
          </a:p>
          <a:p/>
          <a:p>
            <a:r>
              <a:t>Coarse-to-fine 정밀화 — 처음에는 거친 격자 (50×50 = 2,500 후보) 에서 search 해서 top-N peak 를 찾고요, 그 다음 각 peak 주변에서 local quadratic fit 과 Newton step 으로 sub-grid 정확도까지 정밀화합니다. 예를 들어 peak 가 격자 위 (0.5, 0.7) 에 있더라도 fine 으로 (0.534, 0.692) 같은 더 정밀한 값을 얻습니다.</a:t>
            </a:r>
          </a:p>
          <a:p/>
          <a:p>
            <a:r>
              <a:t>신호처리 분야에서는 이걸 *DOA estimation* (Direction-of-Arrival estimation) 이라고 부릅니다. Antenna array 에서 신호가 어느 방향에서 도달하는지 찾는 표준 기법인데요, 우리는 LiDAR scan 을 sparse sensor array 로 간주하고 ocean wave 에 적용한 거죠.</a:t>
            </a:r>
          </a:p>
          <a:p/>
          <a:p>
            <a:r>
              <a:t>다음 슬라이드는 tracking 단계 — k 가 결정된 후 매 frame (A, φ) 만 빠르게 update 하는 방식입니다.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lr=0.01, 50 iterations 로 frame 당 약 13 ms 가 걸립니다.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*선박 이동의 합성 개구 효과* 입니다. 한 순간의 LiDAR 점 50 개만으로는 파도의 방향을 정확히 알기 어렵습니다. 하지만 선박이 이동하면서 여러 순간의 데이터를 모으면 마치 긴 안테나를 만든 것처럼 분해능이 좋아집니다. 이것을 합성 개구 (synthetic aperture) 라 부르고, 레이더 분야의 SAR 과 같은 원리입니다.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50 개 점이 커버하는 영역이 5 에서 8 m 정도인데 파도 파장은 50 에서 300 m 라서 너무 짧기 때문이죠. 하지만 선박이 이동하면서 여러 순간의 데이터를 모으면 관측 영역이 효과적으로 넓어져서 파수를 정확히 추정할 수 있습니다.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세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세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Tang-Bhaskar-Recht 2013 의 off-grid CS 이론은 우리 parametric 접근의 영감이고, Möller-Trumbore 1997 의 ray-triangle intersection 은 WaveSim ray tracing 의 표준입니다. Hunt 2007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300 개입니다. Ground-truth η field 50×50 격자가 평가 시 참값이고, LiDAR scan 은 raydrop / shadowing / Fresnel 적용 후 frame 당 50 점 정도 valid 합니다. HDF5 format 으로 각 episode 약 12 MB, 총 110 episode 1.2 GB.</a:t>
            </a:r>
          </a:p>
          <a:p/>
          <a:p>
            <a:r>
              <a:t>Reproducibility 는 보장됩니다. Seed 저장, Wave generator (Gerstner+JONSWAP) 와 LiDAR raydrop 모두 deterministic, 그리고 53 + 55 = 108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Wang-Pan 2021/22
Wang 2025
Yan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Wang &amp; Pan 2021/22 (JFM) + Wang 2025 (Coastal Eng) — EnKF family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Forecast 단계: 각 ensemble member 가 wave model 로 시간 진행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Analysis 단계: ensemble 의 covariance 와 measurement 로 베이지안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— Linear Wave Theory (LWT) 의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표면 boundary condition 의 비선형 항 (wave-wave interaction) 까지 spectral 표현으로 계산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steepness ε ~ 0.1 까지 처리 가능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Dommermuth &amp; Yue 1987, West et al. 1987 에서 출발한 표준 비선형 wave model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Wang 2025 (Coastal Eng 197)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 적응, Delaunay 보간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(Phys. Rev. Fluids 10, 094901)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Calibri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</a:t>
            </a:r>
            <a:r>
              <a:rPr sz="900" b="0">
                <a:solidFill>
                  <a:srgbClr val="1A1A2E"/>
                </a:solidFill>
                <a:latin typeface="Calibri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Calibri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</a:t>
            </a:r>
            <a:r>
              <a:rPr sz="900" b="0">
                <a:solidFill>
                  <a:srgbClr val="1A1A2E"/>
                </a:solidFill>
                <a:latin typeface="Calibri"/>
              </a:rPr>
              <a:t>: 파도 격자는 world frame 에 고정 (수백 m × 수백 m)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(LiDAR mount) 만 격자 안을 V=11.3 m/s 로 이동 → 관측 창만 이동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파도는 t 의 진행으로 자연 propagate (격자 자체는 그대로)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(n=1.318,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108 unit test + 110 episode + sea trial 데이터와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Nyquist 가 무엇인지 → 왜 0.4 rad/m 인지 → 왜 0.5–3 rad/m 추정 필요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Single-frame LiDAR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240 m 영역 × 50 valid 점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(best case), π / 8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0.4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(worst case)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필요한 wavenumber 범위 (BF3–BF6 sea state)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 파장 λ = 2π / k → k = 2π / λ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BF3 swell (λ = 12 m): k = 2π/12 ≈ 0.52 rad/m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BF4 wind wave (λ = 6 m): k = 2π/6 ≈ 1.05 rad/m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BF6 short wave (λ = 2 m): k = 2π/2 ≈ 3.14 rad/m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추정해야 할 k 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0.5–3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= single-frame Nyquist (0.4) 의 </a:t>
            </a:r>
            <a:r>
              <a:rPr sz="1000" b="1">
                <a:solidFill>
                  <a:srgbClr val="1A1A2E"/>
                </a:solidFill>
                <a:latin typeface="Calibri"/>
              </a:rPr>
              <a:t>1.25–7.5× 초과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🚨 Paradox</a:t>
            </a:r>
            <a:r>
              <a:rPr sz="1000" b="0">
                <a:solidFill>
                  <a:srgbClr val="1A1A2E"/>
                </a:solidFill>
                <a:latin typeface="Calibri"/>
              </a:rPr>
              <a:t>: 이론상 single frame 으로는 추정 불가능한 영역. 어떻게 추정?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해결책 — Multi-frame stacking (synthetic aperture)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Vessel V=11.3 m/s 로 1 s 이동 → 10 frame 누적 → vessel 위치 0 → 11.3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10 frame × 50 점 = </a:t>
            </a:r>
            <a:r>
              <a:rPr sz="1000" b="1">
                <a:solidFill>
                  <a:srgbClr val="1A1A2E"/>
                </a:solidFill>
                <a:latin typeface="Calibri"/>
              </a:rPr>
              <a:t>500 점</a:t>
            </a:r>
            <a:r>
              <a:rPr sz="1000" b="0">
                <a:solidFill>
                  <a:srgbClr val="1A1A2E"/>
                </a:solidFill>
                <a:latin typeface="Calibri"/>
              </a:rPr>
              <a:t>, 영역 240 + 11.3 = 251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하지만 핵심은 점 수 증가가 아니라 *시간 정보 (t_i) 가 phase 기준점 제공*: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점이 (x_i, y_i, t_i, η_i) 로 4D — temporal coherence 활용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Phase 정보로 wavenumber 모호성 해소 → Nyquist 한계 우회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Effective aperture L_SA = V·T_init = 11.3 m → Δk_aperture ≈ 2π / L_SA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0.56 rad/m 분해능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다음 슬라이드에서 *어떻게* (beamforming 식) 자세히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(2/2): Beamforming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+ coarse-to-fine — (k_x, k_y) 정밀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후보 wavenumber 가 측정 데이터와 가장 잘 맞는지 search — 신호처리 DOA 의 ocean wave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Beamforming 직관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후보 wavenumber (k_x⁰, k_y⁰) 에 대해 'wave 가 이 방향으로 ω(k) 주파수로 진행한다' 가정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측정 데이터의 phase 와 가정한 wave 의 phase 가 얼마나 일치하는지 score 로 평가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Score 가 가장 높은 (k_x, k_y) 를 선택 — 직관: '코러스 효과' (모든 점이 동시에 일치)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Beamforming score 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S(k_x⁰, k_y⁰) = | Σ_i η_obs(x_i, y_i, t_i) · exp(j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여기서: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누적된 모든 점 (10 frame × 50 점 = 500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η_obs: i-th 점에서 측정한 wave 변위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k⁰·x_i = k_x⁰·x_i + k_y⁰·y_i (후보 wavenumber 와 점 위치의 내적)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ω(k⁰) = √(g·|k⁰|·tanh(|k⁰|·d)) — 분산 관계로 자동 결정 (별도 자유도 아님)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exp(j·...) — phase factor (가정한 wave 의 위상)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해석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wave 가 (k_x⁰, k_y⁰) 방향이라면 모든 점의 phase 가 일치 → 합의 절댓값 ↑ → S(k) 가 peak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wave 가 다른 방향이라면 phase 가 random 하게 cancel → S(k) 작음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S(k) 가 큰 (k_x, k_y) = 실제 wave 의 wavenumber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Coarse-to-fine 2 단계 — 정밀화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Coarse: (k_x, k_y) 후보 격자 50×50 = 2,500 개. 각 후보의 S(k) 계산 → top-N peak 선택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Fine: 각 peak 주변에서 local quadratic fit → Newton step → sub-grid 정확도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(예: peak 가 격자 위 (0.5, 0.7) 인데 fine 으로 (0.534, 0.692) 처럼 정밀)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signal processing 연관</a:t>
            </a:r>
            <a:r>
              <a:rPr sz="1000" b="0">
                <a:solidFill>
                  <a:srgbClr val="1A1A2E"/>
                </a:solidFill>
                <a:latin typeface="Calibri"/>
              </a:rPr>
              <a:t>: DOA (Direction-of-Arrival) estimation — array antenna 에서 신호 도달 방향 찾는 표준 기법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우리는 이걸 wave estimation 에 적용 (LiDAR scan = sparse sensor array 로 간주)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 (least squares)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L(θ) = Σ_i 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LiDAR 측정점 (frame 당 ~50 점)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최소화 → wave model 이 측정값에 가장 가깝게 fit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Adam optimizer (Kingma &amp; Ba 2014) — update rule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lr=0.01, 50 iter / frame → ~13 ms (CPU)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(가지치기)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매 K frame 마다 (default K=10):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|A_n| &lt; ε_prune (= 0.05·max|A|) → 제거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에너지 기여 낮은 component 정리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Residual ‖η_obs − η_model‖ &gt; threshold: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 추출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(안전 복귀)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새 component 추가 후 RMSE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RMSE_new &gt; 1.3 · RMSE_old: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즉시 이전 state 로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추가의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Test coverage</a:t>
            </a:r>
            <a:r>
              <a:rPr sz="1000" b="0">
                <a:solidFill>
                  <a:srgbClr val="007ACC"/>
                </a:solidFill>
                <a:latin typeface="Calibri"/>
              </a:rPr>
              <a:t>: rollback path 가 unit test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18 wavesplat tests 중 4 개가 adaptive N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7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융합)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이동하면, 1초 동안 11.3m를 쓸고 지나감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 효과로 '가상의 긴 안테나(synthetic aperture)'가 만들어짐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단일 프레임 LiDAR 범위 5-8m → multi-frame으로 11m+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파수(k)의 모호성이 해소됨 (어떤 파도인지 구분 가능해짐)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선박 이동 → synthetic aperture(합성 개구) 형성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물리적 제약 부여 → 탐색 공간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Calibri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653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2025 (Coastal Eng 197)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Ne=300 + fuzzy R + Delaunay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Stereo camera 2D 실시간 (격자 기반)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충실 재현 대상**, 격자 한계, 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(Tellus A)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2023 (Ocean Eng)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2025 PFT-PINN (PRF)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2025 (arXiv VOF-EnKF)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Tang-Bhaskar-Recht 2013 (TIT)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8199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670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9415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