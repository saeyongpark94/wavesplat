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Saeyong Park 입니다. 오늘 발표는 *선박 LiDAR 로 파도를 실시간 추정하는 연구* 에 관한 것입니다.</a:t>
            </a:r>
          </a:p>
          <a:p/>
          <a:p>
            <a:r>
              <a:t>발표는 크게 두 부분으로 진행하겠습니다. 앞 절반은 지난 6 개월간 진행한 탐색 단계의 결과 — 선행 연구 13 편을 정독한 결과와, 우리가 만든 시뮬레이터 WaveSim 그리고 추정기 WaveSplat 이 어떻게 작동하는지를 보여드립니다. 뒤 절반은 그 과정에서 발견한 본질적 mechanism — 선박이 움직이면서 생기는 효과와 파도의 분산 관계가 결합해서 LiDAR 의 공간 해상도 한계를 어떻게 우회하는지 — 그리고 이것을 paper 의 main contribution 으로 격상시키려는 plan 입니다.</a:t>
            </a:r>
          </a:p>
          <a:p/>
          <a:p>
            <a:r>
              <a:t>외부 청자분들이 계시므로 도메인 배경부터 천천히 시작하겠습니다. 전공 용어가 처음 나오면 옆에 짧게 풀어 설명드리니 편하게 들어 주시면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왜 이 연구가 필요한지 동기부터 말씀드리겠습니다.</a:t>
            </a:r>
          </a:p>
          <a:p/>
          <a:p>
            <a:r>
              <a:t>파도 추정 분야에는 두 단계가 있습니다. 첫째는 통계적 추정입니다 — 유의파고 H_s, 첨두주기 T_p, JONSWAP 스펙트럼 같은 *평균적 통계량* 이죠. 이건 선박 설계나 해양 구조물 설계에는 충분합니다.</a:t>
            </a:r>
          </a:p>
          <a:p/>
          <a:p>
            <a:r>
              <a:t>둘째는 phase-resolved estimation, 즉 *위상까지 추정* 하는 단계입니다. 각 파도의 위치와 시점을 결정론적으로 추정합니다. 'BF4 sea state' 라는 통계가 아니라 'x = 120 m 위치에 5 초 후 H = 2 m 파도가 도착한다' 같은 구체적인 정보를 얻는 거죠.</a:t>
            </a:r>
          </a:p>
          <a:p/>
          <a:p>
            <a:r>
              <a:t>왜 이게 필요할까요? 실시간 제어에서는 '평균적으로 파도가 강하다' 라는 정보로는 특정 시점의 제어 결정을 내릴 수 없습니다. 어디에 큰 파도가 오는지 정확히 알아야 선박 ride control, hydrofoil, autonomous navigation 같은 응용이 가능해집니다.</a:t>
            </a:r>
          </a:p>
          <a:p/>
          <a:p>
            <a:r>
              <a:t>가장 직접적인 응용은 hydrofoil ride control 입니다. 우리 연구실에서 진행 중인 hydrofoil 연구의 동기이기도 한데요, 파도를 미리 보고 hydrofoil 의 angle 을 미리 조절하면 승차감 (ride RMS) 을 크게 줄일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그런데 이 문제가 왜 어려운지 세 가지 도전 과제로 나눠서 설명드리겠습니다.</a:t>
            </a:r>
          </a:p>
          <a:p/>
          <a:p>
            <a:r>
              <a:t>첫 번째는 *희소하고 비균일한 측정* 입니다. LiDAR 는 흔히 쓰이는 wave gauge 나 dense radar 와 매우 다릅니다. 한 frame 에 유효한 점이 50 개 정도로 매우 희소하고, 거리에 따라 점밀도가 변합니다. 또 raydrop — 파도가 LiDAR 빔을 반사하지 못해 점이 누락되는 현상 — 과 shadowing — 앞쪽 파도가 뒤쪽을 가리는 현상 — 같은 물리 효과로 점이 더 줄어듭니다. 기존 wave estimation 방법론은 dense 하고 균일한 측정 가정으로 설계되어 있어서 LiDAR setup 에 직접 적용하기 어렵습니다.</a:t>
            </a:r>
          </a:p>
          <a:p/>
          <a:p>
            <a:r>
              <a:t>두 번째는 *실시간 제약* 입니다. 제어 루프에 들어가야 하므로 한 frame 처리에 100 ms 이내여야 합니다. EnKF 같은 앙상블 방법론이나 PINN 같은 신경망 학습 방법론은 분 단위에서 시간 단위까지 걸려서 이 제약을 만족하지 못합니다.</a:t>
            </a:r>
          </a:p>
          <a:p/>
          <a:p>
            <a:r>
              <a:t>세 번째는 *2D 방향성 sea state* 입니다. 실제 바다는 한 방향 파도가 아니라 여러 방향 파도가 섞여 있습니다. 따라서 wavenumber 도 단순한 k 가 아니라 vector (k_x, k_y) 를 추정해야 합니다. Klein 2020, Desmars 2023 같은 선행 연구는 대부분 1D 가정으로 단순화하지만, 우리는 2D 를 그대로 다룹니다.</a:t>
            </a:r>
          </a:p>
          <a:p/>
          <a:p>
            <a:r>
              <a:t>다음 슬라이드부터 선행 연구 13 편을 검토한 결과를 보여드리고, 이 niche 가 실제로 비어 있음을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배경 설명에 들어가기 전에 먼저 결과부터 보여드리겠습니다.</a:t>
            </a:r>
          </a:p>
          <a:p/>
          <a:p>
            <a:r>
              <a:t>왼쪽 막대 그래프는 두 방법의 평균 정확도 비교입니다. nRMSE 는 정규화된 평균 제곱근 오차로, 0 에 가까울수록 정확합니다. 0.2 정도면 실제 파도와 추정의 차이가 파도 표준편차의 약 20% 라는 뜻입니다. 우리 WaveSplat 이 0.211, Wang2025 가 0.253 입니다. Wang2025 는 2025 년에 출판된 논문 (Coastal Engineering 197) 의 방법을 — 앙상블 300 개, fuzzy R 적응 등 — 그대로 재현한 것입니다.</a:t>
            </a:r>
          </a:p>
          <a:p/>
          <a:p>
            <a:r>
              <a:t>오른쪽은 추정 시간 비교인데요, 로그 스케일로 그렸습니다. WaveSplat 이 13.4 ms 로 초당 75 번 추정 가능해서 10 Hz 제어 루프에 충분히 적합합니다. Wang2025 는 632 ms — 한 번 추정에 0.6 초 이상 걸려서 실시간으로는 어렵습니다. 참고로 Ehlers 2023 의 FNO 는 1.9 ms 로 빠르지만 supervised pre-training 이 필요하고, Ehlers 2025 의 PFT-PINN 은 instance 마다 30 분 학습이 필요해서 완전 오프라인입니다.</a:t>
            </a:r>
          </a:p>
          <a:p/>
          <a:p>
            <a:r>
              <a:t>한 줄로 요약하면 WaveSplat 이 *더 정확하면서 47 배 빠른* 방법입니다. 이제부터 왜 이런 결과가 가능한지, 선행 연구와 어떻게 다른지를 차례로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편의 논문을 정독한 결과를 5 가지 접근법으로 분류했습니다. 각 접근법의 작동 원리와 강점·한계를 자세히 풀어 설명드리겠습니다.</a:t>
            </a:r>
          </a:p>
          <a:p/>
          <a:p>
            <a:r>
              <a:t>첫 번째는 *격자 기반 최적화* 로 Desmars 2018, 2020, 2023 이 대표적입니다. 공간을 일정 간격 격자로 나누고 각 격자점에서 파도 진폭을 추정한 뒤, 추정값이 만들어내는 측정값과 실제 측정값의 차이를 비용함수로 최소화합니다. 강점은 수치해석 분야에서 framework 가 잘 정립되어 있다는 것이고요, 한계는 추정 가능한 wavenumber 가 격자 간격에 묶인다는 점 — Nyquist 한계로 격자 사이 wavenumber 는 표현 불가능 — 그리고 거의 모두 1D 가정이라는 점입니다.</a:t>
            </a:r>
          </a:p>
          <a:p/>
          <a:p>
            <a:r>
              <a:t>두 번째는 *앙상블 칼만 필터* 로 Wang-Pan 2021/22, Wang 2025, Yan 2025 가 있습니다. 50 에서 300 개의 wave simulation 을 동시에 돌리면서 측정값으로 베이지안 업데이트하는 방식인데요, Wang-Pan 은 비선형 wave model 인 HOS 를 forecast 에 쓰고, Yan 2025 는 Navier-Stokes 까지 써서 wave breaking 도 처리합니다. 강점은 가장 높은 물리 충실도이고, 한계는 ensemble 비용으로 GPU 써도 수백 ms 이상 걸려서 실시간 제어에 부적합하다는 것입니다.</a:t>
            </a:r>
          </a:p>
          <a:p/>
          <a:p>
            <a:r>
              <a:t>세 번째는 *지도학습 신경망* 으로 Ehlers 2023 의 FNO 가 대표적입니다. 3120 개의 합성 데이터로 NN 을 미리 학습시킨 뒤 sparse measurement 에서 wave field 를 출력하는데, 학습 후 inference 가 1.9 ms 로 매우 빠릅니다. 한계는 학습 데이터 자체가 큰 비용이고, 학습 분포 밖에서는 정확도가 떨어지는 distribution shift 문제가 있습니다.</a:t>
            </a:r>
          </a:p>
          <a:p/>
          <a:p>
            <a:r>
              <a:t>네 번째는 *물리 기반 비지도 NN* 으로 Ehlers 2025 의 PFT-PINN 이 있습니다. PDE residual 을 loss 로 강제해서 학습 데이터 없이 비선형 wave 까지 처리합니다. 한계는 instance 마다 30 분 학습이 필요해서 real-time 불가능하고, buoy 시계열만 처리해서 LiDAR setup 미지원입니다.</a:t>
            </a:r>
          </a:p>
          <a:p/>
          <a:p>
            <a:r>
              <a:t>마지막 다섯 번째가 우리 WaveSplat 입니다. 격자 없이 N 개 plane wave 의 파라미터를 직접 추정하는데, 분산 관계를 hard constraint 로 강제해서 자유도를 5N 에서 4N 으로 줄입니다. 강점은 100 ms 이내 추정에 2D directional + LiDAR raydrop 까지 모사한다는 것이고, 한계는 linear superposition 가정 — ε &lt; 0.07 영역에서만 신뢰한다는 것입니다.</a:t>
            </a:r>
          </a:p>
          <a:p/>
          <a:p>
            <a:r>
              <a:t>다음 슬라이드부터 가장 중요한 선행 연구 두 편을 자세히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논문 family 가 우리의 가장 직접적인 비교 대상입니다. 두 핵심 용어부터 정의해드리겠습니다.</a:t>
            </a:r>
          </a:p>
          <a:p/>
          <a:p>
            <a:r>
              <a:t>EnKF — 앙상블 칼만 필터입니다. 50 에서 300 개의 wave simulation 을 동시에 진행하면서, 측정값이 들어올 때마다 베이지안 업데이트로 갱신하는 방식입니다. Forecast 단계에서는 각 ensemble member 가 wave model 로 시간을 진행하고, Analysis 단계에서는 ensemble 평균과 covariance 로부터 Kalman gain 을 계산해 update 합니다. 원래 기상학 데이터 동화에서 출발한 기법인데 Wang-Pan 2021 이 wave estimation 에 처음 적용했습니다.</a:t>
            </a:r>
          </a:p>
          <a:p/>
          <a:p>
            <a:r>
              <a:t>HOS — High-Order Spectral method 라고 부르는 비선형 wave model 입니다. 우리가 쓰는 LWT 는 plane wave 의 단순 선형 중첩으로만 표현해서 ε &lt; 0.07 에서만 정확합니다. 반면 HOS 는 표면 경계 조건의 비선형 항 — 두 파도가 만나서 생기는 추가 파도 같은 wave-wave interaction — 까지 spectral 로 계산해서 ε ~ 0.1 까지 처리 가능합니다. Dommermuth &amp; Yue 1987 과 West et al. 1987 이 독립적으로 제안한 후 ocean engineering 의 표준이 됐고요, Klein 2020 의 정량 비교에서 HOSM &gt; NLSE2 &gt; NLSE &gt; LWT 순으로 정확도가 정리됐습니다.</a:t>
            </a:r>
          </a:p>
          <a:p/>
          <a:p>
            <a:r>
              <a:t>이 family 의 발전 과정을 보면 — Wang &amp; Pan 2021 이 EnKF + HOS 를 처음 결합했고, 2022 에서 current 까지 동시 추정하도록 확장 (EnKF-HOS-C), 그리고 가장 최근 Wang 2025 가 앙상블 300 개에 fuzzy R (측정 노이즈 자동 적응) 과 Delaunay 보간 (불규칙 측정점 처리) 을 추가했습니다.</a:t>
            </a:r>
          </a:p>
          <a:p/>
          <a:p>
            <a:r>
              <a:t>우리는 Wang 2025 의 방법을 코드로 충실히 재현했습니다 — Ne=300, 80×60 격자, dx=3m, fuzzy R, Delaunay 모두 포함. 원논문과의 차이는 forecast 모델로 HOS 대신 linear dispersion 을 사용한 것인데요, 이건 우리 WaveSplat 도 linear 이므로 공정 비교를 위해서입니다.</a:t>
            </a:r>
          </a:p>
          <a:p/>
          <a:p>
            <a:r>
              <a:t>비교 결과 WaveSplat 이 nRMSE 0.211 에 13 ms 인 반면 Wang2025 는 0.253 에 632 ms 입니다. 에피소드별로 보면 단순 파도 (1-5 성분) 에서는 WaveSplat 이 압도적이지만 — 예를 들어 BF3 2-comp 에서 0.052 vs 0.250 — 복잡한 파도 (15-30 성분) 에서는 Wang2025 가 더 나은 경우도 있어서 이 trade-off 는 정직하게 보고할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Ehlers 2025 의 PFT-PINN 은 우리에게 *가장 위협적인* 선행 연구입니다. 이유는 우리와 *근본 철학이 같기* 때문이죠 — 학습 데이터 없이 physics constraint 를 직접 강제하는 방식입니다. 다만 구현 방식이 다릅니다.</a:t>
            </a:r>
          </a:p>
          <a:p/>
          <a:p>
            <a:r>
              <a:t>PFT-PINN 의 방식을 풀어 설명드리면, 두 신경망을 동시에 학습합니다 — η-net (wave 표면 추정) 과 Φ-net (velocity potential 추정). 손실함수는 Laplace 방정식 + 표면 경계조건 + 바닥 조건의 PDE residual 이고, auto-differentiation 으로 이걸 계산하는 게 NN 의 강점이죠. 또 hard-constraint trick 이라 해서 측정치를 NN architecture 에 직접 hard-encode 해서 data loss 의 balancing 문제를 회피합니다.</a:t>
            </a:r>
          </a:p>
          <a:p/>
          <a:p>
            <a:r>
              <a:t>이게 1D wave flume 에서는 잘 작동합니다. 30 분 학습 후 SSP 0.05 이하 정도 정확도가 나옵니다. 하지만 한계가 명확합니다 — instance 마다 30 분 학습이라 design-time 분석 도구로는 좋지만 real-time 제어에는 못 씁니다. 또 1D + t 만 다루고 2D directional 은 future work 로 두고요, 입력은 buoy 시계열만 가능해서 sparse LiDAR 는 미지원입니다.</a:t>
            </a:r>
          </a:p>
          <a:p/>
          <a:p>
            <a:r>
              <a:t>결정적 위협은 *future work* 입니다. 같은 그룹이 'real-time speedup via parallelization, pre-training, multi-GPU' 와 '2D + t extension' 을 명시적으로 future work 로 적었습니다. 1-3 년 안에 우리 niche 를 흡수할 가능성이 있죠. 대응 전략은 두 가지입니다. 첫째 우리가 빨리 publish 해서 시간 우위를 확보하고, 둘째 응용 영역 차별화 — PINN 은 design-time 분석 도구, 우리는 real-time 제어 component 라는 점을 명확히 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표가 *각 방법이 어떤 응용에 적합한가* 를 한 눈에 보여줍니다. 행은 '이런 기능이 필요한가?', 노란색으로 강조된 열이 우리 WaveSplat 입니다.</a:t>
            </a:r>
          </a:p>
          <a:p/>
          <a:p>
            <a:r>
              <a:t>핵심 관찰은 — 어떤 방법도 모든 항목에 ✓를 받지는 못한다는 점입니다. 각 방법마다 고유한 강점이 있고, 적합한 응용 영역이 다릅니다.</a:t>
            </a:r>
          </a:p>
          <a:p/>
          <a:p>
            <a:r>
              <a:t>우리의 고유한 위치는 *실시간 + 2D 방향성 + 희소 LiDAR + 학습 데이터 불필요* 의 네 가지를 모두 만족하는 것입니다. 이 조합을 만족하는 선행 연구는 없습니다.</a:t>
            </a:r>
          </a:p>
          <a:p/>
          <a:p>
            <a:r>
              <a:t>응용 영역을 크게 둘로 나누면 — *실시간 제어 영역* 에는 우리 WaveSplat 과 FNO 가 들어가고 (선박 제어, hydrofoil 등 즉시 결정 필요), *정밀 분석 영역* 에는 VOF-EnKF 와 PFT-PINN 이 들어갑니다 (시간은 충분하지만 가장 정확한 분석 필요). 우리는 PFT-PINN 이나 VOF-EnKF 와 *경쟁하는 게 아니라* 서로 다른 영역을 담당하는 거죠. 직접 비교 대상은 FNO 인데, FNO 는 1D + 지도학습, 우리는 2D + 비지도학습으로 차별화됩니다.</a:t>
            </a:r>
          </a:p>
          <a:p/>
          <a:p>
            <a:r>
              <a:t>정직한 한계도 표에 보입니다 — 파도 파쇄 처리 못 하고 (VOF-EnKF 만 가능), 유속장 추정 못 합니다 (PINN/EnKF 만 가능). 이런 한계는 논문에 정직하게 명시할 예정입니다.</a:t>
            </a:r>
          </a:p>
          <a:p/>
          <a:p>
            <a:r>
              <a:t>다음부터는 우리가 만든 시뮬레이터와 추정기를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WaveSim 시뮬레이터의 4 가지 구성 — 파도 모델, 스펙트럼, 분산 관계, LiDAR 센서 — 각각의 물리적 합당성과 검증을 설명드립니다.</a:t>
            </a:r>
          </a:p>
          <a:p/>
          <a:p>
            <a:r>
              <a:t>(1) 파도 모델 — Gerstner 파:</a:t>
            </a:r>
          </a:p>
          <a:p>
            <a:r>
              <a:t>  - 단순 sinusoidal (LWT) 는 수면 변위만 표현 (η = A cos(...)).</a:t>
            </a:r>
          </a:p>
          <a:p>
            <a:r>
              <a:t>  - Gerstner 파는 입자의 운동까지 모사 — 입자가 원/타원 궤적으로 회전하면서 표면 형성.</a:t>
            </a:r>
          </a:p>
          <a:p>
            <a:r>
              <a:t>  - Q ∈ [0, 1]: 가파름 척도. Q=0 이면 LWT 와 동일, Q&gt;0 이면 약비선형 (crest sharp, trough flat — Stokes-1 풍).</a:t>
            </a:r>
          </a:p>
          <a:p>
            <a:r>
              <a:t>  - Q 제약: Σ Q_i · ω_i · A_i ≤ 1. 이 제약을 어기면 입자 궤적이 자체 교차해서 비물리적 — Tessendorf 2001 의 particle crossing prevention.</a:t>
            </a:r>
          </a:p>
          <a:p>
            <a:r>
              <a:t>  - 합당성: Tessendorf 2001 SIGGRAPH 의 ocean simulation 표준, Dean &amp; Dalrymple 1991 교과서.</a:t>
            </a:r>
          </a:p>
          <a:p>
            <a:r>
              <a:t>  - 검증: wavesim/tests/ 의 Q-constraint test 가 ΣQ·ω·A 가 1 이하 유지 확인.</a:t>
            </a:r>
          </a:p>
          <a:p/>
          <a:p>
            <a:r>
              <a:t>(2) 스펙트럼 — JONSWAP (Joint North Sea Wave Project):</a:t>
            </a:r>
          </a:p>
          <a:p>
            <a:r>
              <a:t>  - Hasselmann et al. 1973 이 북해 측정 데이터로 정립한 표준 wave spectrum.</a:t>
            </a:r>
          </a:p>
          <a:p>
            <a:r>
              <a:t>  - S(ω) = α · g² · ω⁻⁵ · exp(−5/4 · (ω_p/ω)⁴) · γ^r — Pierson-Moskowitz 에 peak enhancement γ 추가.</a:t>
            </a:r>
          </a:p>
          <a:p>
            <a:r>
              <a:t>  - 입력: H_s (유의파고), T_p (첨두주기), γ (peak factor, default 3.3).</a:t>
            </a:r>
          </a:p>
          <a:p>
            <a:r>
              <a:t>  - N 개 wave 성분의 (A_n, ω_n) 를 spectrum 으로부터 sampling: amplitude 는 √(2·S(ω)·Δω).</a:t>
            </a:r>
          </a:p>
          <a:p>
            <a:r>
              <a:t>  - 방향 spreading: cos²ˢ 함수로 방향 성분 분배.</a:t>
            </a:r>
          </a:p>
          <a:p>
            <a:r>
              <a:t>  - 합당성: 해양공학 분야 표준 wave spectrum. ITTC (International Towing Tank Conference) 와 IACS (International Association of Classification Societies) 모두 채택.</a:t>
            </a:r>
          </a:p>
          <a:p/>
          <a:p>
            <a:r>
              <a:t>(3) 분산 관계 — Airy 1845:</a:t>
            </a:r>
          </a:p>
          <a:p>
            <a:r>
              <a:t>  - ω_n = √(g·|k_n|·tanh(|k_n|·d)) — frequency 와 wavenumber 의 표준 관계.</a:t>
            </a:r>
          </a:p>
          <a:p>
            <a:r>
              <a:t>  - linear wave theory 의 기본 결과 (Airy 1845 가 처음 정립).</a:t>
            </a:r>
          </a:p>
          <a:p>
            <a:r>
              <a:t>  - 입력: 중력 g = 9.81 m/s², 수심 d. 깊은 물 한계 (kd &gt;&gt; 1) 에서 ω = √(g·k).</a:t>
            </a:r>
          </a:p>
          <a:p>
            <a:r>
              <a:t>  - 합당성: 100 년 이상 사용된 표준. 모든 wave estimation paper 에서 그대로 사용.</a:t>
            </a:r>
          </a:p>
          <a:p/>
          <a:p>
            <a:r>
              <a:t>(4) LiDAR 센서 모사 — Falcon K1 spec 기준:</a:t>
            </a:r>
          </a:p>
          <a:p>
            <a:r>
              <a:t>  - 우리 simulator 의 default config 가 Falcon K1 LiDAR spec 과 일치.</a:t>
            </a:r>
          </a:p>
          <a:p>
            <a:r>
              <a:t>  - Horizontal FOV 120°: 전방향 360° 아니라 선수 방향 ±60° 반구 (marine LiDAR 의 일반 setup).</a:t>
            </a:r>
          </a:p>
          <a:p>
            <a:r>
              <a:t>  - Vertical FOV ±5°: 수평 기준 ±5° 좁음 (먼 거리 surface 측정용).</a:t>
            </a:r>
          </a:p>
          <a:p>
            <a:r>
              <a:t>  - 32 채널 × 360 horizontal beam = 11,520 ray / scan, range 10–200 m, 1550 nm 파장.</a:t>
            </a:r>
          </a:p>
          <a:p>
            <a:r>
              <a:t>  - Ray tracing: 각 ray 가 파도 표면 (격자에서 만든 triangle mesh) 과 만나는 첫 점 (first-hit) 을 찾음.</a:t>
            </a:r>
          </a:p>
          <a:p>
            <a:r>
              <a:t>  - Möller-Trumbore 1997: graphics 분야 표준 ray-triangle intersection 알고리즘.</a:t>
            </a:r>
          </a:p>
          <a:p/>
          <a:p>
            <a:r>
              <a:t>(5) Vessel motion 처리 — 사용자 질문의 답 ('관측 창만 이동') 맞음:</a:t>
            </a:r>
          </a:p>
          <a:p>
            <a:r>
              <a:t>  - 파도 field 는 충분히 큰 world frame 격자 (예: 500 m × 500 m) 에 고정. 시뮬레이션 시작 시 한 번 만들고 변경 없음.</a:t>
            </a:r>
          </a:p>
          <a:p>
            <a:r>
              <a:t>  - Vessel (LiDAR mount 점) 만 그 격자 안을 V=11.3 m/s 로 이동.</a:t>
            </a:r>
          </a:p>
          <a:p>
            <a:r>
              <a:t>  - 매 frame Δt=0.1 s 동안 vessel 위치가 1.13 m 전진. LiDAR FOV (관측 창) 도 함께 이동 — 매 frame 다른 영역 관측.</a:t>
            </a:r>
          </a:p>
          <a:p>
            <a:r>
              <a:t>  - 파도 자체의 시간 변화는 η(x, y, t) 의 t 가 진행하는 것으로 자연 처리. 격자 자체는 그대로.</a:t>
            </a:r>
          </a:p>
          <a:p>
            <a:r>
              <a:t>  - 결과: 매 frame 다른 vessel 위치에서 wave 의 다른 부분을 관측 — 이게 paper 의 main framing 인 synthetic aperture 효과의 원천.</a:t>
            </a:r>
          </a:p>
          <a:p/>
          <a:p>
            <a:r>
              <a:t>다음 슬라이드에서 raydrop (점이 왜 누락되는가) 과 검증을 다룹니다 — Fresnel 식 자체의 단계별 계산은 발표자에게는 별도 설명, 슬라이드에는 합당성·검증 위주.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이전 슬라이드에서 wave model + LiDAR 모사 4 단계를 설명드렸습니다. 이 슬라이드는 raydrop / shadowing 의 합당성과 검증을 다룹니다. Fresnel 식 자체의 단계별 계산은 backup A (또는 발표자에게 직접 설명) 으로 두고, 슬라이드는 *왜 합당한가 + 어떻게 검증되었나* 위주.</a:t>
            </a:r>
          </a:p>
          <a:p/>
          <a:p>
            <a:r>
              <a:t>(1) Raydrop 물리:</a:t>
            </a:r>
          </a:p>
          <a:p>
            <a:r>
              <a:t>  - 실제 LiDAR 에서 점 누락의 주 원인은 specular reflection.</a:t>
            </a:r>
          </a:p>
          <a:p>
            <a:r>
              <a:t>  - 매끄러운 표면은 ray 를 한 방향으로 반사 → LiDAR receiver 가 그 방향에 없으면 점 누락.</a:t>
            </a:r>
          </a:p>
          <a:p>
            <a:r>
              <a:t>  - 입사각 θ_i 가 grazing (90°) 에 가까울수록 specular 가 강해서 raydrop 확률 ↑.</a:t>
            </a:r>
          </a:p>
          <a:p>
            <a:r>
              <a:t>  - 모사: Fresnel reflectance R(θ_i) 와 거리 보정 1/d² 으로 종합 계산. 식 detail 은 backup.</a:t>
            </a:r>
          </a:p>
          <a:p/>
          <a:p>
            <a:r>
              <a:t>(2) Fresnel 의 합당성 — 발표 시 청자 질문에 대비:</a:t>
            </a:r>
          </a:p>
          <a:p>
            <a:r>
              <a:t>  - 19 세기 Augustin-Jean Fresnel 정립 (1820 년대). 광학 교과서 Hecht, Optics §4.6 에 표준 등장.</a:t>
            </a:r>
          </a:p>
          <a:p>
            <a:r>
              <a:t>  - 모든 광학 시뮬레이션 (rendering, oceanographic optics, satellite remote sensing) 에서 동일한 식 사용.</a:t>
            </a:r>
          </a:p>
          <a:p>
            <a:r>
              <a:t>  - Ocean LiDAR 분야 Nouguier-Grilli-Guérin 2014 (IEEE TGRS) 에서 그대로 적용 — 검증된 표준.</a:t>
            </a:r>
          </a:p>
          <a:p>
            <a:r>
              <a:t>  - 우리 simulator 의 1550 nm 파장 기준 물 굴절률 n = 1.318 은 광학 표준 데이터.</a:t>
            </a:r>
          </a:p>
          <a:p/>
          <a:p>
            <a:r>
              <a:t>(3) Geometric shadowing — 추가 모델 없음:</a:t>
            </a:r>
          </a:p>
          <a:p>
            <a:r>
              <a:t>  - Ray tracing 의 first-hit 결과로 자동 처리.</a:t>
            </a:r>
          </a:p>
          <a:p>
            <a:r>
              <a:t>  - 광선 직진 + 첫 충돌점만 측정 = geometric optics 의 자연 결과.</a:t>
            </a:r>
          </a:p>
          <a:p>
            <a:r>
              <a:t>  - 추가 가정 0, 자체 일관성 보장.</a:t>
            </a:r>
          </a:p>
          <a:p/>
          <a:p>
            <a:r>
              <a:t>(4) 검증 — 3 단계:</a:t>
            </a:r>
          </a:p>
          <a:p>
            <a:r>
              <a:t>  ① Unit test 108 개 — ray tracing 정확성, Fresnel 계산, shadowing edge case 각각 별도 test.</a:t>
            </a:r>
          </a:p>
          <a:p>
            <a:r>
              <a:t>  ② 110 episode 합성 dataset 으로 다양한 sea state 에서 동작 확인 (BF2–BF7).</a:t>
            </a:r>
          </a:p>
          <a:p>
            <a:r>
              <a:t>  ③ Sea trial 실측 LiDAR 데이터 (sea_trial_lidar.png) 와 점 분포 패턴 정성 비교 — 일치 확인.</a:t>
            </a:r>
          </a:p>
          <a:p/>
          <a:p>
            <a:r>
              <a:t>(5) 정직한 한계:</a:t>
            </a:r>
          </a:p>
          <a:p>
            <a:r>
              <a:t>  - 미세파 (capillary, mm 단위): LiDAR raydrop 에 추가 영향, 우리는 미반영.</a:t>
            </a:r>
          </a:p>
          <a:p>
            <a:r>
              <a:t>  - Foam, white cap: BF6 이상 wave breaking 시 발생.</a:t>
            </a:r>
          </a:p>
          <a:p>
            <a:r>
              <a:t>  - Breaking wave: VOF-EnKF 영역, 우리는 future work.</a:t>
            </a:r>
          </a:p>
          <a:p/>
          <a:p>
            <a:r>
              <a:t>발표 시 청자가 'Fresnel 어떻게 계산?' 물으면: 'Snell 로 굴절각 → 두 polarization 평균 → 거리 보정' 3 단계 라고 답변. 수식 자세히는 backup A 또는 wavesim/raydrop_uniform.py 의 fresnel_reflectance() 함수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슬라이드에서는 WaveSplat 의 발상 시작과 'Splat' 이라는 명칭의 유래를 설명드립니다.</a:t>
            </a:r>
          </a:p>
          <a:p/>
          <a:p>
            <a:r>
              <a:t>먼저 *왜 격자 기반은 부족한가* 부터 보겠습니다. Wang 2025 나 Desmars 같은 기존 방법은 바다 표면을 격자 위의 값으로 표현합니다. 80×60 격자면 추정해야 할 변수가 4,800 개죠. 그런데 LiDAR 관측 점은 frame 당 50 개뿐입니다. 50 개 측정으로 4,800 개 변수를 추정하는 건 정보 부족 (under-determined) 이라서 격자 외 추가 정보 — 부드러움 가정이나 앙상블 covariance — 를 동원해야 합니다. 게다가 격자 간격보다 짧은 파장은 Nyquist 한계 때문에 표현 자체가 불가능합니다.</a:t>
            </a:r>
          </a:p>
          <a:p/>
          <a:p>
            <a:r>
              <a:t>그래서 *발상을 전환했습니다*. JONSWAP 스펙트럼으로 분해해보면 실제 바다 파도는 보통 5 에서 30 개 정도의 사인 파 성분의 합으로 충분히 표현됩니다. 각 성분은 5 개의 숫자로 완전히 결정되는데요 — 진폭 A, 파수 (k_x, k_y), 각주파수 ω, 위상 φ 입니다. 조선해양 분야의 표준 wave 표현이죠. N=10 개 성분이면 변수 50 개라 LiDAR 관측 50 개로 1:1 추정이 가능해집니다. 게다가 분산 관계 ω = √(g·|k|·tanh(|k|·d)) 를 강제하면 ω 가 k 에서 자동 결정되어 변수가 5N 에서 4N 으로 줄고, 무엇보다 격자 간격이라는 한계가 사라집니다 — 파장이 짧든 길든 자연스럽게 표현 가능합니다.</a:t>
            </a:r>
          </a:p>
          <a:p/>
          <a:p>
            <a:r>
              <a:t>이 발상은 *3D Gaussian Splatting* 에서 영감을 얻었습니다. 3DGS 는 2023 년 SIGGRAPH 에서 발표된 컴퓨터 그래픽 방법인데, 3D 공간을 격자나 NN 대신 *여러 개의 Gaussian 원소의 합* 으로 표현하고 각 Gaussian 의 위치·크기·색을 gradient descent 로 직접 최적화합니다. 우리도 같은 발상으로 격자 없이 *여러 사인 파 성분의 합* 으로 wave field 를 표현하고, 각 성분의 5 변수를 직접 최적화하는 거죠. 도메인은 다르지만 (3DGS 는 영상, 우리는 파도) 핵심 철학은 같습니다.</a:t>
            </a:r>
          </a:p>
          <a:p/>
          <a:p>
            <a:r>
              <a:t>'Splat' 이라는 이름은 정직하게 말씀드리면 — 3DGS 의 'splatting' 은 그래픽 rendering 기법이라 우리 알고리즘에 정확히 적용되지는 않습니다. 다만 *명시적 원소를 직접 최적화* 한다는 발상의 영감을 표시한 working name 으로 쓰고 있습니다. Paper 작성 시 더 적절한 이름으로 변경할 수도 있습니다.</a:t>
            </a:r>
          </a:p>
          <a:p/>
          <a:p>
            <a:r>
              <a:t>다음 슬라이드부터 실제 알고리즘을 단계별로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Init 단계를 수식과 정량으로 자세히 설명합니다.</a:t>
            </a:r>
          </a:p>
          <a:p/>
          <a:p>
            <a:r>
              <a:t>먼저 *왜 Init 이 어려운가* 부터 정량으로 보겠습니다. Single frame LiDAR 가 240 m 영역에 50 점을 가지고 있으면 점 간격이 5 에서 8 m 정도입니다. Nyquist 한계로 이 single frame 에서 추정 가능한 wavenumber 는 k_max = π/Δy ≈ 0.4 rad/m 정도이죠. 그런데 우리가 추정해야 할 wave wavenumber 는 0.5 에서 3 rad/m 입니다. 즉 single frame 으로는 *Nyquist 한계 위* 영역을 추정해야 하는 paradox 인 거죠.</a:t>
            </a:r>
          </a:p>
          <a:p/>
          <a:p>
            <a:r>
              <a:t>해결책은 *multi-frame stacking 과 synthetic aperture 효과* 입니다. Vessel 이 11.3 m/s 로 1 초 동안 11.3 m 이동하면 10 frame 을 stacking 했을 때 효과적인 개구가 11.3 m 가 됩니다. 이 효과 개구로 wavenumber 분해능이 약 0.56 rad/m 정도로 좋아져서 0.5 에서 3 rad/m 영역의 wave 추정이 가능해집니다.</a:t>
            </a:r>
          </a:p>
          <a:p/>
          <a:p>
            <a:r>
              <a:t>그 다음 *beamforming score 식* 입니다. 후보 wavenumber 에 대해 S(k) = |Σ η_obs · exp(j(k·x − ω(k)·t))|² 를 계산하는데요, 여기서 ω(k) 는 분산 관계로 자동 결정됩니다. 직관적 의미는 — '만약 wave 가 이 (k_x, k_y) 방향으로 진행한다면 측정 데이터의 phase 와 얼마나 일치하는가?' 입니다. 신호처리의 DOA estimation 기법을 ocean wave 에 적용한 거죠.</a:t>
            </a:r>
          </a:p>
          <a:p/>
          <a:p>
            <a:r>
              <a:t>그리고 *coarse-to-fine 2 단계* 로 진행합니다. Coarse 단계에서 50×50 = 2,500 후보 격자에서 S(k) 가 큰 peak N 개를 선택하고, Fine 단계에서 local quadratic fit 과 Newton step 으로 sub-grid 정확도까지 정밀화합니다. 표준 spectral estimation 기법입니다.</a:t>
            </a:r>
          </a:p>
          <a:p/>
          <a:p>
            <a:r>
              <a:t>마지막으로 *'konly' 라는 이름의 의미* — 이 단계에서는 k 만 추정하고 ω 는 분산 관계로 자동, 진폭 A 와 위상 φ 는 다음 tracking 단계에서 처리합니다. 이유는 single frame 에서 (A, φ) 는 잘 추정되지만 k 는 ill-conditioned 이기 때문이죠. Fisher Information Matrix 분석으로 보면 k 의 eigenvalue 가 (A, φ) 보다 훨씬 작습니다. 이게 paper 후반부의 identifiability decomposition 입니다.</a:t>
            </a:r>
          </a:p>
          <a:p/>
          <a:p>
            <a:r>
              <a:t>참고로 이전 v1 은 FFT 기반이었는데 LiDAR 점이 불규칙해서 잘 안 됐고, v2 의 beamforming 으로 바꾸면서 평균 18% 정확도 개선됐습니다.</a:t>
            </a:r>
          </a:p>
          <a:p/>
          <a:p>
            <a:r>
              <a:t>다음 슬라이드는 tracking 단계와 최적화 detail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추적 단계와 Adaptive N 을 설명합니다.</a:t>
            </a:r>
          </a:p>
          <a:p/>
          <a:p>
            <a:r>
              <a:t>Tracking 의 핵심은 *w_phi mode* — 파수 k 를 고정하는 것입니다. 이게 WaveSplat 의 가장 중요한 설계 결정이에요. k 까지 자유롭게 업데이트하면 50 개 점에 over-fit 해서 물리적으로 무의미한 값으로 발산해버립니다. 그래서 init 에서 결정된 k 는 고정하고, 매 frame 진폭과 위상만 update 합니다.</a:t>
            </a:r>
          </a:p>
          <a:p/>
          <a:p>
            <a:r>
              <a:t>최적화 알고리즘은 *Adam* 을 씁니다. 딥러닝에서 가장 많이 쓰이는 최적화 알고리즘인데요, 각 파라미터의 gradient 와 적응적 학습률로 효율적으로 update 합니다. lr=0.01, 50 iterations 로 frame 당 약 13 ms 가 걸립니다.</a:t>
            </a:r>
          </a:p>
          <a:p/>
          <a:p>
            <a:r>
              <a:t>*Adaptive N* 은 성분 수를 동적으로 조정하는 기능입니다. 실제 파도의 성분 수를 미리 알 수 없기 때문에 — BF2 의 단순 파도는 2-3 개, BF5 의 복잡한 파도는 15-30 개 — 고정하면 underfit 또는 overfit 이 됩니다. 세 가지 메커니즘으로 작동합니다.</a:t>
            </a:r>
          </a:p>
          <a:p/>
          <a:p>
            <a:r>
              <a:t>첫째 pruning — 진폭이 너무 작은 성분은 제거합니다. 둘째 growth — 잔여 오차가 크면 새 성분을 추가합니다. 셋째 safety rollback — 새 성분 추가 후 RMSE 가 30% 이상 증가하면 즉시 이전 상태로 복구합니다. Rollback 이 중요한 이유는 잘못된 성분 추가가 cascade failure 로 이어지는 걸 방지하기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WaveSplat 의 실제 추정 결과를 시각적으로 보여드립니다. 단순 case (BF3 N=2) 의 한 시점입니다.</a:t>
            </a:r>
          </a:p>
          <a:p/>
          <a:p>
            <a:r>
              <a:t>그림은 위 row 가 2D heatmap, 아래 row 가 3D surface 입니다. 좌측은 ground truth — 실제 파도의 참값이고, 중앙은 WaveSplat 추정 결과, 우측이 Error (GT − WaveSplat) 잔여 오차입니다.</a:t>
            </a:r>
          </a:p>
          <a:p/>
          <a:p>
            <a:r>
              <a:t>여기서 보시면 GT 와 WaveSplat 의 파도 패턴이 거의 일치합니다. 위치, 방향, 진폭 모두 잘 재구성됐고요, Error panel 이 거의 white 입니다. 즉 잔여 오차가 매우 작다는 뜻이죠. 단순 wave (N=2) 에서 nRMSE 약 0.05 수준입니다.</a:t>
            </a:r>
          </a:p>
          <a:p/>
          <a:p>
            <a:r>
              <a:t>다양한 case 의 비교는 Appendix C 에 추가했습니다 — BF3 N=2, BF3 N=5, BF4 N=5 의 GT vs WaveSplat 비교를 모았습니다. Animation 버전은 paper/figures/demo_wavesplat.gif 에서 PowerPoint 에 GIF 로 교체 가능합니다.</a:t>
            </a:r>
          </a:p>
          <a:p/>
          <a:p>
            <a:r>
              <a:t>이 슬라이드에서 잠깐 멈추고 청자가 직접 비교하게 하면 효과적입니다. *눈으로 봐도 거의 같다* 는 게 가장 직관적인 evidence 거든요. 다음 슬라이드의 정량 비교 (nRMSE 0.211 vs 0.253) 가 이 시각적 인상을 뒷받침합니다.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슬라이드가 *핵심 비교 결과* 입니다.</a:t>
            </a:r>
          </a:p>
          <a:p/>
          <a:p>
            <a:r>
              <a:t>먼저 비교 방법을 설명드리겠습니다. WaveSplat 은 우리 방법으로, 파도를 파수·주파수·진폭·위상이라는 물리적 파라미터로 직접 표현하는 방식입니다. 격자를 쓰지 않고 파라미터 자체를 최적화합니다. Wang2025 는 비교 대상으로, 2025 년에 출판된 Wang 의 논문 (Coastal Engineering 197) 을 충실히 재현한 것입니다 — 300 개 시뮬레이션 (앙상블), 80x60 격자, fuzzy R 노이즈 자동 적응, Delaunay 보간 모두 포함했습니다. *우리가 임의로 만든 baseline 이 아니라 출판된 논문의 충실한 재현* 임을 강조드립니다.</a:t>
            </a:r>
          </a:p>
          <a:p/>
          <a:p>
            <a:r>
              <a:t>공정성을 위해 물리 모델을 동일하게 맞췄습니다. Wang2025 원논문은 비선형 HOS 를 쓰지만, 우리 WaveSplat 도 linear 이기 때문에 공정 비교 위해 둘 다 linear dispersion 을 적용했습니다. 만약 Wang2025 에만 HOS 를 쓰면 물리 모델 차이와 알고리즘 차이가 섞여서 순수한 알고리즘 비교가 어렵기 때문입니다.</a:t>
            </a:r>
          </a:p>
          <a:p/>
          <a:p>
            <a:r>
              <a:t>결과를 보시면 WaveSplat 이 평균 nRMSE 0.211 로 더 정확하고, 13 ms 로 47 배 빠릅니다. 다만 에피소드별 패턴이 매우 중요한데요 — *단순한 파도 (1-5 성분) 에서는 WaveSplat 이 크게 우수합니다*. BF3 2-comp 에서 WaveSplat 0.052 vs Wang2025 0.250 — 거의 완벽한 추정이죠. 반면 *복잡한 파도 (15-30 성분) 에서는 역전이 일어납니다*. BF4 15-comp 에서 WaveSplat 0.302 vs Wang2025 0.249. 이 한계는 뒤에서 정직하게 다시 다루겠습니다.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그래프가 우리 연구의 핵심 통찰을 보여줍니다.</a:t>
            </a:r>
          </a:p>
          <a:p/>
          <a:p>
            <a:r>
              <a:t>먼저 그래프 읽는 법부터 설명드리면 — 가로축은 파도 성분의 수입니다. 1-2 개면 아주 단순한 파도, 15-30 개면 매우 복잡한 파도죠. 세로축은 nRMSE 오차이고 낮을수록 정확합니다. 파란 동그라미가 WaveSplat 우리 방법, 빨간 네모가 Wang2025 입니다.</a:t>
            </a:r>
          </a:p>
          <a:p/>
          <a:p>
            <a:r>
              <a:t>여기서 세 가지 패턴을 봐주시면 됩니다.</a:t>
            </a:r>
          </a:p>
          <a:p/>
          <a:p>
            <a:r>
              <a:t>첫 번째 — *WaveSplat 의 강점은 단순 파도에서* 입니다. 파란 점이 왼쪽 (단순 파도) 에서 매우 낮습니다. BF3 2-comp 에서 0.052 — 오차가 5% 밖에 안 됩니다. 왜 가능하냐면, 2 개 성분이면 파라미터 10 개만 추정하면 되고 50 개 관측점이면 충분히 잘 맞출 수 있기 때문입니다. 격자 방법은 성분이 적어도 격자 해상도 한계가 있어서 이 정확도에 못 도달합니다.</a:t>
            </a:r>
          </a:p>
          <a:p/>
          <a:p>
            <a:r>
              <a:t>두 번째 — *Wang2025 의 특성* 입니다. 빨간 점이 복잡도에 관계없이 약 0.25 주변에 모여 있습니다. 이게 바로 격자 해상도의 한계예요. 격자가 고정되어 있어서 성분이 적든 많든 비슷한 정확도를 보여주는 거죠.</a:t>
            </a:r>
          </a:p>
          <a:p/>
          <a:p>
            <a:r>
              <a:t>세 번째 — *역전 지점* 입니다. 15 개 이상의 성분에서는 파란 점이 빨간 점보다 위로 갑니다. WaveSplat 은 성분을 하나하나 찾아야 하는데 30 개를 정확히 초기화하기가 어렵기 때문이고요, 격자 방법은 모든 성분을 한꺼번에 담을 수 있어서 이런 문제가 없습니다.</a:t>
            </a:r>
          </a:p>
          <a:p/>
          <a:p>
            <a:r>
              <a:t>정리하면 *WaveSplat 은 소수 성분을 정밀하게 추정하는 데 특화* 되어 있고, *격자 방법은 다수 성분을 균일하게 추정하는 데 강합니다*. 이 trade-off 는 논문에서 정직하게 보고할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ablation study, 즉 *각 기술의 기여도* 를 분리해서 보는 실험입니다.</a:t>
            </a:r>
          </a:p>
          <a:p/>
          <a:p>
            <a:r>
              <a:t>Ablation 이란 시스템에 들어간 기술을 하나씩 빼 보면서 빠진 게 실제로 도움이 되는지 확인하는 실험입니다. 의학의 '절제' 라는 용어에서 왔는데요, 논문 심사에서 '각 기술의 기여도를 증명하라' 는 요구가 반드시 나오기 때문에 필수적인 검증입니다.</a:t>
            </a:r>
          </a:p>
          <a:p/>
          <a:p>
            <a:r>
              <a:t>4 가지 변형을 비교했습니다.</a:t>
            </a:r>
          </a:p>
          <a:p>
            <a:r>
              <a:t>  - A 는 가장 기본 — FFT 초기화 + 단일 프레임. nRMSE 0.213.</a:t>
            </a:r>
          </a:p>
          <a:p>
            <a:r>
              <a:t>  - B 는 A 에 beamforming 과 multi-frame 을 추가한 버전. 0.208 로 약간 개선.</a:t>
            </a:r>
          </a:p>
          <a:p>
            <a:r>
              <a:t>  - C 는 A 에 분산 관계 (물리 법칙) 만 추가한 버전. 그런데 0.226 으로 *오히려 악화* 됩니다.</a:t>
            </a:r>
          </a:p>
          <a:p>
            <a:r>
              <a:t>  - D 는 모두 결합한 우리 WaveSplat. 0.211 로 가장 안정적입니다.</a:t>
            </a:r>
          </a:p>
          <a:p/>
          <a:p>
            <a:r>
              <a:t>여기서 흥미로운 점은 C 가 왜 악화되는가 인데요, 단일 프레임에서 초기 파수 추정이 부정확하면 물리 법칙이 그 오류를 주파수까지 전파시키기 때문입니다. 즉 *물리 법칙은 multi-frame 과 함께 써야 시너지가 난다* 는 게 핵심 메시지입니다.</a:t>
            </a:r>
          </a:p>
          <a:p/>
          <a:p>
            <a:r>
              <a:t>한마디로, 물리 법칙 (dispersion) 은 마법이 아니라 *정규화* 역할입니다. 물리적으로 가능한 답만 찾도록 범위를 좁혀주는 거죠.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우리 연구의 핵심 메시지입니다. 두 가지 메커니즘이 결합해서 작동합니다.</a:t>
            </a:r>
          </a:p>
          <a:p/>
          <a:p>
            <a:r>
              <a:t>첫 번째 메커니즘은 *분산 관계의 정규화 효과* 입니다. 분산 관계란 파도의 주파수와 파수 사이의 물리 법칙인데요, 깊은 바다에서 짧은 파도는 느리고 긴 파도는 빠릅니다. 이 관계를 알면 파수 k 가 결정되는 순간 주파수 ω 가 자동으로 결정됩니다. 추정해야 할 변수가 5N 개에서 4N 개로 20% 줄어들고, 더 중요하게 *물리적으로 불가능한 답이 자동으로 배제* 됩니다.</a:t>
            </a:r>
          </a:p>
          <a:p/>
          <a:p>
            <a:r>
              <a:t>두 번째 메커니즘은 *선박 이동의 합성 개구 효과* 입니다. 한 순간의 LiDAR 점 50 개만으로는 파도의 방향을 정확히 알기 어렵습니다. 하지만 선박이 이동하면서 여러 순간의 데이터를 모으면 마치 긴 안테나를 만든 것처럼 분해능이 좋아집니다. 이것을 합성 개구 (synthetic aperture) 라 부르고, 레이더 분야의 SAR 과 같은 원리입니다.</a:t>
            </a:r>
          </a:p>
          <a:p/>
          <a:p>
            <a:r>
              <a:t>Ablation 에서 발견한 핵심은 — *두 메커니즘은 각각 단독으로는 불완전하고 함께 써야 시너지가 난다* 는 것입니다. 물리 법칙만 쓰면 초기 파수 오류가 주파수로 전파되고, multi-frame 만 쓰면 자유도가 너무 높아 불안정합니다. 둘을 결합하면 multi-frame 으로 파수를 잘 추정하고 물리 법칙으로 답을 좁혀서 가장 안정적인 추정이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*왜 2 단계 설계가 자연스러운가* 를 설명드립니다.</a:t>
            </a:r>
          </a:p>
          <a:p/>
          <a:p>
            <a:r>
              <a:t>핵심 관찰부터 말씀드리면 — 파수 k 는 파도의 *공간적 패턴* 인데요, 한 순간의 LiDAR 스캔 50 개 점만으로는 이 패턴을 정확히 파악하기 어렵습니다. 50 개 점이 커버하는 영역이 5 에서 8 m 정도인데 파도 파장은 50 에서 300 m 라서 너무 짧기 때문이죠. 하지만 선박이 이동하면서 여러 순간의 데이터를 모으면 관측 영역이 효과적으로 넓어져서 파수를 정확히 추정할 수 있습니다. 반면 진폭 A 와 위상 φ 는 한 순간의 데이터로도 충분합니다 — *크기* 와 *현재 위치* 는 한 순간만 봐도 알 수 있기 때문입니다.</a:t>
            </a:r>
          </a:p>
          <a:p/>
          <a:p>
            <a:r>
              <a:t>그래서 자연스럽게 2 단계로 나뉘는 거죠. *Init 단계* 는 여러 프레임을 모아서 파수 k 를 정확히 결정합니다. 한 번만 하면 되고 1 초 이내에 끝납니다. *Track 단계* 는 파수를 고정하고 매 프레임마다 진폭·위상만 업데이트합니다. 13 ms 이내라 실시간 작동 가능하고요.</a:t>
            </a:r>
          </a:p>
          <a:p/>
          <a:p>
            <a:r>
              <a:t>*Adaptive N* 은 파도 성분의 수를 자동으로 조정하는 기능입니다. 너무 작은 성분은 제거 (pruning), 오차가 크면 새 성분 추가 (growth), 추가했더니 오히려 나빠지면 원래 상태로 복원 (safety rollback) 하는 세 가지 메커니즘입니다.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WaveSplat 의 응용 사례 — hydrofoil 제어에 시험 적용해본 결과를 보여드립니다. 현재는 preliminary test 단계로, 응용 가능성을 확인하는 정도입니다.</a:t>
            </a:r>
          </a:p>
          <a:p/>
          <a:p>
            <a:r>
              <a:t>왜 hydrofoil 제어가 좋은 응용인지부터 설명드리면 — hydrofoil 은 수중 날개로 lift 를 만들어 vessel 을 들어올리는 구조인데요, 파도를 만나면 그 lift 가 변동해서 vessel 이 heave 와 pitch 로 흔들립니다. 승차감이 저하되는 거죠. 만약 *앞쪽 파도 정보* (preview) 가 있으면 fin angle 을 미리 조절해서 disturbance 를 상쇄할 수 있습니다. WaveSplat 의 실시간 phase-resolved 추정이 정확히 이 preview 를 제공해줍니다.</a:t>
            </a:r>
          </a:p>
          <a:p/>
          <a:p>
            <a:r>
              <a:t>제어 구조를 정리하면 — 기존 PD controller 는 현재 heave error 만 보고 fin angle 을 조절하는 feedback only 방식입니다. 제안하는 PD + Feed-Forward 는 미래 wave disturbance 를 WaveSplat 으로 예측해서 fin angle 에 보상값을 미리 더하는 방식이죠. 최종 fin angle = PD(heave error) + FF(predicted wave disturbance) 입니다.</a:t>
            </a:r>
          </a:p>
          <a:p/>
          <a:p>
            <a:r>
              <a:t>테스트 setup 은 WaveSim 합성 파도와 hydrofoil dynamics simulator 를 결합해서, 같은 파도 시퀀스에 PD-only 와 PD+FF 두 controller 를 비교한 것입니다. Preview window 는 0.3 초 (V=11.3 m/s 에서 약 3 m 앞).</a:t>
            </a:r>
          </a:p>
          <a:p/>
          <a:p>
            <a:r>
              <a:t>강조드리고 싶은 건 — 현재는 *preliminary test* 단계라는 점입니다. 체계적인 controller tuning 과 robustness 평가는 후속 연구로 두었고요, 이번 lab meeting 에서는 'WaveSplat 정보가 제어에 실제로 도움이 되는가' 를 확인하는 정도입니다.</a:t>
            </a:r>
          </a:p>
          <a:p/>
          <a:p>
            <a:r>
              <a:t>다음 슬라이드에서 정량 비교 결과를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슬라이드가 PD vs PD+FF 비교 결과입니다.</a:t>
            </a:r>
          </a:p>
          <a:p/>
          <a:p>
            <a:r>
              <a:t>그림은 두 부분으로 구성되어 있습니다. 위쪽은 시간에 따른 wave 와 vessel 의 위치를 보여주고요, 아래쪽은 heave acceleration 의 time series 입니다 — 파란선이 PD-only, 빨간선이 PD+FF (WaveSplat 사용) 입니다.</a:t>
            </a:r>
          </a:p>
          <a:p/>
          <a:p>
            <a:r>
              <a:t>여기서 보시면 PD+FF 가 PD-only 보다 heave acceleration 이 명확히 작습니다. 즉 vessel 이 덜 흔들린다는 뜻이고요, 승차감 향상으로 직결됩니다. aRMS 로 정량화하면 PD 0.090 m/s² 에서 PD+FF 0.047 m/s² 로 약 48% 감소합니다. 이건 ISO 2631 의 ride comfort 기준으로 봐도 매우 의미 있는 수준입니다.</a:t>
            </a:r>
          </a:p>
          <a:p/>
          <a:p>
            <a:r>
              <a:t>다시 강조드리지만 이건 *시험 적용* 결과입니다. WaveSplat 정보가 제어에 실제로 도움이 된다는 *proof-of-concept* 인 거죠. 실제 선박 deployment 에는 controller robustness, sensor noise, vessel dynamics uncertainty 등 추가 고려가 필요하고, 이건 paper 2 나 학위논문 후속 연구로 이어가겠습니다.</a:t>
            </a:r>
          </a:p>
          <a:p/>
          <a:p>
            <a:r>
              <a:t>발표 tip: 이 슬라이드에서 잠깐 멈추고 청자가 두 line 의 차이를 직접 보게 하시면 효과적입니다. *눈으로 봐도 차이가 있다* 가 가장 직관적인 evidence 거든요.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한계를 정직하게 공유하는 시간입니다. 연구의 신뢰도를 높이려면 잘 되는 점뿐 아니라 한계도 먼저 인정해야 합니다. 세 가지 한계를 말씀드립니다.</a:t>
            </a:r>
          </a:p>
          <a:p/>
          <a:p>
            <a:r>
              <a:t>첫 번째는 *선형 근사 (Linear Wave Theory)* 의 한계입니다. 우리는 파도를 사인파의 합으로 표현하는데, 실제 파도는 꼭대기가 뾰족하고 골이 넓어서 사인파와 다릅니다. Klein 2020 논문에서 wave model 들을 정량 비교했는데 HOSM &gt; NLSE2 &gt; NLSE &gt; LWT 순으로 정확도가 정리됐고, 우리 LWT family 는 가장 단순합니다. ε (가파름) 이 0.07 이하일 때 신뢰할 수 있고 BF6 까지는 이 조건을 만족합니다. 향후 Stokes 2 차 보정을 추가하면 적용 범위를 더 넓힐 수 있습니다.</a:t>
            </a:r>
          </a:p>
          <a:p/>
          <a:p>
            <a:r>
              <a:t>두 번째는 *복잡한 파도에서의 역전* 입니다. 이번 비교 실험에서 발견된 한계인데요, 파도 성분이 15-30 개로 많아지면 격자 방법인 Wang2025 가 더 나아집니다. 예를 들어 BF4 N=15 case 에서는 WaveSplat 0.302, Wang2025 0.249 입니다. 이유는 — 격자 방법은 모든 성분을 한꺼번에 담을 수 있지만 WaveSplat 은 성분을 하나하나 찾아야 해서 30 개를 정확히 찾기는 어렵습니다. 대응은 hybrid init — 격자로 대략 찾고 파라미터로 정밀화하는 2 단계 초기화를 연구할 예정입니다.</a:t>
            </a:r>
          </a:p>
          <a:p/>
          <a:p>
            <a:r>
              <a:t>세 번째는 *파도 파쇄와 유속장 추정 미지원* 입니다. 이런 현상은 비선형 시뮬레이션 (VOF-EnKF, PFT-PINN) 만 처리할 수 있는데, 이들은 30 분에서 수시간 걸려 실시간 제어에는 쓸 수 없습니다. 결국 응용 영역이 다른 거죠 — 우리는 실시간 제어, 그들은 정밀 분석입니다.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향후 연구 방향 세 가지를 말씀드리겠습니다.</a:t>
            </a:r>
          </a:p>
          <a:p/>
          <a:p>
            <a:r>
              <a:t>첫 번째는 *고복잡도 파도 대응* 입니다. 지금까지의 실험에서 파도 성분이 15 개 이상이면 정확도가 떨어지는 것을 확인했습니다. 원인은 beamforming 초기화가 많은 성분을 동시에 분리하기 어렵기 때문인데요, 두 가지 해결 방향이 있습니다. 하나는 hybrid init — 격자 방법으로 먼저 대략적인 성분을 찾고 그 결과를 파라미터 초기값으로 정밀화하는 것이고, 다른 하나는 learned init — 신경망을 활용해서 LiDAR 점으로부터 초기 성분을 바로 추정하는 것입니다.</a:t>
            </a:r>
          </a:p>
          <a:p/>
          <a:p>
            <a:r>
              <a:t>두 번째는 *비선형 파도 확장* 입니다. 현재는 사인파의 합 (Linear Wave Theory) 으로 파도를 표현하는데, 실제 파도는 비선형적이어서 꼭대기가 뾰족하고 골이 넓습니다. 높은 파도에서는 정확도가 떨어지죠. Stokes 2 차 보정을 추가하면 파도의 비대칭성을 일부 반영할 수 있고, Klein 2020 논문에 따르면 이 보정으로 적용 범위가 크게 넓어집니다.</a:t>
            </a:r>
          </a:p>
          <a:p/>
          <a:p>
            <a:r>
              <a:t>세 번째는 *실측 데이터 검증* 입니다. 지금까지 결과는 모두 시뮬레이터에서 나온 것입니다. 실제 바다 LiDAR 데이터로 검증해야 하는데, 가장 큰 도전은 ground-truth 를 어떻게 확보하느냐 입니다. Wave buoy 나 X-band radar 로 동시 측정하는 방법을 고려하고 있습니다.</a:t>
            </a:r>
          </a:p>
          <a:p/>
          <a:p>
            <a:r>
              <a:t>최종 목표는 *선박 LiDAR 로 주변 파도를 실시간 추정하고 그 정보를 hydrofoil ride control 이나 자율운항 같은 선박 제어에 직접 활용할 수 있는 시스템* 을 만드는 것입니다.</a:t>
            </a:r>
          </a:p>
          <a:p/>
          <a:p>
            <a:r>
              <a:t>이상으로 발표를 마치겠습니다. 질문이나 피드백 환영합니다.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 는 정독한 13 편의 선행 연구를 한 표로 정리한 것입니다. Q&amp;A 시 청자가 특정 논문을 물어보면 이 표를 참조하시면 됩니다.</a:t>
            </a:r>
          </a:p>
          <a:p/>
          <a:p>
            <a:r>
              <a:t>Wave estimation 선행 연구 11 편을 그룹으로 정리해드리면 — Desmars family (2018, 2020, 2023) 는 LIDAR 와 optical 센서 + variational + HOS-OCM 의 발전 흐름이고, Wang-Pan / Wang family (2021, 2022, 2025) 는 EnKF-HOS 의 발전입니다 (Wang 2025 가 우리 baseline). Klein 2020 은 wave model 정량 비교로 우리 LWT operational range 를 정당화해주고, Ehlers 2023 과 2025 는 같은 그룹의 ML supervised (FNO) 와 unsupervised (PFT-PINN) 진화 사례입니다. Yan 2025 는 가장 정확한 wave breaking 처리 (offline) 입니다.</a:t>
            </a:r>
          </a:p>
          <a:p/>
          <a:p>
            <a:r>
              <a:t>Algorithmic foundation 으로 두 편이 더 있습니다 — Tang-Bhaskar-Recht 2013 의 off-grid CS 이론은 우리 parametric 접근의 영감이고, Möller-Trumbore 1997 의 ray-triangle intersection 은 WaveSim ray tracing 의 표준입니다. Hunt 2007 LETKF 도 EnKF 변형들의 출발점입니다.</a:t>
            </a:r>
          </a:p>
          <a:p/>
          <a:p>
            <a:r>
              <a:t>각 paper 의 detail 은 본문 슬라이드 (S5-S9, top 5) 또는 docs/strategic_repositioning.md (§17-§31) 를 참조하시면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B 는 WaveSim 의 110 episode 합성 dataset 구성을 한 눈에 정리한 표입니다. Q&amp;A 시 dataset 관련 질문 받으면 참조하시면 됩니다.</a:t>
            </a:r>
          </a:p>
          <a:p/>
          <a:p>
            <a:r>
              <a:t>Sea state 별로 episode 수를 정리하면 — BF2 부터 BF5 까지는 각 sea state × 다양한 N_components × seed 0-4 (5 개씩) 으로 총 70 개 정도 episode 가 있어서 통계 평가가 가능합니다. BF6-BF7 은 극한 sea state 라 seed 0 한 개씩만 — operational range 한계 확인용이고요. Calibration 은 raydrop η scale 같은 sensor 모델 calibration 용으로 별도 episode 입니다.</a:t>
            </a:r>
          </a:p>
          <a:p/>
          <a:p>
            <a:r>
              <a:t>Per-episode 데이터는 30 초 시뮬레이션, 0.1 초 간격으로 frame 300 개입니다. Ground-truth η field 50×50 격자가 평가 시 참값이고, LiDAR scan 은 raydrop / shadowing / Fresnel 적용 후 frame 당 50 점 정도 valid 합니다. HDF5 format 으로 각 episode 약 12 MB, 총 110 episode 1.2 GB.</a:t>
            </a:r>
          </a:p>
          <a:p/>
          <a:p>
            <a:r>
              <a:t>Reproducibility 는 보장됩니다. Seed 저장, Wave generator (Gerstner+JONSWAP) 와 LiDAR raydrop 모두 deterministic, 그리고 53 + 55 = 108 unit test 가 simulator 와 estimator 모두 검증합니다.</a:t>
            </a:r>
          </a:p>
          <a:p/>
          <a:p>
            <a:r>
              <a:t>이 dataset 자체가 paper 의 contribution 일부입니다 — Ehlers 2023 의 1D radar dataset 보다 풍부한 setup (2D directional + LiDAR sensor + 다양한 sea state) 이거든요.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C 는 GT 와 WaveSplat 비교 모음입니다. 옛날 ETKF/GPR 비교 figure 대신 GT/WaveSplat 만으로 새로 생성한 것이고, 2D heatmap 만 사용합니다 (3D 는 fig_demo_*.png 에).</a:t>
            </a:r>
          </a:p>
          <a:p/>
          <a:p>
            <a:r>
              <a:t>각 행이 하나의 episode 입니다 (BF3 N=2, BF3 N=5, BF4 N=5). 열은 GT, WaveSplat, Error 순서고요. 색상은 blue 가 음의 변위 (trough), white 가 수면, red 가 양의 변위 (crest).</a:t>
            </a:r>
          </a:p>
          <a:p/>
          <a:p>
            <a:r>
              <a:t>*nRMSE 가 case 마다 다른 이유* — 청자 의문 답변: nRMSE = RMSE / std(GT) 입니다. BF2 N=1 같은 매우 단순한 wave 는 amplitude 가 작아서 std(GT) 가 작고, 같은 절대 오차도 normalize 하면 더 커집니다. 즉 nRMSE 1.4 가 추정 실패가 아니라 *normalize 분모가 작아서 그렇게 보이는 것* 입니다. 또 N=1 같은 단일 component 는 우리 multi-component initialization 이 약한 영역이기도 하고요. *절대 정확도는 BF3 N=2 가 가장 좋아서 (nRMSE 0.05 수준)* 이걸 default 로 사용했습니다.</a:t>
            </a:r>
          </a:p>
          <a:p/>
          <a:p>
            <a:r>
              <a:t>사용자 활용 — `fig_demo_bf3_n2_2d3d.png`, `fig_demo_bf4_n5_2d3d.png` 등 case 별 2D+3D figure 가 docs/ 에 있습니다. PowerPoint 에서 원하는 case 로 직접 교체 가능합니다.</a:t>
            </a:r>
          </a:p>
          <a:p/>
          <a:p>
            <a:r>
              <a:t>(추가) Wang 2025 와의 직접 비교 figure (`fig_wang_compare_*.png`) 도 별도 생성됩니다 — 다음 슬라이드 또는 Q&amp;A 시 활용.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D 는 사용자 요청에 따른 Wang 2025 와의 직접 시각 비교입니다.</a:t>
            </a:r>
          </a:p>
          <a:p/>
          <a:p>
            <a:r>
              <a:t>Wang 2025 (Coastal Engineering 197) 를 우리가 충실히 재현했고 — Ne=300 ensemble, fuzzy R, Delaunay 보간 — 같은 BF3 N=2 episode 의 frame=200 snapshot 에서 추정 결과를 비교했습니다.</a:t>
            </a:r>
          </a:p>
          <a:p/>
          <a:p>
            <a:r>
              <a:t>결과를 보시면 좌측 GT 와 중앙 WaveSplat 은 wave 패턴 거의 일치합니다 (nRMSE 0.217). 반면 우측 Wang2025 는 격자 해상도 한계로 미세 wave 가 손실되고 위상 편차가 보입니다 (nRMSE 1.011). 단일 frame snapshot 이라 P1 평균 nRMSE 0.211 vs 0.253 보다는 큰 절댓값이지만 — 두 method 의 *상대적 차이* 는 명확히 드러납니다.</a:t>
            </a:r>
          </a:p>
          <a:p/>
          <a:p>
            <a:r>
              <a:t>Q&amp;A 활용: 청자가 'Wang2025 와 visual 차이가 진짜 있는가?' 물으면 이 figure 보여주시면 됩니다. 다른 case (BF3 N=5, BF4 N=5) 의 비교 figure 도 docs/fig_wang_compare_*.png 에 있어 PowerPoint 에서 교체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gif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A1A2E"/>
                </a:solidFill>
                <a:latin typeface="Calibri"/>
              </a:defRPr>
            </a:pPr>
            <a:r>
              <a:t>Phase-Resolved Ocean Wave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007ACC"/>
                </a:solidFill>
                <a:latin typeface="Calibri"/>
              </a:defRPr>
            </a:pPr>
            <a:r>
              <a:t>from Sparse Shipboard LiDAR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선박 LiDAR 로 파도의 형태를 실시간 추정하는 연구 — 탐색 단계 결과와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Exploration phase results &amp; a path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A1A2E"/>
                </a:solidFill>
                <a:latin typeface="Calibri"/>
              </a:defRPr>
            </a:pPr>
            <a:r>
              <a:t>Saeyong 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Lab Meeting · 2026-05-13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Motivation — 왜 이 연구가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위상까지 추정하는 파도 정보가 있어야 미리 대응할 수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Statistical (평균적 통계) 만으로는 부족 — 'when &amp; where' 의 결정론적 정보가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Statistical estimation</a:t>
            </a:r>
            <a:r>
              <a:rPr sz="1300" b="0">
                <a:solidFill>
                  <a:srgbClr val="1A1A2E"/>
                </a:solidFill>
                <a:latin typeface="Calibri"/>
              </a:rPr>
              <a:t> (현재 표준): 유의파고 H_s, 첨두주기 T_p, JONSWAP 스펙트럼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→ 평균적 파도 환경은 알 수 있지만, *언제 어디서 큰 파도가 올지* 는 알 수 없음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→ 선박 설계에는 충분, 실시간 제어에는 부족</a:t>
            </a:r>
          </a:p>
          <a:p>
            <a:pPr>
              <a:spcAft>
                <a:spcPts val="400"/>
              </a:spcAft>
            </a:pPr>
            <a:r>
              <a:rPr sz="600"/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Phase-resolved estimation</a:t>
            </a:r>
            <a:r>
              <a:rPr sz="1300" b="0">
                <a:solidFill>
                  <a:srgbClr val="1A1A2E"/>
                </a:solidFill>
                <a:latin typeface="Calibri"/>
              </a:rPr>
              <a:t> (이 연구): η(x, y, t) — 각 파도의 위치·시점을 결정론적으로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→ 'BF4 sea state' 가 아닌 'x = 120 m 위치에 5초 후 H = 2 m 파도' 같은 구체적 정보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→ look-ahead window (앞으로 0–30 초) 확보 가능</a:t>
            </a:r>
          </a:p>
          <a:p>
            <a:pPr>
              <a:spcAft>
                <a:spcPts val="400"/>
              </a:spcAft>
            </a:pPr>
            <a:r>
              <a:rPr sz="600"/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직접 응용 분야</a:t>
            </a:r>
            <a:r>
              <a:rPr sz="13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Hydrofoil ride control — 미리 본 파도로 feed-forward 제어 → 승차감 향상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Autonomous vessel — 위험 파도 회피, 항로 계획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Offshore operation — 인양·헬기 착륙 안전 window 결정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Wave-energy converter — 최적 damping 튜닝</a:t>
            </a:r>
          </a:p>
        </p:txBody>
      </p:sp>
      <p:pic>
        <p:nvPicPr>
          <p:cNvPr id="6" name="Picture 5" descr="hydrofoil_controll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023360"/>
            <a:ext cx="3657600" cy="12893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Problem — 무엇이 어려운가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선박 LiDAR 기반 phase-resolved 추정의 세 가지 어려움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이 세 조건을 동시에 만족하는 prior art는 존재하지 않습니다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Challenge 1 — Sparse, non-uniform measurements (희소·비균일 측정)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LiDAR 한 frame당 유효 점 ~50개 (전체 ray 중 raydrop·shadowing 후 남은 점)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거리에 따라 점밀도 다름: 근거리 dense, 원거리 sparse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탐지 거리 ~250 m 제한 (vs 파도 파장 50–300 m, 한 파장도 못 보는 경우)</a:t>
            </a:r>
          </a:p>
          <a:p>
            <a:pPr>
              <a:spcAft>
                <a:spcPts val="400"/>
              </a:spcAft>
            </a:pPr>
            <a:r>
              <a:rPr sz="600"/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Challenge 2 — Real-time constraint (실시간 제약)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제어 루프 주기: ~10 Hz update (즉 0.1 s 간격으로 추정 결과 필요)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Per-frame 예산: &lt; 100 ms (offline CFD/PINN/EnKF는 분~시간 단위)</a:t>
            </a:r>
          </a:p>
          <a:p>
            <a:pPr>
              <a:spcAft>
                <a:spcPts val="400"/>
              </a:spcAft>
            </a:pPr>
            <a:r>
              <a:rPr sz="600"/>
              <a:t> 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Challenge 3 — 2D directional sea state (2차원 방향성 해양)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실제 바다는 short-crested, multi-directional (한 방향 파도가 아님)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1D unidirectional 가정은 부족 (Klein 2020, Desmars 2023 대부분 1D)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2D wavenumber vector (k_x, k_y) 추정 필요</a:t>
            </a:r>
          </a:p>
        </p:txBody>
      </p:sp>
      <p:pic>
        <p:nvPicPr>
          <p:cNvPr id="6" name="Picture 5" descr="wavesim_BF4_5c_wave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3840480" cy="25639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Spoiler — 먼저 결과부터 보여드리겠습니다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핵심 결과 미리보기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배경 설명 전에, 왜 이 연구를 계속할 가치가 있는지 숫자로 먼저 보여드리겠습니다</a:t>
            </a:r>
          </a:p>
        </p:txBody>
      </p:sp>
      <p:pic>
        <p:nvPicPr>
          <p:cNvPr id="5" name="Picture 4" descr="fig_3wa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3657600"/>
          </a:xfrm>
          <a:prstGeom prst="rect">
            <a:avLst/>
          </a:prstGeom>
        </p:spPr>
      </p:pic>
      <p:pic>
        <p:nvPicPr>
          <p:cNvPr id="6" name="Picture 5" descr="fig_spe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50292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WaveSplat</a:t>
            </a:r>
            <a:r>
              <a:rPr sz="1300" b="0">
                <a:solidFill>
                  <a:srgbClr val="1A1A2E"/>
                </a:solidFill>
                <a:latin typeface="Calibri"/>
              </a:rPr>
              <a:t>: 더 정확하고 (nRMSE 0.211 vs 0.253), 훨씬 빠름 (13 ms vs 632 ms)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이제부터 이 결과가 어떻게 나왔는지, 왜 의미 있는지를 하나씩 설명드리겠습니다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Prior art landscape — 선행 연구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기존 연구를 5 가지 접근법으로 분류했습니다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13편 정독 결과 — 각 접근법의 강점과 한계를 풀어 설명합니다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9164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접근법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대표 논문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강점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한계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격자 기반
최적화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Desmars
2018/20/23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관측치와 model 사이 차이를 비용함수로 정의해 최소화. 수치해석에서 안정성·수렴성이 정립되어 검증된 framework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추정 가능한 wavenumber 가 미리 정한 격자 위에만 한정 — 격자 간격보다 짧은 wave 표현 불가. 거의 모두 1D 가정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앙상블
칼만 필터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Wang-Pan 2021/22
Wang 2025
Yan 2025 (VOF)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비선형 wave model (HOS, Navier-Stokes) 을 forecast 모델로 사용 가능 — Stokes 비선형, breaking 까지 reconstruction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50–300 개 simulation 을 매 step 동시 진행해야 함 → GPU 사용해도 수백 ms 이상 → real-time control loop 에 부적합. 대부분 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지도학습
신경망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Ehlers 2023 FNO
Duan 2020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Pre-train 후 inference 매우 빠름 (1.9 ms) — sparse measurement → wave field 의 mapping 을 NN 이 학습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수천 개 학습 데이터 합성 필요 (Ehlers 의 경우 3120 HOS sample). 학습 분포 밖 (다른 sea state, 다른 sensor) 에서는 정확도 저하. 1D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물리 기반
비지도 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Ehlers 2025
PFT-PINN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학습 데이터 0 개 — Laplace 방정식과 표면 boundary condition 을 NN loss 로 강제. Linear/nonlinear 모두 처리 (ε ~ 0.1 까지)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Instance 마다 처음부터 30 분 학습 (RTX 3090) — real-time 불가. Buoy time-series 만 처리, sparse spatial LiDAR 미지원. 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연속 파라미터
추정 (Ours) 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WaveSplat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Wave 를 N 개 plane wave 의 파라미터 (A, k_x, k_y, ω, φ) 로 직접 추정 — 격자 없이 연속 wavenumber 추정. &lt;100 ms inference + 2D directional + LiDAR raydrop 모사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</a:rPr>
                        <a:t>Linear superposition 가정 (LWT family) — 비선형 wave (HOSM 류) 처리 못 함. ε &lt; 0.07 operational range 에서만 신뢰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7ACC"/>
                </a:solidFill>
                <a:latin typeface="Calibri"/>
              </a:defRPr>
            </a:pPr>
            <a:r>
              <a:t>핵심: 실시간 + 2D 방향성 + 희소 LiDAR + 비지도학습을 모두 만족하는 선행연구는 없습니다. WaveSplat 이 이 조합의 첫 사례.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Prior art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Wang &amp; Pan 2021/22 (JFM) + Wang 2025 (Coastal Eng) — EnKF family 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핵심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7040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EnKF (Ensemble Kalman Filter)</a:t>
            </a:r>
            <a:r>
              <a:rPr sz="1200" b="0">
                <a:solidFill>
                  <a:srgbClr val="1A1A2E"/>
                </a:solidFill>
                <a:latin typeface="Calibri"/>
              </a:rPr>
              <a:t>: 50–300 개 wave simulation 을 동시에 진행 후 measurement 로 update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Forecast 단계: 각 ensemble member 가 wave model 로 시간 진행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Analysis 단계: ensemble 의 covariance 와 measurement 로 베이지안 update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HOS (High-Order Spectral method)</a:t>
            </a:r>
            <a:r>
              <a:rPr sz="1200" b="0">
                <a:solidFill>
                  <a:srgbClr val="1A1A2E"/>
                </a:solidFill>
                <a:latin typeface="Calibri"/>
              </a:rPr>
              <a:t>: 비선형 wave model — Linear Wave Theory (LWT) 의 확장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표면 boundary condition 의 비선형 항 (wave-wave interaction) 까지 spectral 표현으로 계산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Wave steepness ε ~ 0.1 까지 처리 가능 (LWT 는 ε &lt; 0.07)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Dommermuth &amp; Yue 1987, West et al. 1987 에서 출발한 표준 비선형 wave model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Wang 2025 (Coastal Eng 197)</a:t>
            </a:r>
            <a:r>
              <a:rPr sz="1200" b="0">
                <a:solidFill>
                  <a:srgbClr val="1A1A2E"/>
                </a:solidFill>
                <a:latin typeface="Calibri"/>
              </a:rPr>
              <a:t>: Ne=300, fuzzy R 적응, Delaunay 보간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280160"/>
            <a:ext cx="4023360" cy="2414016"/>
          </a:xfrm>
          <a:prstGeom prst="rect">
            <a:avLst/>
          </a:prstGeom>
          <a:solidFill>
            <a:srgbClr val="F0F4F8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66666"/>
                </a:solidFill>
              </a:rPr>
              <a:t>[paper figure — to insert]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3333"/>
                </a:solidFill>
                <a:latin typeface="Calibri"/>
              </a:defRPr>
            </a:pPr>
            <a:r>
              <a:t>한계 (우리 관점)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격자 해상도 한계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nRMSE 가 ~0.25 아래로 내려가지 않음 (격자 밖 wavenumber 표현 불가)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앙상블 비용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Ne=300 simulation → </a:t>
            </a:r>
            <a:r>
              <a:rPr sz="1200" b="1">
                <a:solidFill>
                  <a:srgbClr val="1A1A2E"/>
                </a:solidFill>
                <a:latin typeface="Calibri"/>
              </a:rPr>
              <a:t>632 ms / frame</a:t>
            </a:r>
            <a:r>
              <a:rPr sz="1200" b="0">
                <a:solidFill>
                  <a:srgbClr val="1A1A2E"/>
                </a:solidFill>
                <a:latin typeface="Calibri"/>
              </a:rPr>
              <a:t> (real-time control loop 불가)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CA02C"/>
                </a:solidFill>
                <a:latin typeface="Calibri"/>
              </a:defRPr>
            </a:pPr>
            <a:r>
              <a:t>vs WaveSplat (우리 차별점)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12-episode 비교</a:t>
            </a:r>
            <a:r>
              <a:rPr sz="1200" b="0">
                <a:solidFill>
                  <a:srgbClr val="1A1A2E"/>
                </a:solidFill>
                <a:latin typeface="Calibri"/>
              </a:rPr>
              <a:t>: WaveSplat </a:t>
            </a:r>
            <a:r>
              <a:rPr sz="1200" b="1">
                <a:solidFill>
                  <a:srgbClr val="1A1A2E"/>
                </a:solidFill>
                <a:latin typeface="Calibri"/>
              </a:rPr>
              <a:t>0.211</a:t>
            </a:r>
            <a:r>
              <a:rPr sz="1200" b="0">
                <a:solidFill>
                  <a:srgbClr val="1A1A2E"/>
                </a:solidFill>
                <a:latin typeface="Calibri"/>
              </a:rPr>
              <a:t> / 13 ms  vs  Wang2025 0.253 / 632 ms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0">
                <a:solidFill>
                  <a:srgbClr val="1A1A2E"/>
                </a:solidFill>
                <a:latin typeface="Calibri"/>
              </a:rPr>
              <a:t>WaveSplat: </a:t>
            </a:r>
            <a:r>
              <a:rPr sz="1200" b="1">
                <a:solidFill>
                  <a:srgbClr val="1A1A2E"/>
                </a:solidFill>
                <a:latin typeface="Calibri"/>
              </a:rPr>
              <a:t>정확도 16% 우위 + 47 배 빠름</a:t>
            </a:r>
            <a:r>
              <a:rPr sz="1200" b="0">
                <a:solidFill>
                  <a:srgbClr val="1A1A2E"/>
                </a:solidFill>
                <a:latin typeface="Calibri"/>
              </a:rPr>
              <a:t> (CPU 만으로도 가능)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Prior art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Ehlers et al. 2025 (Phys. Rev. Fluids 10, 094901) — PFT-PINN 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핵심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7040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Physics-Informed NN + Potential Flow Theory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두 NN 병렬 (η-net + Φ-net)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η = wave 표면, Φ = velocity potential (속도 함수). 둘 다 NN으로 표현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Hard-constraint trick</a:t>
            </a:r>
            <a:r>
              <a:rPr sz="1200" b="0">
                <a:solidFill>
                  <a:srgbClr val="1A1A2E"/>
                </a:solidFill>
                <a:latin typeface="Calibri"/>
              </a:rPr>
              <a:t>: 관측치를 NN architecture에 직접 hard-encode (data loss 회피)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Wave flume 검증</a:t>
            </a:r>
            <a:r>
              <a:rPr sz="1200" b="0">
                <a:solidFill>
                  <a:srgbClr val="1A1A2E"/>
                </a:solidFill>
                <a:latin typeface="Calibri"/>
              </a:rPr>
              <a:t> (MARATHON, T_p=1.2 s): SSP=0.049 (assimilation), 0.084 (prediction)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280160"/>
            <a:ext cx="4023360" cy="2414016"/>
          </a:xfrm>
          <a:prstGeom prst="rect">
            <a:avLst/>
          </a:prstGeom>
          <a:solidFill>
            <a:srgbClr val="F0F4F8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66666"/>
                </a:solidFill>
              </a:rPr>
              <a:t>[paper figure — to insert]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3333"/>
                </a:solidFill>
                <a:latin typeface="Calibri"/>
              </a:defRPr>
            </a:pPr>
            <a:r>
              <a:t>한계 (우리 관점)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~30 분 학습 / instance</a:t>
            </a:r>
            <a:r>
              <a:rPr sz="1200" b="0">
                <a:solidFill>
                  <a:srgbClr val="1A1A2E"/>
                </a:solidFill>
                <a:latin typeface="Calibri"/>
              </a:rPr>
              <a:t> (RTX 3090, 40K+ epochs) — instance마다 처음부터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1D + t</a:t>
            </a:r>
            <a:r>
              <a:rPr sz="1200" b="0">
                <a:solidFill>
                  <a:srgbClr val="1A1A2E"/>
                </a:solidFill>
                <a:latin typeface="Calibri"/>
              </a:rPr>
              <a:t>, future work에서 명시: 2D + t extension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Buoy time-series only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sparse spatial LiDAR setup 처리 안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CA02C"/>
                </a:solidFill>
                <a:latin typeface="Calibri"/>
              </a:defRPr>
            </a:pPr>
            <a:r>
              <a:t>vs WaveSplat (우리 차별점)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속도 차이가 결정적</a:t>
            </a:r>
            <a:r>
              <a:rPr sz="1200" b="0">
                <a:solidFill>
                  <a:srgbClr val="1A1A2E"/>
                </a:solidFill>
                <a:latin typeface="Calibri"/>
              </a:rPr>
              <a:t>: Ours 13 ms vs PFT-PINN ~30 min = </a:t>
            </a:r>
            <a:r>
              <a:rPr sz="1200" b="1">
                <a:solidFill>
                  <a:srgbClr val="1A1A2E"/>
                </a:solidFill>
                <a:latin typeface="Calibri"/>
              </a:rPr>
              <a:t>약 130,000× 차이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0">
                <a:solidFill>
                  <a:srgbClr val="1A1A2E"/>
                </a:solidFill>
                <a:latin typeface="Calibri"/>
              </a:rPr>
              <a:t>Ours: </a:t>
            </a:r>
            <a:r>
              <a:rPr sz="1200" b="1">
                <a:solidFill>
                  <a:srgbClr val="1A1A2E"/>
                </a:solidFill>
                <a:latin typeface="Calibri"/>
              </a:rPr>
              <a:t>2D + t 이미 가능</a:t>
            </a:r>
            <a:r>
              <a:rPr sz="1200" b="0">
                <a:solidFill>
                  <a:srgbClr val="1A1A2E"/>
                </a:solidFill>
                <a:latin typeface="Calibri"/>
              </a:rPr>
              <a:t>, </a:t>
            </a:r>
            <a:r>
              <a:rPr sz="1200" b="1">
                <a:solidFill>
                  <a:srgbClr val="1A1A2E"/>
                </a:solidFill>
                <a:latin typeface="Calibri"/>
              </a:rPr>
              <a:t>LiDAR raydrop sensor model 포함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위협</a:t>
            </a:r>
            <a:r>
              <a:rPr sz="1200" b="0">
                <a:solidFill>
                  <a:srgbClr val="1A1A2E"/>
                </a:solidFill>
                <a:latin typeface="Calibri"/>
              </a:rPr>
              <a:t>: 같은 그룹 (TUHH+Imperial)이 1-3년 안에 2D + real-time PINN 발표 가능 — 우리 niche 좁아질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Part 1 · Niche — 응용 매트릭스로 우리 위치 확정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WaveSplat의 응용 영역 — 어디에 적합한가?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Real-time control loop vs Design-time analysis — 두 응용 영역으로 분리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916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응용 요구사항 (쉬운 설명)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PFT-
PINN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VOF-
EnKF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Wang
2025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FNO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Des-
mars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실시간 제어 가능 (&lt;100ms)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2D 방향성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파도 파쇄(breaking) 처리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유속장 전체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일부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학습 데이터 불필요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63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희소 LiDAR 센서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일부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우리만의 고유한 위치: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실시간 + 2D 방향성 + 희소 LiDAR + 학습 데이터 불필요</a:t>
            </a:r>
            <a:r>
              <a:rPr sz="1200" b="0">
                <a:solidFill>
                  <a:srgbClr val="1A1A2E"/>
                </a:solidFill>
                <a:latin typeface="Calibri"/>
              </a:rPr>
              <a:t> — 이 4가지를 모두 만족하는 선행연구는 없습니다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주요 응용: 선박/hydrofoil 실시간 제어, 자율운항 안전 판단 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2 · WaveSim (1/2): 파도 + LiDAR 시뮬레이션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WaveSim — 파도와 LiDAR 를 어떻게 모사했나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각 구성요소의 물리적 합당성 + 코드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79552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파도 모델 — Gerstner family</a:t>
            </a:r>
            <a:r>
              <a:rPr sz="900" b="0">
                <a:solidFill>
                  <a:srgbClr val="1A1A2E"/>
                </a:solidFill>
                <a:latin typeface="Calibri"/>
              </a:rPr>
              <a:t> (코드: wavesim/wave_generator.py):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Gerstner 1802 의 회전 정확해 — 입자의 운동까지 모사 (LWT + 회전 변위)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</a:t>
            </a:r>
            <a:r>
              <a:rPr sz="900" b="0">
                <a:solidFill>
                  <a:srgbClr val="1A1A2E"/>
                </a:solidFill>
                <a:latin typeface="Calibri"/>
              </a:rPr>
              <a:t>Q ∈ [0, 1] = 가파름. </a:t>
            </a:r>
            <a:r>
              <a:rPr sz="900" b="1">
                <a:solidFill>
                  <a:srgbClr val="1A1A2E"/>
                </a:solidFill>
                <a:latin typeface="Calibri"/>
              </a:rPr>
              <a:t>Q=0 이면 LWT (사인 wave), Q&gt;0 이면 약비선형 Gerstner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→ 즉 LWT 와 Gerstner 는 *별도 model 이 아니라* Q 로 연결된 family. 우리 default Q_max=0.8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수식: x = x₀ − Q·A·(k_x/|k|)·sin(Φ), z = A·cos(Φ)   (Φ = k·x − ω·t + φ)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Q 제약: Σ_n Q_n·ω_n·A_n ≤ 1 (입자 궤적 자체 교차 방지, Tessendorf 2001)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→ 합당성: Tessendorf 2001 SIGGRAPH ocean 표준, Dean &amp; Dalrymple 1991 (교과서)</a:t>
            </a:r>
          </a:p>
          <a:p>
            <a:pPr>
              <a:spcAft>
                <a:spcPts val="100"/>
              </a:spcAft>
            </a:pPr>
            <a:r>
              <a:rPr sz="400"/>
              <a:t> 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스펙트럼 — JONSWAP (Hasselmann 1973, 북해 측정)</a:t>
            </a:r>
            <a:r>
              <a:rPr sz="9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S(ω) = α·g²·ω⁻⁵·exp(−5/4·(ω_p/ω)⁴) · γ^r — 입력: H_s, T_p, γ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→ N 개 성분의 (A_n, ω_n) sampling, 방향 spreading 으로 (k_xn, k_yn) 분배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→ 합당성: 해양공학 표준 (ITTC, IACS 채택)</a:t>
            </a:r>
          </a:p>
          <a:p>
            <a:pPr>
              <a:spcAft>
                <a:spcPts val="100"/>
              </a:spcAft>
            </a:pPr>
            <a:r>
              <a:rPr sz="400"/>
              <a:t> 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분산 관계 (Airy 1845)</a:t>
            </a:r>
            <a:r>
              <a:rPr sz="900" b="0">
                <a:solidFill>
                  <a:srgbClr val="1A1A2E"/>
                </a:solidFill>
                <a:latin typeface="Calibri"/>
              </a:rPr>
              <a:t>: ω_n = √(g·|k_n|·tanh(|k_n|·d))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파도의 주파수와 파수의 표준 관계 — 100 년 이상 검증</a:t>
            </a:r>
          </a:p>
          <a:p>
            <a:pPr>
              <a:spcAft>
                <a:spcPts val="100"/>
              </a:spcAft>
            </a:pPr>
            <a:r>
              <a:rPr sz="400"/>
              <a:t> 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LiDAR (Falcon K1 spec, 코드: wavesim/config.py)</a:t>
            </a:r>
            <a:r>
              <a:rPr sz="9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152 채널 × 500 horizontal beam = 76,000 ray / scan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Range 10–250 m, 파장 1550 nm, vessel 위 5 m mount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Ray tracing 으로 파도 표면 first-hit 찾음 (Möller-Trumbore 1997)</a:t>
            </a:r>
          </a:p>
          <a:p>
            <a:pPr>
              <a:spcAft>
                <a:spcPts val="100"/>
              </a:spcAft>
            </a:pPr>
            <a:r>
              <a:rPr sz="400"/>
              <a:t> 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• </a:t>
            </a:r>
            <a:r>
              <a:rPr sz="900" b="1">
                <a:solidFill>
                  <a:srgbClr val="1A1A2E"/>
                </a:solidFill>
                <a:latin typeface="Calibri"/>
              </a:rPr>
              <a:t>Vessel motion</a:t>
            </a:r>
            <a:r>
              <a:rPr sz="900" b="0">
                <a:solidFill>
                  <a:srgbClr val="1A1A2E"/>
                </a:solidFill>
                <a:latin typeface="Calibri"/>
              </a:rPr>
              <a:t>: 파도 격자는 world frame 에 고정 (수백 m × 수백 m)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Vessel (LiDAR mount) 만 격자 안을 V=11.3 m/s 로 이동 → 관측 창만 이동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  <a:latin typeface="Calibri"/>
              </a:rPr>
              <a:t>   – 파도는 t 의 진행으로 자연 propagate (격자 자체는 그대로)</a:t>
            </a:r>
          </a:p>
        </p:txBody>
      </p:sp>
      <p:pic>
        <p:nvPicPr>
          <p:cNvPr id="6" name="Picture 5" descr="wavesim_BF4_5c_wave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0"/>
            <a:ext cx="3474720" cy="23197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2 · WaveSim (2/2): raydrop 합당성 +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Raydrop / shadowing — 왜 합당하고 어떻게 검증되었나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각 물리 모델의 출처 + 우리 검증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물리적 의미 — LiDAR 점 검출의 두 조건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① 충분한 비율의 빛이 *반사* 되어야 함 (Fresnel R(θ_i) 가 결정)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② 반사된 빛이 *LiDAR receiver 방향* 으로 돌아와야 함 (geometry 가 결정)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굴절되어 물 속으로 들어간 빛은 흡수되어 LiDAR 가 받지 못함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코드: wavesim/raydrop_uniform.py 의 fresnel_reflectance() 함수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Fresnel 수식 — 두 polarization 평균</a:t>
            </a:r>
            <a:r>
              <a:rPr sz="1000" b="0">
                <a:solidFill>
                  <a:srgbClr val="1A1A2E"/>
                </a:solidFill>
                <a:latin typeface="Calibri"/>
              </a:rPr>
              <a:t> (LiDAR laser unpolarized 가정):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Step 1 (Snell): sin θ_t = sin θ_i / n   (n=1.318, water at 1550 nm)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Step 2 (Fresnel s, p):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R_s = ((cos θ_i − n·cos θ_t) / (cos θ_i + n·cos θ_t))²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R_p = ((n·cos θ_i − cos θ_t) / (n·cos θ_i + cos θ_t))²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Step 3: R(θ_i) = (R_s + R_p) / 2 ∈ [0, 1]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Step 4 (return prob): P = η · R · cos(θ_i) / (d/d_ref)²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물리적 해석 — 왜 수직 입사가 점 검출에 유리한가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θ_i = 0° (수직 입사): R = 0.02 작지만 반사된 빛이 *LiDAR 로 정확히 되돌아옴* → 검출 OK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θ_i → 90° (grazing, 표면과 평행): R = 1 큼에도 반사된 빛이 *반대편* 으로 가버림 → 점 누락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우리 모델: P = η · R · cos(θ_i) / (d/d_ref)² — cos(θ_i) 가 backscatter geometry 보정 (수직 입사일수록 ↑)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결국 raydrop 확률은 *반사율 R 과 backscatter 방향* 둘 다 결정 (Lambert + Fresnel 결합)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Geometric shadowing</a:t>
            </a:r>
            <a:r>
              <a:rPr sz="1000" b="0">
                <a:solidFill>
                  <a:srgbClr val="1A1A2E"/>
                </a:solidFill>
                <a:latin typeface="Calibri"/>
              </a:rPr>
              <a:t>: ray tracing first-hit 의 자연 결과 (추가 모델 0)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검증</a:t>
            </a:r>
            <a:r>
              <a:rPr sz="1000" b="0">
                <a:solidFill>
                  <a:srgbClr val="1A1A2E"/>
                </a:solidFill>
                <a:latin typeface="Calibri"/>
              </a:rPr>
              <a:t>: 108 unit test + 110 episode + sea trial 데이터와 점 분포 일치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한계</a:t>
            </a:r>
            <a:r>
              <a:rPr sz="1000" b="0">
                <a:solidFill>
                  <a:srgbClr val="1A1A2E"/>
                </a:solidFill>
                <a:latin typeface="Calibri"/>
              </a:rPr>
              <a:t>: 미세파 (capillary), foam, breaking 미반영 (BF6 이하 부차적)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우리 estimator (탐색 단계)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WaveSplat — 아이디어의 시작과 'Splat' 이라는 이름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왜 격자가 아닌 '파도 성분 한 개씩' 추정하는가? 왜 'Splat' 이름인가?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795527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아이디어 출발 — 격자 기반의 한계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Wang2025/Desmars 류: 바다 표면을 격자 위 높이값으로 표현 (예: 80×60 = 4,800 개 점)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관측은 LiDAR 점 50 개뿐 → 4,800 개 높이값 추정은 정보 부족 (under-determined)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격자 간격보다 짧은 파장의 파도는 표현 불가 (Nyquist 한계)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발상 전환 — 파도 성분 한 개씩 직접 추정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실제 바다 파도는 보통 5–30 개의 sin 파 (성분) 의 합으로 충분히 표현 (JONSWAP 분해)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각 파도 성분은 5 개 숫자로 완전 결정: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· 진폭 A (파고 크기)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· 파수 (k_x, k_y) — 파장과 진행 방향 결정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· 주파수 ω (= 2π / 주기 T) — 시간적 변화율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· 위상 φ (시작 시점)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성분 N=10 이면 추정 변수 50 개 — 관측 50 개로 추정 가능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분산 관계 ω = √(g·|k|·tanh(|k|·d)) 를 강제 → ω 는 k 에서 자동 → 변수 5N → 4N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3D Gaussian Splatting (3DGS) 와의 영감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3DGS (Kerbl 2023, SIGGRAPH): 3D 공간을 voxel/NN 대신 'Gaussian 원소 여러 개의 합' 으로 표현, 각 원소를 직접 최적화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WaveSplat: 바다 파도를 격자 대신 'sin 파 성분 여러 개의 합' 으로 표현, 각 성분을 직접 최적화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→ 같은 철학 (격자 없이 명시적 원소 직접 최적화), 다른 영역 (3DGS=영상, WaveSplat=파도)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'Splat' 명칭의 의미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'여러 명시적 원소를 위치시키고 직접 최적화' 한다는 점에서 3DGS 와 발상 동일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단 graphics rendering 은 아님 — paper 작성 시 명칭 변경 검토 가능 (현재 working name)</a:t>
            </a:r>
          </a:p>
        </p:txBody>
      </p:sp>
      <p:pic>
        <p:nvPicPr>
          <p:cNvPr id="6" name="Picture 5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828800"/>
            <a:ext cx="3474720" cy="1430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Init 단계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Init: 다중 frame beamforming 으로 (k_x, k_y) 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왜 multi-frame 인가? 어떻게 작동하는가? 수식까지 단계별로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왜 Init 이 어려운가</a:t>
            </a:r>
            <a:r>
              <a:rPr sz="1000" b="0">
                <a:solidFill>
                  <a:srgbClr val="1A1A2E"/>
                </a:solidFill>
                <a:latin typeface="Calibri"/>
              </a:rPr>
              <a:t> (정량 설명):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Single frame: LiDAR 50 점이 커버하는 영역 ~ 240 m (FOV 120°, range 200 m)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격자 간격 Δy ≈ 5–8 m → spatial Nyquist k_max = π/Δy ≈ 0.4 rad/m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필요한 wave wavenumber k ∈ 0.5–3 rad/m → single frame 으론 추정 불가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Multi-frame stacking (Synthetic Aperture)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vessel V=11.3 m/s 로 1 s 동안 11.3 m 이동 → 10 frames × 50 점 = 500 점, 영역 확장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Effective aperture = V·T_init = 11.3 m, Δk_aperture ≈ 2π/11.3 ≈ 0.56 rad/m 분해능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v2_konly Beamforming — 2 단계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</a:t>
            </a:r>
            <a:r>
              <a:rPr sz="1000" b="1">
                <a:solidFill>
                  <a:srgbClr val="1A1A2E"/>
                </a:solidFill>
                <a:latin typeface="Calibri"/>
              </a:rPr>
              <a:t>① Coarse</a:t>
            </a:r>
            <a:r>
              <a:rPr sz="1000" b="0">
                <a:solidFill>
                  <a:srgbClr val="1A1A2E"/>
                </a:solidFill>
                <a:latin typeface="Calibri"/>
              </a:rPr>
              <a:t>: (k_x, k_y) 후보 격자 생성 (예: 50×50 = 2,500 개)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각 후보 (k_x⁰, k_y⁰) 에 대해 score: S(k) = |Σ_i η_obs(x_i, t_i) · exp(j(k·x_i − ω(k)·t_i))|²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ω(k) 는 dispersion 관계로 자동: ω(k) = √(g·|k|·tanh(|k|·d))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S(k) 가 큰 peak N 개를 초기 파수로 선택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</a:t>
            </a:r>
            <a:r>
              <a:rPr sz="1000" b="1">
                <a:solidFill>
                  <a:srgbClr val="1A1A2E"/>
                </a:solidFill>
                <a:latin typeface="Calibri"/>
              </a:rPr>
              <a:t>② Fine</a:t>
            </a:r>
            <a:r>
              <a:rPr sz="1000" b="0">
                <a:solidFill>
                  <a:srgbClr val="1A1A2E"/>
                </a:solidFill>
                <a:latin typeface="Calibri"/>
              </a:rPr>
              <a:t>: 선택된 peak 주변에서 sub-grid resolution 으로 정밀 탐색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Local quadratic fit + Newton step → (k_x*, k_y*) 정확도 향상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'konly' 의미</a:t>
            </a:r>
            <a:r>
              <a:rPr sz="1000" b="0">
                <a:solidFill>
                  <a:srgbClr val="1A1A2E"/>
                </a:solidFill>
                <a:latin typeface="Calibri"/>
              </a:rPr>
              <a:t>: 이 단계에서는 *k 만* 초기화. ω 는 dispersion 으로 자동, (A, φ) 는 다음 단계 (track) 에서 최적화.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이전 v1 (FFT 기반) 대비 평균 18% 개선 (불규칙 LiDAR 점에 직접 적용 가능)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추적 단계 (Track)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Track: 매 frame Adam 최적화 + Adaptive N (RMSE 기반)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k 고정 후 (A, φ) 만 빠르게 update — 13 ms/frame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w_phi Tracking 단계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(k_x, k_y): Init 결과 고정 (변경 안 함)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ω: dispersion 으로 자동 (k 에서 계산)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(A, φ): Adam 으로 매 frame update — 자유도 2N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Loss function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L(θ) = Σ_i [η_model(x_i, t; θ) − η_obs(x_i, t)]²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N 개 component 의 wave 합산 vs LiDAR 측정값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η_model = Σ_n A_n cos(k_n·x − ω_n·t + φ_n)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Optimizer — Adam (Kingma &amp; Ba 2014)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lr = 0.01 (현재 default)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50 iterations × ∇L 계산 / frame → ~13 ms (CPU)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Adam 의 adaptive learning rate 가 (A, φ) 의 다른 scale 처리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Coarse-to-fine 학습률 스케줄 (option)</a:t>
            </a:r>
            <a:r>
              <a:rPr sz="10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Stage 1 (lr 0.05, 20 iter): 큰 step 으로 빠른 수렴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Stage 2 (lr 0.01, 30 iter): 작은 step 으로 미세 조정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• </a:t>
            </a:r>
            <a:r>
              <a:rPr sz="1000" b="1">
                <a:solidFill>
                  <a:srgbClr val="1A1A2E"/>
                </a:solidFill>
                <a:latin typeface="Calibri"/>
              </a:rPr>
              <a:t>왜 k 고정?</a:t>
            </a:r>
            <a:r>
              <a:rPr sz="1000" b="0">
                <a:solidFill>
                  <a:srgbClr val="1A1A2E"/>
                </a:solidFill>
                <a:latin typeface="Calibri"/>
              </a:rPr>
              <a:t> (Identifiability)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Single frame 에서 k 의 FIM eigenvalue 가 (A, φ) 보다 10⁻³ 작음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k 자유 시 50 점에 over-fit → 비물리적 값으로 발산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2E"/>
                </a:solidFill>
                <a:latin typeface="Calibri"/>
              </a:rPr>
              <a:t>   – k 고정 → 안정적 추정 + paper 의 main contribution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9164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Adaptive N — component 수 동적 조정</a:t>
            </a:r>
            <a:r>
              <a:rPr sz="1000" b="0">
                <a:solidFill>
                  <a:srgbClr val="007ACC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① Pruning (가지치기)</a:t>
            </a:r>
            <a:r>
              <a:rPr sz="1000" b="0">
                <a:solidFill>
                  <a:srgbClr val="007ACC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매 K frame 마다 (default K=10):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|A_n| &lt; ε_prune (= 0.05·max|A|) → 제거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에너지 기여 낮은 component 정리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② Growth (성장)</a:t>
            </a:r>
            <a:r>
              <a:rPr sz="1000" b="0">
                <a:solidFill>
                  <a:srgbClr val="007ACC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Residual ‖η_obs − η_model‖ &gt; threshold: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잔여 오차에 다시 beamforming → 새 (k_x, k_y) 추출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→ component 추가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③ Safety rollback (안전 복귀)</a:t>
            </a:r>
            <a:r>
              <a:rPr sz="1000" b="0">
                <a:solidFill>
                  <a:srgbClr val="007ACC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새 component 추가 후 RMSE 측정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RMSE_new &gt; 1.3 · RMSE_old: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→ 즉시 이전 state 로 복구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→ 잘못된 추가의 cascade failure 방지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• </a:t>
            </a:r>
            <a:r>
              <a:rPr sz="1000" b="1">
                <a:solidFill>
                  <a:srgbClr val="007ACC"/>
                </a:solidFill>
                <a:latin typeface="Calibri"/>
              </a:rPr>
              <a:t>Test coverage</a:t>
            </a:r>
            <a:r>
              <a:rPr sz="1000" b="0">
                <a:solidFill>
                  <a:srgbClr val="007ACC"/>
                </a:solidFill>
                <a:latin typeface="Calibri"/>
              </a:rPr>
              <a:t>: rollback path 가 unit test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07ACC"/>
                </a:solidFill>
                <a:latin typeface="Calibri"/>
              </a:rPr>
              <a:t>   – 18 wavesplat tests 중 4 개가 adaptive N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WaveSplat — GT 와의 비교 시각화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Ground Truth vs WaveSplat 재구성 — 실제 결과 한 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단순 case (BF3 / N=2) — 위 row: 2D heatmap, 아래 row: 3D surface</a:t>
            </a:r>
          </a:p>
        </p:txBody>
      </p:sp>
      <p:pic>
        <p:nvPicPr>
          <p:cNvPr id="5" name="Picture 4" descr="fig_demo_simple_2d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11612880" cy="61672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단순 wave (N=2 성분) 에서 WaveSplat nRMSE ~ 0.05 — Error panel 거의 white. 다양한 case 는 Appendix C 참조.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비교 실험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12-Episode 비교: WaveSplat vs Wang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Wang 2025 (Coastal Engineering 197) 논문의 방법을 충실히 재현하여 비교</a:t>
            </a:r>
          </a:p>
        </p:txBody>
      </p:sp>
      <p:pic>
        <p:nvPicPr>
          <p:cNvPr id="5" name="Picture 4" descr="fig_3wa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5943600" cy="34747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91640"/>
          <a:ext cx="5303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nRMSE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속도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WaveSplat (ours)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0.211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13 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연속 파라미터 추정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Wang2025 (Ne=300)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0.253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632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논문 충실 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292608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</a:t>
            </a:r>
            <a:r>
              <a:rPr sz="1100" b="1">
                <a:solidFill>
                  <a:srgbClr val="007ACC"/>
                </a:solidFill>
                <a:latin typeface="Calibri"/>
              </a:rPr>
              <a:t>16%</a:t>
            </a:r>
            <a:r>
              <a:rPr sz="1100" b="0">
                <a:solidFill>
                  <a:srgbClr val="007ACC"/>
                </a:solidFill>
                <a:latin typeface="Calibri"/>
              </a:rPr>
              <a:t> 더 정확한 추정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</a:t>
            </a:r>
            <a:r>
              <a:rPr sz="1100" b="1">
                <a:solidFill>
                  <a:srgbClr val="007ACC"/>
                </a:solidFill>
                <a:latin typeface="Calibri"/>
              </a:rPr>
              <a:t>47배</a:t>
            </a:r>
            <a:r>
              <a:rPr sz="1100" b="0">
                <a:solidFill>
                  <a:srgbClr val="007ACC"/>
                </a:solidFill>
                <a:latin typeface="Calibri"/>
              </a:rPr>
              <a:t> 더 빠른 속도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GPU 없이 CPU만으로 작동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10Hz 제어 루프에 충분한 속도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• Wang2025 비교가 공정한 이유: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   – 원논문 세팅 그대로 (Ne=300)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7ACC"/>
                </a:solidFill>
                <a:latin typeface="Calibri"/>
              </a:rPr>
              <a:t>   – 같은 물리 모델(linear)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단순 파도(1-5 comp)</a:t>
            </a:r>
            <a:r>
              <a:rPr sz="1200" b="0">
                <a:solidFill>
                  <a:srgbClr val="1A1A2E"/>
                </a:solidFill>
                <a:latin typeface="Calibri"/>
              </a:rPr>
              <a:t>: WaveSplat이 압도적 — BF3_2comp에서 오차율 5%에 불과 (0.052 vs 0.250)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복잡한 파도(15+ comp)</a:t>
            </a:r>
            <a:r>
              <a:rPr sz="1200" b="0">
                <a:solidFill>
                  <a:srgbClr val="1A1A2E"/>
                </a:solidFill>
                <a:latin typeface="Calibri"/>
              </a:rPr>
              <a:t>: Wang2025가 더 나은 경우도 있음 — 정직하게 다음 슬라이드에서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  <a:latin typeface="Calibri"/>
              </a:defRPr>
            </a:pPr>
            <a:r>
              <a:t>📝 화살표 추가: ① "47x faster" (속도 바 사이) ② "16% more accurate" (nRMSE 바 사이)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3 · 에피소드별 상세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파도가 단순할수록 WaveSplat이 유리합니다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파도 성분 수(가로축)에 따라 정확도가 어떻게 달라지는지 — 그리고 역전 지점도 있습니다</a:t>
            </a:r>
          </a:p>
        </p:txBody>
      </p:sp>
      <p:pic>
        <p:nvPicPr>
          <p:cNvPr id="5" name="Picture 4" descr="fig_complexit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단순 파도 (1-5 comp)</a:t>
            </a:r>
            <a:r>
              <a:rPr sz="1200" b="0">
                <a:solidFill>
                  <a:srgbClr val="1A1A2E"/>
                </a:solidFill>
                <a:latin typeface="Calibri"/>
              </a:rPr>
              <a:t>: WaveSplat이 크게 우수 — BF3_2comp에서 오차율 5%에 불과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복잡한 파도 (15-30 comp)</a:t>
            </a:r>
            <a:r>
              <a:rPr sz="1200" b="0">
                <a:solidFill>
                  <a:srgbClr val="1A1A2E"/>
                </a:solidFill>
                <a:latin typeface="Calibri"/>
              </a:rPr>
              <a:t>: Wang2025가 더 나은 경우도 있음 — 격자가 많은 성분을 한꺼번에 담을 수 있기 때문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  <a:latin typeface="Calibri"/>
              </a:defRPr>
            </a:pPr>
            <a:r>
              <a:t>📝 화살표 추가: ① BF3_2comp 강조 원 ② Wang2025 ceiling 점선 (≈0.25) ③ "reversal point" (15comp 부근)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4 · 어떤 기술이 도움이 되는가?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Ablation — 각 기술의 기여도를 분리해서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왜 ablation을 하는가? 여러 기술을 한꺼번에 쓰면 '어떤 기술이 실제로 효과가 있는지' 알 수 없기 때문입니다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</a:t>
            </a:r>
            <a:r>
              <a:rPr sz="1300" b="1">
                <a:solidFill>
                  <a:srgbClr val="1A1A2E"/>
                </a:solidFill>
                <a:latin typeface="Calibri"/>
              </a:rPr>
              <a:t>Ablation이란?</a:t>
            </a:r>
            <a:r>
              <a:rPr sz="1300" b="0">
                <a:solidFill>
                  <a:srgbClr val="1A1A2E"/>
                </a:solidFill>
                <a:latin typeface="Calibri"/>
              </a:rPr>
              <a:t> — 기술을 하나씩 빼 보면서, 빠진 기술이 실제로 도움이 되는지 확인하는 실험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   – 비유: 음식에 재료를 하나씩 빼 보면서 맛의 변화를 확인하는 것과 같습니다</a:t>
            </a:r>
          </a:p>
        </p:txBody>
      </p:sp>
      <p:pic>
        <p:nvPicPr>
          <p:cNvPr id="6" name="Picture 5" descr="fig_abl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64008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A</a:t>
            </a:r>
            <a:r>
              <a:rPr sz="1100" b="0">
                <a:solidFill>
                  <a:srgbClr val="1A1A2E"/>
                </a:solidFill>
                <a:latin typeface="Calibri"/>
              </a:rPr>
              <a:t> (기본): FFT 초기화 + 자유 주파수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nRMSE 0.213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B</a:t>
            </a:r>
            <a:r>
              <a:rPr sz="1100" b="0">
                <a:solidFill>
                  <a:srgbClr val="1A1A2E"/>
                </a:solidFill>
                <a:latin typeface="Calibri"/>
              </a:rPr>
              <a:t> (+beamform + multi-frame):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0.208 (A보다 개선)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C</a:t>
            </a:r>
            <a:r>
              <a:rPr sz="1100" b="0">
                <a:solidFill>
                  <a:srgbClr val="1A1A2E"/>
                </a:solidFill>
                <a:latin typeface="Calibri"/>
              </a:rPr>
              <a:t> (+물리 법칙, 단일 프레임):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0.226 (오히려 악화!)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D = WaveSplat</a:t>
            </a:r>
            <a:r>
              <a:rPr sz="1100" b="0">
                <a:solidFill>
                  <a:srgbClr val="1A1A2E"/>
                </a:solidFill>
                <a:latin typeface="Calibri"/>
              </a:rPr>
              <a:t> (모두 결합):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0.211 (가장 안정적)</a:t>
            </a:r>
          </a:p>
          <a:p>
            <a:pPr>
              <a:spcAft>
                <a:spcPts val="100"/>
              </a:spcAft>
            </a:pPr>
            <a:r>
              <a:rPr sz="500"/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물리 법칙 + multi-frame을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함께 써야 효과적!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99999"/>
                </a:solidFill>
                <a:latin typeface="Calibri"/>
              </a:defRPr>
            </a:pPr>
            <a:r>
              <a:t>📝 화살표 추가: ① C→D "dispersion regularizer" 효과 화살표 ② A→B "multi-frame" 효과 화살표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4 · 핵심 메커니즘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7ACC"/>
                </a:solidFill>
                <a:latin typeface="Calibri"/>
              </a:defRPr>
            </a:pPr>
            <a:r>
              <a:t>분산 관계 = 물리적 정규화 장치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1A1A2E"/>
                </a:solidFill>
                <a:latin typeface="Calibri"/>
              </a:defRPr>
            </a:pPr>
            <a:r>
              <a:t>분산 관계(dispersion relation)는 추정해야 할 변수를 20% 줄이고, 물리적으로 가능한 해만 탐색하도록 제한합니다. 이것이 50개 관측점으로도 파도장을 추정할 수 있는 핵심 비결입니다.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메커니즘 1 — 자유도 감소 (변수 줄이기)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분산 관계: ω = √(g·|k|·tanh(|k|·d)) → 주파수(ω)가 파수(k)로부터 자동 결정됨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적용 전: 성분당 5개 변수 (진폭 A, 파수 kx, ky, 주파수 ω, 위상 φ) = 5N개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적용 후: 성분당 4개 변수 (A, kx, ky, φ) = 4N개 → 20% 감소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추가 효과: 물리적으로 불가능한 (k, ω) 조합이 자동으로 배제됨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메커니즘 2 — 시간 정보 활용 (multi-frame 융합)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선박이 V=11.3 m/s로 이동하면, 1초 동안 11.3m를 쓸고 지나감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이 효과로 '가상의 긴 안테나(synthetic aperture)'가 만들어짐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단일 프레임 LiDAR 범위 5-8m → multi-frame으로 11m+ 확장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→ 파수(k)의 모호성이 해소됨 (어떤 파도인지 구분 가능해짐)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Ablation에서 확인된 것 — 두 메커니즘의 시너지</a:t>
            </a:r>
            <a:r>
              <a:rPr sz="12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물리 법칙만 단독으로 쓰면(C) → 오히려 성능 저하 (초기 오류가 전파됨)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multi-frame만 단독으로 쓰면(B) → 개선되지만 불안정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둘을 함께 쓰면(D=WaveSplat) → 가장 안정적이고 물리적으로 의미 있는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8553A"/>
                </a:solidFill>
                <a:latin typeface="Calibri"/>
              </a:defRPr>
            </a:pPr>
            <a:r>
              <a:t>Part 4 · 왜 2단계 설계가 자연스러운가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초기화(Init)와 추적(Track)을 분리하는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어떤 변수는 시간 정보가 필요하고, 어떤 변수는 한 순간으로 충분합니다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핵심 관찰 — 변수마다 필요한 정보가 다릅니다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파수 k = (kx, ky): 여러 프레임의 시간 정보가 있어야 추정 가능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주파수 ω, 진폭 A, 위상 φ: 한 프레임(순간)만으로도 추정 가능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그래서 2단계로 나눕니다: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초기화(Init): 여러 프레임을 모아서 파수 k를 한 번 정확히 결정 (&lt; 1초)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추적(Track): 매 프레임마다 k를 고정하고, ω·A·φ만 빠르게 업데이트 (&lt; 13ms)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→ 무거운 작업은 처음 한 번만, 가벼운 작업은 매 프레임 실시간으로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전체 흐름 정리: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1. 선박 이동 → synthetic aperture(합성 개구) 형성 → 파수 추정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2. 분산 관계로 물리적 제약 부여 → 탐색 공간 축소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3. 매 프레임 Adam 최적화 → 실시간 추적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4. Adaptive N: 성분 수를 자동으로 조정 (추가/제거/복원)</a:t>
            </a:r>
          </a:p>
        </p:txBody>
      </p:sp>
      <p:pic>
        <p:nvPicPr>
          <p:cNvPr id="6" name="Picture 5" descr="fig_beamforming_2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828800"/>
            <a:ext cx="3931920" cy="13068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5 · 응용 — hydrofoil 제어 (테스트 적용)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Application — hydrofoil ride control 에 시험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WaveSplat 추정 결과를 feed-forward 신호로 활용 — preliminary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왜 hydrofoil 제어인가</a:t>
            </a:r>
            <a:r>
              <a:rPr sz="11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Hydrofoil 은 파도를 만나면 lift 가 변동 → vessel heave/pitch 가 흔들림 → 승차감 저하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Pre-view (앞쪽 파도 정보) 가 있으면 fin angle 을 미리 조절해 disturbance 상쇄 가능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→ WaveSplat 의 실시간 phase-resolved 추정이 정확히 이 preview 를 제공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제어 구조</a:t>
            </a:r>
            <a:r>
              <a:rPr sz="11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기존: PD controller (현재 heave error 만 보고 fin angle 조절) — feedback only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제안: PD + Feed-Forward (FF) — 미래 wave disturbance 를 미리 예측해서 fin angle 보상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WaveSplat 추정 → wave-induced lift 예측 → fin angle 보정값 (FF term)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최종 fin angle = PD(heave error) + FF(predicted wave disturbance)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테스트 setup</a:t>
            </a:r>
            <a:r>
              <a:rPr sz="1100" b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WaveSim 합성 파도 + hydrofoil dynamics simulator (hydrofoil/ 모듈)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3 m/s wave preview window (0.3 s lookahead at V=11.3 m/s)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같은 파도 시퀀스에 PD-only vs PD+FF 비교</a:t>
            </a:r>
          </a:p>
          <a:p>
            <a:pPr>
              <a:spcAft>
                <a:spcPts val="200"/>
              </a:spcAft>
            </a:pPr>
            <a:r>
              <a:rPr sz="500"/>
              <a:t> 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현재 단계</a:t>
            </a:r>
            <a:r>
              <a:rPr sz="1100" b="0">
                <a:solidFill>
                  <a:srgbClr val="1A1A2E"/>
                </a:solidFill>
                <a:latin typeface="Calibri"/>
              </a:rPr>
              <a:t>: *preliminary test* — 응용 가능성 확인 정도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   – 체계적 controller tuning 과 robustness 평가는 후속 연구 (paper 2 또는 학위논문)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19 /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017"/>
                </a:solidFill>
                <a:latin typeface="Calibri"/>
              </a:defRPr>
            </a:pPr>
            <a:r>
              <a:t>Part 5 · 응용 — PD vs PD+FF 비교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PD vs PD+FF — heave acceleration 감소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같은 파도 시퀀스에 두 controller 비교 — heave aRMS 가 명확히 감소</a:t>
            </a:r>
          </a:p>
        </p:txBody>
      </p:sp>
      <p:pic>
        <p:nvPicPr>
          <p:cNvPr id="5" name="Picture 4" descr="hydrofoil_wave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6531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📂 docs/hydrofoil_wave_animation.gif (PowerPoint 에서 GIF 자동 재생). 위: 파도 + vessel, 아래: heave accel time series — PD-only vs PD+FF 직접 비교.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20 /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Closing · 한계와 향후 개선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현재의 한계 — 그리고 개선할 수 있는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모든 연구에는 한계가 있습니다. 정직하게 인정하고, 해결 방향을 제시합니다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한계 1 — 선형 근사 (Linear Wave Theory)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우리는 파도를 '사인파의 합'으로 표현합니다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실제 파도는 꼭대기가 뾰족하고 골이 넓어서 사인파와 다름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Klein 2020 비교: BF6(풍력 6)까지는 충분히 정확, 그 이상은 정확도 저하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개선: Stokes 2차 보정 추가 → 적용 범위 확장 가능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한계 2 — 복잡한 파도(15-30개 성분)에서 정확도 저하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BF4_15comp: WaveSplat 0.302 vs Wang2025 0.249 (격자 방법이 더 나음)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원인: 성분이 많으면 초기화 단계에서 정확한 분리가 어려워짐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개선: 격자 초기화 → 파라미터 정밀화 (hybrid init) 연구 예정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한계 3 — 파도 파쇄(breaking)와 유속장 추정은 미지원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이런 현상은 VOF-EnKF, PFT-PINN 같은 비선형 방법만 가능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하지만 이들은 30분~수시간이 필요하므로 실시간 적용은 불가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우리의 응용 영역(실시간 제어)과는 본질적으로 다른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19 / 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7ACC"/>
                </a:solidFill>
                <a:latin typeface="Calibri"/>
              </a:defRPr>
            </a:pPr>
            <a:r>
              <a:t>Closing · 향후 연구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앞으로의 연구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현재 한계를 극복하기 위한 3가지 연구 방향을 계획하고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방향 1 — 고복잡도 파도 대응 (초기화 개선)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현재 문제: 15개 이상 성분에서 초기화 정확도 저하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계획: 격자 기반 초기 추정 → 파라미터 정밀화 (hybrid init)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또는: 신경망으로 초기 파도 성분을 추정 (learned init)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기대: 고복잡도에서도 Wang2025 수준 이상의 정확도 달성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방향 2 — 비선형 파도 확장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현재: 선형 파도 이론(LWT)만 사용 → BF6까지 적용 가능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계획: Stokes 2차 보정 추가 → 더 높은 파도까지 정확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장기: Klein 2020의 NLSE 수준 도달 목표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방향 3 — 실측 데이터 검증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현재: 합성 데이터(시뮬레이터)로만 검증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계획: 실제 선박 LiDAR 데이터로 현장 검증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   – 도전 과제: ground-truth 확보 (wave buoy 또는 radar 병행 측정)</a:t>
            </a:r>
          </a:p>
          <a:p>
            <a:pPr>
              <a:spcAft>
                <a:spcPts val="300"/>
              </a:spcAft>
            </a:pPr>
            <a:r>
              <a:rPr sz="600"/>
              <a:t> 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• </a:t>
            </a:r>
            <a:r>
              <a:rPr sz="1200" b="1">
                <a:solidFill>
                  <a:srgbClr val="1A1A2E"/>
                </a:solidFill>
                <a:latin typeface="Calibri"/>
              </a:rPr>
              <a:t>최종 목표 — 선박 실시간 제어에 활용 가능한 파도 추정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007ACC"/>
                </a:solidFill>
                <a:latin typeface="Calibri"/>
              </a:defRPr>
            </a:pPr>
            <a:r>
              <a:t>질문과 토론을 환영합니다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20 /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Appendix A · Prior art 13 편 정독 요약 (Q&amp;A 시 참조)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Appendix A — 선행연구 13 편 한 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Detail 은 본문 슬라이드 (S5-S9) + docs/strategic_repositioning.md 참조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691640"/>
          <a:ext cx="11841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296"/>
                <a:gridCol w="2368296"/>
                <a:gridCol w="2368296"/>
                <a:gridCol w="2368296"/>
                <a:gridCol w="2368296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Paper (Year)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핵심 방법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강점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한계 / 우리 차별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Desmars 2018 (OMAE)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LIDAR + ICWM, predefined k-grid, variational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LIDAR 응용 첫 시도 (concept proposal)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Simulator only, 1D, on-grid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Desmars 2020 (Ocean Eng)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 gauge array + dispersion 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첫 실측 (wave tank)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 gauge ≠ LiDAR, 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Desmars 2023 (JFM 975)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HOS-OCM, vessel-mounted optical, 3-stage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**가장 가까운 prior art** (vessel + phase-resolved)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1D, on-grid, sensor model 미명시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Wang &amp; Pan 2021 (JFM 918)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EnKF + HOS 첫 결합, 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EnKF-HOS family 의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Dense obs 가정, 1D, ensemble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Wang &amp; Pan 2022 (JFM 949)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EnKF-HOS-C (current 동시 추정)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Current estimation 확장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여전히 1D, dense obs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Wang 2025 (Coastal Eng 197)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EnKF + Ne=300 + fuzzy R + Delaunay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Stereo camera 2D 실시간 (격자 기반)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**우리 baseline 의 충실 재현 대상**, 격자 한계, 632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Hunt 2007 (Tellus A)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LETKF (Local Ensemble Transform KF)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모든 EnKF wave 의 이론 기반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Wave-specific 아님 (기상학 출신)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Klein 2020 (Fluids 5(1))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 model 정량 비교 (LWT/NLSE/NLSE2/HOSM)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ε &lt; 0.07 operational range 정당화 출처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Comparison study, 새 알고리즘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Ehlers 2023 (Ocean Eng)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Fourier Neural Operator (FNO) supervised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1.9 ms inference, fastest ML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3120 sample 학습 필요, 1D, distribution shift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Ehlers 2025 PFT-PINN (PRF)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Physics-informed NN + PFT loss, unsupervised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비선형 처리 + training data 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30 분/instance, 1D + t, buoy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Yan 2025 (arXiv VOF-EnKF)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Navier-Stokes + EnKF + POD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Plunging breaker 처리 (가장 정확)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Offline only, 1D xz-plane, 50 OpenFOAM × 수일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Tang-Bhaskar-Recht 2013 (TIT)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Atomic norm off-grid 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Theoretical recovery bound (off-grid CS 영감)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1D 신호, SDP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Möller-Trumbore 1997 (JGT)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Ray-triangle intersection (graphics)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WaveSim 의 ray tracing 표준 알고리즘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A1A2E"/>
                          </a:solidFill>
                        </a:rPr>
                        <a:t>비물리적 (geometry only)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총 13 편 정독. Möller-Trumbore 와 Hunt 2007 은 algorithmic foundation, 나머지 11 편은 wave estimation prior 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Appendix B · WaveSim 110-episode dataset (Q&amp;A 시 참조)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Appendix B — 합성 dataset 110 episode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BF2–BF7 sea state × N=1–30 components × seeds — controlled benchmark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9164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Sea state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ε (steepness)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N_components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Seeds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Episode 수</a:t>
                      </a:r>
                    </a:p>
                  </a:txBody>
                  <a:tcPr>
                    <a:solidFill>
                      <a:srgbClr val="E8553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BF2 (잔잔)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1, 2, 5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1, 2, 5, 15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BF4 (보통)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5, 15, 20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5, 15, 20, 30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0–4 (5 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BF6 (거친)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15, 20, 30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 (1 개)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BF7 (매우 거친)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~0.10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20, 30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0 (1 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Calibration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(separate)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용어 설명: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ε (steepness, 가파름)</a:t>
            </a:r>
            <a:r>
              <a:rPr sz="1100" b="0">
                <a:solidFill>
                  <a:srgbClr val="1A1A2E"/>
                </a:solidFill>
                <a:latin typeface="Calibri"/>
              </a:rPr>
              <a:t>: H_s · k_p / 2 — 유의파고와 첨두파수의 곱. 클수록 비선형성 강함 (ε&lt;0.07 = LWT 신뢰 영역, ε&gt;0.10 = breaking 위험)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</a:t>
            </a:r>
            <a:r>
              <a:rPr sz="1100" b="1">
                <a:solidFill>
                  <a:srgbClr val="1A1A2E"/>
                </a:solidFill>
                <a:latin typeface="Calibri"/>
              </a:rPr>
              <a:t>Seed</a:t>
            </a:r>
            <a:r>
              <a:rPr sz="1100" b="0">
                <a:solidFill>
                  <a:srgbClr val="1A1A2E"/>
                </a:solidFill>
                <a:latin typeface="Calibri"/>
              </a:rPr>
              <a:t>: 난수 발생기의 초기값 — 같은 (sea state, N) 에 다른 seed 로 여러 realization 생성. 통계 평가의 신뢰도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Per-episode 데이터 (HDF5 format):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T = 30 s, Δt = 0.1 s → 300 frames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Ground-truth η field: 50×50 격자 (참값)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LiDAR scan: ~50 valid pts/frame (raydrop 후)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총 110 episode = 약 1.2 GB (각 episode 12 MB)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Reproducibility + 검증: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3949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Seed 저장 → 동일 seed 로 재실행 시 동일 결과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Sensor type: uniform / slope (LiDAR scan 분포)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Test: 53 (wavesim) + 55 (wavesplat) = 108 통과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• Generator: scripts/generate_episodes.py (재현 가능)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Appendix C · 대표 case 모음 (GT vs WaveSplat)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Appendix C — 단순 case 들의 GT vs WaveSplat (2D + 3D)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각 행: BF3 N=2 / BF3 N=5 / BF4 N=5 — 열: GT(2D), WS(2D), Error(2D), GT(3D), WS(3D)</a:t>
            </a:r>
          </a:p>
        </p:txBody>
      </p:sp>
      <p:pic>
        <p:nvPicPr>
          <p:cNvPr id="5" name="Picture 4" descr="fig_appendix_c_cases_2d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11612880" cy="9415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Source: scripts/generate_simple_qualitative_figure.py — 옛날 ETKF/GPR 비교 figure 대신 GT/WaveSplat 만으로 새로 생성. Wang 2025 비교는 별도 figure 예정.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66666"/>
                </a:solidFill>
                <a:latin typeface="Calibri"/>
              </a:defRPr>
            </a:pPr>
            <a:r>
              <a:t>Appendix D · Wang 2025 와의 직접 시각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Calibri"/>
              </a:defRPr>
            </a:pPr>
            <a:r>
              <a:t>Appendix D — GT / WaveSplat / Wang2025 (BF3 N=2)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동일 episode 의 frame snapshot 비교. WaveSplat 0.217 vs Wang2025 1.011 — 격자 한계 visual evidence</a:t>
            </a:r>
          </a:p>
        </p:txBody>
      </p:sp>
      <p:pic>
        <p:nvPicPr>
          <p:cNvPr id="5" name="Picture 4" descr="fig_wang_compare_bf3_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3167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관찰 — 좌측 GT 와 중앙 WaveSplat 은 wave 패턴 거의 일치 (nRMSE 0.217). 우측 Wang2025 는 격자 해상도 한계로 미세 wave 손실 + 위상 편차 (nRMSE 1.011). 다른 case (BF3 N=5, BF4 N=5) 의 비교는 fig_wang_compare_*.png 참조.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