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910" r:id="rId1"/>
  </p:sldMasterIdLst>
  <p:notesMasterIdLst>
    <p:notesMasterId r:id="rId8"/>
  </p:notesMasterIdLst>
  <p:handoutMasterIdLst>
    <p:handoutMasterId r:id="rId9"/>
  </p:handoutMasterIdLst>
  <p:sldIdLst>
    <p:sldId id="1001" r:id="rId2"/>
    <p:sldId id="1272" r:id="rId3"/>
    <p:sldId id="1289" r:id="rId4"/>
    <p:sldId id="1299" r:id="rId5"/>
    <p:sldId id="1290" r:id="rId6"/>
    <p:sldId id="1303" r:id="rId7"/>
  </p:sldIdLst>
  <p:sldSz cx="9144000" cy="6858000" type="screen4x3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hwa" initials="SJ" lastIdx="13" clrIdx="0">
    <p:extLst>
      <p:ext uri="{19B8F6BF-5375-455C-9EA6-DF929625EA0E}">
        <p15:presenceInfo xmlns:p15="http://schemas.microsoft.com/office/powerpoint/2012/main" userId="9aa9fa2553afeb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FFFFF"/>
    <a:srgbClr val="00B0F0"/>
    <a:srgbClr val="E7F9FF"/>
    <a:srgbClr val="C5F3FF"/>
    <a:srgbClr val="FFCCCC"/>
    <a:srgbClr val="FFCCFF"/>
    <a:srgbClr val="00CC66"/>
    <a:srgbClr val="F7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18" autoAdjust="0"/>
    <p:restoredTop sz="75338" autoAdjust="0"/>
  </p:normalViewPr>
  <p:slideViewPr>
    <p:cSldViewPr showGuides="1">
      <p:cViewPr varScale="1">
        <p:scale>
          <a:sx n="62" d="100"/>
          <a:sy n="62" d="100"/>
        </p:scale>
        <p:origin x="242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7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72" y="8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9659AD6-AE32-41CA-82A0-2598C3F389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423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5127" y="518517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01" y="3228705"/>
            <a:ext cx="7942238" cy="305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CF72608-E96E-40E0-AA36-7D967661FE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451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916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396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9262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92201" y="3228705"/>
            <a:ext cx="7942238" cy="3227619"/>
          </a:xfrm>
        </p:spPr>
        <p:txBody>
          <a:bodyPr/>
          <a:lstStyle/>
          <a:p>
            <a:pPr latinLnBrk="1"/>
            <a:endParaRPr kumimoji="1" lang="ko-KR" altLang="ko-KR" sz="1200" kern="1200" dirty="0"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9706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7140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92201" y="3228705"/>
            <a:ext cx="7942238" cy="3227619"/>
          </a:xfrm>
        </p:spPr>
        <p:txBody>
          <a:bodyPr/>
          <a:lstStyle/>
          <a:p>
            <a:pPr latinLnBrk="1"/>
            <a:endParaRPr kumimoji="1" lang="ko-KR" altLang="ko-KR" sz="1200" kern="1200" dirty="0"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4694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C07C8241-B47D-4265-B8DC-7A83560CC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054225"/>
            <a:ext cx="9144000" cy="2232025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D8179D-E436-4C76-ADBD-8F3423C15B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25663"/>
            <a:ext cx="9144000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1D063F3-1108-4154-8347-0AB06E35D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DEB2E69D-3CDF-48CA-9224-6B58E034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032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5B215-C573-4168-B166-EB28B28A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Times New Roman" panose="02020603050405020304" pitchFamily="18" charset="0"/>
              <a:buChar char="-"/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804C4-9697-471E-8BC1-E0A58D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37338"/>
            <a:ext cx="1403648" cy="242969"/>
          </a:xfrm>
        </p:spPr>
        <p:txBody>
          <a:bodyPr/>
          <a:lstStyle/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C737C-4C7F-4C5A-8F42-207CA8A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03648" y="6627244"/>
            <a:ext cx="5976664" cy="240018"/>
          </a:xfrm>
        </p:spPr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8">
            <a:extLst>
              <a:ext uri="{FF2B5EF4-FFF2-40B4-BE49-F238E27FC236}">
                <a16:creationId xmlns:a16="http://schemas.microsoft.com/office/drawing/2014/main" id="{66223D9C-B720-4BD8-9066-5AAD180ABF23}"/>
              </a:ext>
            </a:extLst>
          </p:cNvPr>
          <p:cNvSpPr txBox="1">
            <a:spLocks/>
          </p:cNvSpPr>
          <p:nvPr userDrawn="1"/>
        </p:nvSpPr>
        <p:spPr>
          <a:xfrm>
            <a:off x="4067944" y="6376074"/>
            <a:ext cx="899592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-</a:t>
            </a:r>
            <a:fld id="{4B06D9A7-2E35-4533-98BA-70A08AF23C1B}" type="slidenum"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/xx</a:t>
            </a:r>
            <a:r>
              <a:rPr lang="en-US" altLang="ko-KR" dirty="0"/>
              <a:t>-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186BCE-BF40-49B6-9640-B62E920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56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B40BB9-443F-4905-A0E2-B5F7F3628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"/>
            <a:ext cx="8191822" cy="781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AD3A9-72B8-461E-95E0-A034CE037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980732"/>
            <a:ext cx="8191822" cy="51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4FE15-D5B1-472D-8C03-1866CA6B9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37339"/>
            <a:ext cx="1403648" cy="215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8D6D48-DE6D-44CE-A7CA-EE6525099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3648" y="6627244"/>
            <a:ext cx="6212110" cy="2400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ACEA0B10-CC48-4B92-B94F-3F5D3EA269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85813"/>
            <a:ext cx="91440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572C12F0-8479-479A-ABC0-316A3C83A0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23050"/>
            <a:ext cx="7380312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77CD4FEF-74D3-4DAE-AE4D-9E663E34AE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79388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71CF3CB-1B69-427E-ACF8-3C89AC11B6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28813"/>
            <a:ext cx="69850" cy="46799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EFEB5F-9136-46CD-A7E7-DD92C8EE28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9361" y="6320474"/>
            <a:ext cx="512878" cy="532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6923D-4463-4616-B13E-2F75DC18C637}"/>
              </a:ext>
            </a:extLst>
          </p:cNvPr>
          <p:cNvSpPr txBox="1"/>
          <p:nvPr userDrawn="1"/>
        </p:nvSpPr>
        <p:spPr>
          <a:xfrm>
            <a:off x="7852389" y="6513991"/>
            <a:ext cx="1366080" cy="35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"/>
              </a:lnSpc>
            </a:pP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SNUTT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 National University</a:t>
            </a: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Towing Tank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2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B3739-5194-4EC4-8994-987B3EFD5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2130200"/>
            <a:ext cx="8782744" cy="2090662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/>
              <a:t>논문 주제 선정을 위한 </a:t>
            </a:r>
            <a:r>
              <a:rPr lang="en-US" altLang="ko-KR" sz="2800" dirty="0"/>
              <a:t>Study </a:t>
            </a:r>
            <a:br>
              <a:rPr lang="en-US" altLang="ko-KR" sz="2800" dirty="0"/>
            </a:br>
            <a:r>
              <a:rPr lang="en-US" altLang="ko-KR" sz="1400" dirty="0"/>
              <a:t>(Tentative) A study of integrated optimization method for </a:t>
            </a:r>
            <a:r>
              <a:rPr lang="en-US" altLang="ko-KR" sz="1400" dirty="0" err="1"/>
              <a:t>Azipod</a:t>
            </a:r>
            <a:r>
              <a:rPr lang="en-US" altLang="ko-KR" sz="1400" dirty="0"/>
              <a:t> electric propulsion ships   </a:t>
            </a:r>
            <a:endParaRPr lang="ko-KR" altLang="en-US" sz="1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05733F-0B25-40D5-BF94-DF468B066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608" y="5373216"/>
            <a:ext cx="7992888" cy="720080"/>
          </a:xfrm>
        </p:spPr>
        <p:txBody>
          <a:bodyPr>
            <a:normAutofit/>
          </a:bodyPr>
          <a:lstStyle/>
          <a:p>
            <a:pPr algn="r"/>
            <a:r>
              <a:rPr lang="en-US" altLang="ko-KR" sz="1800" b="1" dirty="0"/>
              <a:t>Woo </a:t>
            </a:r>
            <a:r>
              <a:rPr lang="en-US" altLang="ko-KR" sz="1800" b="1" dirty="0" err="1"/>
              <a:t>Jin</a:t>
            </a:r>
            <a:r>
              <a:rPr lang="en-US" altLang="ko-KR" sz="1800" b="1" dirty="0"/>
              <a:t> Kim</a:t>
            </a:r>
            <a:r>
              <a:rPr lang="en-US" altLang="ko-KR" sz="1800" baseline="30000" dirty="0"/>
              <a:t> 1</a:t>
            </a:r>
            <a:r>
              <a:rPr lang="en-US" altLang="ko-KR" sz="1800" dirty="0"/>
              <a:t>, Shin</a:t>
            </a:r>
            <a:r>
              <a:rPr lang="ko-KR" altLang="en-US" sz="1800" dirty="0"/>
              <a:t> </a:t>
            </a:r>
            <a:r>
              <a:rPr lang="en-US" altLang="ko-KR" sz="1800" dirty="0"/>
              <a:t>Hyung</a:t>
            </a:r>
            <a:r>
              <a:rPr lang="ko-KR" altLang="en-US" sz="1800" dirty="0"/>
              <a:t> </a:t>
            </a:r>
            <a:r>
              <a:rPr lang="en-US" altLang="ko-KR" sz="1800" dirty="0"/>
              <a:t>Rhee</a:t>
            </a:r>
            <a:r>
              <a:rPr lang="en-US" altLang="ko-KR" sz="1800" baseline="30000" dirty="0"/>
              <a:t> 1</a:t>
            </a:r>
            <a:endParaRPr lang="en-US" altLang="ko-KR" sz="1800" dirty="0"/>
          </a:p>
          <a:p>
            <a:pPr algn="r"/>
            <a:r>
              <a:rPr lang="en-US" altLang="ko-KR" sz="1800" baseline="30000" dirty="0"/>
              <a:t> </a:t>
            </a:r>
            <a:r>
              <a:rPr lang="en-US" altLang="ko-KR" sz="1800" dirty="0"/>
              <a:t>Seoul National Univ., Seoul, Korea</a:t>
            </a:r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96E4A0B-D702-4670-BF9E-8B0501E9E89D}"/>
              </a:ext>
            </a:extLst>
          </p:cNvPr>
          <p:cNvSpPr txBox="1">
            <a:spLocks/>
          </p:cNvSpPr>
          <p:nvPr/>
        </p:nvSpPr>
        <p:spPr>
          <a:xfrm>
            <a:off x="4036223" y="0"/>
            <a:ext cx="5112568" cy="7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Aft>
                <a:spcPts val="0"/>
              </a:spcAft>
            </a:pPr>
            <a:endParaRPr kumimoji="0" lang="ko-KR" altLang="en-US" baseline="300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B59998C-8342-4240-B9B4-EE62F58858CB}"/>
              </a:ext>
            </a:extLst>
          </p:cNvPr>
          <p:cNvSpPr txBox="1">
            <a:spLocks/>
          </p:cNvSpPr>
          <p:nvPr/>
        </p:nvSpPr>
        <p:spPr>
          <a:xfrm>
            <a:off x="7164288" y="809664"/>
            <a:ext cx="1979712" cy="387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 fontAlgn="auto">
              <a:spcAft>
                <a:spcPts val="0"/>
              </a:spcAft>
            </a:pPr>
            <a:r>
              <a:rPr kumimoji="0" lang="en-US" altLang="ko-KR" sz="2000" dirty="0">
                <a:solidFill>
                  <a:schemeClr val="tx1"/>
                </a:solidFill>
              </a:rPr>
              <a:t>May 31, 2023</a:t>
            </a:r>
            <a:endParaRPr kumimoji="0"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79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E03C2DFD-BF25-4C69-99C4-9AEF63C46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I.	Introduction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CA34253F-BB03-4785-AF99-09BF4345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II.	Background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957DF45F-CB86-4ACD-9E4C-5E3F81D9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III.	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0D143BB5-9403-4D34-8155-18B3E379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IV.	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97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E03C2DFD-BF25-4C69-99C4-9AEF63C46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I.	Introduction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CA34253F-BB03-4785-AF99-09BF4345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  <a:alpha val="3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II.	Background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957DF45F-CB86-4ACD-9E4C-5E3F81D9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  <a:alpha val="3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III.	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0D143BB5-9403-4D34-8155-18B3E379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  <a:alpha val="3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IV.	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50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23528" y="980732"/>
            <a:ext cx="8568952" cy="55446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/>
              <a:t>Contribution to SNUTT laboratory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Firstly consider whether the topic is well aligned to SNUTT’s mission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Secondly consider whether the research topic is meaningful and leading the NAOE area.  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Considering the possibility to make HHI-SNUTT joint research project </a:t>
            </a:r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Aligned to Researcher’s career and interest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Belongs to ship performance research department (HHI/DSME)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Mainly involved in hull optimization research project in HHI for several years.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Highly related to propeller, rudder and ESD development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Highly related to model test for validation of development.</a:t>
            </a:r>
          </a:p>
          <a:p>
            <a:pPr lvl="1"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Aligned to Company’s future plan and benefit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Develop Eco-Ship by reducing fuel consumption and hazard material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Achieve carbon neutral ships as a final mission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to select a topic for research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724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E03C2DFD-BF25-4C69-99C4-9AEF63C46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  <a:alpha val="3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I.	Introduction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CA34253F-BB03-4785-AF99-09BF4345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II.	Background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957DF45F-CB86-4ACD-9E4C-5E3F81D9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  <a:alpha val="3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III.	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0D143BB5-9403-4D34-8155-18B3E379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  <a:alpha val="30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IV.	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95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Environmental regulations</a:t>
            </a:r>
            <a:endParaRPr lang="ko-KR" altLang="en-US" dirty="0"/>
          </a:p>
        </p:txBody>
      </p:sp>
      <p:sp>
        <p:nvSpPr>
          <p:cNvPr id="19" name="내용 개체 틀 1">
            <a:extLst>
              <a:ext uri="{FF2B5EF4-FFF2-40B4-BE49-F238E27FC236}">
                <a16:creationId xmlns:a16="http://schemas.microsoft.com/office/drawing/2014/main" id="{3E12C63E-4931-41F4-8010-460774BDD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32"/>
            <a:ext cx="8640960" cy="57606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/>
              <a:t>Trend of tighter environmental regulations 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Due to tighter decarbonization regulation green fuel, decarbonization technology application and acceleration of replacement for old conventional vessel are expected.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Discussion for LCA(Life Cycle Assessment) has been started.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dirty="0"/>
              <a:t>    * WTW(Well-to-Wake) </a:t>
            </a:r>
            <a:r>
              <a:rPr lang="en-US" altLang="ko-KR" dirty="0">
                <a:sym typeface="Wingdings" panose="05000000000000000000" pitchFamily="2" charset="2"/>
              </a:rPr>
              <a:t> TTW(Tank-to-Wake)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7C23B-BECD-41E2-8C93-769916C9CC69}"/>
              </a:ext>
            </a:extLst>
          </p:cNvPr>
          <p:cNvSpPr txBox="1"/>
          <p:nvPr/>
        </p:nvSpPr>
        <p:spPr>
          <a:xfrm>
            <a:off x="209833" y="3916113"/>
            <a:ext cx="720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EBC48D-875C-42CA-B9E8-5C7F452DDB27}"/>
              </a:ext>
            </a:extLst>
          </p:cNvPr>
          <p:cNvSpPr txBox="1"/>
          <p:nvPr/>
        </p:nvSpPr>
        <p:spPr>
          <a:xfrm>
            <a:off x="1469607" y="3561063"/>
            <a:ext cx="213762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CII reduction @ 2030 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-40% compared to 2008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CF9644A-0B1E-48EC-A1D8-90A27A8B36A7}"/>
              </a:ext>
            </a:extLst>
          </p:cNvPr>
          <p:cNvCxnSpPr>
            <a:cxnSpLocks/>
          </p:cNvCxnSpPr>
          <p:nvPr/>
        </p:nvCxnSpPr>
        <p:spPr>
          <a:xfrm>
            <a:off x="3787128" y="3822673"/>
            <a:ext cx="612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ED31BB5-BDE4-4F8E-A642-E71ED05D79C4}"/>
              </a:ext>
            </a:extLst>
          </p:cNvPr>
          <p:cNvCxnSpPr>
            <a:cxnSpLocks/>
          </p:cNvCxnSpPr>
          <p:nvPr/>
        </p:nvCxnSpPr>
        <p:spPr>
          <a:xfrm>
            <a:off x="801385" y="4070002"/>
            <a:ext cx="612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E07B3DD-808B-4EA9-B45D-205072506868}"/>
              </a:ext>
            </a:extLst>
          </p:cNvPr>
          <p:cNvSpPr txBox="1"/>
          <p:nvPr/>
        </p:nvSpPr>
        <p:spPr>
          <a:xfrm>
            <a:off x="323528" y="5843029"/>
            <a:ext cx="3310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GHG : Green House Gas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CII : Carbon Intensity Indicator (operating data)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EEDI : energy Efficiency Design Index (new building)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EEXI : Energy Efficiency Existing-ship Index (existing)</a:t>
            </a:r>
            <a:endParaRPr lang="ko-KR" altLang="en-US" sz="1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E4F9D7-2740-4813-8584-163598FE2683}"/>
              </a:ext>
            </a:extLst>
          </p:cNvPr>
          <p:cNvSpPr txBox="1"/>
          <p:nvPr/>
        </p:nvSpPr>
        <p:spPr>
          <a:xfrm>
            <a:off x="4889987" y="3561063"/>
            <a:ext cx="2533671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CII reduction @ 2050 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-70%(-100%) compared to 2008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60C5F6-7DC8-4A0E-95E1-D7329F9FB41D}"/>
              </a:ext>
            </a:extLst>
          </p:cNvPr>
          <p:cNvSpPr txBox="1"/>
          <p:nvPr/>
        </p:nvSpPr>
        <p:spPr>
          <a:xfrm>
            <a:off x="1469607" y="4084283"/>
            <a:ext cx="1129515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EEXI(2023)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CII(2023~26)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175235-D183-4769-98FE-2EBFE8F34B48}"/>
              </a:ext>
            </a:extLst>
          </p:cNvPr>
          <p:cNvSpPr txBox="1"/>
          <p:nvPr/>
        </p:nvSpPr>
        <p:spPr>
          <a:xfrm>
            <a:off x="2530991" y="4084283"/>
            <a:ext cx="139021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EEDI Phase Ⅲ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(-30%, 2025~)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80F640-5A29-4CB3-BE8A-57861E7441DF}"/>
              </a:ext>
            </a:extLst>
          </p:cNvPr>
          <p:cNvSpPr txBox="1"/>
          <p:nvPr/>
        </p:nvSpPr>
        <p:spPr>
          <a:xfrm>
            <a:off x="3853074" y="4084283"/>
            <a:ext cx="1251721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CII Mandatory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(2026)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926210-0BB2-484F-9F92-6DB58D490361}"/>
              </a:ext>
            </a:extLst>
          </p:cNvPr>
          <p:cNvSpPr txBox="1"/>
          <p:nvPr/>
        </p:nvSpPr>
        <p:spPr>
          <a:xfrm>
            <a:off x="5036664" y="4084283"/>
            <a:ext cx="1390214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EEDI Phase Ⅳ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(-40%, 2030~)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10B248-E2F4-4DCE-B2BF-BA17F1780641}"/>
              </a:ext>
            </a:extLst>
          </p:cNvPr>
          <p:cNvSpPr txBox="1"/>
          <p:nvPr/>
        </p:nvSpPr>
        <p:spPr>
          <a:xfrm>
            <a:off x="6358747" y="4084283"/>
            <a:ext cx="1390214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EEDI Phase Ⅴ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(-50%, 2040~)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4D1DAD-B067-45FF-AE0C-4CBF24406D2C}"/>
              </a:ext>
            </a:extLst>
          </p:cNvPr>
          <p:cNvSpPr txBox="1"/>
          <p:nvPr/>
        </p:nvSpPr>
        <p:spPr>
          <a:xfrm>
            <a:off x="7680831" y="4084283"/>
            <a:ext cx="1390214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EEDI Phase Ⅵ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(-70%, 2050~)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1DF33B-BAC9-4889-9D9D-4332E55401A5}"/>
              </a:ext>
            </a:extLst>
          </p:cNvPr>
          <p:cNvSpPr txBox="1"/>
          <p:nvPr/>
        </p:nvSpPr>
        <p:spPr>
          <a:xfrm>
            <a:off x="209833" y="5008186"/>
            <a:ext cx="720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639D6D-AF02-4D8D-95EE-7262F4A42307}"/>
              </a:ext>
            </a:extLst>
          </p:cNvPr>
          <p:cNvSpPr txBox="1"/>
          <p:nvPr/>
        </p:nvSpPr>
        <p:spPr>
          <a:xfrm>
            <a:off x="1469607" y="4892764"/>
            <a:ext cx="213762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GHG reduction @ 2030 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-55% compared to 1090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6C90E69-3F92-4152-B4B3-D9A3FE2D0EF6}"/>
              </a:ext>
            </a:extLst>
          </p:cNvPr>
          <p:cNvCxnSpPr>
            <a:cxnSpLocks/>
          </p:cNvCxnSpPr>
          <p:nvPr/>
        </p:nvCxnSpPr>
        <p:spPr>
          <a:xfrm>
            <a:off x="3787128" y="5178976"/>
            <a:ext cx="612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B39E7249-9EEA-4F82-BB39-7340856A5A01}"/>
              </a:ext>
            </a:extLst>
          </p:cNvPr>
          <p:cNvCxnSpPr>
            <a:cxnSpLocks/>
          </p:cNvCxnSpPr>
          <p:nvPr/>
        </p:nvCxnSpPr>
        <p:spPr>
          <a:xfrm>
            <a:off x="801385" y="5162075"/>
            <a:ext cx="6121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B356899-816D-4F76-B0DD-015E72A87DBF}"/>
              </a:ext>
            </a:extLst>
          </p:cNvPr>
          <p:cNvSpPr txBox="1"/>
          <p:nvPr/>
        </p:nvSpPr>
        <p:spPr>
          <a:xfrm>
            <a:off x="4889987" y="4917366"/>
            <a:ext cx="2533671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GHG reduction @ 2050 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~Net Zero GHG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DC6A26-09C1-4E15-8D8F-0C81768AB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734263"/>
              </p:ext>
            </p:extLst>
          </p:nvPr>
        </p:nvGraphicFramePr>
        <p:xfrm>
          <a:off x="7423658" y="2852936"/>
          <a:ext cx="1600490" cy="494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245">
                  <a:extLst>
                    <a:ext uri="{9D8B030D-6E8A-4147-A177-3AD203B41FA5}">
                      <a16:colId xmlns:a16="http://schemas.microsoft.com/office/drawing/2014/main" val="1253093087"/>
                    </a:ext>
                  </a:extLst>
                </a:gridCol>
                <a:gridCol w="800245">
                  <a:extLst>
                    <a:ext uri="{9D8B030D-6E8A-4147-A177-3AD203B41FA5}">
                      <a16:colId xmlns:a16="http://schemas.microsoft.com/office/drawing/2014/main" val="2447075723"/>
                    </a:ext>
                  </a:extLst>
                </a:gridCol>
              </a:tblGrid>
              <a:tr h="247265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53276" marR="53276" marT="26638" marB="2663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lt"/>
                        </a:rPr>
                        <a:t>Fixed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276" marR="53276" marT="26638" marB="2663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148624"/>
                  </a:ext>
                </a:extLst>
              </a:tr>
              <a:tr h="247265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53276" marR="53276" marT="26638" marB="2663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latin typeface="+mn-lt"/>
                        </a:rPr>
                        <a:t>Not fixed</a:t>
                      </a:r>
                      <a:endParaRPr lang="ko-KR" altLang="en-US" sz="1000" b="0" dirty="0">
                        <a:latin typeface="+mn-lt"/>
                      </a:endParaRPr>
                    </a:p>
                  </a:txBody>
                  <a:tcPr marL="53276" marR="53276" marT="26638" marB="2663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20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85560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74641</TotalTime>
  <Words>403</Words>
  <Application>Microsoft Office PowerPoint</Application>
  <PresentationFormat>화면 슬라이드 쇼(4:3)</PresentationFormat>
  <Paragraphs>74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Arial</vt:lpstr>
      <vt:lpstr>Arial Black</vt:lpstr>
      <vt:lpstr>Times New Roman</vt:lpstr>
      <vt:lpstr>Wingdings</vt:lpstr>
      <vt:lpstr>디자인 사용자 지정</vt:lpstr>
      <vt:lpstr>논문 주제 선정을 위한 Study  (Tentative) A study of integrated optimization method for Azipod electric propulsion ships   </vt:lpstr>
      <vt:lpstr>Contents</vt:lpstr>
      <vt:lpstr>Contents</vt:lpstr>
      <vt:lpstr>Principle to select a topic for research</vt:lpstr>
      <vt:lpstr>Contents</vt:lpstr>
      <vt:lpstr>Environmental regulations</vt:lpstr>
    </vt:vector>
  </TitlesOfParts>
  <Company>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Sogang</dc:creator>
  <cp:lastModifiedBy>박세용</cp:lastModifiedBy>
  <cp:revision>4613</cp:revision>
  <cp:lastPrinted>2021-11-03T00:28:46Z</cp:lastPrinted>
  <dcterms:created xsi:type="dcterms:W3CDTF">2007-03-29T05:53:49Z</dcterms:created>
  <dcterms:modified xsi:type="dcterms:W3CDTF">2026-05-02T18:12:55Z</dcterms:modified>
</cp:coreProperties>
</file>