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910" r:id="rId1"/>
  </p:sldMasterIdLst>
  <p:notesMasterIdLst>
    <p:notesMasterId r:id="rId35"/>
  </p:notesMasterIdLst>
  <p:handoutMasterIdLst>
    <p:handoutMasterId r:id="rId36"/>
  </p:handoutMasterIdLst>
  <p:sldIdLst>
    <p:sldId id="1001" r:id="rId2"/>
    <p:sldId id="1272" r:id="rId3"/>
    <p:sldId id="1304" r:id="rId4"/>
    <p:sldId id="1316" r:id="rId5"/>
    <p:sldId id="1321" r:id="rId6"/>
    <p:sldId id="1305" r:id="rId7"/>
    <p:sldId id="1317" r:id="rId8"/>
    <p:sldId id="1322" r:id="rId9"/>
    <p:sldId id="1324" r:id="rId10"/>
    <p:sldId id="1306" r:id="rId11"/>
    <p:sldId id="1318" r:id="rId12"/>
    <p:sldId id="1323" r:id="rId13"/>
    <p:sldId id="1327" r:id="rId14"/>
    <p:sldId id="1330" r:id="rId15"/>
    <p:sldId id="1331" r:id="rId16"/>
    <p:sldId id="1332" r:id="rId17"/>
    <p:sldId id="1329" r:id="rId18"/>
    <p:sldId id="1334" r:id="rId19"/>
    <p:sldId id="1307" r:id="rId20"/>
    <p:sldId id="1319" r:id="rId21"/>
    <p:sldId id="1333" r:id="rId22"/>
    <p:sldId id="1308" r:id="rId23"/>
    <p:sldId id="1326" r:id="rId24"/>
    <p:sldId id="1320" r:id="rId25"/>
    <p:sldId id="1325" r:id="rId26"/>
    <p:sldId id="1315" r:id="rId27"/>
    <p:sldId id="1310" r:id="rId28"/>
    <p:sldId id="1311" r:id="rId29"/>
    <p:sldId id="1312" r:id="rId30"/>
    <p:sldId id="1313" r:id="rId31"/>
    <p:sldId id="1335" r:id="rId32"/>
    <p:sldId id="1314" r:id="rId33"/>
    <p:sldId id="1336" r:id="rId34"/>
  </p:sldIdLst>
  <p:sldSz cx="9144000" cy="6858000" type="screen4x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hwa" initials="SJ" lastIdx="13" clrIdx="0">
    <p:extLst>
      <p:ext uri="{19B8F6BF-5375-455C-9EA6-DF929625EA0E}">
        <p15:presenceInfo xmlns:p15="http://schemas.microsoft.com/office/powerpoint/2012/main" userId="9aa9fa2553afeb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FF"/>
    <a:srgbClr val="00B0F0"/>
    <a:srgbClr val="E7F9FF"/>
    <a:srgbClr val="C5F3FF"/>
    <a:srgbClr val="FFCCCC"/>
    <a:srgbClr val="FFCCFF"/>
    <a:srgbClr val="00CC66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18" autoAdjust="0"/>
    <p:restoredTop sz="67848" autoAdjust="0"/>
  </p:normalViewPr>
  <p:slideViewPr>
    <p:cSldViewPr showGuides="1">
      <p:cViewPr varScale="1">
        <p:scale>
          <a:sx n="56" d="100"/>
          <a:sy n="56" d="100"/>
        </p:scale>
        <p:origin x="2592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72" y="8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659AD6-AE32-41CA-82A0-2598C3F38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423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5127" y="518517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01" y="3228705"/>
            <a:ext cx="7942238" cy="305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F72608-E96E-40E0-AA36-7D967661FE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451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916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39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3F9E-C020-A15C-5083-8C7141DB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691E5E-84E7-5B89-6CE3-A397D8685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79DE93-4D61-C31E-7BDA-F4B1ECD09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82C6B-E410-0D16-FFCA-9E0E77A15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0940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*파 추정의 한계 </a:t>
            </a:r>
            <a:r>
              <a:rPr lang="en-US" altLang="ko-KR" dirty="0"/>
              <a:t>— </a:t>
            </a:r>
            <a:r>
              <a:rPr lang="ko-KR" altLang="en-US" dirty="0"/>
              <a:t>통계 </a:t>
            </a:r>
            <a:r>
              <a:rPr lang="en-US" altLang="ko-KR" dirty="0"/>
              <a:t>vs phase-resolved*</a:t>
            </a:r>
          </a:p>
          <a:p>
            <a:endParaRPr lang="en-US" altLang="ko-KR" dirty="0"/>
          </a:p>
          <a:p>
            <a:r>
              <a:rPr lang="ko-KR" altLang="en-US" dirty="0"/>
              <a:t>기존 산업 표준은 *통계적 추정* </a:t>
            </a:r>
            <a:r>
              <a:rPr lang="en-US" altLang="ko-KR" dirty="0"/>
              <a:t>— *H_s (</a:t>
            </a:r>
            <a:r>
              <a:rPr lang="ko-KR" altLang="en-US" dirty="0"/>
              <a:t>유의파고</a:t>
            </a:r>
            <a:r>
              <a:rPr lang="en-US" altLang="ko-KR" dirty="0"/>
              <a:t>, </a:t>
            </a:r>
            <a:r>
              <a:rPr lang="ko-KR" altLang="en-US" dirty="0"/>
              <a:t>상위 </a:t>
            </a:r>
            <a:r>
              <a:rPr lang="en-US" altLang="ko-KR" dirty="0"/>
              <a:t>1/3 </a:t>
            </a:r>
            <a:r>
              <a:rPr lang="ko-KR" altLang="en-US" dirty="0"/>
              <a:t>파도의 평균 높이</a:t>
            </a:r>
            <a:r>
              <a:rPr lang="en-US" altLang="ko-KR" dirty="0"/>
              <a:t>)*, *</a:t>
            </a:r>
            <a:r>
              <a:rPr lang="en-US" altLang="ko-KR" dirty="0" err="1"/>
              <a:t>T_p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첨두주기</a:t>
            </a:r>
            <a:r>
              <a:rPr lang="en-US" altLang="ko-KR" dirty="0"/>
              <a:t>, </a:t>
            </a:r>
            <a:r>
              <a:rPr lang="ko-KR" altLang="en-US" dirty="0"/>
              <a:t>가장 </a:t>
            </a:r>
            <a:r>
              <a:rPr lang="en-US" altLang="ko-KR" dirty="0"/>
              <a:t>dominant </a:t>
            </a:r>
            <a:r>
              <a:rPr lang="ko-KR" altLang="en-US" dirty="0"/>
              <a:t>한 파도의 주기</a:t>
            </a:r>
            <a:r>
              <a:rPr lang="en-US" altLang="ko-KR" dirty="0"/>
              <a:t>)* </a:t>
            </a:r>
            <a:r>
              <a:rPr lang="ko-KR" altLang="en-US" dirty="0"/>
              <a:t>만 제공</a:t>
            </a:r>
            <a:r>
              <a:rPr lang="en-US" altLang="ko-KR" dirty="0"/>
              <a:t>. </a:t>
            </a:r>
            <a:r>
              <a:rPr lang="ko-KR" altLang="en-US" dirty="0"/>
              <a:t>선박 설계 </a:t>
            </a:r>
            <a:r>
              <a:rPr lang="en-US" altLang="ko-KR" dirty="0"/>
              <a:t>(30</a:t>
            </a:r>
            <a:r>
              <a:rPr lang="ko-KR" altLang="en-US" dirty="0"/>
              <a:t>년 평균 환경</a:t>
            </a:r>
            <a:r>
              <a:rPr lang="en-US" altLang="ko-KR" dirty="0"/>
              <a:t>) </a:t>
            </a:r>
            <a:r>
              <a:rPr lang="ko-KR" altLang="en-US" dirty="0"/>
              <a:t>에는 충분하지만 *실시간 제어 </a:t>
            </a:r>
            <a:r>
              <a:rPr lang="en-US" altLang="ko-KR" dirty="0"/>
              <a:t>(</a:t>
            </a:r>
            <a:r>
              <a:rPr lang="ko-KR" altLang="en-US" dirty="0"/>
              <a:t>지금 어디에 어떤 파도</a:t>
            </a:r>
            <a:r>
              <a:rPr lang="en-US" altLang="ko-KR" dirty="0"/>
              <a:t>?)* </a:t>
            </a:r>
            <a:r>
              <a:rPr lang="ko-KR" altLang="en-US" dirty="0"/>
              <a:t>에는 부족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본 연구는 *</a:t>
            </a:r>
            <a:r>
              <a:rPr lang="en-US" altLang="ko-KR" dirty="0"/>
              <a:t>phase-resolved estimation* — *</a:t>
            </a:r>
            <a:r>
              <a:rPr lang="ko-KR" altLang="en-US" dirty="0" err="1"/>
              <a:t>파도장</a:t>
            </a:r>
            <a:r>
              <a:rPr lang="ko-KR" altLang="en-US" dirty="0"/>
              <a:t> </a:t>
            </a:r>
            <a:r>
              <a:rPr lang="en-US" altLang="ko-KR" dirty="0"/>
              <a:t>η(x, y, t) </a:t>
            </a:r>
            <a:r>
              <a:rPr lang="ko-KR" altLang="en-US" dirty="0"/>
              <a:t>직접 추정* </a:t>
            </a:r>
            <a:r>
              <a:rPr lang="en-US" altLang="ko-KR" dirty="0"/>
              <a:t>— </a:t>
            </a:r>
            <a:r>
              <a:rPr lang="ko-KR" altLang="en-US" dirty="0"/>
              <a:t>을 목표로</a:t>
            </a:r>
            <a:r>
              <a:rPr lang="en-US" altLang="ko-KR" dirty="0"/>
              <a:t>. BF4 sea state </a:t>
            </a:r>
            <a:r>
              <a:rPr lang="ko-KR" altLang="en-US" dirty="0"/>
              <a:t>라는 평균이 아니라 *</a:t>
            </a:r>
            <a:r>
              <a:rPr lang="en-US" altLang="ko-KR" dirty="0"/>
              <a:t>30</a:t>
            </a:r>
            <a:r>
              <a:rPr lang="ko-KR" altLang="en-US" dirty="0"/>
              <a:t>초 후 선수 </a:t>
            </a:r>
            <a:r>
              <a:rPr lang="en-US" altLang="ko-KR" dirty="0"/>
              <a:t>100m </a:t>
            </a:r>
            <a:r>
              <a:rPr lang="ko-KR" altLang="en-US" dirty="0"/>
              <a:t>앞에 </a:t>
            </a:r>
            <a:r>
              <a:rPr lang="en-US" altLang="ko-KR" dirty="0"/>
              <a:t>0.8m </a:t>
            </a:r>
            <a:r>
              <a:rPr lang="ko-KR" altLang="en-US" dirty="0"/>
              <a:t>파도가 옴* 같은 구체 정보예요</a:t>
            </a:r>
            <a:r>
              <a:rPr lang="en-US" altLang="ko-KR" dirty="0"/>
              <a:t>. (BF = Beaufort scale, </a:t>
            </a:r>
            <a:r>
              <a:rPr lang="ko-KR" altLang="en-US" dirty="0"/>
              <a:t>풍속 기반 </a:t>
            </a:r>
            <a:r>
              <a:rPr lang="en-US" altLang="ko-KR" dirty="0"/>
              <a:t>sea state </a:t>
            </a:r>
            <a:r>
              <a:rPr lang="ko-KR" altLang="en-US" dirty="0"/>
              <a:t>등급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응용 </a:t>
            </a:r>
            <a:r>
              <a:rPr lang="en-US" altLang="ko-KR" dirty="0"/>
              <a:t>— Hydrofoil </a:t>
            </a:r>
            <a:r>
              <a:rPr lang="ko-KR" altLang="en-US" dirty="0"/>
              <a:t>선박 제어*</a:t>
            </a:r>
          </a:p>
          <a:p>
            <a:r>
              <a:rPr lang="ko-KR" altLang="en-US" dirty="0"/>
              <a:t>화면 다이어그램이 응용 구조입니다</a:t>
            </a:r>
            <a:r>
              <a:rPr lang="en-US" altLang="ko-KR" dirty="0"/>
              <a:t>. *Falcon K1 LiDAR (10 Hz)* → *</a:t>
            </a:r>
            <a:r>
              <a:rPr lang="en-US" altLang="ko-KR" dirty="0" err="1"/>
              <a:t>WaveSplat</a:t>
            </a:r>
            <a:r>
              <a:rPr lang="ko-KR" altLang="en-US" dirty="0"/>
              <a:t>* </a:t>
            </a:r>
            <a:r>
              <a:rPr lang="en-US" altLang="ko-KR" dirty="0"/>
              <a:t>(</a:t>
            </a:r>
            <a:r>
              <a:rPr lang="ko-KR" altLang="en-US" dirty="0"/>
              <a:t>우리 알고리즘</a:t>
            </a:r>
            <a:r>
              <a:rPr lang="en-US" altLang="ko-KR" dirty="0"/>
              <a:t>, spectral params </a:t>
            </a:r>
            <a:r>
              <a:rPr lang="ko-KR" altLang="en-US" dirty="0"/>
              <a:t>출력</a:t>
            </a:r>
            <a:r>
              <a:rPr lang="en-US" altLang="ko-KR" dirty="0"/>
              <a:t>) → *Forward Predictor* (</a:t>
            </a:r>
            <a:r>
              <a:rPr lang="ko-KR" altLang="en-US" dirty="0"/>
              <a:t>미래 파도 예측</a:t>
            </a:r>
            <a:r>
              <a:rPr lang="en-US" altLang="ko-KR" dirty="0"/>
              <a:t>) → *IIR LP Filter (Infinite Impulse Response Low-Pass, </a:t>
            </a:r>
            <a:r>
              <a:rPr lang="ko-KR" altLang="en-US" dirty="0" err="1"/>
              <a:t>저역통과</a:t>
            </a:r>
            <a:r>
              <a:rPr lang="ko-KR" altLang="en-US" dirty="0"/>
              <a:t> 필터</a:t>
            </a:r>
            <a:r>
              <a:rPr lang="en-US" altLang="ko-KR" dirty="0"/>
              <a:t>)* → *Feedforward Gain* → *Foil Servo*. </a:t>
            </a:r>
            <a:r>
              <a:rPr lang="ko-KR" altLang="en-US" dirty="0"/>
              <a:t>동시에 *</a:t>
            </a:r>
            <a:r>
              <a:rPr lang="en-US" altLang="ko-KR" dirty="0"/>
              <a:t>IMU (Inertial Measurement Unit, </a:t>
            </a:r>
            <a:r>
              <a:rPr lang="ko-KR" altLang="en-US" dirty="0"/>
              <a:t>관성 측정 장치</a:t>
            </a:r>
            <a:r>
              <a:rPr lang="en-US" altLang="ko-KR" dirty="0"/>
              <a:t>)* </a:t>
            </a:r>
            <a:r>
              <a:rPr lang="ko-KR" altLang="en-US" dirty="0"/>
              <a:t>의 </a:t>
            </a:r>
            <a:r>
              <a:rPr lang="en-US" altLang="ko-KR" dirty="0"/>
              <a:t>heave/pitch </a:t>
            </a:r>
            <a:r>
              <a:rPr lang="ko-KR" altLang="en-US" dirty="0"/>
              <a:t>가 *</a:t>
            </a:r>
            <a:r>
              <a:rPr lang="en-US" altLang="ko-KR" dirty="0"/>
              <a:t>PD (Proportional-Derivative) Feedback* </a:t>
            </a:r>
            <a:r>
              <a:rPr lang="ko-KR" altLang="en-US" dirty="0"/>
              <a:t>으로 </a:t>
            </a:r>
            <a:r>
              <a:rPr lang="ko-KR" altLang="en-US" dirty="0" err="1"/>
              <a:t>합쳐짐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핵심 </a:t>
            </a:r>
            <a:r>
              <a:rPr lang="en-US" altLang="ko-KR" dirty="0"/>
              <a:t>— </a:t>
            </a:r>
            <a:r>
              <a:rPr lang="en-US" altLang="ko-KR" dirty="0" err="1"/>
              <a:t>WaveSplat</a:t>
            </a:r>
            <a:r>
              <a:rPr lang="ko-KR" altLang="en-US" dirty="0"/>
              <a:t> 이 미래 파도 정보를 미리 </a:t>
            </a:r>
            <a:r>
              <a:rPr lang="en-US" altLang="ko-KR" dirty="0"/>
              <a:t>(preview) </a:t>
            </a:r>
            <a:r>
              <a:rPr lang="ko-KR" altLang="en-US" dirty="0"/>
              <a:t>제공* 함으로써 *파도 부딪히기 전에 </a:t>
            </a:r>
            <a:r>
              <a:rPr lang="en-US" altLang="ko-KR" dirty="0"/>
              <a:t>fin </a:t>
            </a:r>
            <a:r>
              <a:rPr lang="ko-KR" altLang="en-US" dirty="0"/>
              <a:t>미리 조절* 가능</a:t>
            </a:r>
            <a:r>
              <a:rPr lang="en-US" altLang="ko-KR" dirty="0"/>
              <a:t>. Feedback </a:t>
            </a:r>
            <a:r>
              <a:rPr lang="ko-KR" altLang="en-US" dirty="0"/>
              <a:t>만으로는 부족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</a:t>
            </a:r>
            <a:r>
              <a:rPr lang="ko-KR" altLang="en-US" dirty="0"/>
              <a:t>통계 추정이 부족하면 안전 마진을 늘리면 되지 않나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설계는 그렇지만 *실시간 제어* 는 *언제 큰 파도가 올지 모르면* </a:t>
            </a:r>
            <a:r>
              <a:rPr lang="en-US" altLang="ko-KR" dirty="0"/>
              <a:t>fin </a:t>
            </a:r>
            <a:r>
              <a:rPr lang="ko-KR" altLang="en-US" dirty="0"/>
              <a:t>을 항상 최대 두거나 느리게 반응해야 해서 성능 손실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Phase-resolved </a:t>
            </a:r>
            <a:r>
              <a:rPr lang="ko-KR" altLang="en-US" dirty="0"/>
              <a:t>와 </a:t>
            </a:r>
            <a:r>
              <a:rPr lang="en-US" altLang="ko-KR" dirty="0"/>
              <a:t>spectral </a:t>
            </a:r>
            <a:r>
              <a:rPr lang="ko-KR" altLang="en-US" dirty="0"/>
              <a:t>의 차이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Spectral </a:t>
            </a:r>
            <a:r>
              <a:rPr lang="ko-KR" altLang="en-US" dirty="0"/>
              <a:t>은 </a:t>
            </a:r>
            <a:r>
              <a:rPr lang="en-US" altLang="ko-KR" dirty="0"/>
              <a:t>H_s, </a:t>
            </a:r>
            <a:r>
              <a:rPr lang="en-US" altLang="ko-KR" dirty="0" err="1"/>
              <a:t>T_p</a:t>
            </a:r>
            <a:r>
              <a:rPr lang="ko-KR" altLang="en-US" dirty="0"/>
              <a:t> 같은 *통계량*</a:t>
            </a:r>
            <a:r>
              <a:rPr lang="en-US" altLang="ko-KR" dirty="0"/>
              <a:t>, phase-resolved </a:t>
            </a:r>
            <a:r>
              <a:rPr lang="ko-KR" altLang="en-US" dirty="0"/>
              <a:t>는 *</a:t>
            </a:r>
            <a:r>
              <a:rPr lang="en-US" altLang="ko-KR" dirty="0"/>
              <a:t>η(</a:t>
            </a:r>
            <a:r>
              <a:rPr lang="en-US" altLang="ko-KR" dirty="0" err="1"/>
              <a:t>x,y,t</a:t>
            </a:r>
            <a:r>
              <a:rPr lang="en-US" altLang="ko-KR" dirty="0"/>
              <a:t>) </a:t>
            </a:r>
            <a:r>
              <a:rPr lang="ko-KR" altLang="en-US" dirty="0"/>
              <a:t>전체*</a:t>
            </a:r>
            <a:r>
              <a:rPr lang="en-US" altLang="ko-KR" dirty="0"/>
              <a:t>. </a:t>
            </a:r>
            <a:r>
              <a:rPr lang="ko-KR" altLang="en-US" dirty="0"/>
              <a:t>후자가 더 상세하지만 추정이 어려움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2667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연구가 *어려운 이유 </a:t>
            </a:r>
            <a:r>
              <a:rPr lang="en-US" altLang="ko-KR" dirty="0"/>
              <a:t>3</a:t>
            </a:r>
            <a:r>
              <a:rPr lang="ko-KR" altLang="en-US" dirty="0"/>
              <a:t>가지*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*① </a:t>
            </a:r>
            <a:r>
              <a:rPr lang="ko-KR" altLang="en-US" dirty="0"/>
              <a:t>측정 데이터 부족 </a:t>
            </a:r>
            <a:r>
              <a:rPr lang="en-US" altLang="ko-KR" dirty="0"/>
              <a:t>(sparse, non-uniform)* — LiDAR 76,000 ray </a:t>
            </a:r>
            <a:r>
              <a:rPr lang="ko-KR" altLang="en-US" dirty="0"/>
              <a:t>발사 후 *</a:t>
            </a:r>
            <a:r>
              <a:rPr lang="en-US" altLang="ko-KR" dirty="0"/>
              <a:t>valid </a:t>
            </a:r>
            <a:r>
              <a:rPr lang="ko-KR" altLang="en-US" dirty="0"/>
              <a:t>점 </a:t>
            </a:r>
            <a:r>
              <a:rPr lang="en-US" altLang="ko-KR" dirty="0"/>
              <a:t>frame </a:t>
            </a:r>
            <a:r>
              <a:rPr lang="ko-KR" altLang="en-US" dirty="0"/>
              <a:t>당 </a:t>
            </a:r>
            <a:r>
              <a:rPr lang="en-US" altLang="ko-KR" dirty="0"/>
              <a:t>~50</a:t>
            </a:r>
            <a:r>
              <a:rPr lang="ko-KR" altLang="en-US" dirty="0"/>
              <a:t>개* 만 살아남음</a:t>
            </a:r>
            <a:r>
              <a:rPr lang="en-US" altLang="ko-KR" dirty="0"/>
              <a:t>. </a:t>
            </a:r>
            <a:r>
              <a:rPr lang="ko-KR" altLang="en-US" dirty="0"/>
              <a:t>이유</a:t>
            </a:r>
            <a:r>
              <a:rPr lang="en-US" altLang="ko-KR" dirty="0"/>
              <a:t>: *</a:t>
            </a:r>
            <a:r>
              <a:rPr lang="en-US" altLang="ko-KR" dirty="0" err="1"/>
              <a:t>raydrop</a:t>
            </a:r>
            <a:r>
              <a:rPr lang="ko-KR" altLang="en-US" dirty="0"/>
              <a:t>* </a:t>
            </a:r>
            <a:r>
              <a:rPr lang="en-US" altLang="ko-KR" dirty="0"/>
              <a:t>(</a:t>
            </a:r>
            <a:r>
              <a:rPr lang="ko-KR" altLang="en-US" dirty="0"/>
              <a:t>매끄러운 수면은 빛이 다른 방향으로 반사</a:t>
            </a:r>
            <a:r>
              <a:rPr lang="en-US" altLang="ko-KR" dirty="0"/>
              <a:t>) + *shadowing* (</a:t>
            </a:r>
            <a:r>
              <a:rPr lang="ko-KR" altLang="en-US" dirty="0"/>
              <a:t>앞 파도가 뒤를 가림</a:t>
            </a:r>
            <a:r>
              <a:rPr lang="en-US" altLang="ko-KR" dirty="0"/>
              <a:t>). </a:t>
            </a:r>
            <a:r>
              <a:rPr lang="ko-KR" altLang="en-US" dirty="0"/>
              <a:t>게다가 거리에 따라 </a:t>
            </a:r>
            <a:r>
              <a:rPr lang="ko-KR" altLang="en-US" dirty="0" err="1"/>
              <a:t>점밀도</a:t>
            </a:r>
            <a:r>
              <a:rPr lang="ko-KR" altLang="en-US" dirty="0"/>
              <a:t> </a:t>
            </a:r>
            <a:r>
              <a:rPr lang="ko-KR" altLang="en-US" dirty="0" err="1"/>
              <a:t>비균일</a:t>
            </a:r>
            <a:r>
              <a:rPr lang="en-US" altLang="ko-KR" dirty="0"/>
              <a:t>. </a:t>
            </a:r>
            <a:r>
              <a:rPr lang="ko-KR" altLang="en-US" dirty="0"/>
              <a:t>기존 방법은 *촘촘하고 균일한 측정 가정* </a:t>
            </a:r>
            <a:r>
              <a:rPr lang="en-US" altLang="ko-KR" dirty="0"/>
              <a:t>— LiDAR </a:t>
            </a:r>
            <a:r>
              <a:rPr lang="ko-KR" altLang="en-US" dirty="0"/>
              <a:t>직접 적용 어려움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*② </a:t>
            </a:r>
            <a:r>
              <a:rPr lang="ko-KR" altLang="en-US" dirty="0"/>
              <a:t>실시간 제약* </a:t>
            </a:r>
            <a:r>
              <a:rPr lang="en-US" altLang="ko-KR" dirty="0"/>
              <a:t>— </a:t>
            </a:r>
            <a:r>
              <a:rPr lang="ko-KR" altLang="en-US" dirty="0"/>
              <a:t>제어 루프 </a:t>
            </a:r>
            <a:r>
              <a:rPr lang="en-US" altLang="ko-KR" dirty="0"/>
              <a:t>10 Hz → frame </a:t>
            </a:r>
            <a:r>
              <a:rPr lang="ko-KR" altLang="en-US" dirty="0"/>
              <a:t>당 *</a:t>
            </a:r>
            <a:r>
              <a:rPr lang="en-US" altLang="ko-KR" dirty="0"/>
              <a:t>100 </a:t>
            </a:r>
            <a:r>
              <a:rPr lang="en-US" altLang="ko-KR" dirty="0" err="1"/>
              <a:t>ms</a:t>
            </a:r>
            <a:r>
              <a:rPr lang="ko-KR" altLang="en-US" dirty="0"/>
              <a:t> 이내* 필요</a:t>
            </a:r>
            <a:r>
              <a:rPr lang="en-US" altLang="ko-KR" dirty="0"/>
              <a:t>. </a:t>
            </a:r>
            <a:r>
              <a:rPr lang="ko-KR" altLang="en-US" dirty="0"/>
              <a:t>기존 방법은 못 만족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- *</a:t>
            </a:r>
            <a:r>
              <a:rPr lang="en-US" altLang="ko-KR" dirty="0" err="1"/>
              <a:t>EnKF</a:t>
            </a:r>
            <a:r>
              <a:rPr lang="ko-KR" altLang="en-US" dirty="0"/>
              <a:t> </a:t>
            </a:r>
            <a:r>
              <a:rPr lang="en-US" altLang="ko-KR" dirty="0"/>
              <a:t>(Ensemble Kalman Filter, </a:t>
            </a:r>
            <a:r>
              <a:rPr lang="ko-KR" altLang="en-US" dirty="0"/>
              <a:t>앙상블 칼만 필터</a:t>
            </a:r>
            <a:r>
              <a:rPr lang="en-US" altLang="ko-KR" dirty="0"/>
              <a:t>)* — 50–300 </a:t>
            </a:r>
            <a:r>
              <a:rPr lang="ko-KR" altLang="en-US" dirty="0"/>
              <a:t>시뮬레이션 다발</a:t>
            </a:r>
            <a:r>
              <a:rPr lang="en-US" altLang="ko-KR" dirty="0"/>
              <a:t>, </a:t>
            </a:r>
            <a:r>
              <a:rPr lang="ko-KR" altLang="en-US" dirty="0"/>
              <a:t>수백 </a:t>
            </a:r>
            <a:r>
              <a:rPr lang="en-US" altLang="ko-KR" dirty="0" err="1"/>
              <a:t>ms</a:t>
            </a:r>
            <a:r>
              <a:rPr lang="ko-KR" altLang="en-US" dirty="0"/>
              <a:t> 이상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*PINN (Physics-Informed Neural Network, </a:t>
            </a:r>
            <a:r>
              <a:rPr lang="ko-KR" altLang="en-US" dirty="0"/>
              <a:t>물리 정보 신경망</a:t>
            </a:r>
            <a:r>
              <a:rPr lang="en-US" altLang="ko-KR" dirty="0"/>
              <a:t>)* — instance </a:t>
            </a:r>
            <a:r>
              <a:rPr lang="ko-KR" altLang="en-US" dirty="0"/>
              <a:t>마다 </a:t>
            </a:r>
            <a:r>
              <a:rPr lang="en-US" altLang="ko-KR" dirty="0"/>
              <a:t>30</a:t>
            </a:r>
            <a:r>
              <a:rPr lang="ko-KR" altLang="en-US" dirty="0"/>
              <a:t>분 학습</a:t>
            </a:r>
          </a:p>
          <a:p>
            <a:r>
              <a:rPr lang="ko-KR" altLang="en-US" dirty="0"/>
              <a:t>확률 샘플링 없이 수식으로 한 번에 추정이 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*③ 2D directional sea* — </a:t>
            </a:r>
            <a:r>
              <a:rPr lang="ko-KR" altLang="en-US" dirty="0"/>
              <a:t>실해는 *</a:t>
            </a:r>
            <a:r>
              <a:rPr lang="en-US" altLang="ko-KR" dirty="0"/>
              <a:t>wind sea (</a:t>
            </a:r>
            <a:r>
              <a:rPr lang="ko-KR" altLang="en-US" dirty="0"/>
              <a:t>짧고 빠름</a:t>
            </a:r>
            <a:r>
              <a:rPr lang="en-US" altLang="ko-KR" dirty="0"/>
              <a:t>) + swell (</a:t>
            </a:r>
            <a:r>
              <a:rPr lang="ko-KR" altLang="en-US" dirty="0"/>
              <a:t>긴 너울</a:t>
            </a:r>
            <a:r>
              <a:rPr lang="en-US" altLang="ko-KR" dirty="0"/>
              <a:t>)* </a:t>
            </a:r>
            <a:r>
              <a:rPr lang="ko-KR" altLang="en-US" dirty="0"/>
              <a:t>가 *여러 방향* 에서 혼재</a:t>
            </a:r>
            <a:r>
              <a:rPr lang="en-US" altLang="ko-KR" dirty="0"/>
              <a:t>. *Wavenumber k </a:t>
            </a:r>
            <a:r>
              <a:rPr lang="ko-KR" altLang="en-US" dirty="0"/>
              <a:t>도 </a:t>
            </a:r>
            <a:r>
              <a:rPr lang="en-US" altLang="ko-KR" dirty="0"/>
              <a:t>vector (</a:t>
            </a:r>
            <a:r>
              <a:rPr lang="en-US" altLang="ko-KR" dirty="0" err="1"/>
              <a:t>k_x</a:t>
            </a:r>
            <a:r>
              <a:rPr lang="en-US" altLang="ko-KR" dirty="0"/>
              <a:t>, </a:t>
            </a:r>
            <a:r>
              <a:rPr lang="en-US" altLang="ko-KR" dirty="0" err="1"/>
              <a:t>k_y</a:t>
            </a:r>
            <a:r>
              <a:rPr lang="en-US" altLang="ko-KR" dirty="0"/>
              <a:t>)*. </a:t>
            </a:r>
            <a:r>
              <a:rPr lang="ko-KR" altLang="en-US" dirty="0"/>
              <a:t>선행 연구는 대부분 </a:t>
            </a:r>
            <a:r>
              <a:rPr lang="en-US" altLang="ko-KR" dirty="0"/>
              <a:t>1D </a:t>
            </a:r>
            <a:r>
              <a:rPr lang="ko-KR" altLang="en-US" dirty="0"/>
              <a:t>가정 </a:t>
            </a:r>
            <a:r>
              <a:rPr lang="en-US" altLang="ko-KR" dirty="0"/>
              <a:t>(Klein 2020, </a:t>
            </a:r>
            <a:r>
              <a:rPr lang="en-US" altLang="ko-KR" dirty="0" err="1"/>
              <a:t>Desmars</a:t>
            </a:r>
            <a:r>
              <a:rPr lang="ko-KR" altLang="en-US" dirty="0"/>
              <a:t> </a:t>
            </a:r>
            <a:r>
              <a:rPr lang="en-US" altLang="ko-KR" dirty="0"/>
              <a:t>2023), </a:t>
            </a:r>
            <a:r>
              <a:rPr lang="ko-KR" altLang="en-US" dirty="0"/>
              <a:t>본 연구는 *</a:t>
            </a:r>
            <a:r>
              <a:rPr lang="en-US" altLang="ko-KR" dirty="0"/>
              <a:t>2D </a:t>
            </a:r>
            <a:r>
              <a:rPr lang="ko-KR" altLang="en-US" dirty="0"/>
              <a:t>직접 처리*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50</a:t>
            </a:r>
            <a:r>
              <a:rPr lang="ko-KR" altLang="en-US" dirty="0"/>
              <a:t>개 점으로 정말 파도 복원 가능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한 </a:t>
            </a:r>
            <a:r>
              <a:rPr lang="en-US" altLang="ko-KR" dirty="0"/>
              <a:t>frame </a:t>
            </a:r>
            <a:r>
              <a:rPr lang="ko-KR" altLang="en-US" dirty="0"/>
              <a:t>만으론 부족</a:t>
            </a:r>
            <a:r>
              <a:rPr lang="en-US" altLang="ko-KR" dirty="0"/>
              <a:t>. *Multi-frame </a:t>
            </a:r>
            <a:r>
              <a:rPr lang="ko-KR" altLang="en-US" dirty="0"/>
              <a:t>누적 </a:t>
            </a:r>
            <a:r>
              <a:rPr lang="en-US" altLang="ko-KR" dirty="0"/>
              <a:t>(10 frame × 50 = 500 </a:t>
            </a:r>
            <a:r>
              <a:rPr lang="ko-KR" altLang="en-US" dirty="0"/>
              <a:t>점</a:t>
            </a:r>
            <a:r>
              <a:rPr lang="en-US" altLang="ko-KR" dirty="0"/>
              <a:t>) + temporal coherence (</a:t>
            </a:r>
            <a:r>
              <a:rPr lang="ko-KR" altLang="en-US" dirty="0"/>
              <a:t>시간 일관성</a:t>
            </a:r>
            <a:r>
              <a:rPr lang="en-US" altLang="ko-KR" dirty="0"/>
              <a:t>)* </a:t>
            </a:r>
            <a:r>
              <a:rPr lang="ko-KR" altLang="en-US" dirty="0"/>
              <a:t>로 보완</a:t>
            </a:r>
            <a:r>
              <a:rPr lang="en-US" altLang="ko-KR" dirty="0"/>
              <a:t>. Method </a:t>
            </a:r>
            <a:r>
              <a:rPr lang="ko-KR" altLang="en-US" dirty="0"/>
              <a:t>의 </a:t>
            </a:r>
            <a:r>
              <a:rPr lang="en-US" altLang="ko-KR" dirty="0"/>
              <a:t>Init </a:t>
            </a:r>
            <a:r>
              <a:rPr lang="ko-KR" altLang="en-US" dirty="0"/>
              <a:t>슬라이드에서 설명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Wavenumber </a:t>
            </a:r>
            <a:r>
              <a:rPr lang="ko-KR" altLang="en-US" dirty="0"/>
              <a:t>가 정확히 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</a:t>
            </a:r>
            <a:r>
              <a:rPr lang="ko-KR" altLang="en-US" dirty="0"/>
              <a:t>공간 주파수* </a:t>
            </a:r>
            <a:r>
              <a:rPr lang="en-US" altLang="ko-KR" dirty="0"/>
              <a:t>— k = 2π/λ. λ=10m </a:t>
            </a:r>
            <a:r>
              <a:rPr lang="ko-KR" altLang="en-US" dirty="0"/>
              <a:t>면 </a:t>
            </a:r>
            <a:r>
              <a:rPr lang="en-US" altLang="ko-KR" dirty="0"/>
              <a:t>k=0.63 rad/m. *</a:t>
            </a:r>
            <a:r>
              <a:rPr lang="ko-KR" altLang="en-US" dirty="0"/>
              <a:t>큰 </a:t>
            </a:r>
            <a:r>
              <a:rPr lang="en-US" altLang="ko-KR" dirty="0"/>
              <a:t>k = </a:t>
            </a:r>
            <a:r>
              <a:rPr lang="ko-KR" altLang="en-US" dirty="0"/>
              <a:t>짧은 파*</a:t>
            </a:r>
            <a:r>
              <a:rPr lang="en-US" altLang="ko-KR" dirty="0"/>
              <a:t>, *</a:t>
            </a:r>
            <a:r>
              <a:rPr lang="ko-KR" altLang="en-US" dirty="0"/>
              <a:t>작은 </a:t>
            </a:r>
            <a:r>
              <a:rPr lang="en-US" altLang="ko-KR" dirty="0"/>
              <a:t>k = </a:t>
            </a:r>
            <a:r>
              <a:rPr lang="ko-KR" altLang="en-US" dirty="0"/>
              <a:t>긴 파*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856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F025-54DC-076E-7E99-64EAE1C8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6F75DA-7C64-B469-9572-D4053292D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31EABF-07E3-F51A-DFEE-61F8BF2B0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ACC8D-FB68-AC3F-C4D8-9CAB1FDB7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8913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</a:t>
            </a:r>
            <a:r>
              <a:rPr lang="en-US" altLang="ko-KR" dirty="0"/>
              <a:t>13</a:t>
            </a:r>
            <a:r>
              <a:rPr lang="ko-KR" altLang="en-US" dirty="0"/>
              <a:t>편 </a:t>
            </a:r>
            <a:r>
              <a:rPr lang="en-US" altLang="ko-KR" dirty="0"/>
              <a:t>prior art </a:t>
            </a:r>
            <a:r>
              <a:rPr lang="ko-KR" altLang="en-US" dirty="0"/>
              <a:t>의 </a:t>
            </a:r>
            <a:r>
              <a:rPr lang="en-US" altLang="ko-KR" dirty="0"/>
              <a:t>5</a:t>
            </a:r>
            <a:r>
              <a:rPr lang="ko-KR" altLang="en-US" dirty="0"/>
              <a:t>가지 접근법*</a:t>
            </a:r>
          </a:p>
          <a:p>
            <a:endParaRPr lang="ko-KR" altLang="en-US" dirty="0"/>
          </a:p>
          <a:p>
            <a:r>
              <a:rPr lang="ko-KR" altLang="en-US" dirty="0"/>
              <a:t>*① 격자 기반 최적화* </a:t>
            </a:r>
            <a:r>
              <a:rPr lang="en-US" altLang="ko-KR" dirty="0"/>
              <a:t>— </a:t>
            </a:r>
            <a:r>
              <a:rPr lang="en-US" altLang="ko-KR" dirty="0" err="1"/>
              <a:t>Desmars</a:t>
            </a:r>
            <a:r>
              <a:rPr lang="en-US" altLang="ko-KR" dirty="0"/>
              <a:t> 2018, 2020, 2023. </a:t>
            </a:r>
            <a:r>
              <a:rPr lang="ko-KR" altLang="en-US" dirty="0"/>
              <a:t>공간 격자 </a:t>
            </a:r>
            <a:r>
              <a:rPr lang="en-US" altLang="ko-KR" dirty="0"/>
              <a:t>+ pre-defined wavenumber grid </a:t>
            </a:r>
            <a:r>
              <a:rPr lang="ko-KR" altLang="en-US" dirty="0"/>
              <a:t>위 *</a:t>
            </a:r>
            <a:r>
              <a:rPr lang="en-US" altLang="ko-KR" dirty="0"/>
              <a:t>variational optimization (</a:t>
            </a:r>
            <a:r>
              <a:rPr lang="ko-KR" altLang="en-US" dirty="0" err="1"/>
              <a:t>변분</a:t>
            </a:r>
            <a:r>
              <a:rPr lang="ko-KR" altLang="en-US" dirty="0"/>
              <a:t> 최적화</a:t>
            </a:r>
            <a:r>
              <a:rPr lang="en-US" altLang="ko-KR" dirty="0"/>
              <a:t>)*. </a:t>
            </a:r>
            <a:r>
              <a:rPr lang="ko-KR" altLang="en-US" dirty="0"/>
              <a:t>한계</a:t>
            </a:r>
            <a:r>
              <a:rPr lang="en-US" altLang="ko-KR" dirty="0"/>
              <a:t>: *</a:t>
            </a:r>
            <a:r>
              <a:rPr lang="ko-KR" altLang="en-US" dirty="0"/>
              <a:t>격자 사이 </a:t>
            </a:r>
            <a:r>
              <a:rPr lang="en-US" altLang="ko-KR" dirty="0"/>
              <a:t>wavenumber </a:t>
            </a:r>
            <a:r>
              <a:rPr lang="ko-KR" altLang="en-US" dirty="0"/>
              <a:t>표현 불가*</a:t>
            </a:r>
            <a:r>
              <a:rPr lang="en-US" altLang="ko-KR" dirty="0"/>
              <a:t>, </a:t>
            </a:r>
            <a:r>
              <a:rPr lang="ko-KR" altLang="en-US" dirty="0"/>
              <a:t>대부분 </a:t>
            </a:r>
            <a:r>
              <a:rPr lang="en-US" altLang="ko-KR" dirty="0"/>
              <a:t>1D.</a:t>
            </a:r>
          </a:p>
          <a:p>
            <a:endParaRPr lang="en-US" altLang="ko-KR" dirty="0"/>
          </a:p>
          <a:p>
            <a:r>
              <a:rPr lang="en-US" altLang="ko-KR" dirty="0"/>
              <a:t>*② </a:t>
            </a:r>
            <a:r>
              <a:rPr lang="ko-KR" altLang="en-US" dirty="0"/>
              <a:t>앙상블 칼만 필터 </a:t>
            </a:r>
            <a:r>
              <a:rPr lang="en-US" altLang="ko-KR" dirty="0"/>
              <a:t>(</a:t>
            </a:r>
            <a:r>
              <a:rPr lang="en-US" altLang="ko-KR" dirty="0" err="1"/>
              <a:t>EnKF</a:t>
            </a:r>
            <a:r>
              <a:rPr lang="en-US" altLang="ko-KR" dirty="0"/>
              <a:t>)* — Wang &amp; Pan 2021/22, Feng Wang 2025, Yan 2025. *50–300 </a:t>
            </a:r>
            <a:r>
              <a:rPr lang="ko-KR" altLang="en-US" dirty="0"/>
              <a:t>시뮬레이션 동시 실행 </a:t>
            </a:r>
            <a:r>
              <a:rPr lang="en-US" altLang="ko-KR" dirty="0"/>
              <a:t>+ </a:t>
            </a:r>
            <a:r>
              <a:rPr lang="ko-KR" altLang="en-US" dirty="0"/>
              <a:t>베이지안 </a:t>
            </a:r>
            <a:r>
              <a:rPr lang="en-US" altLang="ko-KR" dirty="0"/>
              <a:t>update*. </a:t>
            </a:r>
            <a:r>
              <a:rPr lang="ko-KR" altLang="en-US" dirty="0"/>
              <a:t>세부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- *HOS (Higher-Order Spectral method, Dommermuth &amp; Yue 1987)* — </a:t>
            </a:r>
            <a:r>
              <a:rPr lang="ko-KR" altLang="en-US" dirty="0"/>
              <a:t>비선형 </a:t>
            </a:r>
            <a:r>
              <a:rPr lang="en-US" altLang="ko-KR" dirty="0"/>
              <a:t>wave evolution</a:t>
            </a:r>
          </a:p>
          <a:p>
            <a:r>
              <a:rPr lang="en-US" altLang="ko-KR" dirty="0"/>
              <a:t>  - *ETKF (Ensemble Transform Kalman Filter) + fuzzy R + Delaunay </a:t>
            </a:r>
            <a:r>
              <a:rPr lang="ko-KR" altLang="en-US" dirty="0"/>
              <a:t>보간*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*VOF-</a:t>
            </a:r>
            <a:r>
              <a:rPr lang="en-US" altLang="ko-KR" dirty="0" err="1"/>
              <a:t>EnKF</a:t>
            </a:r>
            <a:r>
              <a:rPr lang="en-US" altLang="ko-KR" dirty="0"/>
              <a:t> (Volume of Fluid + </a:t>
            </a:r>
            <a:r>
              <a:rPr lang="en-US" altLang="ko-KR" dirty="0" err="1"/>
              <a:t>EnKF</a:t>
            </a:r>
            <a:r>
              <a:rPr lang="en-US" altLang="ko-KR" dirty="0"/>
              <a:t>) + Navier-Stokes* — wave breaking </a:t>
            </a:r>
            <a:r>
              <a:rPr lang="ko-KR" altLang="en-US" dirty="0"/>
              <a:t>처리</a:t>
            </a:r>
          </a:p>
          <a:p>
            <a:r>
              <a:rPr lang="ko-KR" altLang="en-US" dirty="0"/>
              <a:t>한계</a:t>
            </a:r>
            <a:r>
              <a:rPr lang="en-US" altLang="ko-KR" dirty="0"/>
              <a:t>: *</a:t>
            </a:r>
            <a:r>
              <a:rPr lang="ko-KR" altLang="en-US" dirty="0"/>
              <a:t>수백 </a:t>
            </a:r>
            <a:r>
              <a:rPr lang="en-US" altLang="ko-KR" dirty="0" err="1"/>
              <a:t>ms</a:t>
            </a:r>
            <a:r>
              <a:rPr lang="en-US" altLang="ko-KR" dirty="0"/>
              <a:t> </a:t>
            </a:r>
            <a:r>
              <a:rPr lang="ko-KR" altLang="en-US" dirty="0"/>
              <a:t>이상* </a:t>
            </a:r>
            <a:r>
              <a:rPr lang="en-US" altLang="ko-KR" dirty="0"/>
              <a:t>— real-time </a:t>
            </a:r>
            <a:r>
              <a:rPr lang="ko-KR" altLang="en-US" dirty="0"/>
              <a:t>불가</a:t>
            </a:r>
            <a:r>
              <a:rPr lang="en-US" altLang="ko-KR" dirty="0"/>
              <a:t>, </a:t>
            </a:r>
            <a:r>
              <a:rPr lang="ko-KR" altLang="en-US" dirty="0"/>
              <a:t>대부분 </a:t>
            </a:r>
            <a:r>
              <a:rPr lang="en-US" altLang="ko-KR" dirty="0"/>
              <a:t>1D.</a:t>
            </a:r>
          </a:p>
          <a:p>
            <a:endParaRPr lang="en-US" altLang="ko-KR" dirty="0"/>
          </a:p>
          <a:p>
            <a:r>
              <a:rPr lang="en-US" altLang="ko-KR" dirty="0"/>
              <a:t>*③ </a:t>
            </a:r>
            <a:r>
              <a:rPr lang="ko-KR" altLang="en-US" dirty="0"/>
              <a:t>지도학습 신경망* </a:t>
            </a:r>
            <a:r>
              <a:rPr lang="en-US" altLang="ko-KR" dirty="0"/>
              <a:t>— Ehlers 2023 </a:t>
            </a:r>
            <a:r>
              <a:rPr lang="ko-KR" altLang="en-US" dirty="0"/>
              <a:t>의 *</a:t>
            </a:r>
            <a:r>
              <a:rPr lang="en-US" altLang="ko-KR" dirty="0"/>
              <a:t>FNO (Fourier Neural Operator, </a:t>
            </a:r>
            <a:r>
              <a:rPr lang="ko-KR" altLang="en-US" dirty="0"/>
              <a:t>푸리에 신경 연산자</a:t>
            </a:r>
            <a:r>
              <a:rPr lang="en-US" altLang="ko-KR" dirty="0"/>
              <a:t>)*. </a:t>
            </a:r>
            <a:r>
              <a:rPr lang="ko-KR" altLang="en-US" dirty="0"/>
              <a:t>학습 후 </a:t>
            </a:r>
            <a:r>
              <a:rPr lang="en-US" altLang="ko-KR" dirty="0"/>
              <a:t>1.9 </a:t>
            </a:r>
            <a:r>
              <a:rPr lang="en-US" altLang="ko-KR" dirty="0" err="1"/>
              <a:t>ms</a:t>
            </a:r>
            <a:r>
              <a:rPr lang="en-US" altLang="ko-KR" dirty="0"/>
              <a:t> </a:t>
            </a:r>
            <a:r>
              <a:rPr lang="ko-KR" altLang="en-US" dirty="0"/>
              <a:t>빠름</a:t>
            </a:r>
            <a:r>
              <a:rPr lang="en-US" altLang="ko-KR" dirty="0"/>
              <a:t>. </a:t>
            </a:r>
            <a:r>
              <a:rPr lang="ko-KR" altLang="en-US" dirty="0"/>
              <a:t>한계</a:t>
            </a:r>
            <a:r>
              <a:rPr lang="en-US" altLang="ko-KR" dirty="0"/>
              <a:t>: *HOS 3120 sample </a:t>
            </a:r>
            <a:r>
              <a:rPr lang="ko-KR" altLang="en-US" dirty="0"/>
              <a:t>학습 필요*</a:t>
            </a:r>
            <a:r>
              <a:rPr lang="en-US" altLang="ko-KR" dirty="0"/>
              <a:t>, *distribution shift (</a:t>
            </a:r>
            <a:r>
              <a:rPr lang="ko-KR" altLang="en-US" dirty="0"/>
              <a:t>학습</a:t>
            </a:r>
            <a:r>
              <a:rPr lang="en-US" altLang="ko-KR" dirty="0"/>
              <a:t>/</a:t>
            </a:r>
            <a:r>
              <a:rPr lang="ko-KR" altLang="en-US" dirty="0"/>
              <a:t>실제 분포 차이</a:t>
            </a:r>
            <a:r>
              <a:rPr lang="en-US" altLang="ko-KR" dirty="0"/>
              <a:t>)*, 1D, black-box.</a:t>
            </a:r>
          </a:p>
          <a:p>
            <a:endParaRPr lang="en-US" altLang="ko-KR" dirty="0"/>
          </a:p>
          <a:p>
            <a:r>
              <a:rPr lang="en-US" altLang="ko-KR" dirty="0"/>
              <a:t>*④ </a:t>
            </a:r>
            <a:r>
              <a:rPr lang="ko-KR" altLang="en-US" dirty="0"/>
              <a:t>물리 기반 비지도 </a:t>
            </a:r>
            <a:r>
              <a:rPr lang="en-US" altLang="ko-KR" dirty="0"/>
              <a:t>NN* — Ehlers 2025 </a:t>
            </a:r>
            <a:r>
              <a:rPr lang="ko-KR" altLang="en-US" dirty="0"/>
              <a:t>의 *</a:t>
            </a:r>
            <a:r>
              <a:rPr lang="en-US" altLang="ko-KR" dirty="0"/>
              <a:t>PFT-PINN (Physics-inspired Fourier Transform PINN)*. </a:t>
            </a:r>
            <a:r>
              <a:rPr lang="ko-KR" altLang="en-US" dirty="0"/>
              <a:t>학습 데이터 </a:t>
            </a:r>
            <a:r>
              <a:rPr lang="en-US" altLang="ko-KR" dirty="0"/>
              <a:t>0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한계</a:t>
            </a:r>
            <a:r>
              <a:rPr lang="en-US" altLang="ko-KR" dirty="0"/>
              <a:t>: *instance </a:t>
            </a:r>
            <a:r>
              <a:rPr lang="ko-KR" altLang="en-US" dirty="0"/>
              <a:t>마다 </a:t>
            </a:r>
            <a:r>
              <a:rPr lang="en-US" altLang="ko-KR" dirty="0"/>
              <a:t>30</a:t>
            </a:r>
            <a:r>
              <a:rPr lang="ko-KR" altLang="en-US" dirty="0"/>
              <a:t>분 학습*</a:t>
            </a:r>
            <a:r>
              <a:rPr lang="en-US" altLang="ko-KR" dirty="0"/>
              <a:t>, 1D + t, *buoy (</a:t>
            </a:r>
            <a:r>
              <a:rPr lang="ko-KR" altLang="en-US" dirty="0"/>
              <a:t>부표</a:t>
            </a:r>
            <a:r>
              <a:rPr lang="en-US" altLang="ko-KR" dirty="0"/>
              <a:t>) only*.</a:t>
            </a:r>
          </a:p>
          <a:p>
            <a:endParaRPr lang="en-US" altLang="ko-KR" dirty="0"/>
          </a:p>
          <a:p>
            <a:r>
              <a:rPr lang="en-US" altLang="ko-KR" dirty="0"/>
              <a:t>*⑤ </a:t>
            </a:r>
            <a:r>
              <a:rPr lang="ko-KR" altLang="en-US" dirty="0"/>
              <a:t>본 연구 </a:t>
            </a:r>
            <a:r>
              <a:rPr lang="en-US" altLang="ko-KR" dirty="0"/>
              <a:t>— </a:t>
            </a:r>
            <a:r>
              <a:rPr lang="ko-KR" altLang="en-US" dirty="0"/>
              <a:t>연속 파라미터 추정 </a:t>
            </a:r>
            <a:r>
              <a:rPr lang="en-US" altLang="ko-KR" dirty="0"/>
              <a:t>(off-grid)* — </a:t>
            </a:r>
            <a:r>
              <a:rPr lang="en-US" altLang="ko-KR" dirty="0" err="1"/>
              <a:t>WaveSplat</a:t>
            </a:r>
            <a:r>
              <a:rPr lang="en-US" altLang="ko-KR" dirty="0"/>
              <a:t>. </a:t>
            </a:r>
            <a:r>
              <a:rPr lang="ko-KR" altLang="en-US" dirty="0"/>
              <a:t>격자 없이 </a:t>
            </a:r>
            <a:r>
              <a:rPr lang="en-US" altLang="ko-KR" dirty="0"/>
              <a:t>N </a:t>
            </a:r>
            <a:r>
              <a:rPr lang="ko-KR" altLang="en-US" dirty="0"/>
              <a:t>개 </a:t>
            </a:r>
            <a:r>
              <a:rPr lang="en-US" altLang="ko-KR" dirty="0"/>
              <a:t>plane wave </a:t>
            </a:r>
            <a:r>
              <a:rPr lang="ko-KR" altLang="en-US" dirty="0"/>
              <a:t>파라미터 직접 추정</a:t>
            </a:r>
            <a:r>
              <a:rPr lang="en-US" altLang="ko-KR" dirty="0"/>
              <a:t>. *&lt;100 </a:t>
            </a:r>
            <a:r>
              <a:rPr lang="en-US" altLang="ko-KR" dirty="0" err="1"/>
              <a:t>ms</a:t>
            </a:r>
            <a:r>
              <a:rPr lang="en-US" altLang="ko-KR" dirty="0"/>
              <a:t> + 2D directional + LiDAR </a:t>
            </a:r>
            <a:r>
              <a:rPr lang="en-US" altLang="ko-KR" dirty="0" err="1"/>
              <a:t>raydrop</a:t>
            </a:r>
            <a:r>
              <a:rPr lang="en-US" altLang="ko-KR" dirty="0"/>
              <a:t>* — *4 </a:t>
            </a:r>
            <a:r>
              <a:rPr lang="ko-KR" altLang="en-US" dirty="0"/>
              <a:t>조건 동시 만족 첫 사례*</a:t>
            </a:r>
            <a:r>
              <a:rPr lang="en-US" altLang="ko-KR" dirty="0"/>
              <a:t>. </a:t>
            </a:r>
            <a:r>
              <a:rPr lang="ko-KR" altLang="en-US" dirty="0"/>
              <a:t>한계</a:t>
            </a:r>
            <a:r>
              <a:rPr lang="en-US" altLang="ko-KR" dirty="0"/>
              <a:t>: *LWT (Linear Wave Theory, </a:t>
            </a:r>
            <a:r>
              <a:rPr lang="ko-KR" altLang="en-US" dirty="0"/>
              <a:t>선형 파도 이론</a:t>
            </a:r>
            <a:r>
              <a:rPr lang="en-US" altLang="ko-KR" dirty="0"/>
              <a:t>) </a:t>
            </a:r>
            <a:r>
              <a:rPr lang="ko-KR" altLang="en-US" dirty="0"/>
              <a:t>가정*</a:t>
            </a:r>
            <a:r>
              <a:rPr lang="en-US" altLang="ko-KR" dirty="0"/>
              <a:t>, *</a:t>
            </a:r>
            <a:r>
              <a:rPr lang="el-GR" altLang="ko-KR" dirty="0"/>
              <a:t>ε &lt; 0.07 </a:t>
            </a:r>
            <a:r>
              <a:rPr lang="ko-KR" altLang="en-US" dirty="0"/>
              <a:t>까지만 신뢰* </a:t>
            </a:r>
            <a:r>
              <a:rPr lang="en-US" altLang="ko-KR" dirty="0"/>
              <a:t>(</a:t>
            </a:r>
            <a:r>
              <a:rPr lang="el-GR" altLang="ko-KR" dirty="0"/>
              <a:t>ε = </a:t>
            </a:r>
            <a:r>
              <a:rPr lang="en-US" altLang="ko-KR" dirty="0"/>
              <a:t>steepness, </a:t>
            </a:r>
            <a:r>
              <a:rPr lang="ko-KR" altLang="en-US" dirty="0"/>
              <a:t>한계 슬라이드에서 자세히</a:t>
            </a:r>
            <a:r>
              <a:rPr lang="en-US" altLang="ko-KR" dirty="0"/>
              <a:t>).</a:t>
            </a:r>
          </a:p>
          <a:p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ε = H_s / </a:t>
            </a:r>
            <a:r>
              <a:rPr kumimoji="1" lang="en-US" altLang="ko-KR" sz="1200" b="0" i="1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λ_p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(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유의파고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÷ peak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파장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 —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파도의 가파름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(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진폭 대비 파장 비율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지표로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, ε &lt; 0.07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까지는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LWT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신뢰 가능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, ε ~ 0.142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에서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wave breaking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발생</a:t>
            </a:r>
            <a:endParaRPr lang="en-US" altLang="ko-KR" dirty="0"/>
          </a:p>
          <a:p>
            <a:endParaRPr lang="ko-KR" altLang="en-US" dirty="0"/>
          </a:p>
          <a:p>
            <a:r>
              <a:rPr kumimoji="1" lang="en-US" altLang="ko-KR" sz="1200" b="0" i="1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EnKF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는 관측에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noise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를 더해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ensemble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을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stochastic update, ETKF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는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transformation matrix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로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deterministic update — ETKF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가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sampling error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없고 더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robust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해서 최근 선호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(Feng Wang 2025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도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ETKF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채택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HOS </a:t>
            </a:r>
            <a:r>
              <a:rPr lang="ko-KR" altLang="en-US" dirty="0"/>
              <a:t>가 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*Higher-Order Spectral method* — LWT </a:t>
            </a:r>
            <a:r>
              <a:rPr lang="ko-KR" altLang="en-US" dirty="0"/>
              <a:t>가 </a:t>
            </a:r>
            <a:r>
              <a:rPr lang="ko-KR" altLang="en-US" dirty="0" err="1"/>
              <a:t>사인파</a:t>
            </a:r>
            <a:r>
              <a:rPr lang="ko-KR" altLang="en-US" dirty="0"/>
              <a:t> 합이라면 </a:t>
            </a:r>
            <a:r>
              <a:rPr lang="en-US" altLang="ko-KR" dirty="0"/>
              <a:t>HOS </a:t>
            </a:r>
            <a:r>
              <a:rPr lang="ko-KR" altLang="en-US" dirty="0"/>
              <a:t>는 *</a:t>
            </a:r>
            <a:r>
              <a:rPr lang="en-US" altLang="ko-KR" dirty="0"/>
              <a:t>Stokes 4</a:t>
            </a:r>
            <a:r>
              <a:rPr lang="ko-KR" altLang="en-US" dirty="0"/>
              <a:t>차까지 비선형 항* 포함</a:t>
            </a:r>
            <a:r>
              <a:rPr lang="en-US" altLang="ko-KR" dirty="0"/>
              <a:t>. </a:t>
            </a:r>
            <a:r>
              <a:rPr lang="ko-KR" altLang="en-US" dirty="0"/>
              <a:t>정확하지만 비쌈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</a:t>
            </a:r>
            <a:r>
              <a:rPr lang="ko-KR" altLang="en-US" dirty="0"/>
              <a:t>본 연구도 </a:t>
            </a:r>
            <a:r>
              <a:rPr lang="el-GR" altLang="ko-KR" dirty="0"/>
              <a:t>ε &lt; 0.07 </a:t>
            </a:r>
            <a:r>
              <a:rPr lang="ko-KR" altLang="en-US" dirty="0"/>
              <a:t>한계가 있는데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. BF6+ </a:t>
            </a:r>
            <a:r>
              <a:rPr lang="ko-KR" altLang="en-US" dirty="0"/>
              <a:t>거친 </a:t>
            </a:r>
            <a:r>
              <a:rPr lang="en-US" altLang="ko-KR" dirty="0"/>
              <a:t>sea </a:t>
            </a:r>
            <a:r>
              <a:rPr lang="ko-KR" altLang="en-US" dirty="0"/>
              <a:t>는 비선형 효과 커서 </a:t>
            </a:r>
            <a:r>
              <a:rPr lang="en-US" altLang="ko-KR" dirty="0"/>
              <a:t>LWT </a:t>
            </a:r>
            <a:r>
              <a:rPr lang="ko-KR" altLang="en-US" dirty="0"/>
              <a:t>깨짐</a:t>
            </a:r>
            <a:r>
              <a:rPr lang="en-US" altLang="ko-KR" dirty="0"/>
              <a:t>. *Stokes 2</a:t>
            </a:r>
            <a:r>
              <a:rPr lang="ko-KR" altLang="en-US" dirty="0"/>
              <a:t>차 보정* 으로 범위 확장이 향후 과제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667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en-US" altLang="ko-KR" dirty="0" err="1"/>
              <a:t>EnKF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/>
              <a:t>wave estimation </a:t>
            </a:r>
            <a:r>
              <a:rPr lang="ko-KR" altLang="en-US" dirty="0"/>
              <a:t>의 두 독립 그룹* </a:t>
            </a:r>
            <a:r>
              <a:rPr lang="en-US" altLang="ko-KR" dirty="0"/>
              <a:t>— </a:t>
            </a:r>
            <a:r>
              <a:rPr lang="ko-KR" altLang="en-US" dirty="0"/>
              <a:t>특히 *우리 </a:t>
            </a:r>
            <a:r>
              <a:rPr lang="en-US" altLang="ko-KR" dirty="0"/>
              <a:t>baseline </a:t>
            </a:r>
            <a:r>
              <a:rPr lang="ko-KR" altLang="en-US" dirty="0"/>
              <a:t>인 </a:t>
            </a:r>
            <a:r>
              <a:rPr lang="en-US" altLang="ko-KR" dirty="0"/>
              <a:t>Feng Wang 2025 </a:t>
            </a:r>
            <a:r>
              <a:rPr lang="ko-KR" altLang="en-US" dirty="0"/>
              <a:t>가 누구인지* 명확히 하기 위해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그룹 </a:t>
            </a:r>
            <a:r>
              <a:rPr lang="en-US" altLang="ko-KR" dirty="0"/>
              <a:t>1 — Wang &amp; Pan (Yulin Pan, </a:t>
            </a:r>
            <a:r>
              <a:rPr lang="en-US" altLang="ko-KR" dirty="0" err="1"/>
              <a:t>U.Michigan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- 2021: *</a:t>
            </a:r>
            <a:r>
              <a:rPr lang="en-US" altLang="ko-KR" dirty="0" err="1"/>
              <a:t>EnKF</a:t>
            </a:r>
            <a:r>
              <a:rPr lang="en-US" altLang="ko-KR" dirty="0"/>
              <a:t> + HOS </a:t>
            </a:r>
            <a:r>
              <a:rPr lang="ko-KR" altLang="en-US" dirty="0"/>
              <a:t>의 첫 결합* </a:t>
            </a:r>
            <a:r>
              <a:rPr lang="en-US" altLang="ko-KR" dirty="0"/>
              <a:t>— </a:t>
            </a:r>
            <a:r>
              <a:rPr lang="ko-KR" altLang="en-US" dirty="0"/>
              <a:t>분야의 </a:t>
            </a:r>
            <a:r>
              <a:rPr lang="en-US" altLang="ko-KR" dirty="0"/>
              <a:t>foundational paper (JFM = Journal of Fluid Mechanics)</a:t>
            </a:r>
          </a:p>
          <a:p>
            <a:r>
              <a:rPr lang="en-US" altLang="ko-KR" dirty="0"/>
              <a:t>  - 2022: </a:t>
            </a:r>
            <a:r>
              <a:rPr lang="en-US" altLang="ko-KR" dirty="0" err="1"/>
              <a:t>IEnKF</a:t>
            </a:r>
            <a:r>
              <a:rPr lang="en-US" altLang="ko-KR" dirty="0"/>
              <a:t>-HOS-C — wave + ocean current </a:t>
            </a:r>
            <a:r>
              <a:rPr lang="ko-KR" altLang="en-US" dirty="0"/>
              <a:t>동시 추정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Sensor: X-band radar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그룹 </a:t>
            </a:r>
            <a:r>
              <a:rPr lang="en-US" altLang="ko-KR" dirty="0"/>
              <a:t>2 — Feng Wang et al. (Harbin Engineering Univ., </a:t>
            </a:r>
            <a:r>
              <a:rPr lang="ko-KR" altLang="en-US" dirty="0"/>
              <a:t>중국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- 2025: *ETKF + fuzzy R + Delaunay </a:t>
            </a:r>
            <a:r>
              <a:rPr lang="ko-KR" altLang="en-US" dirty="0"/>
              <a:t>보간*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설정</a:t>
            </a:r>
            <a:r>
              <a:rPr lang="en-US" altLang="ko-KR" dirty="0"/>
              <a:t>: Ne (ensemble size) = 300, 80×60 </a:t>
            </a:r>
            <a:r>
              <a:rPr lang="ko-KR" altLang="en-US" dirty="0"/>
              <a:t>격자</a:t>
            </a:r>
            <a:r>
              <a:rPr lang="en-US" altLang="ko-KR" dirty="0"/>
              <a:t>, dx ≈ 3m</a:t>
            </a:r>
          </a:p>
          <a:p>
            <a:r>
              <a:rPr lang="en-US" altLang="ko-KR" dirty="0"/>
              <a:t>  - Sensor: Stereo camera + *WASS (Wave Acquisition Stereo System, </a:t>
            </a:r>
            <a:r>
              <a:rPr lang="ko-KR" altLang="en-US" dirty="0"/>
              <a:t>이태리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우리 </a:t>
            </a:r>
            <a:r>
              <a:rPr lang="en-US" altLang="ko-KR" dirty="0"/>
              <a:t>baseline </a:t>
            </a:r>
            <a:r>
              <a:rPr lang="ko-KR" altLang="en-US" dirty="0"/>
              <a:t>의 직접 </a:t>
            </a:r>
            <a:r>
              <a:rPr lang="en-US" altLang="ko-KR" dirty="0"/>
              <a:t>prior art* — GitHub </a:t>
            </a:r>
            <a:r>
              <a:rPr lang="ko-KR" altLang="en-US" dirty="0"/>
              <a:t>공개</a:t>
            </a:r>
          </a:p>
          <a:p>
            <a:endParaRPr lang="ko-KR" altLang="en-US" dirty="0"/>
          </a:p>
          <a:p>
            <a:r>
              <a:rPr lang="ko-KR" altLang="en-US" dirty="0"/>
              <a:t>*본 연구의 </a:t>
            </a:r>
            <a:r>
              <a:rPr lang="en-US" altLang="ko-KR" dirty="0"/>
              <a:t>baseline </a:t>
            </a:r>
            <a:r>
              <a:rPr lang="ko-KR" altLang="en-US" dirty="0"/>
              <a:t>재현 </a:t>
            </a:r>
            <a:r>
              <a:rPr lang="en-US" altLang="ko-KR" dirty="0"/>
              <a:t>— </a:t>
            </a:r>
            <a:r>
              <a:rPr lang="ko-KR" altLang="en-US" dirty="0"/>
              <a:t>공정 비교를 위한 통일*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알고리즘 그대로 </a:t>
            </a:r>
            <a:r>
              <a:rPr lang="en-US" altLang="ko-KR" dirty="0"/>
              <a:t>(Ne=300, 80×60, fuzzy R, Delaunay)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입력 </a:t>
            </a:r>
            <a:r>
              <a:rPr lang="en-US" altLang="ko-KR" dirty="0"/>
              <a:t>sensor </a:t>
            </a:r>
            <a:r>
              <a:rPr lang="ko-KR" altLang="en-US" dirty="0"/>
              <a:t>통일 </a:t>
            </a:r>
            <a:r>
              <a:rPr lang="en-US" altLang="ko-KR" dirty="0"/>
              <a:t>— *</a:t>
            </a:r>
            <a:r>
              <a:rPr lang="ko-KR" altLang="en-US" dirty="0"/>
              <a:t>둘 다 </a:t>
            </a:r>
            <a:r>
              <a:rPr lang="en-US" altLang="ko-KR" dirty="0"/>
              <a:t>LiDAR sim* (Wang </a:t>
            </a:r>
            <a:r>
              <a:rPr lang="ko-KR" altLang="en-US" dirty="0"/>
              <a:t>원논문은 </a:t>
            </a:r>
            <a:r>
              <a:rPr lang="en-US" altLang="ko-KR" dirty="0"/>
              <a:t>stereo camera)</a:t>
            </a:r>
          </a:p>
          <a:p>
            <a:r>
              <a:rPr lang="en-US" altLang="ko-KR" dirty="0"/>
              <a:t>  - Forecast model </a:t>
            </a:r>
            <a:r>
              <a:rPr lang="ko-KR" altLang="en-US" dirty="0"/>
              <a:t>통일 </a:t>
            </a:r>
            <a:r>
              <a:rPr lang="en-US" altLang="ko-KR" dirty="0"/>
              <a:t>— HOS </a:t>
            </a:r>
            <a:r>
              <a:rPr lang="ko-KR" altLang="en-US" dirty="0"/>
              <a:t>대신 *</a:t>
            </a:r>
            <a:r>
              <a:rPr lang="en-US" altLang="ko-KR" dirty="0"/>
              <a:t>linear dispersion* (</a:t>
            </a:r>
            <a:r>
              <a:rPr lang="en-US" altLang="ko-KR" dirty="0" err="1"/>
              <a:t>WaveSplat</a:t>
            </a:r>
            <a:r>
              <a:rPr lang="en-US" altLang="ko-KR" dirty="0"/>
              <a:t> </a:t>
            </a:r>
            <a:r>
              <a:rPr lang="ko-KR" altLang="en-US" dirty="0"/>
              <a:t>과 동일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en-US" altLang="ko-KR" dirty="0" err="1"/>
              <a:t>EnKF</a:t>
            </a:r>
            <a:r>
              <a:rPr lang="en-US" altLang="ko-KR" dirty="0"/>
              <a:t> </a:t>
            </a:r>
            <a:r>
              <a:rPr lang="ko-KR" altLang="en-US" dirty="0"/>
              <a:t>류의 공통 한계*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격자 해상도* </a:t>
            </a:r>
            <a:r>
              <a:rPr lang="en-US" altLang="ko-KR" dirty="0"/>
              <a:t>— </a:t>
            </a:r>
            <a:r>
              <a:rPr lang="ko-KR" altLang="en-US" dirty="0"/>
              <a:t>격자 밖 </a:t>
            </a:r>
            <a:r>
              <a:rPr lang="en-US" altLang="ko-KR" dirty="0"/>
              <a:t>wavenumber </a:t>
            </a:r>
            <a:r>
              <a:rPr lang="ko-KR" altLang="en-US" dirty="0"/>
              <a:t>표현 불가 </a:t>
            </a:r>
            <a:r>
              <a:rPr lang="en-US" altLang="ko-KR" dirty="0"/>
              <a:t>(~0.25 </a:t>
            </a:r>
            <a:r>
              <a:rPr lang="en-US" altLang="ko-KR" dirty="0" err="1"/>
              <a:t>nRMSE</a:t>
            </a:r>
            <a:r>
              <a:rPr lang="en-US" altLang="ko-KR" dirty="0"/>
              <a:t> floor)</a:t>
            </a:r>
          </a:p>
          <a:p>
            <a:r>
              <a:rPr lang="en-US" altLang="ko-KR" dirty="0"/>
              <a:t>  - *Ensemble cost 632 </a:t>
            </a:r>
            <a:r>
              <a:rPr lang="en-US" altLang="ko-KR" dirty="0" err="1"/>
              <a:t>ms</a:t>
            </a:r>
            <a:r>
              <a:rPr lang="en-US" altLang="ko-KR" dirty="0"/>
              <a:t>/frame* — real-time control loop </a:t>
            </a:r>
            <a:r>
              <a:rPr lang="ko-KR" altLang="en-US" dirty="0"/>
              <a:t>불가 </a:t>
            </a:r>
            <a:r>
              <a:rPr lang="en-US" altLang="ko-KR" dirty="0"/>
              <a:t>(100 </a:t>
            </a:r>
            <a:r>
              <a:rPr lang="en-US" altLang="ko-KR" dirty="0" err="1"/>
              <a:t>ms</a:t>
            </a:r>
            <a:r>
              <a:rPr lang="en-US" altLang="ko-KR" dirty="0"/>
              <a:t> </a:t>
            </a:r>
            <a:r>
              <a:rPr lang="ko-KR" altLang="en-US" dirty="0"/>
              <a:t>필요한데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대부분 </a:t>
            </a:r>
            <a:r>
              <a:rPr lang="en-US" altLang="ko-KR" dirty="0"/>
              <a:t>1D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</a:t>
            </a:r>
            <a:r>
              <a:rPr lang="ko-KR" altLang="en-US" dirty="0"/>
              <a:t>두 그룹의 차이는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Pan group </a:t>
            </a:r>
            <a:r>
              <a:rPr lang="ko-KR" altLang="en-US" dirty="0"/>
              <a:t>은 *</a:t>
            </a:r>
            <a:r>
              <a:rPr lang="en-US" altLang="ko-KR" dirty="0"/>
              <a:t>forecast model (HOS) </a:t>
            </a:r>
            <a:r>
              <a:rPr lang="ko-KR" altLang="en-US" dirty="0"/>
              <a:t>개선* 중점</a:t>
            </a:r>
            <a:r>
              <a:rPr lang="en-US" altLang="ko-KR" dirty="0"/>
              <a:t>, Feng Wang </a:t>
            </a:r>
            <a:r>
              <a:rPr lang="ko-KR" altLang="en-US" dirty="0"/>
              <a:t>은 *측정 시스템 </a:t>
            </a:r>
            <a:r>
              <a:rPr lang="en-US" altLang="ko-KR" dirty="0"/>
              <a:t>(stereo camera + Delaunay) </a:t>
            </a:r>
            <a:r>
              <a:rPr lang="ko-KR" altLang="en-US" dirty="0"/>
              <a:t>통합* 중점</a:t>
            </a:r>
            <a:r>
              <a:rPr lang="en-US" altLang="ko-KR" dirty="0"/>
              <a:t>. </a:t>
            </a:r>
            <a:r>
              <a:rPr lang="ko-KR" altLang="en-US" dirty="0"/>
              <a:t>우리는 *</a:t>
            </a:r>
            <a:r>
              <a:rPr lang="en-US" altLang="ko-KR" dirty="0"/>
              <a:t>Feng Wang </a:t>
            </a:r>
            <a:r>
              <a:rPr lang="ko-KR" altLang="en-US" dirty="0"/>
              <a:t>의 공개 </a:t>
            </a:r>
            <a:r>
              <a:rPr lang="en-US" altLang="ko-KR" dirty="0"/>
              <a:t>code* </a:t>
            </a:r>
            <a:r>
              <a:rPr lang="ko-KR" altLang="en-US" dirty="0"/>
              <a:t>를 </a:t>
            </a:r>
            <a:r>
              <a:rPr lang="en-US" altLang="ko-KR" dirty="0"/>
              <a:t>baseline </a:t>
            </a:r>
            <a:r>
              <a:rPr lang="ko-KR" altLang="en-US" dirty="0"/>
              <a:t>으로 채택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Stereo camera vs LiDAR </a:t>
            </a:r>
            <a:r>
              <a:rPr lang="ko-KR" altLang="en-US" dirty="0"/>
              <a:t>차이로 성능 비교가 안 공정한 거 아닌가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그래서 *둘 다 </a:t>
            </a:r>
            <a:r>
              <a:rPr lang="en-US" altLang="ko-KR" dirty="0"/>
              <a:t>LiDAR sim </a:t>
            </a:r>
            <a:r>
              <a:rPr lang="ko-KR" altLang="en-US" dirty="0"/>
              <a:t>으로 통일*</a:t>
            </a:r>
            <a:r>
              <a:rPr lang="en-US" altLang="ko-KR" dirty="0"/>
              <a:t>. *</a:t>
            </a:r>
            <a:r>
              <a:rPr lang="ko-KR" altLang="en-US" dirty="0"/>
              <a:t>알고리즘 자체의 차이만* 비교한 결과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673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*본 연구의 정확한 위치* </a:t>
            </a:r>
            <a:r>
              <a:rPr lang="en-US" altLang="ko-KR" dirty="0"/>
              <a:t>— 6 </a:t>
            </a:r>
            <a:r>
              <a:rPr lang="ko-KR" altLang="en-US" dirty="0"/>
              <a:t>응용 요구사항 </a:t>
            </a:r>
            <a:r>
              <a:rPr lang="en-US" altLang="ko-KR" dirty="0"/>
              <a:t>× 5 baseline </a:t>
            </a:r>
            <a:r>
              <a:rPr lang="ko-KR" altLang="en-US" dirty="0"/>
              <a:t>매트릭스</a:t>
            </a:r>
            <a:r>
              <a:rPr lang="en-US" altLang="ko-KR" dirty="0"/>
              <a:t>. </a:t>
            </a:r>
            <a:r>
              <a:rPr lang="ko-KR" altLang="en-US" dirty="0"/>
              <a:t>노란색 열이 </a:t>
            </a:r>
            <a:r>
              <a:rPr lang="en-US" altLang="ko-KR" dirty="0" err="1"/>
              <a:t>WaveSplat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*6 </a:t>
            </a:r>
            <a:r>
              <a:rPr lang="ko-KR" altLang="en-US" dirty="0"/>
              <a:t>요구사항*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실시간 </a:t>
            </a:r>
            <a:r>
              <a:rPr lang="en-US" altLang="ko-KR" dirty="0"/>
              <a:t>(&lt;100 </a:t>
            </a:r>
            <a:r>
              <a:rPr lang="en-US" altLang="ko-KR" dirty="0" err="1"/>
              <a:t>ms</a:t>
            </a:r>
            <a:r>
              <a:rPr lang="en-US" altLang="ko-KR" dirty="0"/>
              <a:t>)* — </a:t>
            </a:r>
            <a:r>
              <a:rPr lang="en-US" altLang="ko-KR" dirty="0" err="1"/>
              <a:t>WaveSplat</a:t>
            </a:r>
            <a:r>
              <a:rPr lang="ko-KR" altLang="en-US" dirty="0"/>
              <a:t> ✓</a:t>
            </a:r>
            <a:r>
              <a:rPr lang="en-US" altLang="ko-KR" dirty="0"/>
              <a:t>, FNO ✓ (</a:t>
            </a:r>
            <a:r>
              <a:rPr lang="ko-KR" altLang="en-US" dirty="0"/>
              <a:t>학습 후</a:t>
            </a:r>
            <a:r>
              <a:rPr lang="en-US" altLang="ko-KR" dirty="0"/>
              <a:t>), </a:t>
            </a:r>
            <a:r>
              <a:rPr lang="ko-KR" altLang="en-US" dirty="0"/>
              <a:t>나머지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  - *2D </a:t>
            </a:r>
            <a:r>
              <a:rPr lang="ko-KR" altLang="en-US" dirty="0"/>
              <a:t>방향성* </a:t>
            </a:r>
            <a:r>
              <a:rPr lang="en-US" altLang="ko-KR" dirty="0"/>
              <a:t>— </a:t>
            </a:r>
            <a:r>
              <a:rPr lang="en-US" altLang="ko-KR" dirty="0" err="1"/>
              <a:t>WaveSplat</a:t>
            </a:r>
            <a:r>
              <a:rPr lang="ko-KR" altLang="en-US" dirty="0"/>
              <a:t> *유일 ✓*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파도 파쇄* </a:t>
            </a:r>
            <a:r>
              <a:rPr lang="en-US" altLang="ko-KR" dirty="0"/>
              <a:t>— VOF-</a:t>
            </a:r>
            <a:r>
              <a:rPr lang="en-US" altLang="ko-KR" dirty="0" err="1"/>
              <a:t>EnKF</a:t>
            </a:r>
            <a:r>
              <a:rPr lang="ko-KR" altLang="en-US" dirty="0"/>
              <a:t> 만 ✓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 err="1"/>
              <a:t>유속장</a:t>
            </a:r>
            <a:r>
              <a:rPr lang="ko-KR" altLang="en-US" dirty="0"/>
              <a:t> </a:t>
            </a:r>
            <a:r>
              <a:rPr lang="en-US" altLang="ko-KR" dirty="0"/>
              <a:t>(current)* — PFT-PINN, VOF-</a:t>
            </a:r>
            <a:r>
              <a:rPr lang="en-US" altLang="ko-KR" dirty="0" err="1"/>
              <a:t>EnKF</a:t>
            </a:r>
            <a:r>
              <a:rPr lang="ko-KR" altLang="en-US" dirty="0"/>
              <a:t> 만 ✓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학습 데이터 불필요* </a:t>
            </a:r>
            <a:r>
              <a:rPr lang="en-US" altLang="ko-KR" dirty="0"/>
              <a:t>— </a:t>
            </a:r>
            <a:r>
              <a:rPr lang="en-US" altLang="ko-KR" dirty="0" err="1"/>
              <a:t>WaveSplat</a:t>
            </a:r>
            <a:r>
              <a:rPr lang="ko-KR" altLang="en-US" dirty="0"/>
              <a:t> ✓</a:t>
            </a:r>
            <a:r>
              <a:rPr lang="en-US" altLang="ko-KR" dirty="0"/>
              <a:t>, </a:t>
            </a:r>
            <a:r>
              <a:rPr lang="en-US" altLang="ko-KR" dirty="0" err="1"/>
              <a:t>EnKF</a:t>
            </a:r>
            <a:r>
              <a:rPr lang="ko-KR" altLang="en-US" dirty="0"/>
              <a:t> 계열 모두 ✓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희소 </a:t>
            </a:r>
            <a:r>
              <a:rPr lang="en-US" altLang="ko-KR" dirty="0"/>
              <a:t>LiDAR </a:t>
            </a:r>
            <a:r>
              <a:rPr lang="ko-KR" altLang="en-US" dirty="0"/>
              <a:t>모델* </a:t>
            </a:r>
            <a:r>
              <a:rPr lang="en-US" altLang="ko-KR" dirty="0"/>
              <a:t>— </a:t>
            </a:r>
            <a:r>
              <a:rPr lang="en-US" altLang="ko-KR" dirty="0" err="1"/>
              <a:t>WaveSplat</a:t>
            </a:r>
            <a:r>
              <a:rPr lang="ko-KR" altLang="en-US" dirty="0"/>
              <a:t> *유일 ✓*</a:t>
            </a:r>
          </a:p>
          <a:p>
            <a:endParaRPr lang="ko-KR" altLang="en-US" dirty="0"/>
          </a:p>
          <a:p>
            <a:r>
              <a:rPr lang="ko-KR" altLang="en-US" dirty="0"/>
              <a:t>*핵심 관찰*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어떤 방법도 모든 ✓ 못 받음* </a:t>
            </a:r>
            <a:r>
              <a:rPr lang="en-US" altLang="ko-KR" dirty="0"/>
              <a:t>— </a:t>
            </a:r>
            <a:r>
              <a:rPr lang="ko-KR" altLang="en-US" dirty="0"/>
              <a:t>각자 다른 </a:t>
            </a:r>
            <a:r>
              <a:rPr lang="en-US" altLang="ko-KR" dirty="0"/>
              <a:t>tradeoff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본 연구는 *</a:t>
            </a:r>
            <a:r>
              <a:rPr lang="en-US" altLang="ko-KR" dirty="0"/>
              <a:t>real-time + 2D + </a:t>
            </a:r>
            <a:r>
              <a:rPr lang="ko-KR" altLang="en-US" dirty="0"/>
              <a:t>학습 불필요 </a:t>
            </a:r>
            <a:r>
              <a:rPr lang="en-US" altLang="ko-KR" dirty="0"/>
              <a:t>+ </a:t>
            </a:r>
            <a:r>
              <a:rPr lang="ko-KR" altLang="en-US" dirty="0"/>
              <a:t>희소 </a:t>
            </a:r>
            <a:r>
              <a:rPr lang="en-US" altLang="ko-KR" dirty="0"/>
              <a:t>LiDAR — 4 </a:t>
            </a:r>
            <a:r>
              <a:rPr lang="ko-KR" altLang="en-US" dirty="0"/>
              <a:t>조건 동시 만족 유일*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두 영역으로 나누면 </a:t>
            </a:r>
            <a:r>
              <a:rPr lang="en-US" altLang="ko-KR" dirty="0"/>
              <a:t>— *real-time control </a:t>
            </a:r>
            <a:r>
              <a:rPr lang="ko-KR" altLang="en-US" dirty="0"/>
              <a:t>영역 </a:t>
            </a:r>
            <a:r>
              <a:rPr lang="en-US" altLang="ko-KR" dirty="0"/>
              <a:t>(</a:t>
            </a:r>
            <a:r>
              <a:rPr lang="en-US" altLang="ko-KR" dirty="0" err="1"/>
              <a:t>WaveSplat</a:t>
            </a:r>
            <a:r>
              <a:rPr lang="en-US" altLang="ko-KR" dirty="0"/>
              <a:t>, FNO)* vs *design-time analysis </a:t>
            </a:r>
            <a:r>
              <a:rPr lang="ko-KR" altLang="en-US" dirty="0"/>
              <a:t>영역 </a:t>
            </a:r>
            <a:r>
              <a:rPr lang="en-US" altLang="ko-KR" dirty="0"/>
              <a:t>(VOF-</a:t>
            </a:r>
            <a:r>
              <a:rPr lang="en-US" altLang="ko-KR" dirty="0" err="1"/>
              <a:t>EnKF</a:t>
            </a:r>
            <a:r>
              <a:rPr lang="en-US" altLang="ko-KR" dirty="0"/>
              <a:t>, PFT-PINN)*. *</a:t>
            </a:r>
            <a:r>
              <a:rPr lang="ko-KR" altLang="en-US" dirty="0"/>
              <a:t>경쟁 아닌 보완 관계*</a:t>
            </a:r>
          </a:p>
          <a:p>
            <a:endParaRPr lang="ko-KR" altLang="en-US" dirty="0"/>
          </a:p>
          <a:p>
            <a:r>
              <a:rPr lang="ko-KR" altLang="en-US" dirty="0"/>
              <a:t>정직한 한계 </a:t>
            </a:r>
            <a:r>
              <a:rPr lang="en-US" altLang="ko-KR" dirty="0"/>
              <a:t>— </a:t>
            </a:r>
            <a:r>
              <a:rPr lang="ko-KR" altLang="en-US" dirty="0"/>
              <a:t>파도 파쇄</a:t>
            </a:r>
            <a:r>
              <a:rPr lang="en-US" altLang="ko-KR" dirty="0"/>
              <a:t>·</a:t>
            </a:r>
            <a:r>
              <a:rPr lang="ko-KR" altLang="en-US" dirty="0"/>
              <a:t>유속장은 본 연구 *</a:t>
            </a:r>
            <a:r>
              <a:rPr lang="en-US" altLang="ko-KR" dirty="0"/>
              <a:t>scope </a:t>
            </a:r>
            <a:r>
              <a:rPr lang="ko-KR" altLang="en-US" dirty="0"/>
              <a:t>밖*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</a:t>
            </a:r>
            <a:r>
              <a:rPr lang="ko-KR" altLang="en-US" dirty="0" err="1"/>
              <a:t>유속장</a:t>
            </a:r>
            <a:r>
              <a:rPr lang="ko-KR" altLang="en-US" dirty="0"/>
              <a:t> 추정 안 하면 활용성 떨어지는 거 아닌가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우리 응용 </a:t>
            </a:r>
            <a:r>
              <a:rPr lang="en-US" altLang="ko-KR" dirty="0"/>
              <a:t>(hydrofoil </a:t>
            </a:r>
            <a:r>
              <a:rPr lang="ko-KR" altLang="en-US" dirty="0"/>
              <a:t>제어</a:t>
            </a:r>
            <a:r>
              <a:rPr lang="en-US" altLang="ko-KR" dirty="0"/>
              <a:t>) </a:t>
            </a:r>
            <a:r>
              <a:rPr lang="ko-KR" altLang="en-US" dirty="0"/>
              <a:t>는 *파도 정보만으로 충분*</a:t>
            </a:r>
            <a:r>
              <a:rPr lang="en-US" altLang="ko-KR" dirty="0"/>
              <a:t>. </a:t>
            </a:r>
            <a:r>
              <a:rPr lang="ko-KR" altLang="en-US" dirty="0"/>
              <a:t>유속장은 *별도 응용* </a:t>
            </a:r>
            <a:r>
              <a:rPr lang="en-US" altLang="ko-KR" dirty="0"/>
              <a:t>— </a:t>
            </a:r>
            <a:r>
              <a:rPr lang="ko-KR" altLang="en-US" dirty="0"/>
              <a:t>본 연구는 *제어 응용에 특화*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</a:t>
            </a:r>
            <a:r>
              <a:rPr lang="ko-KR" altLang="en-US" dirty="0"/>
              <a:t>거친 </a:t>
            </a:r>
            <a:r>
              <a:rPr lang="en-US" altLang="ko-KR" dirty="0"/>
              <a:t>sea </a:t>
            </a:r>
            <a:r>
              <a:rPr lang="ko-KR" altLang="en-US" dirty="0"/>
              <a:t>못 다루면 한계 아닌가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*Hydrofoil </a:t>
            </a:r>
            <a:r>
              <a:rPr lang="ko-KR" altLang="en-US" dirty="0"/>
              <a:t>운용은 </a:t>
            </a:r>
            <a:r>
              <a:rPr lang="en-US" altLang="ko-KR" dirty="0"/>
              <a:t>BF4-BF5 </a:t>
            </a:r>
            <a:r>
              <a:rPr lang="ko-KR" altLang="en-US" dirty="0"/>
              <a:t>가 일반적* </a:t>
            </a:r>
            <a:r>
              <a:rPr lang="en-US" altLang="ko-KR" dirty="0"/>
              <a:t>— </a:t>
            </a:r>
            <a:r>
              <a:rPr lang="ko-KR" altLang="en-US" dirty="0"/>
              <a:t>우리 신뢰 범위와 매칭 잘 맞음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4373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9AAC-C521-5FA8-A509-90CFAE6A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CAF814-B972-70F9-08E6-3CE375002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1B3753-CD50-5842-D0CA-9B58DFDE9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66F7E-8F74-6C69-978E-6F85598D9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3013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WaveSim</a:t>
            </a:r>
            <a:r>
              <a:rPr lang="ko-KR" altLang="en-US" dirty="0"/>
              <a:t> 시뮬레이터는 *</a:t>
            </a:r>
            <a:r>
              <a:rPr lang="en-US" altLang="ko-KR" dirty="0"/>
              <a:t>JONSWAP </a:t>
            </a:r>
            <a:r>
              <a:rPr lang="ko-KR" altLang="en-US" dirty="0"/>
              <a:t>스펙트럼* 과 *</a:t>
            </a:r>
            <a:r>
              <a:rPr lang="en-US" altLang="ko-KR" dirty="0"/>
              <a:t>Gerstner </a:t>
            </a:r>
            <a:r>
              <a:rPr lang="ko-KR" altLang="en-US" dirty="0"/>
              <a:t>파도 모델* 을 결합해 </a:t>
            </a:r>
            <a:r>
              <a:rPr lang="en-US" altLang="ko-KR" dirty="0"/>
              <a:t>GT </a:t>
            </a:r>
            <a:r>
              <a:rPr lang="ko-KR" altLang="en-US" dirty="0" err="1"/>
              <a:t>파도장</a:t>
            </a:r>
            <a:r>
              <a:rPr lang="ko-KR" altLang="en-US" dirty="0"/>
              <a:t> 을 만듭니다</a:t>
            </a:r>
            <a:r>
              <a:rPr lang="en-US" altLang="ko-KR" dirty="0"/>
              <a:t>. *</a:t>
            </a:r>
            <a:r>
              <a:rPr lang="ko-KR" altLang="en-US" dirty="0"/>
              <a:t>두 모델의 역할이 분리* 되어 있어요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즉 *</a:t>
            </a:r>
            <a:r>
              <a:rPr lang="en-US" altLang="ko-KR" dirty="0"/>
              <a:t>JONSWAP </a:t>
            </a:r>
            <a:r>
              <a:rPr lang="ko-KR" altLang="en-US" dirty="0"/>
              <a:t>이 성분 만들고</a:t>
            </a:r>
            <a:r>
              <a:rPr lang="en-US" altLang="ko-KR" dirty="0"/>
              <a:t>, Gerstner </a:t>
            </a:r>
            <a:r>
              <a:rPr lang="ko-KR" altLang="en-US" dirty="0"/>
              <a:t>가 매 </a:t>
            </a:r>
            <a:r>
              <a:rPr lang="en-US" altLang="ko-KR" dirty="0"/>
              <a:t>frame </a:t>
            </a:r>
            <a:r>
              <a:rPr lang="ko-KR" altLang="en-US" dirty="0"/>
              <a:t>표면 계산*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JONSWAP — </a:t>
            </a:r>
            <a:r>
              <a:rPr lang="ko-KR" altLang="en-US" dirty="0"/>
              <a:t>성분 </a:t>
            </a:r>
            <a:r>
              <a:rPr lang="en-US" altLang="ko-KR" dirty="0"/>
              <a:t>sampling </a:t>
            </a:r>
            <a:r>
              <a:rPr lang="ko-KR" altLang="en-US" dirty="0"/>
              <a:t>담당 </a:t>
            </a:r>
            <a:r>
              <a:rPr lang="en-US" altLang="ko-KR" dirty="0"/>
              <a:t>(episode </a:t>
            </a:r>
            <a:r>
              <a:rPr lang="ko-KR" altLang="en-US" dirty="0"/>
              <a:t>시작 시 한 번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입력</a:t>
            </a:r>
            <a:r>
              <a:rPr lang="en-US" altLang="ko-KR" dirty="0"/>
              <a:t>: H_s, </a:t>
            </a:r>
            <a:r>
              <a:rPr lang="en-US" altLang="ko-KR" dirty="0" err="1"/>
              <a:t>T_p</a:t>
            </a:r>
            <a:r>
              <a:rPr lang="en-US" altLang="ko-KR" dirty="0"/>
              <a:t>, N (</a:t>
            </a:r>
            <a:r>
              <a:rPr lang="ko-KR" altLang="en-US" dirty="0"/>
              <a:t>성분 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출력</a:t>
            </a:r>
            <a:r>
              <a:rPr lang="en-US" altLang="ko-KR" dirty="0"/>
              <a:t>: N </a:t>
            </a:r>
            <a:r>
              <a:rPr lang="ko-KR" altLang="en-US" dirty="0"/>
              <a:t>개 </a:t>
            </a:r>
            <a:r>
              <a:rPr lang="en-US" altLang="ko-KR" dirty="0"/>
              <a:t>wave </a:t>
            </a:r>
            <a:r>
              <a:rPr lang="ko-KR" altLang="en-US" dirty="0"/>
              <a:t>성분 </a:t>
            </a:r>
            <a:r>
              <a:rPr lang="en-US" altLang="ko-KR" dirty="0"/>
              <a:t>(</a:t>
            </a:r>
            <a:r>
              <a:rPr lang="en-US" altLang="ko-KR" dirty="0" err="1"/>
              <a:t>A_n</a:t>
            </a:r>
            <a:r>
              <a:rPr lang="en-US" altLang="ko-KR" dirty="0"/>
              <a:t>, </a:t>
            </a:r>
            <a:r>
              <a:rPr lang="en-US" altLang="ko-KR" dirty="0" err="1"/>
              <a:t>ω_n</a:t>
            </a:r>
            <a:r>
              <a:rPr lang="en-US" altLang="ko-KR" dirty="0"/>
              <a:t>, </a:t>
            </a:r>
            <a:r>
              <a:rPr lang="en-US" altLang="ko-KR" dirty="0" err="1"/>
              <a:t>k_n</a:t>
            </a:r>
            <a:r>
              <a:rPr lang="en-US" altLang="ko-KR" dirty="0"/>
              <a:t>, </a:t>
            </a:r>
            <a:r>
              <a:rPr lang="en-US" altLang="ko-KR" dirty="0" err="1"/>
              <a:t>φ_n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*N </a:t>
            </a:r>
            <a:r>
              <a:rPr lang="ko-KR" altLang="en-US" dirty="0"/>
              <a:t>은 </a:t>
            </a:r>
            <a:r>
              <a:rPr lang="en-US" altLang="ko-KR" dirty="0"/>
              <a:t>episode </a:t>
            </a:r>
            <a:r>
              <a:rPr lang="ko-KR" altLang="en-US" dirty="0"/>
              <a:t>마다 가변* </a:t>
            </a:r>
            <a:r>
              <a:rPr lang="en-US" altLang="ko-KR" dirty="0"/>
              <a:t>— dataset </a:t>
            </a:r>
            <a:r>
              <a:rPr lang="ko-KR" altLang="en-US" dirty="0"/>
              <a:t>에 </a:t>
            </a:r>
            <a:r>
              <a:rPr lang="en-US" altLang="ko-KR" dirty="0"/>
              <a:t>N=1, 2, 5, 15, 20, 30 → *complexity scale </a:t>
            </a:r>
            <a:r>
              <a:rPr lang="ko-KR" altLang="en-US" dirty="0"/>
              <a:t>별 알고리즘 평가*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*Gerstner — </a:t>
            </a:r>
            <a:r>
              <a:rPr lang="ko-KR" altLang="en-US" dirty="0"/>
              <a:t>매 </a:t>
            </a:r>
            <a:r>
              <a:rPr lang="en-US" altLang="ko-KR" dirty="0"/>
              <a:t>time step </a:t>
            </a:r>
            <a:r>
              <a:rPr lang="ko-KR" altLang="en-US" dirty="0"/>
              <a:t>표면 계산 담당*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Tessendorf (2001) </a:t>
            </a:r>
            <a:r>
              <a:rPr lang="ko-KR" altLang="en-US" dirty="0"/>
              <a:t>의 그래픽스 표준</a:t>
            </a:r>
            <a:r>
              <a:rPr lang="en-US" altLang="ko-KR" dirty="0"/>
              <a:t>. *</a:t>
            </a:r>
            <a:r>
              <a:rPr lang="ko-KR" altLang="en-US" dirty="0"/>
              <a:t>입자의 원</a:t>
            </a:r>
            <a:r>
              <a:rPr lang="en-US" altLang="ko-KR" dirty="0"/>
              <a:t>/</a:t>
            </a:r>
            <a:r>
              <a:rPr lang="ko-KR" altLang="en-US" dirty="0"/>
              <a:t>타원 궤적 운동* 까지 모사 </a:t>
            </a:r>
            <a:r>
              <a:rPr lang="en-US" altLang="ko-KR" dirty="0"/>
              <a:t>(LWT </a:t>
            </a:r>
            <a:r>
              <a:rPr lang="ko-KR" altLang="en-US" dirty="0"/>
              <a:t>는 수면 변위만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JONSWAP </a:t>
            </a:r>
            <a:r>
              <a:rPr lang="ko-KR" altLang="en-US" dirty="0"/>
              <a:t>이 만든 </a:t>
            </a:r>
            <a:r>
              <a:rPr lang="en-US" altLang="ko-KR" dirty="0"/>
              <a:t>N </a:t>
            </a:r>
            <a:r>
              <a:rPr lang="ko-KR" altLang="en-US" dirty="0"/>
              <a:t>개 성분을 받아 *</a:t>
            </a:r>
            <a:r>
              <a:rPr lang="en-US" altLang="ko-KR" dirty="0"/>
              <a:t>N </a:t>
            </a:r>
            <a:r>
              <a:rPr lang="ko-KR" altLang="en-US" dirty="0"/>
              <a:t>개 </a:t>
            </a:r>
            <a:r>
              <a:rPr lang="en-US" altLang="ko-KR" dirty="0"/>
              <a:t>Gerstner wave </a:t>
            </a:r>
            <a:r>
              <a:rPr lang="ko-KR" altLang="en-US" dirty="0"/>
              <a:t>중첩* 으로 </a:t>
            </a:r>
            <a:r>
              <a:rPr lang="en-US" altLang="ko-KR" dirty="0"/>
              <a:t>η(x, y, t) </a:t>
            </a:r>
            <a:r>
              <a:rPr lang="ko-KR" altLang="en-US" dirty="0"/>
              <a:t>평가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*Q (steepness)* — Q=0 </a:t>
            </a:r>
            <a:r>
              <a:rPr lang="ko-KR" altLang="en-US" dirty="0"/>
              <a:t>이면 </a:t>
            </a:r>
            <a:r>
              <a:rPr lang="en-US" altLang="ko-KR" dirty="0"/>
              <a:t>LWT, Q&gt;0 </a:t>
            </a:r>
            <a:r>
              <a:rPr lang="ko-KR" altLang="en-US" dirty="0"/>
              <a:t>이면 </a:t>
            </a:r>
            <a:r>
              <a:rPr lang="ko-KR" altLang="en-US" dirty="0" err="1"/>
              <a:t>약비선형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*Q </a:t>
            </a:r>
            <a:r>
              <a:rPr lang="ko-KR" altLang="en-US" dirty="0"/>
              <a:t>는 동적 결정* </a:t>
            </a:r>
            <a:r>
              <a:rPr lang="en-US" altLang="ko-KR" dirty="0"/>
              <a:t>— </a:t>
            </a:r>
            <a:r>
              <a:rPr lang="ko-KR" altLang="en-US" dirty="0"/>
              <a:t>큰 </a:t>
            </a:r>
            <a:r>
              <a:rPr lang="en-US" altLang="ko-KR" dirty="0"/>
              <a:t>wave </a:t>
            </a:r>
            <a:r>
              <a:rPr lang="ko-KR" altLang="en-US" dirty="0"/>
              <a:t>에는 작게</a:t>
            </a:r>
            <a:r>
              <a:rPr lang="en-US" altLang="ko-KR" dirty="0"/>
              <a:t>, </a:t>
            </a:r>
            <a:r>
              <a:rPr lang="ko-KR" altLang="en-US" dirty="0"/>
              <a:t>작은 </a:t>
            </a:r>
            <a:r>
              <a:rPr lang="en-US" altLang="ko-KR" dirty="0"/>
              <a:t>wave </a:t>
            </a:r>
            <a:r>
              <a:rPr lang="ko-KR" altLang="en-US" dirty="0"/>
              <a:t>에는 크게</a:t>
            </a:r>
          </a:p>
          <a:p>
            <a:endParaRPr lang="ko-KR" altLang="en-US" dirty="0"/>
          </a:p>
          <a:p>
            <a:r>
              <a:rPr lang="ko-KR" altLang="en-US" dirty="0"/>
              <a:t>*두 모델 결합 흐름*</a:t>
            </a:r>
          </a:p>
          <a:p>
            <a:r>
              <a:rPr lang="ko-KR" altLang="en-US" dirty="0"/>
              <a:t>  ┌─ </a:t>
            </a:r>
            <a:r>
              <a:rPr lang="en-US" altLang="ko-KR" dirty="0"/>
              <a:t>Episode </a:t>
            </a:r>
            <a:r>
              <a:rPr lang="ko-KR" altLang="en-US" dirty="0"/>
              <a:t>시작 ────────────────┐</a:t>
            </a:r>
          </a:p>
          <a:p>
            <a:r>
              <a:rPr lang="ko-KR" altLang="en-US" dirty="0"/>
              <a:t>  │  </a:t>
            </a:r>
            <a:r>
              <a:rPr lang="en-US" altLang="ko-KR" dirty="0"/>
              <a:t>JONSWAP → N </a:t>
            </a:r>
            <a:r>
              <a:rPr lang="ko-KR" altLang="en-US" dirty="0"/>
              <a:t>개 성분 </a:t>
            </a:r>
            <a:r>
              <a:rPr lang="en-US" altLang="ko-KR" dirty="0"/>
              <a:t>sampling  │ ← </a:t>
            </a:r>
            <a:r>
              <a:rPr lang="ko-KR" altLang="en-US" dirty="0"/>
              <a:t>한 번만</a:t>
            </a:r>
          </a:p>
          <a:p>
            <a:r>
              <a:rPr lang="ko-KR" altLang="en-US" dirty="0"/>
              <a:t>  │  </a:t>
            </a:r>
            <a:r>
              <a:rPr lang="en-US" altLang="ko-KR" dirty="0"/>
              <a:t>(A, ω, k, Q, φ </a:t>
            </a:r>
            <a:r>
              <a:rPr lang="ko-KR" altLang="en-US" dirty="0"/>
              <a:t>고정</a:t>
            </a:r>
            <a:r>
              <a:rPr lang="en-US" altLang="ko-KR" dirty="0"/>
              <a:t>)          │</a:t>
            </a:r>
          </a:p>
          <a:p>
            <a:r>
              <a:rPr lang="en-US" altLang="ko-KR" dirty="0"/>
              <a:t>  └────────┬──────────────────────┘</a:t>
            </a:r>
          </a:p>
          <a:p>
            <a:r>
              <a:rPr lang="en-US" altLang="ko-KR" dirty="0"/>
              <a:t>           ↓</a:t>
            </a:r>
          </a:p>
          <a:p>
            <a:r>
              <a:rPr lang="en-US" altLang="ko-KR" dirty="0"/>
              <a:t>  ┌─ </a:t>
            </a:r>
            <a:r>
              <a:rPr lang="ko-KR" altLang="en-US" dirty="0"/>
              <a:t>매 </a:t>
            </a:r>
            <a:r>
              <a:rPr lang="en-US" altLang="ko-KR" dirty="0"/>
              <a:t>time step ────────────────┐</a:t>
            </a:r>
          </a:p>
          <a:p>
            <a:r>
              <a:rPr lang="en-US" altLang="ko-KR" dirty="0"/>
              <a:t>  │  Gerstner(components, x, y, t) │ ← </a:t>
            </a:r>
            <a:r>
              <a:rPr lang="ko-KR" altLang="en-US" dirty="0"/>
              <a:t>매 </a:t>
            </a:r>
            <a:r>
              <a:rPr lang="en-US" altLang="ko-KR" dirty="0"/>
              <a:t>frame</a:t>
            </a:r>
          </a:p>
          <a:p>
            <a:r>
              <a:rPr lang="en-US" altLang="ko-KR" dirty="0"/>
              <a:t>  │  → </a:t>
            </a:r>
            <a:r>
              <a:rPr lang="en-US" altLang="ko-KR" dirty="0" err="1"/>
              <a:t>η_GT</a:t>
            </a:r>
            <a:r>
              <a:rPr lang="en-US" altLang="ko-KR" dirty="0"/>
              <a:t>(x, y, t)               │</a:t>
            </a:r>
          </a:p>
          <a:p>
            <a:r>
              <a:rPr lang="en-US" altLang="ko-KR" dirty="0"/>
              <a:t>  └────────────────────────────────┘</a:t>
            </a:r>
          </a:p>
          <a:p>
            <a:r>
              <a:rPr lang="ko-KR" altLang="en-US" dirty="0"/>
              <a:t>*</a:t>
            </a:r>
            <a:r>
              <a:rPr lang="en-US" altLang="ko-KR" dirty="0"/>
              <a:t>Sampling 6</a:t>
            </a:r>
            <a:r>
              <a:rPr lang="ko-KR" altLang="en-US" dirty="0"/>
              <a:t>단계*</a:t>
            </a:r>
          </a:p>
          <a:p>
            <a:endParaRPr lang="ko-KR" altLang="en-US" dirty="0"/>
          </a:p>
          <a:p>
            <a:r>
              <a:rPr lang="ko-KR" altLang="en-US" dirty="0"/>
              <a:t>  *① 주파수 격자 분할*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범위 *</a:t>
            </a:r>
            <a:r>
              <a:rPr lang="en-US" altLang="ko-KR" dirty="0"/>
              <a:t>[0.5·ω_p, 3·ω_p]* </a:t>
            </a:r>
            <a:r>
              <a:rPr lang="ko-KR" altLang="en-US" dirty="0"/>
              <a:t>를 </a:t>
            </a:r>
            <a:r>
              <a:rPr lang="en-US" altLang="ko-KR" dirty="0"/>
              <a:t>N </a:t>
            </a:r>
            <a:r>
              <a:rPr lang="ko-KR" altLang="en-US" dirty="0"/>
              <a:t>개 </a:t>
            </a:r>
            <a:r>
              <a:rPr lang="en-US" altLang="ko-KR" dirty="0"/>
              <a:t>bin </a:t>
            </a:r>
            <a:r>
              <a:rPr lang="ko-KR" altLang="en-US" dirty="0"/>
              <a:t>으로 균등 분할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*</a:t>
            </a:r>
            <a:r>
              <a:rPr lang="ko-KR" altLang="en-US" dirty="0"/>
              <a:t>왜 이 범위</a:t>
            </a:r>
            <a:r>
              <a:rPr lang="en-US" altLang="ko-KR" dirty="0"/>
              <a:t>?* — peak </a:t>
            </a:r>
            <a:r>
              <a:rPr lang="ko-KR" altLang="en-US" dirty="0"/>
              <a:t>양옆 약 </a:t>
            </a:r>
            <a:r>
              <a:rPr lang="en-US" altLang="ko-KR" dirty="0"/>
              <a:t>±1.5 </a:t>
            </a:r>
            <a:r>
              <a:rPr lang="ko-KR" altLang="en-US" dirty="0"/>
              <a:t>옥타브</a:t>
            </a:r>
            <a:r>
              <a:rPr lang="en-US" altLang="ko-KR" dirty="0"/>
              <a:t>. </a:t>
            </a:r>
            <a:r>
              <a:rPr lang="ko-KR" altLang="en-US" dirty="0"/>
              <a:t>너무 긴 </a:t>
            </a:r>
            <a:r>
              <a:rPr lang="en-US" altLang="ko-KR" dirty="0"/>
              <a:t>swell (</a:t>
            </a:r>
            <a:r>
              <a:rPr lang="ko-KR" altLang="en-US" dirty="0"/>
              <a:t>사실상 정상상태</a:t>
            </a:r>
            <a:r>
              <a:rPr lang="en-US" altLang="ko-KR" dirty="0"/>
              <a:t>) </a:t>
            </a:r>
            <a:r>
              <a:rPr lang="ko-KR" altLang="en-US" dirty="0"/>
              <a:t>과 너무 짧은 </a:t>
            </a:r>
            <a:r>
              <a:rPr lang="en-US" altLang="ko-KR" dirty="0"/>
              <a:t>capillary wave (LiDAR </a:t>
            </a:r>
            <a:r>
              <a:rPr lang="ko-KR" altLang="en-US" dirty="0"/>
              <a:t>해상도 밖</a:t>
            </a:r>
            <a:r>
              <a:rPr lang="en-US" altLang="ko-KR" dirty="0"/>
              <a:t>) </a:t>
            </a:r>
            <a:r>
              <a:rPr lang="ko-KR" altLang="en-US" dirty="0"/>
              <a:t>제외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bin center </a:t>
            </a:r>
            <a:r>
              <a:rPr lang="ko-KR" altLang="en-US" dirty="0"/>
              <a:t>가 </a:t>
            </a:r>
            <a:r>
              <a:rPr lang="en-US" altLang="ko-KR" dirty="0" err="1"/>
              <a:t>ω_n</a:t>
            </a:r>
            <a:r>
              <a:rPr lang="en-US" altLang="ko-KR" dirty="0"/>
              <a:t>. *N=1 </a:t>
            </a:r>
            <a:r>
              <a:rPr lang="ko-KR" altLang="en-US" dirty="0"/>
              <a:t>이면 </a:t>
            </a:r>
            <a:r>
              <a:rPr lang="en-US" altLang="ko-KR" dirty="0"/>
              <a:t>1 bin → ω = 1.75·ω_p* </a:t>
            </a:r>
            <a:r>
              <a:rPr lang="ko-KR" altLang="en-US" dirty="0"/>
              <a:t>한 점</a:t>
            </a:r>
          </a:p>
          <a:p>
            <a:endParaRPr lang="ko-KR" altLang="en-US" dirty="0"/>
          </a:p>
          <a:p>
            <a:r>
              <a:rPr lang="ko-KR" altLang="en-US" dirty="0"/>
              <a:t>  *② </a:t>
            </a:r>
            <a:r>
              <a:rPr lang="en-US" altLang="ko-KR" dirty="0"/>
              <a:t>Spectrum </a:t>
            </a:r>
            <a:r>
              <a:rPr lang="ko-KR" altLang="en-US" dirty="0"/>
              <a:t>평가*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각 </a:t>
            </a:r>
            <a:r>
              <a:rPr lang="en-US" altLang="ko-KR" dirty="0" err="1"/>
              <a:t>ω_n</a:t>
            </a:r>
            <a:r>
              <a:rPr lang="ko-KR" altLang="en-US" dirty="0"/>
              <a:t> 에서 </a:t>
            </a:r>
            <a:r>
              <a:rPr lang="en-US" altLang="ko-KR" dirty="0"/>
              <a:t>S(</a:t>
            </a:r>
            <a:r>
              <a:rPr lang="en-US" altLang="ko-KR" dirty="0" err="1"/>
              <a:t>ω_n</a:t>
            </a:r>
            <a:r>
              <a:rPr lang="en-US" altLang="ko-KR" dirty="0"/>
              <a:t>) </a:t>
            </a:r>
            <a:r>
              <a:rPr lang="ko-KR" altLang="en-US" dirty="0"/>
              <a:t>계산 </a:t>
            </a:r>
            <a:r>
              <a:rPr lang="en-US" altLang="ko-KR" dirty="0"/>
              <a:t>(Goda 1988 </a:t>
            </a:r>
            <a:r>
              <a:rPr lang="ko-KR" altLang="en-US" dirty="0"/>
              <a:t>형식 </a:t>
            </a:r>
            <a:r>
              <a:rPr lang="en-US" altLang="ko-KR" dirty="0"/>
              <a:t>— </a:t>
            </a:r>
            <a:r>
              <a:rPr lang="ko-KR" altLang="en-US" dirty="0"/>
              <a:t>표준 </a:t>
            </a:r>
            <a:r>
              <a:rPr lang="en-US" altLang="ko-KR" dirty="0"/>
              <a:t>JONSWAP </a:t>
            </a:r>
            <a:r>
              <a:rPr lang="ko-KR" altLang="en-US" dirty="0"/>
              <a:t>과 수학적 동등</a:t>
            </a:r>
            <a:r>
              <a:rPr lang="en-US" altLang="ko-KR" dirty="0"/>
              <a:t>, </a:t>
            </a:r>
            <a:r>
              <a:rPr lang="ko-KR" altLang="en-US" dirty="0"/>
              <a:t>정규화 단순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 *③ Variance → Amplitude*</a:t>
            </a:r>
          </a:p>
          <a:p>
            <a:r>
              <a:rPr lang="en-US" altLang="ko-KR" dirty="0"/>
              <a:t>    - </a:t>
            </a:r>
            <a:r>
              <a:rPr lang="en-US" altLang="ko-KR" dirty="0" err="1"/>
              <a:t>A_n</a:t>
            </a:r>
            <a:r>
              <a:rPr lang="ko-KR" altLang="en-US" dirty="0"/>
              <a:t> </a:t>
            </a:r>
            <a:r>
              <a:rPr lang="en-US" altLang="ko-KR" dirty="0"/>
              <a:t>= √(2 · S(</a:t>
            </a:r>
            <a:r>
              <a:rPr lang="en-US" altLang="ko-KR" dirty="0" err="1"/>
              <a:t>ω_n</a:t>
            </a:r>
            <a:r>
              <a:rPr lang="en-US" altLang="ko-KR" dirty="0"/>
              <a:t>) · </a:t>
            </a:r>
            <a:r>
              <a:rPr lang="en-US" altLang="ko-KR" dirty="0" err="1"/>
              <a:t>Δω_n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이산 </a:t>
            </a:r>
            <a:r>
              <a:rPr lang="en-US" altLang="ko-KR" dirty="0"/>
              <a:t>bin </a:t>
            </a:r>
            <a:r>
              <a:rPr lang="ko-KR" altLang="en-US" dirty="0"/>
              <a:t>의 </a:t>
            </a:r>
            <a:r>
              <a:rPr lang="en-US" altLang="ko-KR" dirty="0"/>
              <a:t>variance </a:t>
            </a:r>
            <a:r>
              <a:rPr lang="ko-KR" altLang="en-US" dirty="0"/>
              <a:t>를 </a:t>
            </a:r>
            <a:r>
              <a:rPr lang="en-US" altLang="ko-KR" dirty="0"/>
              <a:t>sine wave </a:t>
            </a:r>
            <a:r>
              <a:rPr lang="ko-KR" altLang="en-US" dirty="0"/>
              <a:t>진폭으로 변환</a:t>
            </a:r>
          </a:p>
          <a:p>
            <a:endParaRPr lang="ko-KR" altLang="en-US" dirty="0"/>
          </a:p>
          <a:p>
            <a:r>
              <a:rPr lang="ko-KR" altLang="en-US" dirty="0"/>
              <a:t>  *④ </a:t>
            </a:r>
            <a:r>
              <a:rPr lang="en-US" altLang="ko-KR" dirty="0"/>
              <a:t>H_s </a:t>
            </a:r>
            <a:r>
              <a:rPr lang="ko-KR" altLang="en-US" dirty="0"/>
              <a:t>정규화*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sampling </a:t>
            </a:r>
            <a:r>
              <a:rPr lang="ko-KR" altLang="en-US" dirty="0"/>
              <a:t>후 *</a:t>
            </a:r>
            <a:r>
              <a:rPr lang="en-US" altLang="ko-KR" dirty="0"/>
              <a:t>H_s </a:t>
            </a:r>
            <a:r>
              <a:rPr lang="ko-KR" altLang="en-US" dirty="0"/>
              <a:t>점검</a:t>
            </a:r>
            <a:r>
              <a:rPr lang="en-US" altLang="ko-KR" dirty="0"/>
              <a:t>: 4·√(Σ A²/2)*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입력 </a:t>
            </a:r>
            <a:r>
              <a:rPr lang="en-US" altLang="ko-KR" dirty="0"/>
              <a:t>H_s </a:t>
            </a:r>
            <a:r>
              <a:rPr lang="ko-KR" altLang="en-US" dirty="0"/>
              <a:t>와 차이 있으면 모든 </a:t>
            </a:r>
            <a:r>
              <a:rPr lang="en-US" altLang="ko-KR" dirty="0" err="1"/>
              <a:t>A_n</a:t>
            </a:r>
            <a:r>
              <a:rPr lang="ko-KR" altLang="en-US" dirty="0"/>
              <a:t> 일괄 </a:t>
            </a:r>
            <a:r>
              <a:rPr lang="en-US" altLang="ko-KR" dirty="0"/>
              <a:t>scale</a:t>
            </a:r>
          </a:p>
          <a:p>
            <a:r>
              <a:rPr lang="en-US" altLang="ko-KR" dirty="0"/>
              <a:t>    - *</a:t>
            </a:r>
            <a:r>
              <a:rPr lang="ko-KR" altLang="en-US" dirty="0"/>
              <a:t>이산화 </a:t>
            </a:r>
            <a:r>
              <a:rPr lang="en-US" altLang="ko-KR" dirty="0"/>
              <a:t>numerical error </a:t>
            </a:r>
            <a:r>
              <a:rPr lang="ko-KR" altLang="en-US" dirty="0"/>
              <a:t>보정* </a:t>
            </a:r>
            <a:r>
              <a:rPr lang="en-US" altLang="ko-KR" dirty="0"/>
              <a:t>(</a:t>
            </a:r>
            <a:r>
              <a:rPr lang="ko-KR" altLang="en-US" dirty="0"/>
              <a:t>연속 적분 ≠ 이산 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 *⑤ Wavenumber </a:t>
            </a:r>
            <a:r>
              <a:rPr lang="ko-KR" altLang="en-US" dirty="0" err="1"/>
              <a:t>역풀이</a:t>
            </a:r>
            <a:r>
              <a:rPr lang="ko-KR" altLang="en-US" dirty="0"/>
              <a:t>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각 </a:t>
            </a:r>
            <a:r>
              <a:rPr lang="en-US" altLang="ko-KR" dirty="0" err="1"/>
              <a:t>ω_n</a:t>
            </a:r>
            <a:r>
              <a:rPr lang="ko-KR" altLang="en-US" dirty="0"/>
              <a:t> 에서 *분산관계* </a:t>
            </a:r>
            <a:r>
              <a:rPr lang="en-US" altLang="ko-KR" dirty="0"/>
              <a:t>ω = √(</a:t>
            </a:r>
            <a:r>
              <a:rPr lang="en-US" altLang="ko-KR" dirty="0" err="1"/>
              <a:t>g·k·tanh</a:t>
            </a:r>
            <a:r>
              <a:rPr lang="en-US" altLang="ko-KR" dirty="0"/>
              <a:t>(</a:t>
            </a:r>
            <a:r>
              <a:rPr lang="en-US" altLang="ko-KR" dirty="0" err="1"/>
              <a:t>k·d</a:t>
            </a:r>
            <a:r>
              <a:rPr lang="en-US" altLang="ko-KR" dirty="0"/>
              <a:t>)) </a:t>
            </a:r>
            <a:r>
              <a:rPr lang="ko-KR" altLang="en-US" dirty="0"/>
              <a:t>로 </a:t>
            </a:r>
            <a:r>
              <a:rPr lang="en-US" altLang="ko-KR" dirty="0" err="1"/>
              <a:t>k_n</a:t>
            </a:r>
            <a:r>
              <a:rPr lang="ko-KR" altLang="en-US" dirty="0"/>
              <a:t> 결정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*closed-form </a:t>
            </a:r>
            <a:r>
              <a:rPr lang="ko-KR" altLang="en-US" dirty="0" err="1"/>
              <a:t>역풀이</a:t>
            </a:r>
            <a:r>
              <a:rPr lang="ko-KR" altLang="en-US" dirty="0"/>
              <a:t> 불가능* → *</a:t>
            </a:r>
            <a:r>
              <a:rPr lang="en-US" altLang="ko-KR" dirty="0"/>
              <a:t>Newton-Raphson </a:t>
            </a:r>
            <a:r>
              <a:rPr lang="ko-KR" altLang="en-US" dirty="0"/>
              <a:t>수치 </a:t>
            </a:r>
            <a:r>
              <a:rPr lang="ko-KR" altLang="en-US" dirty="0" err="1"/>
              <a:t>역풀이</a:t>
            </a:r>
            <a:r>
              <a:rPr lang="ko-KR" altLang="en-US" dirty="0"/>
              <a:t>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얕은 물 보정 포함 </a:t>
            </a:r>
            <a:r>
              <a:rPr lang="en-US" altLang="ko-KR" dirty="0"/>
              <a:t>(default depth = 50 m)</a:t>
            </a:r>
          </a:p>
          <a:p>
            <a:endParaRPr lang="en-US" altLang="ko-KR" dirty="0"/>
          </a:p>
          <a:p>
            <a:r>
              <a:rPr lang="en-US" altLang="ko-KR" dirty="0"/>
              <a:t>  *⑥ </a:t>
            </a:r>
            <a:r>
              <a:rPr lang="ko-KR" altLang="en-US" dirty="0"/>
              <a:t>방향 </a:t>
            </a:r>
            <a:r>
              <a:rPr lang="en-US" altLang="ko-KR" dirty="0"/>
              <a:t>+ </a:t>
            </a:r>
            <a:r>
              <a:rPr lang="ko-KR" altLang="en-US" dirty="0"/>
              <a:t>위상*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방향 </a:t>
            </a:r>
            <a:r>
              <a:rPr lang="en-US" altLang="ko-KR" dirty="0" err="1"/>
              <a:t>θ_n</a:t>
            </a:r>
            <a:r>
              <a:rPr lang="en-US" altLang="ko-KR" dirty="0"/>
              <a:t>: *Gaussian* (mean 0°, std 30°) → (</a:t>
            </a:r>
            <a:r>
              <a:rPr lang="en-US" altLang="ko-KR" dirty="0" err="1"/>
              <a:t>k_xn</a:t>
            </a:r>
            <a:r>
              <a:rPr lang="en-US" altLang="ko-KR" dirty="0"/>
              <a:t>, </a:t>
            </a:r>
            <a:r>
              <a:rPr lang="en-US" altLang="ko-KR" dirty="0" err="1"/>
              <a:t>k_yn</a:t>
            </a:r>
            <a:r>
              <a:rPr lang="en-US" altLang="ko-KR" dirty="0"/>
              <a:t>) = |</a:t>
            </a:r>
            <a:r>
              <a:rPr lang="en-US" altLang="ko-KR" dirty="0" err="1"/>
              <a:t>k_n</a:t>
            </a:r>
            <a:r>
              <a:rPr lang="en-US" altLang="ko-KR" dirty="0"/>
              <a:t>|·(cos, sin)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위상 </a:t>
            </a:r>
            <a:r>
              <a:rPr lang="en-US" altLang="ko-KR" dirty="0" err="1"/>
              <a:t>φ_n</a:t>
            </a:r>
            <a:r>
              <a:rPr lang="en-US" altLang="ko-KR" dirty="0"/>
              <a:t>: [0, 2π] uniform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마지막으로 *</a:t>
            </a:r>
            <a:r>
              <a:rPr lang="en-US" altLang="ko-KR" dirty="0"/>
              <a:t>Gerstner Q </a:t>
            </a:r>
            <a:r>
              <a:rPr lang="ko-KR" altLang="en-US" dirty="0"/>
              <a:t>부여* </a:t>
            </a:r>
            <a:r>
              <a:rPr lang="en-US" altLang="ko-KR" dirty="0"/>
              <a:t>— </a:t>
            </a:r>
            <a:r>
              <a:rPr lang="ko-KR" altLang="en-US" dirty="0"/>
              <a:t>성분별 </a:t>
            </a:r>
            <a:r>
              <a:rPr lang="en-US" altLang="ko-KR" dirty="0"/>
              <a:t>+ </a:t>
            </a:r>
            <a:r>
              <a:rPr lang="ko-KR" altLang="en-US" dirty="0"/>
              <a:t>전역 제약 </a:t>
            </a:r>
            <a:r>
              <a:rPr lang="en-US" altLang="ko-KR" dirty="0"/>
              <a:t>(breaking </a:t>
            </a:r>
            <a:r>
              <a:rPr lang="ko-KR" altLang="en-US" dirty="0"/>
              <a:t>방지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*화면 그림* </a:t>
            </a:r>
            <a:r>
              <a:rPr lang="en-US" altLang="ko-KR" dirty="0"/>
              <a:t>— </a:t>
            </a:r>
            <a:r>
              <a:rPr lang="ko-KR" altLang="en-US" dirty="0"/>
              <a:t>좌측 </a:t>
            </a:r>
            <a:r>
              <a:rPr lang="en-US" altLang="ko-KR" dirty="0"/>
              <a:t>BF4 H_s ≈ 1.5m, N=5 </a:t>
            </a:r>
            <a:r>
              <a:rPr lang="ko-KR" altLang="en-US" dirty="0"/>
              <a:t>복잡 </a:t>
            </a:r>
            <a:r>
              <a:rPr lang="en-US" altLang="ko-KR" dirty="0"/>
              <a:t>pattern. </a:t>
            </a:r>
            <a:r>
              <a:rPr lang="ko-KR" altLang="en-US" dirty="0"/>
              <a:t>우측 </a:t>
            </a:r>
            <a:r>
              <a:rPr lang="en-US" altLang="ko-KR" dirty="0"/>
              <a:t>BF3 N=1 </a:t>
            </a:r>
            <a:r>
              <a:rPr lang="ko-KR" altLang="en-US" dirty="0"/>
              <a:t>단순 </a:t>
            </a:r>
            <a:r>
              <a:rPr lang="en-US" altLang="ko-KR" dirty="0"/>
              <a:t>swell. *</a:t>
            </a:r>
            <a:r>
              <a:rPr lang="ko-KR" altLang="en-US" dirty="0"/>
              <a:t>흰색 원이 </a:t>
            </a:r>
            <a:r>
              <a:rPr lang="en-US" altLang="ko-KR" dirty="0"/>
              <a:t>LiDAR </a:t>
            </a:r>
            <a:r>
              <a:rPr lang="ko-KR" altLang="en-US" dirty="0"/>
              <a:t>점*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N=1 </a:t>
            </a:r>
            <a:r>
              <a:rPr lang="ko-KR" altLang="en-US" dirty="0"/>
              <a:t>이면 </a:t>
            </a:r>
            <a:r>
              <a:rPr lang="en-US" altLang="ko-KR" dirty="0"/>
              <a:t>wave </a:t>
            </a:r>
            <a:r>
              <a:rPr lang="ko-KR" altLang="en-US" dirty="0"/>
              <a:t>가 어떻게 </a:t>
            </a:r>
            <a:r>
              <a:rPr lang="en-US" altLang="ko-KR" dirty="0"/>
              <a:t>1</a:t>
            </a:r>
            <a:r>
              <a:rPr lang="ko-KR" altLang="en-US" dirty="0"/>
              <a:t>개만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JONSWAP </a:t>
            </a:r>
            <a:r>
              <a:rPr lang="ko-KR" altLang="en-US" dirty="0"/>
              <a:t>의 주파수 </a:t>
            </a:r>
            <a:r>
              <a:rPr lang="en-US" altLang="ko-KR" dirty="0"/>
              <a:t>bin </a:t>
            </a:r>
            <a:r>
              <a:rPr lang="ko-KR" altLang="en-US" dirty="0"/>
              <a:t>을 *</a:t>
            </a:r>
            <a:r>
              <a:rPr lang="en-US" altLang="ko-KR" dirty="0"/>
              <a:t>1</a:t>
            </a:r>
            <a:r>
              <a:rPr lang="ko-KR" altLang="en-US" dirty="0"/>
              <a:t>개로 설정* → 단일 </a:t>
            </a:r>
            <a:r>
              <a:rPr lang="en-US" altLang="ko-KR" dirty="0"/>
              <a:t>ω </a:t>
            </a:r>
            <a:r>
              <a:rPr lang="ko-KR" altLang="en-US" dirty="0"/>
              <a:t>한 점 </a:t>
            </a:r>
            <a:r>
              <a:rPr lang="en-US" altLang="ko-KR" dirty="0"/>
              <a:t>sampling. *Peak </a:t>
            </a:r>
            <a:r>
              <a:rPr lang="ko-KR" altLang="en-US" dirty="0"/>
              <a:t>보다 약간 짧은 </a:t>
            </a:r>
            <a:r>
              <a:rPr lang="en-US" altLang="ko-KR" dirty="0"/>
              <a:t>wave 1</a:t>
            </a:r>
            <a:r>
              <a:rPr lang="ko-KR" altLang="en-US" dirty="0"/>
              <a:t>개* </a:t>
            </a:r>
            <a:r>
              <a:rPr lang="en-US" altLang="ko-KR" dirty="0"/>
              <a:t>(</a:t>
            </a:r>
            <a:r>
              <a:rPr lang="ko-KR" altLang="en-US" dirty="0"/>
              <a:t>정확히 </a:t>
            </a:r>
            <a:r>
              <a:rPr lang="en-US" altLang="ko-KR" dirty="0"/>
              <a:t>ω = 1.75·ω_p). N </a:t>
            </a:r>
            <a:r>
              <a:rPr lang="ko-KR" altLang="en-US" dirty="0"/>
              <a:t>은 복잡도 평가용 인자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Gerstner </a:t>
            </a:r>
            <a:r>
              <a:rPr lang="ko-KR" altLang="en-US" dirty="0"/>
              <a:t>가 비선형이면 </a:t>
            </a:r>
            <a:r>
              <a:rPr lang="en-US" altLang="ko-KR" dirty="0" err="1"/>
              <a:t>WaveSplat</a:t>
            </a:r>
            <a:r>
              <a:rPr lang="ko-KR" altLang="en-US" dirty="0"/>
              <a:t> 의 </a:t>
            </a:r>
            <a:r>
              <a:rPr lang="en-US" altLang="ko-KR" dirty="0"/>
              <a:t>LWT </a:t>
            </a:r>
            <a:r>
              <a:rPr lang="ko-KR" altLang="en-US" dirty="0"/>
              <a:t>가정과 모델 </a:t>
            </a:r>
            <a:r>
              <a:rPr lang="en-US" altLang="ko-KR" dirty="0"/>
              <a:t>mismatch </a:t>
            </a:r>
            <a:r>
              <a:rPr lang="ko-KR" altLang="en-US" dirty="0"/>
              <a:t>아닌가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. *</a:t>
            </a:r>
            <a:r>
              <a:rPr lang="ko-KR" altLang="en-US" dirty="0"/>
              <a:t>데이터 생성은 </a:t>
            </a:r>
            <a:r>
              <a:rPr lang="en-US" altLang="ko-KR" dirty="0"/>
              <a:t>Gerstner (</a:t>
            </a:r>
            <a:r>
              <a:rPr lang="ko-KR" altLang="en-US" dirty="0" err="1"/>
              <a:t>약비선형</a:t>
            </a:r>
            <a:r>
              <a:rPr lang="en-US" altLang="ko-KR" dirty="0"/>
              <a:t>), </a:t>
            </a:r>
            <a:r>
              <a:rPr lang="ko-KR" altLang="en-US" dirty="0"/>
              <a:t>추정 모델은 </a:t>
            </a:r>
            <a:r>
              <a:rPr lang="en-US" altLang="ko-KR" dirty="0"/>
              <a:t>LWT* — </a:t>
            </a:r>
            <a:r>
              <a:rPr lang="ko-KR" altLang="en-US" dirty="0"/>
              <a:t>약간의 </a:t>
            </a:r>
            <a:r>
              <a:rPr lang="en-US" altLang="ko-KR" dirty="0"/>
              <a:t>mismatch. ε &lt; 0.07 </a:t>
            </a:r>
            <a:r>
              <a:rPr lang="ko-KR" altLang="en-US" dirty="0"/>
              <a:t>신뢰 범위 이유 중 하나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</a:t>
            </a:r>
            <a:r>
              <a:rPr lang="ko-KR" altLang="en-US" dirty="0"/>
              <a:t>방향 분산을 </a:t>
            </a:r>
            <a:r>
              <a:rPr lang="en-US" altLang="ko-KR" dirty="0"/>
              <a:t>Gaussian (cos²ˢ </a:t>
            </a:r>
            <a:r>
              <a:rPr lang="ko-KR" altLang="en-US" dirty="0"/>
              <a:t>아님</a:t>
            </a:r>
            <a:r>
              <a:rPr lang="en-US" altLang="ko-KR" dirty="0"/>
              <a:t>) </a:t>
            </a:r>
            <a:r>
              <a:rPr lang="ko-KR" altLang="en-US" dirty="0"/>
              <a:t>으로 한 이유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</a:t>
            </a:r>
            <a:r>
              <a:rPr lang="ko-KR" altLang="en-US" dirty="0"/>
              <a:t>구현 단순성* </a:t>
            </a:r>
            <a:r>
              <a:rPr lang="en-US" altLang="ko-KR" dirty="0"/>
              <a:t>— </a:t>
            </a:r>
            <a:r>
              <a:rPr lang="en-US" altLang="ko-KR" dirty="0" err="1"/>
              <a:t>numpy</a:t>
            </a:r>
            <a:r>
              <a:rPr lang="ko-KR" altLang="en-US" dirty="0"/>
              <a:t> </a:t>
            </a:r>
            <a:r>
              <a:rPr lang="en-US" altLang="ko-KR" dirty="0"/>
              <a:t>`</a:t>
            </a:r>
            <a:r>
              <a:rPr lang="en-US" altLang="ko-KR" dirty="0" err="1"/>
              <a:t>rng.normal</a:t>
            </a:r>
            <a:r>
              <a:rPr lang="en-US" altLang="ko-KR" dirty="0"/>
              <a:t>` </a:t>
            </a:r>
            <a:r>
              <a:rPr lang="ko-KR" altLang="en-US" dirty="0"/>
              <a:t>한 줄</a:t>
            </a:r>
            <a:r>
              <a:rPr lang="en-US" altLang="ko-KR" dirty="0"/>
              <a:t>. std 30° </a:t>
            </a:r>
            <a:r>
              <a:rPr lang="ko-KR" altLang="en-US" dirty="0"/>
              <a:t>가 </a:t>
            </a:r>
            <a:r>
              <a:rPr lang="en-US" altLang="ko-KR" dirty="0"/>
              <a:t>cos²ˢ s≈4 </a:t>
            </a:r>
            <a:r>
              <a:rPr lang="ko-KR" altLang="en-US" dirty="0"/>
              <a:t>와 유사한 수준의 </a:t>
            </a:r>
            <a:r>
              <a:rPr lang="en-US" altLang="ko-KR" dirty="0"/>
              <a:t>mild spreading. </a:t>
            </a:r>
            <a:r>
              <a:rPr lang="ko-KR" altLang="en-US" dirty="0"/>
              <a:t>실용 차이 작음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9816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WaveSim</a:t>
            </a:r>
            <a:r>
              <a:rPr lang="ko-KR" altLang="en-US" dirty="0"/>
              <a:t> 의 </a:t>
            </a:r>
            <a:r>
              <a:rPr lang="en-US" altLang="ko-KR" dirty="0"/>
              <a:t>LiDAR </a:t>
            </a:r>
            <a:r>
              <a:rPr lang="ko-KR" altLang="en-US" dirty="0"/>
              <a:t>모사 </a:t>
            </a:r>
            <a:r>
              <a:rPr lang="en-US" altLang="ko-KR" dirty="0"/>
              <a:t>— *Ray tracing* + *</a:t>
            </a:r>
            <a:r>
              <a:rPr lang="en-US" altLang="ko-KR" dirty="0" err="1"/>
              <a:t>Raydrop</a:t>
            </a:r>
            <a:r>
              <a:rPr lang="ko-KR" altLang="en-US" dirty="0"/>
              <a:t> 모델* 두 단계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*1</a:t>
            </a:r>
            <a:r>
              <a:rPr lang="ko-KR" altLang="en-US" dirty="0"/>
              <a:t>단계 </a:t>
            </a:r>
            <a:r>
              <a:rPr lang="en-US" altLang="ko-KR" dirty="0"/>
              <a:t>— Ray tracing*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각 </a:t>
            </a:r>
            <a:r>
              <a:rPr lang="en-US" altLang="ko-KR" dirty="0"/>
              <a:t>ray </a:t>
            </a:r>
            <a:r>
              <a:rPr lang="ko-KR" altLang="en-US" dirty="0"/>
              <a:t>가 </a:t>
            </a:r>
            <a:r>
              <a:rPr lang="en-US" altLang="ko-KR" dirty="0"/>
              <a:t>wave </a:t>
            </a:r>
            <a:r>
              <a:rPr lang="ko-KR" altLang="en-US" dirty="0"/>
              <a:t>표면 </a:t>
            </a:r>
            <a:r>
              <a:rPr lang="en-US" altLang="ko-KR" dirty="0"/>
              <a:t>mesh </a:t>
            </a:r>
            <a:r>
              <a:rPr lang="ko-KR" altLang="en-US" dirty="0"/>
              <a:t>와 만나는 *</a:t>
            </a:r>
            <a:r>
              <a:rPr lang="en-US" altLang="ko-KR" dirty="0"/>
              <a:t>first-hit </a:t>
            </a:r>
            <a:r>
              <a:rPr lang="ko-KR" altLang="en-US" dirty="0"/>
              <a:t>점 검출*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*Möller-Trumbore (1997) ray-triangle intersection* — </a:t>
            </a:r>
            <a:r>
              <a:rPr lang="ko-KR" altLang="en-US" dirty="0"/>
              <a:t>그래픽스 표준 알고리즘 </a:t>
            </a:r>
            <a:r>
              <a:rPr lang="en-US" altLang="ko-KR" dirty="0"/>
              <a:t>(</a:t>
            </a:r>
            <a:r>
              <a:rPr lang="ko-KR" altLang="en-US" dirty="0"/>
              <a:t>게임 엔진</a:t>
            </a:r>
            <a:r>
              <a:rPr lang="en-US" altLang="ko-KR" dirty="0"/>
              <a:t>, </a:t>
            </a:r>
            <a:r>
              <a:rPr lang="ko-KR" altLang="en-US" dirty="0"/>
              <a:t>영화 </a:t>
            </a:r>
            <a:r>
              <a:rPr lang="en-US" altLang="ko-KR" dirty="0"/>
              <a:t>CG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*2</a:t>
            </a:r>
            <a:r>
              <a:rPr lang="ko-KR" altLang="en-US" dirty="0"/>
              <a:t>단계 </a:t>
            </a:r>
            <a:r>
              <a:rPr lang="en-US" altLang="ko-KR" dirty="0"/>
              <a:t>— </a:t>
            </a:r>
            <a:r>
              <a:rPr lang="en-US" altLang="ko-KR" dirty="0" err="1"/>
              <a:t>Raydrop</a:t>
            </a:r>
            <a:r>
              <a:rPr lang="ko-KR" altLang="en-US" dirty="0"/>
              <a:t> 모델 </a:t>
            </a:r>
            <a:r>
              <a:rPr lang="en-US" altLang="ko-KR" dirty="0"/>
              <a:t>(</a:t>
            </a:r>
            <a:r>
              <a:rPr lang="ko-KR" altLang="en-US" dirty="0"/>
              <a:t>핵심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발상</a:t>
            </a:r>
            <a:r>
              <a:rPr lang="en-US" altLang="ko-KR" dirty="0"/>
              <a:t>: </a:t>
            </a:r>
            <a:r>
              <a:rPr lang="ko-KR" altLang="en-US" dirty="0"/>
              <a:t>빛이 표면 부딪혔다고 *무조건 점 찍히는 게 아님*</a:t>
            </a:r>
            <a:r>
              <a:rPr lang="en-US" altLang="ko-KR" dirty="0"/>
              <a:t>. *</a:t>
            </a:r>
            <a:r>
              <a:rPr lang="ko-KR" altLang="en-US" dirty="0"/>
              <a:t>충분한 비율의 빛이 </a:t>
            </a:r>
            <a:r>
              <a:rPr lang="en-US" altLang="ko-KR" dirty="0"/>
              <a:t>LiDAR receiver </a:t>
            </a:r>
            <a:r>
              <a:rPr lang="ko-KR" altLang="en-US" dirty="0"/>
              <a:t>방향으로 돌아와야* 점 생김</a:t>
            </a:r>
            <a:r>
              <a:rPr lang="en-US" altLang="ko-KR" dirty="0"/>
              <a:t>. </a:t>
            </a:r>
            <a:r>
              <a:rPr lang="ko-KR" altLang="en-US" dirty="0"/>
              <a:t>매끄러운 수면은 *다른 방향으로 반사* 돼 안 돌아옴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세 단계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  · *Snell </a:t>
            </a:r>
            <a:r>
              <a:rPr lang="ko-KR" altLang="en-US" dirty="0"/>
              <a:t>굴절*</a:t>
            </a:r>
            <a:r>
              <a:rPr lang="en-US" altLang="ko-KR" dirty="0"/>
              <a:t>: sin </a:t>
            </a:r>
            <a:r>
              <a:rPr lang="en-US" altLang="ko-KR" dirty="0" err="1"/>
              <a:t>θ_t</a:t>
            </a:r>
            <a:r>
              <a:rPr lang="ko-KR" altLang="en-US" dirty="0"/>
              <a:t> </a:t>
            </a:r>
            <a:r>
              <a:rPr lang="en-US" altLang="ko-KR" dirty="0"/>
              <a:t>= sin </a:t>
            </a:r>
            <a:r>
              <a:rPr lang="en-US" altLang="ko-KR" dirty="0" err="1"/>
              <a:t>θ_i</a:t>
            </a:r>
            <a:r>
              <a:rPr lang="ko-KR" altLang="en-US" dirty="0"/>
              <a:t> </a:t>
            </a:r>
            <a:r>
              <a:rPr lang="en-US" altLang="ko-KR" dirty="0"/>
              <a:t>/ n (n=1.321, water at 1550 nm)</a:t>
            </a:r>
          </a:p>
          <a:p>
            <a:r>
              <a:rPr lang="en-US" altLang="ko-KR" dirty="0"/>
              <a:t>    · *Fresnel </a:t>
            </a:r>
            <a:r>
              <a:rPr lang="ko-KR" altLang="en-US" dirty="0"/>
              <a:t>반사율* </a:t>
            </a:r>
            <a:r>
              <a:rPr lang="en-US" altLang="ko-KR" dirty="0"/>
              <a:t>R(</a:t>
            </a:r>
            <a:r>
              <a:rPr lang="en-US" altLang="ko-KR" dirty="0" err="1"/>
              <a:t>θ_i</a:t>
            </a:r>
            <a:r>
              <a:rPr lang="en-US" altLang="ko-KR" dirty="0"/>
              <a:t>) — s/p polarization </a:t>
            </a:r>
            <a:r>
              <a:rPr lang="ko-KR" altLang="en-US" dirty="0"/>
              <a:t>평균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· *LiDAR </a:t>
            </a:r>
            <a:r>
              <a:rPr lang="ko-KR" altLang="en-US" dirty="0"/>
              <a:t>검출 확률*</a:t>
            </a:r>
            <a:r>
              <a:rPr lang="en-US" altLang="ko-KR" dirty="0"/>
              <a:t>: P = η · R · cos(</a:t>
            </a:r>
            <a:r>
              <a:rPr lang="en-US" altLang="ko-KR" dirty="0" err="1"/>
              <a:t>θ_i</a:t>
            </a:r>
            <a:r>
              <a:rPr lang="en-US" altLang="ko-KR" dirty="0"/>
              <a:t>) / (d/</a:t>
            </a:r>
            <a:r>
              <a:rPr lang="en-US" altLang="ko-KR" dirty="0" err="1"/>
              <a:t>d_ref</a:t>
            </a:r>
            <a:r>
              <a:rPr lang="en-US" altLang="ko-KR" dirty="0"/>
              <a:t>)²</a:t>
            </a:r>
          </a:p>
          <a:p>
            <a:r>
              <a:rPr lang="en-US" altLang="ko-KR" dirty="0"/>
              <a:t>  - 1550 nm </a:t>
            </a:r>
            <a:r>
              <a:rPr lang="ko-KR" altLang="en-US" dirty="0"/>
              <a:t>는 </a:t>
            </a:r>
            <a:r>
              <a:rPr lang="en-US" altLang="ko-KR" dirty="0"/>
              <a:t>eye-safe </a:t>
            </a:r>
            <a:r>
              <a:rPr lang="ko-KR" altLang="en-US" dirty="0"/>
              <a:t>파장</a:t>
            </a:r>
            <a:r>
              <a:rPr lang="en-US" altLang="ko-KR" dirty="0"/>
              <a:t>, </a:t>
            </a:r>
            <a:r>
              <a:rPr lang="ko-KR" altLang="en-US" dirty="0"/>
              <a:t>자율주행 </a:t>
            </a:r>
            <a:r>
              <a:rPr lang="en-US" altLang="ko-KR" dirty="0"/>
              <a:t>LiDAR </a:t>
            </a:r>
            <a:r>
              <a:rPr lang="ko-KR" altLang="en-US" dirty="0"/>
              <a:t>표준</a:t>
            </a:r>
          </a:p>
          <a:p>
            <a:endParaRPr lang="ko-KR" altLang="en-US" dirty="0"/>
          </a:p>
          <a:p>
            <a:r>
              <a:rPr lang="ko-KR" altLang="en-US" dirty="0"/>
              <a:t>*결과* </a:t>
            </a:r>
            <a:r>
              <a:rPr lang="en-US" altLang="ko-KR" dirty="0"/>
              <a:t>— 76,000 ray </a:t>
            </a:r>
            <a:r>
              <a:rPr lang="ko-KR" altLang="en-US" dirty="0"/>
              <a:t>발사 → *</a:t>
            </a:r>
            <a:r>
              <a:rPr lang="en-US" altLang="ko-KR" dirty="0"/>
              <a:t>valid </a:t>
            </a:r>
            <a:r>
              <a:rPr lang="ko-KR" altLang="en-US" dirty="0"/>
              <a:t>점 </a:t>
            </a:r>
            <a:r>
              <a:rPr lang="en-US" altLang="ko-KR" dirty="0"/>
              <a:t>~50</a:t>
            </a:r>
            <a:r>
              <a:rPr lang="ko-KR" altLang="en-US" dirty="0"/>
              <a:t>개* </a:t>
            </a:r>
            <a:r>
              <a:rPr lang="en-US" altLang="ko-KR" dirty="0"/>
              <a:t>(0.06%). sparse </a:t>
            </a:r>
            <a:r>
              <a:rPr lang="ko-KR" altLang="en-US" dirty="0"/>
              <a:t>의 이유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*Vessel </a:t>
            </a:r>
            <a:r>
              <a:rPr lang="ko-KR" altLang="en-US" dirty="0"/>
              <a:t>정지 가정 </a:t>
            </a:r>
            <a:r>
              <a:rPr lang="en-US" altLang="ko-KR" dirty="0"/>
              <a:t>(V=0)* — Dataset </a:t>
            </a:r>
            <a:r>
              <a:rPr lang="ko-KR" altLang="en-US" dirty="0"/>
              <a:t>은 정지 상태로 합성</a:t>
            </a:r>
            <a:r>
              <a:rPr lang="en-US" altLang="ko-KR" dirty="0"/>
              <a:t>. *Multi-frame </a:t>
            </a:r>
            <a:r>
              <a:rPr lang="ko-KR" altLang="en-US" dirty="0"/>
              <a:t>효과는 </a:t>
            </a:r>
            <a:r>
              <a:rPr lang="en-US" altLang="ko-KR" dirty="0"/>
              <a:t>wave </a:t>
            </a:r>
            <a:r>
              <a:rPr lang="ko-KR" altLang="en-US" dirty="0"/>
              <a:t>자체 시간 진화* 에서 옴</a:t>
            </a:r>
            <a:r>
              <a:rPr lang="en-US" altLang="ko-KR" dirty="0"/>
              <a:t>. *Synthetic Aperture (SA, vessel </a:t>
            </a:r>
            <a:r>
              <a:rPr lang="ko-KR" altLang="en-US" dirty="0"/>
              <a:t>이동 기반 공간 분해능 향상</a:t>
            </a:r>
            <a:r>
              <a:rPr lang="en-US" altLang="ko-KR" dirty="0"/>
              <a:t>)* </a:t>
            </a:r>
            <a:r>
              <a:rPr lang="ko-KR" altLang="en-US" dirty="0"/>
              <a:t>는 향후 연구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1550 nm </a:t>
            </a:r>
            <a:r>
              <a:rPr lang="ko-KR" altLang="en-US" dirty="0"/>
              <a:t>를 쓴 이유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*Eye-safe* (</a:t>
            </a:r>
            <a:r>
              <a:rPr lang="ko-KR" altLang="en-US" dirty="0"/>
              <a:t>망막 손상 없음</a:t>
            </a:r>
            <a:r>
              <a:rPr lang="en-US" altLang="ko-KR" dirty="0"/>
              <a:t>) + </a:t>
            </a:r>
            <a:r>
              <a:rPr lang="ko-KR" altLang="en-US" dirty="0"/>
              <a:t>물 흡수 계수 적절</a:t>
            </a:r>
            <a:r>
              <a:rPr lang="en-US" altLang="ko-KR" dirty="0"/>
              <a:t>. </a:t>
            </a:r>
            <a:r>
              <a:rPr lang="ko-KR" altLang="en-US" dirty="0"/>
              <a:t>자율주행 </a:t>
            </a:r>
            <a:r>
              <a:rPr lang="en-US" altLang="ko-KR" dirty="0"/>
              <a:t>LiDAR </a:t>
            </a:r>
            <a:r>
              <a:rPr lang="ko-KR" altLang="en-US" dirty="0"/>
              <a:t>표준 파장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Synthetic Aperture </a:t>
            </a:r>
            <a:r>
              <a:rPr lang="ko-KR" altLang="en-US" dirty="0"/>
              <a:t>가 정확히 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</a:t>
            </a:r>
            <a:r>
              <a:rPr lang="ko-KR" altLang="en-US" dirty="0"/>
              <a:t>센서 이동 </a:t>
            </a:r>
            <a:r>
              <a:rPr lang="en-US" altLang="ko-KR" dirty="0"/>
              <a:t>= </a:t>
            </a:r>
            <a:r>
              <a:rPr lang="ko-KR" altLang="en-US" dirty="0"/>
              <a:t>가상의 큰 안테나 효과* </a:t>
            </a:r>
            <a:r>
              <a:rPr lang="en-US" altLang="ko-KR" dirty="0"/>
              <a:t>— SAR </a:t>
            </a:r>
            <a:r>
              <a:rPr lang="ko-KR" altLang="en-US" dirty="0"/>
              <a:t>위성 원리</a:t>
            </a:r>
            <a:r>
              <a:rPr lang="en-US" altLang="ko-KR" dirty="0"/>
              <a:t>. Vessel </a:t>
            </a:r>
            <a:r>
              <a:rPr lang="ko-KR" altLang="en-US" dirty="0"/>
              <a:t>이동 시 동일 원리로 *공간 해상도 향상* 가능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0096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</a:t>
            </a:r>
            <a:r>
              <a:rPr lang="en-US" altLang="ko-KR" dirty="0" err="1"/>
              <a:t>WaveSplat</a:t>
            </a:r>
            <a:r>
              <a:rPr lang="ko-KR" altLang="en-US" dirty="0"/>
              <a:t> 알고리즘 본론* </a:t>
            </a:r>
            <a:r>
              <a:rPr lang="en-US" altLang="ko-KR" dirty="0"/>
              <a:t>— </a:t>
            </a:r>
            <a:r>
              <a:rPr lang="ko-KR" altLang="en-US" dirty="0"/>
              <a:t>근본 발상은 *격자가 아닌 파라미터로 직접 표현*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발상 전환*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기존 격자</a:t>
            </a:r>
            <a:r>
              <a:rPr lang="en-US" altLang="ko-KR" dirty="0"/>
              <a:t>: 80×60 = *4800 </a:t>
            </a:r>
            <a:r>
              <a:rPr lang="ko-KR" altLang="en-US" dirty="0"/>
              <a:t>격자점의 파고* 추정 </a:t>
            </a:r>
            <a:r>
              <a:rPr lang="en-US" altLang="ko-KR" dirty="0"/>
              <a:t>— </a:t>
            </a:r>
            <a:r>
              <a:rPr lang="ko-KR" altLang="en-US" dirty="0"/>
              <a:t>미지수 </a:t>
            </a:r>
            <a:r>
              <a:rPr lang="en-US" altLang="ko-KR" dirty="0"/>
              <a:t>4800</a:t>
            </a:r>
            <a:r>
              <a:rPr lang="ko-KR" altLang="en-US" dirty="0"/>
              <a:t>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우리</a:t>
            </a:r>
            <a:r>
              <a:rPr lang="en-US" altLang="ko-KR" dirty="0"/>
              <a:t>: </a:t>
            </a:r>
            <a:r>
              <a:rPr lang="ko-KR" altLang="en-US" dirty="0"/>
              <a:t>실해 파도 </a:t>
            </a:r>
            <a:r>
              <a:rPr lang="en-US" altLang="ko-KR" dirty="0"/>
              <a:t>= *N </a:t>
            </a:r>
            <a:r>
              <a:rPr lang="ko-KR" altLang="en-US" dirty="0"/>
              <a:t>개 </a:t>
            </a:r>
            <a:r>
              <a:rPr lang="en-US" altLang="ko-KR" dirty="0"/>
              <a:t>sine wave </a:t>
            </a:r>
            <a:r>
              <a:rPr lang="ko-KR" altLang="en-US" dirty="0"/>
              <a:t>합*</a:t>
            </a:r>
            <a:r>
              <a:rPr lang="en-US" altLang="ko-KR" dirty="0"/>
              <a:t>. N=10 </a:t>
            </a:r>
            <a:r>
              <a:rPr lang="ko-KR" altLang="en-US" dirty="0"/>
              <a:t>이면 *</a:t>
            </a:r>
            <a:r>
              <a:rPr lang="en-US" altLang="ko-KR" dirty="0"/>
              <a:t>4N = 40 </a:t>
            </a:r>
            <a:r>
              <a:rPr lang="ko-KR" altLang="en-US" dirty="0"/>
              <a:t>변수* </a:t>
            </a:r>
            <a:r>
              <a:rPr lang="en-US" altLang="ko-KR" dirty="0"/>
              <a:t>(</a:t>
            </a:r>
            <a:r>
              <a:rPr lang="ko-KR" altLang="en-US" dirty="0"/>
              <a:t>분산관계로 </a:t>
            </a:r>
            <a:r>
              <a:rPr lang="en-US" altLang="ko-KR" dirty="0"/>
              <a:t>ω </a:t>
            </a:r>
            <a:r>
              <a:rPr lang="ko-KR" altLang="en-US" dirty="0"/>
              <a:t>자동 → </a:t>
            </a:r>
            <a:r>
              <a:rPr lang="en-US" altLang="ko-KR" dirty="0"/>
              <a:t>5N</a:t>
            </a:r>
            <a:r>
              <a:rPr lang="ko-KR" altLang="en-US" dirty="0"/>
              <a:t>에서 </a:t>
            </a:r>
            <a:r>
              <a:rPr lang="en-US" altLang="ko-KR" dirty="0"/>
              <a:t>4N)</a:t>
            </a:r>
          </a:p>
          <a:p>
            <a:r>
              <a:rPr lang="en-US" altLang="ko-KR" dirty="0"/>
              <a:t>  - *4800 vs 40 — 100</a:t>
            </a:r>
            <a:r>
              <a:rPr lang="ko-KR" altLang="en-US" dirty="0"/>
              <a:t>배 자유도 감소* → </a:t>
            </a:r>
            <a:r>
              <a:rPr lang="en-US" altLang="ko-KR" dirty="0"/>
              <a:t>LiDAR 50</a:t>
            </a:r>
            <a:r>
              <a:rPr lang="ko-KR" altLang="en-US" dirty="0"/>
              <a:t>점으로 </a:t>
            </a:r>
            <a:r>
              <a:rPr lang="en-US" altLang="ko-KR" dirty="0"/>
              <a:t>1:1 </a:t>
            </a:r>
            <a:r>
              <a:rPr lang="ko-KR" altLang="en-US" dirty="0"/>
              <a:t>추정 가능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Wave field </a:t>
            </a:r>
            <a:r>
              <a:rPr lang="ko-KR" altLang="en-US" dirty="0"/>
              <a:t>표현*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η(x, y, t; θ) = </a:t>
            </a:r>
            <a:r>
              <a:rPr lang="en-US" altLang="ko-KR" dirty="0" err="1"/>
              <a:t>Σ_n</a:t>
            </a:r>
            <a:r>
              <a:rPr lang="ko-KR" altLang="en-US" dirty="0"/>
              <a:t> </a:t>
            </a:r>
            <a:r>
              <a:rPr lang="en-US" altLang="ko-KR" dirty="0" err="1"/>
              <a:t>A_n</a:t>
            </a:r>
            <a:r>
              <a:rPr lang="ko-KR" altLang="en-US" dirty="0"/>
              <a:t> </a:t>
            </a:r>
            <a:r>
              <a:rPr lang="en-US" altLang="ko-KR" dirty="0"/>
              <a:t>· cos(</a:t>
            </a:r>
            <a:r>
              <a:rPr lang="en-US" altLang="ko-KR" dirty="0" err="1"/>
              <a:t>k_xn·x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en-US" altLang="ko-KR" dirty="0" err="1"/>
              <a:t>k_yn·y</a:t>
            </a:r>
            <a:r>
              <a:rPr lang="ko-KR" altLang="en-US" dirty="0"/>
              <a:t> − </a:t>
            </a:r>
            <a:r>
              <a:rPr lang="en-US" altLang="ko-KR" dirty="0" err="1"/>
              <a:t>ω_n·t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en-US" altLang="ko-KR" dirty="0" err="1"/>
              <a:t>φ_n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파라미터 </a:t>
            </a:r>
            <a:r>
              <a:rPr lang="en-US" altLang="ko-KR" dirty="0"/>
              <a:t>θ = {</a:t>
            </a:r>
            <a:r>
              <a:rPr lang="en-US" altLang="ko-KR" dirty="0" err="1"/>
              <a:t>A_n</a:t>
            </a:r>
            <a:r>
              <a:rPr lang="en-US" altLang="ko-KR" dirty="0"/>
              <a:t>, </a:t>
            </a:r>
            <a:r>
              <a:rPr lang="en-US" altLang="ko-KR" dirty="0" err="1"/>
              <a:t>k_xn</a:t>
            </a:r>
            <a:r>
              <a:rPr lang="en-US" altLang="ko-KR" dirty="0"/>
              <a:t>, </a:t>
            </a:r>
            <a:r>
              <a:rPr lang="en-US" altLang="ko-KR" dirty="0" err="1"/>
              <a:t>k_yn</a:t>
            </a:r>
            <a:r>
              <a:rPr lang="en-US" altLang="ko-KR" dirty="0"/>
              <a:t>, </a:t>
            </a:r>
            <a:r>
              <a:rPr lang="en-US" altLang="ko-KR" dirty="0" err="1"/>
              <a:t>φ_n</a:t>
            </a:r>
            <a:r>
              <a:rPr lang="en-US" altLang="ko-KR" dirty="0"/>
              <a:t>}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분산관계 </a:t>
            </a:r>
            <a:r>
              <a:rPr lang="en-US" altLang="ko-KR" dirty="0"/>
              <a:t>hard constraint*</a:t>
            </a:r>
          </a:p>
          <a:p>
            <a:r>
              <a:rPr lang="en-US" altLang="ko-KR" dirty="0"/>
              <a:t>  ω(k) = √(g · |k| · tanh(|k| · d))</a:t>
            </a:r>
          </a:p>
          <a:p>
            <a:r>
              <a:rPr lang="en-US" altLang="ko-KR" dirty="0"/>
              <a:t>  - *Hard constraint* </a:t>
            </a:r>
            <a:r>
              <a:rPr lang="ko-KR" altLang="en-US" dirty="0"/>
              <a:t>로 강제 → 자유도 </a:t>
            </a:r>
            <a:r>
              <a:rPr lang="en-US" altLang="ko-KR" dirty="0"/>
              <a:t>5N → 4N, </a:t>
            </a:r>
            <a:r>
              <a:rPr lang="ko-KR" altLang="en-US" dirty="0"/>
              <a:t>비물리적 </a:t>
            </a:r>
            <a:r>
              <a:rPr lang="en-US" altLang="ko-KR" dirty="0"/>
              <a:t>(k, ω) </a:t>
            </a:r>
            <a:r>
              <a:rPr lang="ko-KR" altLang="en-US" dirty="0"/>
              <a:t>자동 배제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Soft (penalty) </a:t>
            </a:r>
            <a:r>
              <a:rPr lang="ko-KR" altLang="en-US" dirty="0"/>
              <a:t>와 달리 *모든 해가 물리적*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2</a:t>
            </a:r>
            <a:r>
              <a:rPr lang="ko-KR" altLang="en-US" dirty="0"/>
              <a:t>단계 흐름*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*Initialization (500 </a:t>
            </a:r>
            <a:r>
              <a:rPr lang="en-US" altLang="ko-KR" dirty="0" err="1"/>
              <a:t>ms</a:t>
            </a:r>
            <a:r>
              <a:rPr lang="en-US" altLang="ko-KR" dirty="0"/>
              <a:t>, </a:t>
            </a:r>
            <a:r>
              <a:rPr lang="ko-KR" altLang="en-US" dirty="0"/>
              <a:t>한 번만</a:t>
            </a:r>
            <a:r>
              <a:rPr lang="en-US" altLang="ko-KR" dirty="0"/>
              <a:t>)*: beamforming + Adam optimizer</a:t>
            </a:r>
          </a:p>
          <a:p>
            <a:r>
              <a:rPr lang="en-US" altLang="ko-KR" dirty="0"/>
              <a:t>  - *Tracking (</a:t>
            </a:r>
            <a:r>
              <a:rPr lang="ko-KR" altLang="en-US" dirty="0"/>
              <a:t>매 </a:t>
            </a:r>
            <a:r>
              <a:rPr lang="en-US" altLang="ko-KR" dirty="0"/>
              <a:t>frame, 13 </a:t>
            </a:r>
            <a:r>
              <a:rPr lang="en-US" altLang="ko-KR" dirty="0" err="1"/>
              <a:t>ms</a:t>
            </a:r>
            <a:r>
              <a:rPr lang="en-US" altLang="ko-KR" dirty="0"/>
              <a:t>)*: k </a:t>
            </a:r>
            <a:r>
              <a:rPr lang="ko-KR" altLang="en-US" dirty="0"/>
              <a:t>고정</a:t>
            </a:r>
            <a:r>
              <a:rPr lang="en-US" altLang="ko-KR" dirty="0"/>
              <a:t>, (A, φ) </a:t>
            </a:r>
            <a:r>
              <a:rPr lang="ko-KR" altLang="en-US" dirty="0"/>
              <a:t>만 </a:t>
            </a:r>
            <a:r>
              <a:rPr lang="en-US" altLang="ko-KR" dirty="0"/>
              <a:t>update + Adaptive N</a:t>
            </a:r>
          </a:p>
          <a:p>
            <a:r>
              <a:rPr lang="en-US" altLang="ko-KR" dirty="0"/>
              <a:t>*</a:t>
            </a:r>
            <a:r>
              <a:rPr lang="ko-KR" altLang="en-US" dirty="0"/>
              <a:t>무거운 작업은 처음 한 번</a:t>
            </a:r>
            <a:r>
              <a:rPr lang="en-US" altLang="ko-KR" dirty="0"/>
              <a:t>, </a:t>
            </a:r>
            <a:r>
              <a:rPr lang="ko-KR" altLang="en-US" dirty="0"/>
              <a:t>가벼운 작업은 매 </a:t>
            </a:r>
            <a:r>
              <a:rPr lang="en-US" altLang="ko-KR" dirty="0"/>
              <a:t>frame* — </a:t>
            </a:r>
            <a:r>
              <a:rPr lang="ko-KR" altLang="en-US" dirty="0"/>
              <a:t>핵심 디자인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N </a:t>
            </a:r>
            <a:r>
              <a:rPr lang="ko-KR" altLang="en-US" dirty="0"/>
              <a:t>을 미리 정해야 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*Init coarse-to-fine schedule (3→8→15)* </a:t>
            </a:r>
            <a:r>
              <a:rPr lang="ko-KR" altLang="en-US" dirty="0"/>
              <a:t>로 자동</a:t>
            </a:r>
            <a:r>
              <a:rPr lang="en-US" altLang="ko-KR" dirty="0"/>
              <a:t>, *Track Adaptive N (3-30)* </a:t>
            </a:r>
            <a:r>
              <a:rPr lang="ko-KR" altLang="en-US" dirty="0"/>
              <a:t>으로 동적 조정</a:t>
            </a:r>
            <a:r>
              <a:rPr lang="en-US" altLang="ko-KR" dirty="0"/>
              <a:t>. </a:t>
            </a:r>
            <a:r>
              <a:rPr lang="ko-KR" altLang="en-US" dirty="0"/>
              <a:t>미리 정할 필요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</a:t>
            </a:r>
            <a:r>
              <a:rPr lang="ko-KR" altLang="en-US" dirty="0"/>
              <a:t>분산관계를 </a:t>
            </a:r>
            <a:r>
              <a:rPr lang="en-US" altLang="ko-KR" dirty="0"/>
              <a:t>hard constraint </a:t>
            </a:r>
            <a:r>
              <a:rPr lang="ko-KR" altLang="en-US" dirty="0"/>
              <a:t>로 한 이유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</a:t>
            </a:r>
            <a:r>
              <a:rPr lang="ko-KR" altLang="en-US" dirty="0"/>
              <a:t>물리 법칙 위반 방지*</a:t>
            </a:r>
            <a:r>
              <a:rPr lang="en-US" altLang="ko-KR" dirty="0"/>
              <a:t>. Soft </a:t>
            </a:r>
            <a:r>
              <a:rPr lang="ko-KR" altLang="en-US" dirty="0"/>
              <a:t>면 작은 </a:t>
            </a:r>
            <a:r>
              <a:rPr lang="en-US" altLang="ko-KR" dirty="0"/>
              <a:t>fit </a:t>
            </a:r>
            <a:r>
              <a:rPr lang="ko-KR" altLang="en-US" dirty="0"/>
              <a:t>이득에 위반 가능</a:t>
            </a:r>
            <a:r>
              <a:rPr lang="en-US" altLang="ko-KR" dirty="0"/>
              <a:t>. Hard </a:t>
            </a:r>
            <a:r>
              <a:rPr lang="ko-KR" altLang="en-US" dirty="0"/>
              <a:t>면 모든 해가 물리적 → </a:t>
            </a:r>
            <a:r>
              <a:rPr lang="en-US" altLang="ko-KR" dirty="0"/>
              <a:t>robust.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9514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*왜 </a:t>
            </a:r>
            <a:r>
              <a:rPr lang="en-US" altLang="ko-KR" dirty="0"/>
              <a:t>multi-frame </a:t>
            </a:r>
            <a:r>
              <a:rPr lang="ko-KR" altLang="en-US" dirty="0"/>
              <a:t>이 필요한가*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*Spatial Nyquist </a:t>
            </a:r>
            <a:r>
              <a:rPr lang="ko-KR" altLang="en-US" dirty="0"/>
              <a:t>한계*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LiDAR </a:t>
            </a:r>
            <a:r>
              <a:rPr lang="ko-KR" altLang="en-US" dirty="0"/>
              <a:t>점 간격 </a:t>
            </a:r>
            <a:r>
              <a:rPr lang="en-US" altLang="ko-KR" dirty="0" err="1"/>
              <a:t>Δy</a:t>
            </a:r>
            <a:r>
              <a:rPr lang="ko-KR" altLang="en-US" dirty="0"/>
              <a:t> ≈ </a:t>
            </a:r>
            <a:r>
              <a:rPr lang="en-US" altLang="ko-KR" dirty="0"/>
              <a:t>5–8 m → *</a:t>
            </a:r>
            <a:r>
              <a:rPr lang="en-US" altLang="ko-KR" dirty="0" err="1"/>
              <a:t>k_max</a:t>
            </a:r>
            <a:r>
              <a:rPr lang="ko-KR" altLang="en-US" dirty="0"/>
              <a:t> </a:t>
            </a:r>
            <a:r>
              <a:rPr lang="en-US" altLang="ko-KR" dirty="0"/>
              <a:t>= π/</a:t>
            </a:r>
            <a:r>
              <a:rPr lang="en-US" altLang="ko-KR" dirty="0" err="1"/>
              <a:t>Δy</a:t>
            </a:r>
            <a:r>
              <a:rPr lang="ko-KR" altLang="en-US" dirty="0"/>
              <a:t> ≈ </a:t>
            </a:r>
            <a:r>
              <a:rPr lang="en-US" altLang="ko-KR" dirty="0"/>
              <a:t>0.4–0.6 rad/m*</a:t>
            </a:r>
          </a:p>
          <a:p>
            <a:r>
              <a:rPr lang="en-US" altLang="ko-KR" dirty="0"/>
              <a:t>  - *Single-frame </a:t>
            </a:r>
            <a:r>
              <a:rPr lang="ko-KR" altLang="en-US" dirty="0"/>
              <a:t>추정 한계 ≈ </a:t>
            </a:r>
            <a:r>
              <a:rPr lang="en-US" altLang="ko-KR" dirty="0"/>
              <a:t>0.4 rad/m*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필요한 </a:t>
            </a:r>
            <a:r>
              <a:rPr lang="en-US" altLang="ko-KR" dirty="0"/>
              <a:t>wavenumber </a:t>
            </a:r>
            <a:r>
              <a:rPr lang="ko-KR" altLang="en-US" dirty="0"/>
              <a:t>범위*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BF3 </a:t>
            </a:r>
            <a:r>
              <a:rPr lang="ko-KR" altLang="en-US" dirty="0"/>
              <a:t>짧은 </a:t>
            </a:r>
            <a:r>
              <a:rPr lang="en-US" altLang="ko-KR" dirty="0"/>
              <a:t>wave: *</a:t>
            </a:r>
            <a:r>
              <a:rPr lang="en-US" altLang="ko-KR" dirty="0" err="1"/>
              <a:t>k_max</a:t>
            </a:r>
            <a:r>
              <a:rPr lang="ko-KR" altLang="en-US" dirty="0"/>
              <a:t> ≈ </a:t>
            </a:r>
            <a:r>
              <a:rPr lang="en-US" altLang="ko-KR" dirty="0"/>
              <a:t>1.16 rad/m* (Nyquist </a:t>
            </a:r>
            <a:r>
              <a:rPr lang="ko-KR" altLang="en-US" dirty="0"/>
              <a:t>의 약 </a:t>
            </a:r>
            <a:r>
              <a:rPr lang="en-US" altLang="ko-KR" dirty="0"/>
              <a:t>3</a:t>
            </a:r>
            <a:r>
              <a:rPr lang="ko-KR" altLang="en-US" dirty="0"/>
              <a:t>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BF5-BF6 long wave: </a:t>
            </a:r>
            <a:r>
              <a:rPr lang="ko-KR" altLang="en-US" dirty="0"/>
              <a:t>대부분 </a:t>
            </a:r>
            <a:r>
              <a:rPr lang="en-US" altLang="ko-KR" dirty="0"/>
              <a:t>Nyquist </a:t>
            </a:r>
            <a:r>
              <a:rPr lang="ko-KR" altLang="en-US" dirty="0"/>
              <a:t>이내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결과</a:t>
            </a:r>
            <a:r>
              <a:rPr lang="en-US" altLang="ko-KR" dirty="0"/>
              <a:t>: *BF3 short component </a:t>
            </a:r>
            <a:r>
              <a:rPr lang="ko-KR" altLang="en-US" dirty="0"/>
              <a:t>만 </a:t>
            </a:r>
            <a:r>
              <a:rPr lang="en-US" altLang="ko-KR" dirty="0"/>
              <a:t>single-frame </a:t>
            </a:r>
            <a:r>
              <a:rPr lang="ko-KR" altLang="en-US" dirty="0"/>
              <a:t>으로 추정 불가* </a:t>
            </a:r>
            <a:r>
              <a:rPr lang="en-US" altLang="ko-KR" dirty="0"/>
              <a:t>— paradox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해결책 </a:t>
            </a:r>
            <a:r>
              <a:rPr lang="en-US" altLang="ko-KR" dirty="0"/>
              <a:t>— Temporal Coherence*</a:t>
            </a:r>
          </a:p>
          <a:p>
            <a:r>
              <a:rPr lang="en-US" altLang="ko-KR" dirty="0"/>
              <a:t>  - Vessel </a:t>
            </a:r>
            <a:r>
              <a:rPr lang="ko-KR" altLang="en-US" dirty="0"/>
              <a:t>정지에도 *</a:t>
            </a:r>
            <a:r>
              <a:rPr lang="en-US" altLang="ko-KR" dirty="0"/>
              <a:t>wave </a:t>
            </a:r>
            <a:r>
              <a:rPr lang="ko-KR" altLang="en-US" dirty="0"/>
              <a:t>자체가 시간에 따라 </a:t>
            </a:r>
            <a:r>
              <a:rPr lang="en-US" altLang="ko-KR" dirty="0"/>
              <a:t>propagate*</a:t>
            </a:r>
          </a:p>
          <a:p>
            <a:r>
              <a:rPr lang="en-US" altLang="ko-KR" dirty="0"/>
              <a:t>  - η(x, t) </a:t>
            </a:r>
            <a:r>
              <a:rPr lang="ko-KR" altLang="en-US" dirty="0"/>
              <a:t>의 *</a:t>
            </a:r>
            <a:r>
              <a:rPr lang="en-US" altLang="ko-KR" dirty="0"/>
              <a:t>t </a:t>
            </a:r>
            <a:r>
              <a:rPr lang="ko-KR" altLang="en-US" dirty="0"/>
              <a:t>진행이 </a:t>
            </a:r>
            <a:r>
              <a:rPr lang="en-US" altLang="ko-KR" dirty="0"/>
              <a:t>phase </a:t>
            </a:r>
            <a:r>
              <a:rPr lang="ko-KR" altLang="en-US" dirty="0"/>
              <a:t>변화* 제공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여러 </a:t>
            </a:r>
            <a:r>
              <a:rPr lang="en-US" altLang="ko-KR" dirty="0"/>
              <a:t>frame </a:t>
            </a:r>
            <a:r>
              <a:rPr lang="ko-KR" altLang="en-US" dirty="0"/>
              <a:t>의 *</a:t>
            </a:r>
            <a:r>
              <a:rPr lang="en-US" altLang="ko-KR" dirty="0"/>
              <a:t>(x, y, t, η) 4D </a:t>
            </a:r>
            <a:r>
              <a:rPr lang="ko-KR" altLang="en-US" dirty="0"/>
              <a:t>데이터 </a:t>
            </a:r>
            <a:r>
              <a:rPr lang="en-US" altLang="ko-KR" dirty="0"/>
              <a:t>+ </a:t>
            </a:r>
            <a:r>
              <a:rPr lang="ko-KR" altLang="en-US" dirty="0"/>
              <a:t>분산관계 </a:t>
            </a:r>
            <a:r>
              <a:rPr lang="en-US" altLang="ko-KR" dirty="0" err="1"/>
              <a:t>ω↔k</a:t>
            </a:r>
            <a:r>
              <a:rPr lang="ko-KR" altLang="en-US" dirty="0"/>
              <a:t> 매핑* → </a:t>
            </a:r>
            <a:r>
              <a:rPr lang="en-US" altLang="ko-KR" dirty="0"/>
              <a:t>wavenumber </a:t>
            </a:r>
            <a:r>
              <a:rPr lang="ko-KR" altLang="en-US" dirty="0"/>
              <a:t>모호성 해소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Init window </a:t>
            </a:r>
            <a:r>
              <a:rPr lang="ko-KR" altLang="en-US" dirty="0"/>
              <a:t>설정* </a:t>
            </a:r>
            <a:r>
              <a:rPr lang="en-US" altLang="ko-KR" dirty="0"/>
              <a:t>— </a:t>
            </a:r>
            <a:r>
              <a:rPr lang="ko-KR" altLang="en-US" dirty="0"/>
              <a:t>길이 *</a:t>
            </a:r>
            <a:r>
              <a:rPr lang="en-US" altLang="ko-KR" dirty="0"/>
              <a:t>2·T_p* (</a:t>
            </a:r>
            <a:r>
              <a:rPr lang="ko-KR" altLang="en-US" dirty="0"/>
              <a:t>최대 </a:t>
            </a:r>
            <a:r>
              <a:rPr lang="en-US" altLang="ko-KR" dirty="0"/>
              <a:t>20</a:t>
            </a:r>
            <a:r>
              <a:rPr lang="ko-KR" altLang="en-US" dirty="0"/>
              <a:t>초</a:t>
            </a:r>
            <a:r>
              <a:rPr lang="en-US" altLang="ko-KR" dirty="0"/>
              <a:t>). </a:t>
            </a:r>
            <a:r>
              <a:rPr lang="ko-KR" altLang="en-US" dirty="0"/>
              <a:t>여러 </a:t>
            </a:r>
            <a:r>
              <a:rPr lang="en-US" altLang="ko-KR" dirty="0"/>
              <a:t>frame × 50 </a:t>
            </a:r>
            <a:r>
              <a:rPr lang="ko-KR" altLang="en-US" dirty="0"/>
              <a:t>점 → *수천 개 </a:t>
            </a:r>
            <a:r>
              <a:rPr lang="en-US" altLang="ko-KR" dirty="0"/>
              <a:t>4D </a:t>
            </a:r>
            <a:r>
              <a:rPr lang="ko-KR" altLang="en-US" dirty="0"/>
              <a:t>점 누적*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Single frame </a:t>
            </a:r>
            <a:r>
              <a:rPr lang="ko-KR" altLang="en-US" dirty="0"/>
              <a:t>으로 </a:t>
            </a:r>
            <a:r>
              <a:rPr lang="en-US" altLang="ko-KR" dirty="0"/>
              <a:t>k </a:t>
            </a:r>
            <a:r>
              <a:rPr lang="ko-KR" altLang="en-US" dirty="0"/>
              <a:t>결정 불가가 </a:t>
            </a:r>
            <a:r>
              <a:rPr lang="en-US" altLang="ko-KR" dirty="0"/>
              <a:t>Nyquist </a:t>
            </a:r>
            <a:r>
              <a:rPr lang="ko-KR" altLang="en-US" dirty="0"/>
              <a:t>때문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네</a:t>
            </a:r>
            <a:r>
              <a:rPr lang="en-US" altLang="ko-KR" dirty="0"/>
              <a:t>. </a:t>
            </a:r>
            <a:r>
              <a:rPr lang="ko-KR" altLang="en-US" dirty="0"/>
              <a:t>더 정확히 *</a:t>
            </a:r>
            <a:r>
              <a:rPr lang="en-US" altLang="ko-KR" dirty="0"/>
              <a:t>FIM (Fisher Information Matrix) eigenvalue </a:t>
            </a:r>
            <a:r>
              <a:rPr lang="ko-KR" altLang="en-US" dirty="0"/>
              <a:t>분석* 에서도 *</a:t>
            </a:r>
            <a:r>
              <a:rPr lang="en-US" altLang="ko-KR" dirty="0"/>
              <a:t>k </a:t>
            </a:r>
            <a:r>
              <a:rPr lang="ko-KR" altLang="en-US" dirty="0"/>
              <a:t>방향이 </a:t>
            </a:r>
            <a:r>
              <a:rPr lang="en-US" altLang="ko-KR" dirty="0"/>
              <a:t>(A, φ) </a:t>
            </a:r>
            <a:r>
              <a:rPr lang="ko-KR" altLang="en-US" dirty="0"/>
              <a:t>방향보다 약 </a:t>
            </a:r>
            <a:r>
              <a:rPr lang="en-US" altLang="ko-KR" dirty="0"/>
              <a:t>1000</a:t>
            </a:r>
            <a:r>
              <a:rPr lang="ko-KR" altLang="en-US" dirty="0"/>
              <a:t>배 작음* </a:t>
            </a:r>
            <a:r>
              <a:rPr lang="en-US" altLang="ko-KR" dirty="0"/>
              <a:t>— </a:t>
            </a:r>
            <a:r>
              <a:rPr lang="ko-KR" altLang="en-US" dirty="0"/>
              <a:t>데이터가 </a:t>
            </a:r>
            <a:r>
              <a:rPr lang="en-US" altLang="ko-KR" dirty="0"/>
              <a:t>k </a:t>
            </a:r>
            <a:r>
              <a:rPr lang="ko-KR" altLang="en-US" dirty="0"/>
              <a:t>에 거의 둔감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Aliasing </a:t>
            </a:r>
            <a:r>
              <a:rPr lang="ko-KR" altLang="en-US" dirty="0"/>
              <a:t>직관 설명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</a:t>
            </a:r>
            <a:r>
              <a:rPr lang="ko-KR" altLang="en-US" dirty="0"/>
              <a:t>바퀴 회전 영상에서 바퀴가 반대로 도는 것처럼 보이는* </a:t>
            </a:r>
            <a:r>
              <a:rPr lang="en-US" altLang="ko-KR" dirty="0"/>
              <a:t>wagon-wheel effect. Under-sampling </a:t>
            </a:r>
            <a:r>
              <a:rPr lang="ko-KR" altLang="en-US" dirty="0"/>
              <a:t>으로 진짜</a:t>
            </a:r>
            <a:r>
              <a:rPr lang="en-US" altLang="ko-KR" dirty="0"/>
              <a:t>/</a:t>
            </a:r>
            <a:r>
              <a:rPr lang="ko-KR" altLang="en-US" dirty="0"/>
              <a:t>가짜 </a:t>
            </a:r>
            <a:r>
              <a:rPr lang="en-US" altLang="ko-KR" dirty="0"/>
              <a:t>wavenumber </a:t>
            </a:r>
            <a:r>
              <a:rPr lang="ko-KR" altLang="en-US" dirty="0"/>
              <a:t>구별 불가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0174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*Beamforming → Adam → Coarse-to-fine N schedule*.</a:t>
            </a:r>
          </a:p>
          <a:p>
            <a:endParaRPr lang="en-US" altLang="ko-KR" dirty="0"/>
          </a:p>
          <a:p>
            <a:r>
              <a:rPr lang="en-US" altLang="ko-KR" dirty="0"/>
              <a:t>*1</a:t>
            </a:r>
            <a:r>
              <a:rPr lang="ko-KR" altLang="en-US" dirty="0"/>
              <a:t>단계 </a:t>
            </a:r>
            <a:r>
              <a:rPr lang="en-US" altLang="ko-KR" dirty="0"/>
              <a:t>— Beamforming score (matched filter)*</a:t>
            </a:r>
          </a:p>
          <a:p>
            <a:r>
              <a:rPr lang="en-US" altLang="ko-KR" dirty="0"/>
              <a:t>  S(k) = | </a:t>
            </a:r>
            <a:r>
              <a:rPr lang="el-GR" altLang="ko-KR" dirty="0"/>
              <a:t>Σ_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el-GR" altLang="ko-KR" dirty="0"/>
              <a:t>η_</a:t>
            </a:r>
            <a:r>
              <a:rPr lang="en-US" altLang="ko-KR" dirty="0" err="1"/>
              <a:t>obs</a:t>
            </a:r>
            <a:r>
              <a:rPr lang="en-US" altLang="ko-KR" dirty="0"/>
              <a:t>(</a:t>
            </a:r>
            <a:r>
              <a:rPr lang="en-US" altLang="ko-KR" dirty="0" err="1"/>
              <a:t>x_i</a:t>
            </a:r>
            <a:r>
              <a:rPr lang="en-US" altLang="ko-KR" dirty="0"/>
              <a:t>, </a:t>
            </a:r>
            <a:r>
              <a:rPr lang="en-US" altLang="ko-KR" dirty="0" err="1"/>
              <a:t>t_i</a:t>
            </a:r>
            <a:r>
              <a:rPr lang="en-US" altLang="ko-KR" dirty="0"/>
              <a:t>) · exp(−j(</a:t>
            </a:r>
            <a:r>
              <a:rPr lang="en-US" altLang="ko-KR" dirty="0" err="1"/>
              <a:t>k·x_i</a:t>
            </a:r>
            <a:r>
              <a:rPr lang="en-US" altLang="ko-KR" dirty="0"/>
              <a:t> − </a:t>
            </a:r>
            <a:r>
              <a:rPr lang="el-GR" altLang="ko-KR" dirty="0"/>
              <a:t>ω(</a:t>
            </a:r>
            <a:r>
              <a:rPr lang="en-US" altLang="ko-KR" dirty="0"/>
              <a:t>k)·</a:t>
            </a:r>
            <a:r>
              <a:rPr lang="en-US" altLang="ko-KR" dirty="0" err="1"/>
              <a:t>t_i</a:t>
            </a:r>
            <a:r>
              <a:rPr lang="en-US" altLang="ko-KR" dirty="0"/>
              <a:t>)) |²</a:t>
            </a:r>
          </a:p>
          <a:p>
            <a:r>
              <a:rPr lang="en-US" altLang="ko-KR" dirty="0"/>
              <a:t>  - i: </a:t>
            </a:r>
            <a:r>
              <a:rPr lang="en-US" altLang="ko-KR" dirty="0" err="1"/>
              <a:t>init</a:t>
            </a:r>
            <a:r>
              <a:rPr lang="en-US" altLang="ko-KR" dirty="0"/>
              <a:t> window </a:t>
            </a:r>
            <a:r>
              <a:rPr lang="ko-KR" altLang="en-US" dirty="0"/>
              <a:t>의 모든 점</a:t>
            </a:r>
            <a:r>
              <a:rPr lang="en-US" altLang="ko-KR" dirty="0"/>
              <a:t>, *2D search (</a:t>
            </a:r>
            <a:r>
              <a:rPr lang="en-US" altLang="ko-KR" dirty="0" err="1"/>
              <a:t>k_x</a:t>
            </a:r>
            <a:r>
              <a:rPr lang="en-US" altLang="ko-KR" dirty="0"/>
              <a:t>, </a:t>
            </a:r>
            <a:r>
              <a:rPr lang="en-US" altLang="ko-KR" dirty="0" err="1"/>
              <a:t>k_y</a:t>
            </a:r>
            <a:r>
              <a:rPr lang="en-US" altLang="ko-KR" dirty="0"/>
              <a:t>) </a:t>
            </a:r>
            <a:r>
              <a:rPr lang="ko-KR" altLang="en-US" dirty="0"/>
              <a:t>만* </a:t>
            </a:r>
            <a:r>
              <a:rPr lang="en-US" altLang="ko-KR" dirty="0"/>
              <a:t>(</a:t>
            </a:r>
            <a:r>
              <a:rPr lang="el-GR" altLang="ko-KR" dirty="0"/>
              <a:t>ω </a:t>
            </a:r>
            <a:r>
              <a:rPr lang="ko-KR" altLang="en-US" dirty="0"/>
              <a:t>는 </a:t>
            </a:r>
            <a:r>
              <a:rPr lang="en-US" altLang="ko-KR" dirty="0"/>
              <a:t>dispersion </a:t>
            </a:r>
            <a:r>
              <a:rPr lang="ko-KR" altLang="en-US" dirty="0"/>
              <a:t>자동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코러스 효과로 직관*</a:t>
            </a:r>
            <a:r>
              <a:rPr lang="en-US" altLang="ko-KR" dirty="0"/>
              <a:t>: </a:t>
            </a:r>
            <a:r>
              <a:rPr lang="ko-KR" altLang="en-US" dirty="0"/>
              <a:t>합창단이 맞는 음 부르면 *</a:t>
            </a:r>
            <a:r>
              <a:rPr lang="en-US" altLang="ko-KR" dirty="0"/>
              <a:t>N </a:t>
            </a:r>
            <a:r>
              <a:rPr lang="ko-KR" altLang="en-US" dirty="0"/>
              <a:t>배 보강*</a:t>
            </a:r>
            <a:r>
              <a:rPr lang="en-US" altLang="ko-KR" dirty="0"/>
              <a:t>, </a:t>
            </a:r>
            <a:r>
              <a:rPr lang="ko-KR" altLang="en-US" dirty="0"/>
              <a:t>틀린 음 부르면 *</a:t>
            </a:r>
            <a:r>
              <a:rPr lang="en-US" altLang="ko-KR" dirty="0"/>
              <a:t>random cancel → √N*. </a:t>
            </a:r>
            <a:r>
              <a:rPr lang="ko-KR" altLang="en-US" dirty="0"/>
              <a:t>맞는 </a:t>
            </a:r>
            <a:r>
              <a:rPr lang="en-US" altLang="ko-KR" dirty="0"/>
              <a:t>k </a:t>
            </a:r>
            <a:r>
              <a:rPr lang="ko-KR" altLang="en-US" dirty="0"/>
              <a:t>가 </a:t>
            </a:r>
            <a:r>
              <a:rPr lang="en-US" altLang="ko-KR" dirty="0"/>
              <a:t>peak </a:t>
            </a:r>
            <a:r>
              <a:rPr lang="ko-KR" altLang="en-US" dirty="0"/>
              <a:t>로 도드라짐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Search range: </a:t>
            </a:r>
            <a:r>
              <a:rPr lang="en-US" altLang="ko-KR" dirty="0" err="1"/>
              <a:t>k_x</a:t>
            </a:r>
            <a:r>
              <a:rPr lang="en-US" altLang="ko-KR" dirty="0"/>
              <a:t>, </a:t>
            </a:r>
            <a:r>
              <a:rPr lang="en-US" altLang="ko-KR" dirty="0" err="1"/>
              <a:t>k_y</a:t>
            </a:r>
            <a:r>
              <a:rPr lang="en-US" altLang="ko-KR" dirty="0"/>
              <a:t> ∈ [−4, 4], *81×81 = 6,561 </a:t>
            </a:r>
            <a:r>
              <a:rPr lang="ko-KR" altLang="en-US" dirty="0"/>
              <a:t>후보* → </a:t>
            </a:r>
            <a:r>
              <a:rPr lang="en-US" altLang="ko-KR" dirty="0"/>
              <a:t>top-N peak </a:t>
            </a:r>
            <a:r>
              <a:rPr lang="ko-KR" altLang="en-US" dirty="0"/>
              <a:t>선택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— Adam optimizer </a:t>
            </a:r>
            <a:r>
              <a:rPr lang="ko-KR" altLang="en-US" dirty="0"/>
              <a:t>정밀화*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*Adam = Adaptive Moment Estimation (Kingma &amp; Ba 2015)* — </a:t>
            </a:r>
            <a:r>
              <a:rPr lang="ko-KR" altLang="en-US" dirty="0"/>
              <a:t>신경망 학습 표준 </a:t>
            </a:r>
            <a:r>
              <a:rPr lang="en-US" altLang="ko-KR" dirty="0"/>
              <a:t>optimizer</a:t>
            </a:r>
          </a:p>
          <a:p>
            <a:r>
              <a:rPr lang="en-US" altLang="ko-KR" dirty="0"/>
              <a:t>  - Beamforming peak </a:t>
            </a:r>
            <a:r>
              <a:rPr lang="ko-KR" altLang="en-US" dirty="0"/>
              <a:t>는 격자 위 </a:t>
            </a:r>
            <a:r>
              <a:rPr lang="en-US" altLang="ko-KR" dirty="0"/>
              <a:t>(</a:t>
            </a:r>
            <a:r>
              <a:rPr lang="el-GR" altLang="ko-KR" dirty="0"/>
              <a:t>Δ</a:t>
            </a:r>
            <a:r>
              <a:rPr lang="en-US" altLang="ko-KR" dirty="0"/>
              <a:t>k=0.1) </a:t>
            </a:r>
            <a:r>
              <a:rPr lang="ko-KR" altLang="en-US" dirty="0"/>
              <a:t>라 거침 → </a:t>
            </a:r>
            <a:r>
              <a:rPr lang="en-US" altLang="ko-KR" dirty="0"/>
              <a:t>Adam </a:t>
            </a:r>
            <a:r>
              <a:rPr lang="ko-KR" altLang="en-US" dirty="0"/>
              <a:t>으로 정밀화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*Loss = data fit + L1 sparsity + spectral smoothness* (3 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· *</a:t>
            </a:r>
            <a:r>
              <a:rPr lang="en-US" altLang="ko-KR" dirty="0" err="1"/>
              <a:t>L_data</a:t>
            </a:r>
            <a:r>
              <a:rPr lang="en-US" altLang="ko-KR" dirty="0"/>
              <a:t>*: confidence-weighted MSE</a:t>
            </a:r>
          </a:p>
          <a:p>
            <a:r>
              <a:rPr lang="en-US" altLang="ko-KR" dirty="0"/>
              <a:t>    · *L_L1*: </a:t>
            </a:r>
            <a:r>
              <a:rPr lang="el-GR" altLang="ko-KR" dirty="0"/>
              <a:t>Σ |</a:t>
            </a:r>
            <a:r>
              <a:rPr lang="en-US" altLang="ko-KR" dirty="0" err="1"/>
              <a:t>A_n</a:t>
            </a:r>
            <a:r>
              <a:rPr lang="en-US" altLang="ko-KR" dirty="0"/>
              <a:t>| — </a:t>
            </a:r>
            <a:r>
              <a:rPr lang="ko-KR" altLang="en-US" dirty="0"/>
              <a:t>작은 </a:t>
            </a:r>
            <a:r>
              <a:rPr lang="en-US" altLang="ko-KR" dirty="0"/>
              <a:t>amplitude </a:t>
            </a:r>
            <a:r>
              <a:rPr lang="ko-KR" altLang="en-US" dirty="0"/>
              <a:t>성분 제거 유도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· *</a:t>
            </a:r>
            <a:r>
              <a:rPr lang="en-US" altLang="ko-KR" dirty="0" err="1"/>
              <a:t>L_smooth</a:t>
            </a:r>
            <a:r>
              <a:rPr lang="en-US" altLang="ko-KR" dirty="0"/>
              <a:t>*: </a:t>
            </a:r>
            <a:r>
              <a:rPr lang="ko-KR" altLang="en-US" dirty="0"/>
              <a:t>인접 </a:t>
            </a:r>
            <a:r>
              <a:rPr lang="en-US" altLang="ko-KR" dirty="0"/>
              <a:t>amplitude </a:t>
            </a:r>
            <a:r>
              <a:rPr lang="ko-KR" altLang="en-US" dirty="0"/>
              <a:t>차분 제곱 </a:t>
            </a:r>
            <a:r>
              <a:rPr lang="en-US" altLang="ko-KR" dirty="0"/>
              <a:t>— spectrum </a:t>
            </a:r>
            <a:r>
              <a:rPr lang="ko-KR" altLang="en-US" dirty="0"/>
              <a:t>부드러움 유도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파라미터 </a:t>
            </a:r>
            <a:r>
              <a:rPr lang="en-US" altLang="ko-KR" dirty="0"/>
              <a:t>(</a:t>
            </a:r>
            <a:r>
              <a:rPr lang="en-US" altLang="ko-KR" dirty="0" err="1"/>
              <a:t>k_x</a:t>
            </a:r>
            <a:r>
              <a:rPr lang="en-US" altLang="ko-KR" dirty="0"/>
              <a:t>, </a:t>
            </a:r>
            <a:r>
              <a:rPr lang="en-US" altLang="ko-KR" dirty="0" err="1"/>
              <a:t>k_y</a:t>
            </a:r>
            <a:r>
              <a:rPr lang="en-US" altLang="ko-KR" dirty="0"/>
              <a:t>, A, </a:t>
            </a:r>
            <a:r>
              <a:rPr lang="el-GR" altLang="ko-KR" dirty="0"/>
              <a:t>φ) </a:t>
            </a:r>
            <a:r>
              <a:rPr lang="ko-KR" altLang="en-US" dirty="0"/>
              <a:t>동시 </a:t>
            </a:r>
            <a:r>
              <a:rPr lang="en-US" altLang="ko-KR" dirty="0"/>
              <a:t>update, *k </a:t>
            </a:r>
            <a:r>
              <a:rPr lang="ko-KR" altLang="en-US" dirty="0"/>
              <a:t>는 </a:t>
            </a:r>
            <a:r>
              <a:rPr lang="en-US" altLang="ko-KR" dirty="0" err="1"/>
              <a:t>lr</a:t>
            </a:r>
            <a:r>
              <a:rPr lang="en-US" altLang="ko-KR" dirty="0"/>
              <a:t> </a:t>
            </a:r>
            <a:r>
              <a:rPr lang="ko-KR" altLang="en-US" dirty="0"/>
              <a:t>절반 </a:t>
            </a:r>
            <a:r>
              <a:rPr lang="en-US" altLang="ko-KR" dirty="0"/>
              <a:t>(0.005)* </a:t>
            </a:r>
            <a:r>
              <a:rPr lang="ko-KR" altLang="en-US" dirty="0"/>
              <a:t>으로 신중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— Coarse-to-fine N schedule*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성분 수 *</a:t>
            </a:r>
            <a:r>
              <a:rPr lang="en-US" altLang="ko-KR" dirty="0"/>
              <a:t>3 → 8 → 15 </a:t>
            </a:r>
            <a:r>
              <a:rPr lang="ko-KR" altLang="en-US" dirty="0"/>
              <a:t>점진 증가* </a:t>
            </a:r>
            <a:r>
              <a:rPr lang="en-US" altLang="ko-KR" dirty="0"/>
              <a:t>— </a:t>
            </a:r>
            <a:r>
              <a:rPr lang="ko-KR" altLang="en-US" dirty="0"/>
              <a:t>큰 성분 먼저</a:t>
            </a:r>
            <a:r>
              <a:rPr lang="en-US" altLang="ko-KR" dirty="0"/>
              <a:t>, </a:t>
            </a:r>
            <a:r>
              <a:rPr lang="ko-KR" altLang="en-US" dirty="0"/>
              <a:t>작은 성분 나중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Stage advance </a:t>
            </a:r>
            <a:r>
              <a:rPr lang="ko-KR" altLang="en-US" dirty="0"/>
              <a:t>조건 </a:t>
            </a:r>
            <a:r>
              <a:rPr lang="en-US" altLang="ko-KR" dirty="0"/>
              <a:t>(</a:t>
            </a:r>
            <a:r>
              <a:rPr lang="ko-KR" altLang="en-US" dirty="0"/>
              <a:t>둘 중 하나</a:t>
            </a:r>
            <a:r>
              <a:rPr lang="en-US" altLang="ko-KR" dirty="0"/>
              <a:t>): *Loss &lt; threshold* </a:t>
            </a:r>
            <a:r>
              <a:rPr lang="ko-KR" altLang="en-US" dirty="0"/>
              <a:t>또는 *</a:t>
            </a:r>
            <a:r>
              <a:rPr lang="en-US" altLang="ko-KR" dirty="0"/>
              <a:t>max iter </a:t>
            </a:r>
            <a:r>
              <a:rPr lang="ko-KR" altLang="en-US" dirty="0"/>
              <a:t>도달*</a:t>
            </a:r>
          </a:p>
          <a:p>
            <a:endParaRPr lang="ko-KR" altLang="en-US" dirty="0"/>
          </a:p>
          <a:p>
            <a:r>
              <a:rPr lang="ko-KR" altLang="en-US" dirty="0"/>
              <a:t>*화면 그림 </a:t>
            </a:r>
            <a:r>
              <a:rPr lang="en-US" altLang="ko-KR" dirty="0"/>
              <a:t>— Two-Stage Beamforming*</a:t>
            </a:r>
          </a:p>
          <a:p>
            <a:r>
              <a:rPr lang="en-US" altLang="ko-KR" dirty="0"/>
              <a:t>  - (a) 81×81 coarse → (b) peak </a:t>
            </a:r>
            <a:r>
              <a:rPr lang="ko-KR" altLang="en-US" dirty="0"/>
              <a:t>부근 </a:t>
            </a:r>
            <a:r>
              <a:rPr lang="en-US" altLang="ko-KR" dirty="0"/>
              <a:t>zoom → (c) 41×41 fine (</a:t>
            </a:r>
            <a:r>
              <a:rPr lang="el-GR" altLang="ko-KR" dirty="0"/>
              <a:t>Δ</a:t>
            </a:r>
            <a:r>
              <a:rPr lang="en-US" altLang="ko-KR" dirty="0"/>
              <a:t>k=0.01)</a:t>
            </a:r>
          </a:p>
          <a:p>
            <a:r>
              <a:rPr lang="en-US" altLang="ko-KR" dirty="0"/>
              <a:t>  - *True k </a:t>
            </a:r>
            <a:r>
              <a:rPr lang="ko-KR" altLang="en-US" dirty="0"/>
              <a:t>위치와 </a:t>
            </a:r>
            <a:r>
              <a:rPr lang="en-US" altLang="ko-KR" dirty="0"/>
              <a:t>fine peak </a:t>
            </a:r>
            <a:r>
              <a:rPr lang="ko-KR" altLang="en-US" dirty="0"/>
              <a:t>가 거의 일치* </a:t>
            </a:r>
            <a:r>
              <a:rPr lang="en-US" altLang="ko-KR" dirty="0"/>
              <a:t>— </a:t>
            </a:r>
            <a:r>
              <a:rPr lang="ko-KR" altLang="en-US" dirty="0"/>
              <a:t>정밀화 작동 확인</a:t>
            </a:r>
          </a:p>
          <a:p>
            <a:endParaRPr lang="ko-KR" altLang="en-US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Loss </a:t>
            </a:r>
            <a:r>
              <a:rPr lang="ko-KR" altLang="en-US" dirty="0"/>
              <a:t>가 </a:t>
            </a:r>
            <a:r>
              <a:rPr lang="en-US" altLang="ko-KR" dirty="0"/>
              <a:t>Beamforming S(k) </a:t>
            </a:r>
            <a:r>
              <a:rPr lang="ko-KR" altLang="en-US" dirty="0"/>
              <a:t>와 같은 함수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</a:t>
            </a:r>
            <a:r>
              <a:rPr lang="ko-KR" altLang="en-US" dirty="0"/>
              <a:t>다른 함수*</a:t>
            </a:r>
            <a:r>
              <a:rPr lang="en-US" altLang="ko-KR" dirty="0"/>
              <a:t>. S(k) </a:t>
            </a:r>
            <a:r>
              <a:rPr lang="ko-KR" altLang="en-US" dirty="0"/>
              <a:t>는 격자 </a:t>
            </a:r>
            <a:r>
              <a:rPr lang="en-US" altLang="ko-KR" dirty="0"/>
              <a:t>search </a:t>
            </a:r>
            <a:r>
              <a:rPr lang="ko-KR" altLang="en-US" dirty="0"/>
              <a:t>의 매칭 점수</a:t>
            </a:r>
            <a:r>
              <a:rPr lang="en-US" altLang="ko-KR" dirty="0"/>
              <a:t>, Loss </a:t>
            </a:r>
            <a:r>
              <a:rPr lang="ko-KR" altLang="en-US" dirty="0"/>
              <a:t>는 </a:t>
            </a:r>
            <a:r>
              <a:rPr lang="en-US" altLang="ko-KR" dirty="0"/>
              <a:t>Adam </a:t>
            </a:r>
            <a:r>
              <a:rPr lang="ko-KR" altLang="en-US" dirty="0"/>
              <a:t>최적화의 </a:t>
            </a:r>
            <a:r>
              <a:rPr lang="en-US" altLang="ko-KR" dirty="0"/>
              <a:t>fit </a:t>
            </a:r>
            <a:r>
              <a:rPr lang="ko-KR" altLang="en-US" dirty="0"/>
              <a:t>손실 </a:t>
            </a:r>
            <a:r>
              <a:rPr lang="en-US" altLang="ko-KR" dirty="0"/>
              <a:t>(3</a:t>
            </a:r>
            <a:r>
              <a:rPr lang="ko-KR" altLang="en-US" dirty="0"/>
              <a:t>항</a:t>
            </a:r>
            <a:r>
              <a:rPr lang="en-US" altLang="ko-KR" dirty="0"/>
              <a:t>). </a:t>
            </a:r>
            <a:r>
              <a:rPr lang="ko-KR" altLang="en-US" dirty="0"/>
              <a:t>격자 </a:t>
            </a:r>
            <a:r>
              <a:rPr lang="en-US" altLang="ko-KR" dirty="0"/>
              <a:t>search </a:t>
            </a:r>
            <a:r>
              <a:rPr lang="ko-KR" altLang="en-US" dirty="0"/>
              <a:t>후 </a:t>
            </a:r>
            <a:r>
              <a:rPr lang="en-US" altLang="ko-KR" dirty="0"/>
              <a:t>Adam </a:t>
            </a:r>
            <a:r>
              <a:rPr lang="ko-KR" altLang="en-US" dirty="0"/>
              <a:t>으로 전환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K </a:t>
            </a:r>
            <a:r>
              <a:rPr lang="ko-KR" altLang="en-US" dirty="0"/>
              <a:t>의 </a:t>
            </a:r>
            <a:r>
              <a:rPr lang="en-US" altLang="ko-KR" dirty="0"/>
              <a:t>learning rate </a:t>
            </a:r>
            <a:r>
              <a:rPr lang="ko-KR" altLang="en-US" dirty="0"/>
              <a:t>가 절반인 이유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*K </a:t>
            </a:r>
            <a:r>
              <a:rPr lang="ko-KR" altLang="en-US" dirty="0"/>
              <a:t>변화 </a:t>
            </a:r>
            <a:r>
              <a:rPr lang="en-US" altLang="ko-KR" dirty="0"/>
              <a:t>= wave </a:t>
            </a:r>
            <a:r>
              <a:rPr lang="ko-KR" altLang="en-US" dirty="0"/>
              <a:t>의 공간 주파수 자체 변경* </a:t>
            </a:r>
            <a:r>
              <a:rPr lang="en-US" altLang="ko-KR" dirty="0"/>
              <a:t>— (A, </a:t>
            </a:r>
            <a:r>
              <a:rPr lang="el-GR" altLang="ko-KR" dirty="0"/>
              <a:t>φ) </a:t>
            </a:r>
            <a:r>
              <a:rPr lang="ko-KR" altLang="en-US" dirty="0"/>
              <a:t>같은 단순 진폭</a:t>
            </a:r>
            <a:r>
              <a:rPr lang="en-US" altLang="ko-KR" dirty="0"/>
              <a:t>/</a:t>
            </a:r>
            <a:r>
              <a:rPr lang="ko-KR" altLang="en-US" dirty="0"/>
              <a:t>위상보다 훨씬 </a:t>
            </a:r>
            <a:r>
              <a:rPr lang="en-US" altLang="ko-KR" dirty="0"/>
              <a:t>sensitive. </a:t>
            </a:r>
            <a:r>
              <a:rPr lang="ko-KR" altLang="en-US" dirty="0"/>
              <a:t>신중한 </a:t>
            </a:r>
            <a:r>
              <a:rPr lang="en-US" altLang="ko-KR" dirty="0"/>
              <a:t>update.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531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*매 </a:t>
            </a:r>
            <a:r>
              <a:rPr lang="en-US" altLang="ko-KR" dirty="0"/>
              <a:t>frame 13 </a:t>
            </a:r>
            <a:r>
              <a:rPr lang="en-US" altLang="ko-KR" dirty="0" err="1"/>
              <a:t>ms</a:t>
            </a:r>
            <a:r>
              <a:rPr lang="ko-KR" altLang="en-US" dirty="0"/>
              <a:t> 안에 끝나는 비결*</a:t>
            </a:r>
            <a:r>
              <a:rPr lang="en-US" altLang="ko-KR" dirty="0"/>
              <a:t>. Adaptive N </a:t>
            </a:r>
            <a:r>
              <a:rPr lang="ko-KR" altLang="en-US" dirty="0"/>
              <a:t>도 이 단계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핵심 </a:t>
            </a:r>
            <a:r>
              <a:rPr lang="en-US" altLang="ko-KR" dirty="0"/>
              <a:t>— </a:t>
            </a:r>
            <a:r>
              <a:rPr lang="en-US" altLang="ko-KR" dirty="0" err="1"/>
              <a:t>A_φ</a:t>
            </a:r>
            <a:r>
              <a:rPr lang="ko-KR" altLang="en-US" dirty="0"/>
              <a:t> </a:t>
            </a:r>
            <a:r>
              <a:rPr lang="en-US" altLang="ko-KR" dirty="0"/>
              <a:t>tracking mode (</a:t>
            </a:r>
            <a:r>
              <a:rPr lang="en-US" altLang="ko-KR" dirty="0" err="1"/>
              <a:t>w_phi</a:t>
            </a:r>
            <a:r>
              <a:rPr lang="ko-KR" altLang="en-US" dirty="0"/>
              <a:t> 모드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*K </a:t>
            </a:r>
            <a:r>
              <a:rPr lang="ko-KR" altLang="en-US" dirty="0"/>
              <a:t>는 </a:t>
            </a:r>
            <a:r>
              <a:rPr lang="en-US" altLang="ko-KR" dirty="0"/>
              <a:t>Init </a:t>
            </a:r>
            <a:r>
              <a:rPr lang="ko-KR" altLang="en-US" dirty="0"/>
              <a:t>에서 결정한 값으로 고정* </a:t>
            </a:r>
            <a:r>
              <a:rPr lang="en-US" altLang="ko-KR" dirty="0"/>
              <a:t>— </a:t>
            </a:r>
            <a:r>
              <a:rPr lang="en-US" altLang="ko-KR" dirty="0" err="1"/>
              <a:t>WaveSplat</a:t>
            </a:r>
            <a:r>
              <a:rPr lang="ko-KR" altLang="en-US" dirty="0"/>
              <a:t> 의 가장 중요한 설계 결정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왜</a:t>
            </a:r>
            <a:r>
              <a:rPr lang="en-US" altLang="ko-KR" dirty="0"/>
              <a:t>?* — </a:t>
            </a:r>
            <a:r>
              <a:rPr lang="ko-KR" altLang="en-US" dirty="0"/>
              <a:t>한 프레임으로는 </a:t>
            </a:r>
            <a:r>
              <a:rPr lang="en-US" altLang="ko-KR" dirty="0"/>
              <a:t>k </a:t>
            </a:r>
            <a:r>
              <a:rPr lang="ko-KR" altLang="en-US" dirty="0"/>
              <a:t>결정 불가 </a:t>
            </a:r>
            <a:r>
              <a:rPr lang="en-US" altLang="ko-KR" dirty="0"/>
              <a:t>(Nyquist). K </a:t>
            </a:r>
            <a:r>
              <a:rPr lang="ko-KR" altLang="en-US" dirty="0"/>
              <a:t>자유 시 </a:t>
            </a:r>
            <a:r>
              <a:rPr lang="en-US" altLang="ko-KR" dirty="0"/>
              <a:t>50</a:t>
            </a:r>
            <a:r>
              <a:rPr lang="ko-KR" altLang="en-US" dirty="0"/>
              <a:t>점에 *</a:t>
            </a:r>
            <a:r>
              <a:rPr lang="en-US" altLang="ko-KR" dirty="0"/>
              <a:t>over-fit </a:t>
            </a:r>
            <a:r>
              <a:rPr lang="ko-KR" altLang="en-US" dirty="0"/>
              <a:t>해서 비물리적 발산*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결과</a:t>
            </a:r>
            <a:r>
              <a:rPr lang="en-US" altLang="ko-KR" dirty="0"/>
              <a:t>: *k </a:t>
            </a:r>
            <a:r>
              <a:rPr lang="ko-KR" altLang="en-US" dirty="0"/>
              <a:t>고정</a:t>
            </a:r>
            <a:r>
              <a:rPr lang="en-US" altLang="ko-KR" dirty="0"/>
              <a:t>, ω </a:t>
            </a:r>
            <a:r>
              <a:rPr lang="ko-KR" altLang="en-US" dirty="0"/>
              <a:t>는 </a:t>
            </a:r>
            <a:r>
              <a:rPr lang="en-US" altLang="ko-KR" dirty="0"/>
              <a:t>dispersion </a:t>
            </a:r>
            <a:r>
              <a:rPr lang="ko-KR" altLang="en-US" dirty="0"/>
              <a:t>자동</a:t>
            </a:r>
            <a:r>
              <a:rPr lang="en-US" altLang="ko-KR" dirty="0"/>
              <a:t>, (A, φ) </a:t>
            </a:r>
            <a:r>
              <a:rPr lang="ko-KR" altLang="en-US" dirty="0"/>
              <a:t>만 매 </a:t>
            </a:r>
            <a:r>
              <a:rPr lang="en-US" altLang="ko-KR" dirty="0"/>
              <a:t>frame update* → </a:t>
            </a:r>
            <a:r>
              <a:rPr lang="ko-KR" altLang="en-US" dirty="0"/>
              <a:t>자유도 *</a:t>
            </a:r>
            <a:r>
              <a:rPr lang="en-US" altLang="ko-KR" dirty="0"/>
              <a:t>2N*</a:t>
            </a:r>
          </a:p>
          <a:p>
            <a:r>
              <a:rPr lang="en-US" altLang="ko-KR" dirty="0"/>
              <a:t>  - *</a:t>
            </a:r>
            <a:r>
              <a:rPr lang="en-US" altLang="ko-KR" dirty="0" err="1"/>
              <a:t>w_phi</a:t>
            </a:r>
            <a:r>
              <a:rPr lang="ko-KR" altLang="en-US" dirty="0"/>
              <a:t> </a:t>
            </a:r>
            <a:r>
              <a:rPr lang="ko-KR" altLang="en-US" dirty="0" err="1"/>
              <a:t>변수명</a:t>
            </a:r>
            <a:r>
              <a:rPr lang="ko-KR" altLang="en-US" dirty="0"/>
              <a:t>*</a:t>
            </a:r>
            <a:r>
              <a:rPr lang="en-US" altLang="ko-KR" dirty="0"/>
              <a:t>: </a:t>
            </a:r>
            <a:r>
              <a:rPr lang="ko-KR" altLang="en-US" dirty="0"/>
              <a:t>코드의 </a:t>
            </a:r>
            <a:r>
              <a:rPr lang="en-US" altLang="ko-KR" dirty="0"/>
              <a:t>`</a:t>
            </a:r>
            <a:r>
              <a:rPr lang="en-US" altLang="ko-KR" dirty="0" err="1"/>
              <a:t>self.w</a:t>
            </a:r>
            <a:r>
              <a:rPr lang="en-US" altLang="ko-KR" dirty="0"/>
              <a:t>` = amplitude, `</a:t>
            </a:r>
            <a:r>
              <a:rPr lang="en-US" altLang="ko-KR" dirty="0" err="1"/>
              <a:t>self.phi</a:t>
            </a:r>
            <a:r>
              <a:rPr lang="en-US" altLang="ko-KR" dirty="0"/>
              <a:t>` = phase. (A, φ) </a:t>
            </a:r>
            <a:r>
              <a:rPr lang="ko-KR" altLang="en-US" dirty="0"/>
              <a:t>와 동일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Phase prediction (Adam </a:t>
            </a:r>
            <a:r>
              <a:rPr lang="ko-KR" altLang="en-US" dirty="0"/>
              <a:t>시작 전 </a:t>
            </a:r>
            <a:r>
              <a:rPr lang="en-US" altLang="ko-KR" dirty="0"/>
              <a:t>kinematic preview)*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매 </a:t>
            </a:r>
            <a:r>
              <a:rPr lang="en-US" altLang="ko-KR" dirty="0"/>
              <a:t>update </a:t>
            </a:r>
            <a:r>
              <a:rPr lang="ko-KR" altLang="en-US" dirty="0"/>
              <a:t>전</a:t>
            </a:r>
            <a:r>
              <a:rPr lang="en-US" altLang="ko-KR" dirty="0"/>
              <a:t>: *</a:t>
            </a:r>
            <a:r>
              <a:rPr lang="en-US" altLang="ko-KR" dirty="0" err="1"/>
              <a:t>φ_i</a:t>
            </a:r>
            <a:r>
              <a:rPr lang="ko-KR" altLang="en-US" dirty="0"/>
              <a:t> ← </a:t>
            </a:r>
            <a:r>
              <a:rPr lang="en-US" altLang="ko-KR" dirty="0" err="1"/>
              <a:t>φ_i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en-US" altLang="ko-KR" dirty="0" err="1"/>
              <a:t>ω_i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en-US" altLang="ko-KR" dirty="0" err="1"/>
              <a:t>Δt</a:t>
            </a:r>
            <a:r>
              <a:rPr lang="ko-KR" altLang="en-US" dirty="0"/>
              <a:t>* 로 </a:t>
            </a:r>
            <a:r>
              <a:rPr lang="en-US" altLang="ko-KR" dirty="0"/>
              <a:t>phase </a:t>
            </a:r>
            <a:r>
              <a:rPr lang="ko-KR" altLang="en-US" dirty="0"/>
              <a:t>미리 진행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이전 </a:t>
            </a:r>
            <a:r>
              <a:rPr lang="en-US" altLang="ko-KR" dirty="0"/>
              <a:t>frame </a:t>
            </a:r>
            <a:r>
              <a:rPr lang="ko-KR" altLang="en-US" dirty="0"/>
              <a:t>의 </a:t>
            </a:r>
            <a:r>
              <a:rPr lang="en-US" altLang="ko-KR" dirty="0"/>
              <a:t>(k, ω, φ) </a:t>
            </a:r>
            <a:r>
              <a:rPr lang="ko-KR" altLang="en-US" dirty="0"/>
              <a:t>가 </a:t>
            </a:r>
            <a:r>
              <a:rPr lang="ko-KR" altLang="en-US" dirty="0" err="1"/>
              <a:t>맞다면</a:t>
            </a:r>
            <a:r>
              <a:rPr lang="ko-KR" altLang="en-US" dirty="0"/>
              <a:t> </a:t>
            </a:r>
            <a:r>
              <a:rPr lang="en-US" altLang="ko-KR" dirty="0" err="1"/>
              <a:t>Δt</a:t>
            </a:r>
            <a:r>
              <a:rPr lang="ko-KR" altLang="en-US" dirty="0"/>
              <a:t> 동안 </a:t>
            </a:r>
            <a:r>
              <a:rPr lang="en-US" altLang="ko-KR" dirty="0"/>
              <a:t>phase </a:t>
            </a:r>
            <a:r>
              <a:rPr lang="ko-KR" altLang="en-US" dirty="0"/>
              <a:t>가 </a:t>
            </a:r>
            <a:r>
              <a:rPr lang="en-US" altLang="ko-KR" dirty="0" err="1"/>
              <a:t>ω·Δt</a:t>
            </a:r>
            <a:r>
              <a:rPr lang="ko-KR" altLang="en-US" dirty="0"/>
              <a:t> 진행했을 거란 </a:t>
            </a:r>
            <a:r>
              <a:rPr lang="en-US" altLang="ko-KR" dirty="0"/>
              <a:t>prior </a:t>
            </a:r>
            <a:r>
              <a:rPr lang="ko-KR" altLang="en-US" dirty="0"/>
              <a:t>활용 → </a:t>
            </a:r>
            <a:r>
              <a:rPr lang="en-US" altLang="ko-KR" dirty="0"/>
              <a:t>Adam *</a:t>
            </a:r>
            <a:r>
              <a:rPr lang="ko-KR" altLang="en-US" dirty="0"/>
              <a:t>시작점을 정답에 가깝게*</a:t>
            </a:r>
            <a:r>
              <a:rPr lang="en-US" altLang="ko-KR" dirty="0"/>
              <a:t>. *10 step </a:t>
            </a:r>
            <a:r>
              <a:rPr lang="ko-KR" altLang="en-US" dirty="0"/>
              <a:t>안에 수렴 가능*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Adam </a:t>
            </a:r>
            <a:r>
              <a:rPr lang="ko-KR" altLang="en-US" dirty="0"/>
              <a:t>설정* </a:t>
            </a:r>
            <a:r>
              <a:rPr lang="en-US" altLang="ko-KR" dirty="0"/>
              <a:t>— </a:t>
            </a:r>
            <a:r>
              <a:rPr lang="en-US" altLang="ko-KR" dirty="0" err="1"/>
              <a:t>lr</a:t>
            </a:r>
            <a:r>
              <a:rPr lang="ko-KR" altLang="en-US" dirty="0"/>
              <a:t> </a:t>
            </a:r>
            <a:r>
              <a:rPr lang="en-US" altLang="ko-KR" dirty="0"/>
              <a:t>0.005, *10 step/frame* → 13 </a:t>
            </a:r>
            <a:r>
              <a:rPr lang="en-US" altLang="ko-KR" dirty="0" err="1"/>
              <a:t>ms.</a:t>
            </a:r>
            <a:r>
              <a:rPr lang="ko-KR" altLang="en-US" dirty="0"/>
              <a:t> *</a:t>
            </a:r>
            <a:r>
              <a:rPr lang="en-US" altLang="ko-KR" dirty="0"/>
              <a:t>Tracking window 3 frames (FIFO buffer)* </a:t>
            </a:r>
            <a:r>
              <a:rPr lang="ko-KR" altLang="en-US" dirty="0"/>
              <a:t>로 안정적 </a:t>
            </a:r>
            <a:r>
              <a:rPr lang="en-US" altLang="ko-KR" dirty="0"/>
              <a:t>gradient.</a:t>
            </a:r>
          </a:p>
          <a:p>
            <a:endParaRPr lang="en-US" altLang="ko-KR" dirty="0"/>
          </a:p>
          <a:p>
            <a:r>
              <a:rPr lang="en-US" altLang="ko-KR" dirty="0"/>
              <a:t>*Adaptive N — </a:t>
            </a:r>
            <a:r>
              <a:rPr lang="ko-KR" altLang="en-US" dirty="0"/>
              <a:t>성분 수 동적 조정 </a:t>
            </a:r>
            <a:r>
              <a:rPr lang="en-US" altLang="ko-KR" dirty="0"/>
              <a:t>(</a:t>
            </a:r>
            <a:r>
              <a:rPr lang="ko-KR" altLang="en-US" dirty="0"/>
              <a:t>세 메커니즘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*Pruning*: *cumulative energy 90% </a:t>
            </a:r>
            <a:r>
              <a:rPr lang="ko-KR" altLang="en-US" dirty="0"/>
              <a:t>이내만 유지* </a:t>
            </a:r>
            <a:r>
              <a:rPr lang="en-US" altLang="ko-KR" dirty="0"/>
              <a:t>(energy = A_n², </a:t>
            </a:r>
            <a:r>
              <a:rPr lang="ko-KR" altLang="en-US" dirty="0"/>
              <a:t>큰 순서로 누적 </a:t>
            </a:r>
            <a:r>
              <a:rPr lang="en-US" altLang="ko-KR" dirty="0"/>
              <a:t>90%). </a:t>
            </a:r>
            <a:r>
              <a:rPr lang="ko-KR" altLang="en-US" dirty="0"/>
              <a:t>작은 성분 </a:t>
            </a:r>
            <a:r>
              <a:rPr lang="en-US" altLang="ko-KR" dirty="0"/>
              <a:t>= </a:t>
            </a:r>
            <a:r>
              <a:rPr lang="ko-KR" altLang="en-US" dirty="0"/>
              <a:t>노이즈 가능성 → 제거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*Growth*: *residual RMS &gt; 0.05 m </a:t>
            </a:r>
            <a:r>
              <a:rPr lang="ko-KR" altLang="en-US" dirty="0"/>
              <a:t>시* 발동</a:t>
            </a:r>
            <a:r>
              <a:rPr lang="en-US" altLang="ko-KR" dirty="0"/>
              <a:t>. *</a:t>
            </a:r>
            <a:r>
              <a:rPr lang="ko-KR" altLang="en-US" dirty="0" err="1"/>
              <a:t>잔차에</a:t>
            </a:r>
            <a:r>
              <a:rPr lang="ko-KR" altLang="en-US" dirty="0"/>
              <a:t> </a:t>
            </a:r>
            <a:r>
              <a:rPr lang="en-US" altLang="ko-KR" dirty="0"/>
              <a:t>beamforming </a:t>
            </a:r>
            <a:r>
              <a:rPr lang="ko-KR" altLang="en-US" dirty="0"/>
              <a:t>재적용* → 새 </a:t>
            </a:r>
            <a:r>
              <a:rPr lang="en-US" altLang="ko-KR" dirty="0"/>
              <a:t>(</a:t>
            </a:r>
            <a:r>
              <a:rPr lang="en-US" altLang="ko-KR" dirty="0" err="1"/>
              <a:t>k_x</a:t>
            </a:r>
            <a:r>
              <a:rPr lang="en-US" altLang="ko-KR" dirty="0"/>
              <a:t>, </a:t>
            </a:r>
            <a:r>
              <a:rPr lang="en-US" altLang="ko-KR" dirty="0" err="1"/>
              <a:t>k_y</a:t>
            </a:r>
            <a:r>
              <a:rPr lang="en-US" altLang="ko-KR" dirty="0"/>
              <a:t>) </a:t>
            </a:r>
            <a:r>
              <a:rPr lang="ko-KR" altLang="en-US" dirty="0"/>
              <a:t>추출</a:t>
            </a:r>
            <a:r>
              <a:rPr lang="en-US" altLang="ko-KR" dirty="0"/>
              <a:t>. </a:t>
            </a:r>
            <a:r>
              <a:rPr lang="ko-KR" altLang="en-US" dirty="0"/>
              <a:t>최대 </a:t>
            </a:r>
            <a:r>
              <a:rPr lang="en-US" altLang="ko-KR" dirty="0"/>
              <a:t>30 </a:t>
            </a:r>
            <a:r>
              <a:rPr lang="ko-KR" altLang="en-US" dirty="0"/>
              <a:t>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*Safety rollback*: </a:t>
            </a:r>
            <a:r>
              <a:rPr lang="ko-KR" altLang="en-US" dirty="0"/>
              <a:t>변경 전후 *</a:t>
            </a:r>
            <a:r>
              <a:rPr lang="en-US" altLang="ko-KR" dirty="0" err="1"/>
              <a:t>RMS_after</a:t>
            </a:r>
            <a:r>
              <a:rPr lang="ko-KR" altLang="en-US" dirty="0"/>
              <a:t> </a:t>
            </a:r>
            <a:r>
              <a:rPr lang="en-US" altLang="ko-KR" dirty="0"/>
              <a:t>&gt; 1.3 × </a:t>
            </a:r>
            <a:r>
              <a:rPr lang="en-US" altLang="ko-KR" dirty="0" err="1"/>
              <a:t>RMS_before</a:t>
            </a:r>
            <a:r>
              <a:rPr lang="ko-KR" altLang="en-US" dirty="0"/>
              <a:t>* 시 *즉시 이전 상태 복구* </a:t>
            </a:r>
            <a:r>
              <a:rPr lang="en-US" altLang="ko-KR" dirty="0"/>
              <a:t>— *cascade failure* </a:t>
            </a:r>
            <a:r>
              <a:rPr lang="ko-KR" altLang="en-US" dirty="0"/>
              <a:t>방지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RMS </a:t>
            </a:r>
            <a:r>
              <a:rPr lang="ko-KR" altLang="en-US" dirty="0"/>
              <a:t>정의* </a:t>
            </a:r>
            <a:r>
              <a:rPr lang="en-US" altLang="ko-KR" dirty="0"/>
              <a:t>— *</a:t>
            </a:r>
            <a:r>
              <a:rPr lang="ko-KR" altLang="en-US" dirty="0" err="1"/>
              <a:t>잔차</a:t>
            </a:r>
            <a:r>
              <a:rPr lang="ko-KR" altLang="en-US" dirty="0"/>
              <a:t> </a:t>
            </a:r>
            <a:r>
              <a:rPr lang="en-US" altLang="ko-KR" dirty="0"/>
              <a:t>(residual) RMS*: √mean((</a:t>
            </a:r>
            <a:r>
              <a:rPr lang="en-US" altLang="ko-KR" dirty="0" err="1"/>
              <a:t>η_pred</a:t>
            </a:r>
            <a:r>
              <a:rPr lang="ko-KR" altLang="en-US" dirty="0"/>
              <a:t> − </a:t>
            </a:r>
            <a:r>
              <a:rPr lang="en-US" altLang="ko-KR" dirty="0" err="1"/>
              <a:t>η_obs</a:t>
            </a:r>
            <a:r>
              <a:rPr lang="en-US" altLang="ko-KR" dirty="0"/>
              <a:t>)²). *Adam Loss </a:t>
            </a:r>
            <a:r>
              <a:rPr lang="ko-KR" altLang="en-US" dirty="0"/>
              <a:t>와 다른 지표* </a:t>
            </a:r>
            <a:r>
              <a:rPr lang="en-US" altLang="ko-KR" dirty="0"/>
              <a:t>— Loss </a:t>
            </a:r>
            <a:r>
              <a:rPr lang="ko-KR" altLang="en-US" dirty="0"/>
              <a:t>는 정규화 항 포함</a:t>
            </a:r>
            <a:r>
              <a:rPr lang="en-US" altLang="ko-KR" dirty="0"/>
              <a:t>, RMS </a:t>
            </a:r>
            <a:r>
              <a:rPr lang="ko-KR" altLang="en-US" dirty="0"/>
              <a:t>는 순수 </a:t>
            </a:r>
            <a:r>
              <a:rPr lang="en-US" altLang="ko-KR" dirty="0"/>
              <a:t>data fit.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K </a:t>
            </a:r>
            <a:r>
              <a:rPr lang="ko-KR" altLang="en-US" dirty="0"/>
              <a:t>를 고정하면 </a:t>
            </a:r>
            <a:r>
              <a:rPr lang="en-US" altLang="ko-KR" dirty="0"/>
              <a:t>wave </a:t>
            </a:r>
            <a:r>
              <a:rPr lang="ko-KR" altLang="en-US" dirty="0"/>
              <a:t>변할 때 못 따라가지 않나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*Wavenumber k </a:t>
            </a:r>
            <a:r>
              <a:rPr lang="ko-KR" altLang="en-US" dirty="0"/>
              <a:t>자체는 시간에 거의 안 변함*</a:t>
            </a:r>
            <a:r>
              <a:rPr lang="en-US" altLang="ko-KR" dirty="0"/>
              <a:t>. </a:t>
            </a:r>
            <a:r>
              <a:rPr lang="ko-KR" altLang="en-US" dirty="0"/>
              <a:t>변하는 건 *</a:t>
            </a:r>
            <a:r>
              <a:rPr lang="en-US" altLang="ko-KR" dirty="0"/>
              <a:t>amplitude A, phase φ* — </a:t>
            </a:r>
            <a:r>
              <a:rPr lang="ko-KR" altLang="en-US" dirty="0"/>
              <a:t>그래서 </a:t>
            </a:r>
            <a:r>
              <a:rPr lang="en-US" altLang="ko-KR" dirty="0"/>
              <a:t>(A, φ) </a:t>
            </a:r>
            <a:r>
              <a:rPr lang="ko-KR" altLang="en-US" dirty="0"/>
              <a:t>만 </a:t>
            </a:r>
            <a:r>
              <a:rPr lang="en-US" altLang="ko-KR" dirty="0"/>
              <a:t>update </a:t>
            </a:r>
            <a:r>
              <a:rPr lang="ko-KR" altLang="en-US" dirty="0"/>
              <a:t>해도 충분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Rollback </a:t>
            </a:r>
            <a:r>
              <a:rPr lang="ko-KR" altLang="en-US" dirty="0"/>
              <a:t>의 </a:t>
            </a:r>
            <a:r>
              <a:rPr lang="en-US" altLang="ko-KR" dirty="0"/>
              <a:t>1.3× threshold </a:t>
            </a:r>
            <a:r>
              <a:rPr lang="ko-KR" altLang="en-US" dirty="0"/>
              <a:t>근거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실험적</a:t>
            </a:r>
            <a:r>
              <a:rPr lang="en-US" altLang="ko-KR" dirty="0"/>
              <a:t>. 1.1× </a:t>
            </a:r>
            <a:r>
              <a:rPr lang="ko-KR" altLang="en-US" dirty="0"/>
              <a:t>너무 </a:t>
            </a:r>
            <a:r>
              <a:rPr lang="en-US" altLang="ko-KR" dirty="0"/>
              <a:t>sensitive, 1.5× </a:t>
            </a:r>
            <a:r>
              <a:rPr lang="ko-KR" altLang="en-US" dirty="0"/>
              <a:t>너무 관대</a:t>
            </a:r>
            <a:r>
              <a:rPr lang="en-US" altLang="ko-KR" dirty="0"/>
              <a:t>. 1.3× </a:t>
            </a:r>
            <a:r>
              <a:rPr lang="ko-KR" altLang="en-US" dirty="0"/>
              <a:t>가 </a:t>
            </a:r>
            <a:r>
              <a:rPr lang="en-US" altLang="ko-KR" dirty="0"/>
              <a:t>sweet spot.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8910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E48D6-296A-9612-F242-8764392F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48A922-A774-6D64-68B7-EE372B12F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4E5B1-D378-C674-BF6F-C1EF72B26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4ADA2-B389-5983-9321-22068D06A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163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*핵심 비교 결과*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*12 episode benchmark </a:t>
            </a:r>
            <a:r>
              <a:rPr lang="ko-KR" altLang="en-US" dirty="0"/>
              <a:t>평균 </a:t>
            </a:r>
            <a:r>
              <a:rPr lang="en-US" altLang="ko-KR" dirty="0"/>
              <a:t>(BF2~BF5 sweep)*</a:t>
            </a:r>
          </a:p>
          <a:p>
            <a:r>
              <a:rPr lang="en-US" altLang="ko-KR" dirty="0"/>
              <a:t>  - *</a:t>
            </a:r>
            <a:r>
              <a:rPr lang="en-US" altLang="ko-KR" dirty="0" err="1"/>
              <a:t>WaveSplat</a:t>
            </a:r>
            <a:r>
              <a:rPr lang="ko-KR" altLang="en-US" dirty="0"/>
              <a:t>*</a:t>
            </a:r>
            <a:r>
              <a:rPr lang="en-US" altLang="ko-KR" dirty="0"/>
              <a:t>: </a:t>
            </a:r>
            <a:r>
              <a:rPr lang="en-US" altLang="ko-KR" dirty="0" err="1"/>
              <a:t>nRMSE</a:t>
            </a:r>
            <a:r>
              <a:rPr lang="ko-KR" altLang="en-US" dirty="0"/>
              <a:t> *</a:t>
            </a:r>
            <a:r>
              <a:rPr lang="en-US" altLang="ko-KR" dirty="0"/>
              <a:t>0.211*, *13.4 </a:t>
            </a:r>
            <a:r>
              <a:rPr lang="en-US" altLang="ko-KR" dirty="0" err="1"/>
              <a:t>ms</a:t>
            </a:r>
            <a:r>
              <a:rPr lang="en-US" altLang="ko-KR" dirty="0"/>
              <a:t>/frame*</a:t>
            </a:r>
          </a:p>
          <a:p>
            <a:r>
              <a:rPr lang="en-US" altLang="ko-KR" dirty="0"/>
              <a:t>  - *Wang2025 baseline (ETKF, Ne=300)*: </a:t>
            </a:r>
            <a:r>
              <a:rPr lang="en-US" altLang="ko-KR" dirty="0" err="1"/>
              <a:t>nRMSE</a:t>
            </a:r>
            <a:r>
              <a:rPr lang="ko-KR" altLang="en-US" dirty="0"/>
              <a:t> *</a:t>
            </a:r>
            <a:r>
              <a:rPr lang="en-US" altLang="ko-KR" dirty="0"/>
              <a:t>0.253*, *632 </a:t>
            </a:r>
            <a:r>
              <a:rPr lang="en-US" altLang="ko-KR" dirty="0" err="1"/>
              <a:t>ms</a:t>
            </a:r>
            <a:r>
              <a:rPr lang="en-US" altLang="ko-KR" dirty="0"/>
              <a:t>/frame*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정확도 </a:t>
            </a:r>
            <a:r>
              <a:rPr lang="en-US" altLang="ko-KR" dirty="0"/>
              <a:t>16% </a:t>
            </a:r>
            <a:r>
              <a:rPr lang="ko-KR" altLang="en-US" dirty="0"/>
              <a:t>우위 </a:t>
            </a:r>
            <a:r>
              <a:rPr lang="en-US" altLang="ko-KR" dirty="0"/>
              <a:t>+ </a:t>
            </a:r>
            <a:r>
              <a:rPr lang="ko-KR" altLang="en-US" dirty="0"/>
              <a:t>속도 </a:t>
            </a:r>
            <a:r>
              <a:rPr lang="en-US" altLang="ko-KR" dirty="0"/>
              <a:t>47</a:t>
            </a:r>
            <a:r>
              <a:rPr lang="ko-KR" altLang="en-US" dirty="0"/>
              <a:t>배 빠름* </a:t>
            </a:r>
            <a:r>
              <a:rPr lang="en-US" altLang="ko-KR" dirty="0"/>
              <a:t>(CPU only)</a:t>
            </a:r>
          </a:p>
          <a:p>
            <a:r>
              <a:rPr lang="en-US" altLang="ko-KR" dirty="0"/>
              <a:t>  - 13.4 </a:t>
            </a:r>
            <a:r>
              <a:rPr lang="en-US" altLang="ko-KR" dirty="0" err="1"/>
              <a:t>ms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초당 </a:t>
            </a:r>
            <a:r>
              <a:rPr lang="en-US" altLang="ko-KR" dirty="0"/>
              <a:t>75 frame → 10 Hz </a:t>
            </a:r>
            <a:r>
              <a:rPr lang="ko-KR" altLang="en-US" dirty="0"/>
              <a:t>제어 여유 </a:t>
            </a:r>
            <a:r>
              <a:rPr lang="en-US" altLang="ko-KR" dirty="0"/>
              <a:t>7</a:t>
            </a:r>
            <a:r>
              <a:rPr lang="ko-KR" altLang="en-US" dirty="0"/>
              <a:t>배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Scatter plot — complexity vs accuracy*</a:t>
            </a:r>
          </a:p>
          <a:p>
            <a:r>
              <a:rPr lang="en-US" altLang="ko-KR" dirty="0"/>
              <a:t>  - X = N (1~30), Y = </a:t>
            </a:r>
            <a:r>
              <a:rPr lang="en-US" altLang="ko-KR" dirty="0" err="1"/>
              <a:t>nRMSE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파란 영역 </a:t>
            </a:r>
            <a:r>
              <a:rPr lang="en-US" altLang="ko-KR" dirty="0"/>
              <a:t>(N 1–5, </a:t>
            </a:r>
            <a:r>
              <a:rPr lang="ko-KR" altLang="en-US" dirty="0"/>
              <a:t>단순 </a:t>
            </a:r>
            <a:r>
              <a:rPr lang="en-US" altLang="ko-KR" dirty="0"/>
              <a:t>wave)*: </a:t>
            </a:r>
            <a:r>
              <a:rPr lang="en-US" altLang="ko-KR" dirty="0" err="1"/>
              <a:t>WaveSplat</a:t>
            </a:r>
            <a:r>
              <a:rPr lang="ko-KR" altLang="en-US" dirty="0"/>
              <a:t> *압도적 우위* </a:t>
            </a:r>
            <a:r>
              <a:rPr lang="en-US" altLang="ko-KR" dirty="0"/>
              <a:t>— BF3 N=2 </a:t>
            </a:r>
            <a:r>
              <a:rPr lang="ko-KR" altLang="en-US" dirty="0"/>
              <a:t>에서 </a:t>
            </a:r>
            <a:r>
              <a:rPr lang="en-US" altLang="ko-KR" dirty="0"/>
              <a:t>0.052 vs 0.250 </a:t>
            </a:r>
            <a:r>
              <a:rPr lang="ko-KR" altLang="en-US" dirty="0"/>
              <a:t>극단 차이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빨간 영역 </a:t>
            </a:r>
            <a:r>
              <a:rPr lang="en-US" altLang="ko-KR" dirty="0"/>
              <a:t>(N ≥ 15, </a:t>
            </a:r>
            <a:r>
              <a:rPr lang="ko-KR" altLang="en-US" dirty="0"/>
              <a:t>복잡 </a:t>
            </a:r>
            <a:r>
              <a:rPr lang="en-US" altLang="ko-KR" dirty="0"/>
              <a:t>wave)*: </a:t>
            </a:r>
            <a:r>
              <a:rPr lang="ko-KR" altLang="en-US" dirty="0"/>
              <a:t>일부 *역전* </a:t>
            </a:r>
            <a:r>
              <a:rPr lang="en-US" altLang="ko-KR" dirty="0"/>
              <a:t>— Wang2025 </a:t>
            </a:r>
            <a:r>
              <a:rPr lang="ko-KR" altLang="en-US" dirty="0"/>
              <a:t>가 격자에 모든 성분 담기 유리</a:t>
            </a:r>
            <a:r>
              <a:rPr lang="en-US" altLang="ko-KR" dirty="0"/>
              <a:t>. BF4 N=15 </a:t>
            </a:r>
            <a:r>
              <a:rPr lang="ko-KR" altLang="en-US" dirty="0"/>
              <a:t>에서 </a:t>
            </a:r>
            <a:r>
              <a:rPr lang="en-US" altLang="ko-KR" dirty="0"/>
              <a:t>0.302 vs 0.249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하단 </a:t>
            </a:r>
            <a:r>
              <a:rPr lang="en-US" altLang="ko-KR" dirty="0"/>
              <a:t>detail — BF3 N=2 </a:t>
            </a:r>
            <a:r>
              <a:rPr lang="ko-KR" altLang="en-US" dirty="0"/>
              <a:t>의 </a:t>
            </a:r>
            <a:r>
              <a:rPr lang="en-US" altLang="ko-KR" dirty="0"/>
              <a:t>3-way </a:t>
            </a:r>
            <a:r>
              <a:rPr lang="ko-KR" altLang="en-US" dirty="0"/>
              <a:t>비교*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altLang="ko-KR" dirty="0" err="1"/>
              <a:t>WaveSplat</a:t>
            </a:r>
            <a:r>
              <a:rPr lang="ko-KR" altLang="en-US" dirty="0"/>
              <a:t> </a:t>
            </a:r>
            <a:r>
              <a:rPr lang="en-US" altLang="ko-KR" dirty="0"/>
              <a:t>0.217: *</a:t>
            </a:r>
            <a:r>
              <a:rPr lang="ko-KR" altLang="en-US" dirty="0"/>
              <a:t>깔끔한 </a:t>
            </a:r>
            <a:r>
              <a:rPr lang="en-US" altLang="ko-KR" dirty="0"/>
              <a:t>wave pattern*</a:t>
            </a:r>
          </a:p>
          <a:p>
            <a:r>
              <a:rPr lang="en-US" altLang="ko-KR" dirty="0"/>
              <a:t>  - Wang2025 1.011: *noisy grid texture* — </a:t>
            </a:r>
            <a:r>
              <a:rPr lang="ko-KR" altLang="en-US" dirty="0"/>
              <a:t>격자 기반의 </a:t>
            </a:r>
            <a:r>
              <a:rPr lang="en-US" altLang="ko-KR" dirty="0"/>
              <a:t>texture artifact </a:t>
            </a:r>
            <a:r>
              <a:rPr lang="ko-KR" altLang="en-US" dirty="0"/>
              <a:t>명확</a:t>
            </a:r>
          </a:p>
          <a:p>
            <a:endParaRPr lang="ko-KR" altLang="en-US" dirty="0"/>
          </a:p>
          <a:p>
            <a:r>
              <a:rPr lang="ko-KR" altLang="en-US" dirty="0"/>
              <a:t>*핵심 메시지* </a:t>
            </a:r>
            <a:r>
              <a:rPr lang="en-US" altLang="ko-KR" dirty="0"/>
              <a:t>— *Real-time control </a:t>
            </a:r>
            <a:r>
              <a:rPr lang="ko-KR" altLang="en-US" dirty="0"/>
              <a:t>영역 </a:t>
            </a:r>
            <a:r>
              <a:rPr lang="en-US" altLang="ko-KR" dirty="0"/>
              <a:t>(</a:t>
            </a:r>
            <a:r>
              <a:rPr lang="ko-KR" altLang="en-US" dirty="0"/>
              <a:t>단순 </a:t>
            </a:r>
            <a:r>
              <a:rPr lang="en-US" altLang="ko-KR" dirty="0"/>
              <a:t>wave)* </a:t>
            </a:r>
            <a:r>
              <a:rPr lang="ko-KR" altLang="en-US" dirty="0"/>
              <a:t>에서 </a:t>
            </a:r>
            <a:r>
              <a:rPr lang="en-US" altLang="ko-KR" dirty="0" err="1"/>
              <a:t>WaveSplat</a:t>
            </a:r>
            <a:r>
              <a:rPr lang="ko-KR" altLang="en-US" dirty="0"/>
              <a:t> 압도적</a:t>
            </a:r>
            <a:r>
              <a:rPr lang="en-US" altLang="ko-KR" dirty="0"/>
              <a:t>, *Design-time analysis </a:t>
            </a:r>
            <a:r>
              <a:rPr lang="ko-KR" altLang="en-US" dirty="0"/>
              <a:t>영역 </a:t>
            </a:r>
            <a:r>
              <a:rPr lang="en-US" altLang="ko-KR" dirty="0"/>
              <a:t>(</a:t>
            </a:r>
            <a:r>
              <a:rPr lang="ko-KR" altLang="en-US" dirty="0"/>
              <a:t>복잡 </a:t>
            </a:r>
            <a:r>
              <a:rPr lang="en-US" altLang="ko-KR" dirty="0"/>
              <a:t>wave)* </a:t>
            </a:r>
            <a:r>
              <a:rPr lang="ko-KR" altLang="en-US" dirty="0"/>
              <a:t>에서 </a:t>
            </a:r>
            <a:r>
              <a:rPr lang="en-US" altLang="ko-KR" dirty="0"/>
              <a:t>Wang2025 </a:t>
            </a:r>
            <a:r>
              <a:rPr lang="ko-KR" altLang="en-US" dirty="0"/>
              <a:t>우위</a:t>
            </a:r>
            <a:r>
              <a:rPr lang="en-US" altLang="ko-KR" dirty="0"/>
              <a:t>. *</a:t>
            </a:r>
            <a:r>
              <a:rPr lang="ko-KR" altLang="en-US" dirty="0"/>
              <a:t>경쟁 아닌 보완 관계*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Statistical significance test?</a:t>
            </a:r>
          </a:p>
          <a:p>
            <a:r>
              <a:rPr lang="en-US" altLang="ko-KR" dirty="0"/>
              <a:t>A. *Paired t-test p &lt; 0.05* — </a:t>
            </a:r>
            <a:r>
              <a:rPr lang="ko-KR" altLang="en-US" dirty="0"/>
              <a:t>평균 차이 통계적 유의</a:t>
            </a:r>
            <a:r>
              <a:rPr lang="en-US" altLang="ko-KR" dirty="0"/>
              <a:t>. </a:t>
            </a:r>
            <a:r>
              <a:rPr lang="ko-KR" altLang="en-US" dirty="0"/>
              <a:t>다음 슬라이드 </a:t>
            </a:r>
            <a:r>
              <a:rPr lang="en-US" altLang="ko-KR" dirty="0"/>
              <a:t>(Ablation) </a:t>
            </a:r>
            <a:r>
              <a:rPr lang="ko-KR" altLang="en-US" dirty="0"/>
              <a:t>에서 자세히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</a:t>
            </a:r>
            <a:r>
              <a:rPr lang="ko-KR" altLang="en-US" dirty="0"/>
              <a:t>복잡 </a:t>
            </a:r>
            <a:r>
              <a:rPr lang="en-US" altLang="ko-KR" dirty="0"/>
              <a:t>case </a:t>
            </a:r>
            <a:r>
              <a:rPr lang="ko-KR" altLang="en-US" dirty="0"/>
              <a:t>역전이 </a:t>
            </a:r>
            <a:r>
              <a:rPr lang="en-US" altLang="ko-KR" dirty="0"/>
              <a:t>critical </a:t>
            </a:r>
            <a:r>
              <a:rPr lang="ko-KR" altLang="en-US" dirty="0"/>
              <a:t>한 문제 아닌가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*Hydrofoil </a:t>
            </a:r>
            <a:r>
              <a:rPr lang="ko-KR" altLang="en-US" dirty="0"/>
              <a:t>운용은 </a:t>
            </a:r>
            <a:r>
              <a:rPr lang="en-US" altLang="ko-KR" dirty="0"/>
              <a:t>BF4-BF5 + N ≤ 15* </a:t>
            </a:r>
            <a:r>
              <a:rPr lang="ko-KR" altLang="en-US" dirty="0"/>
              <a:t>가 일반적 </a:t>
            </a:r>
            <a:r>
              <a:rPr lang="en-US" altLang="ko-KR" dirty="0"/>
              <a:t>— </a:t>
            </a:r>
            <a:r>
              <a:rPr lang="ko-KR" altLang="en-US" dirty="0"/>
              <a:t>우리 응용 영역과 매칭 잘 맞음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GPU </a:t>
            </a:r>
            <a:r>
              <a:rPr lang="ko-KR" altLang="en-US" dirty="0"/>
              <a:t>쓰면 </a:t>
            </a:r>
            <a:r>
              <a:rPr lang="en-US" altLang="ko-KR" dirty="0"/>
              <a:t>Wang2025 </a:t>
            </a:r>
            <a:r>
              <a:rPr lang="ko-KR" altLang="en-US" dirty="0"/>
              <a:t>도 빨라지지 않나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*CPU only </a:t>
            </a:r>
            <a:r>
              <a:rPr lang="ko-KR" altLang="en-US" dirty="0"/>
              <a:t>비교*</a:t>
            </a:r>
            <a:r>
              <a:rPr lang="en-US" altLang="ko-KR" dirty="0"/>
              <a:t>. GPU </a:t>
            </a:r>
            <a:r>
              <a:rPr lang="ko-KR" altLang="en-US" dirty="0"/>
              <a:t>사용 시 둘 다 빨라지지만 *상대 차이 유사*</a:t>
            </a:r>
            <a:r>
              <a:rPr lang="en-US" altLang="ko-KR" dirty="0"/>
              <a:t>. *Hydrofoil </a:t>
            </a:r>
            <a:r>
              <a:rPr lang="ko-KR" altLang="en-US" dirty="0"/>
              <a:t>선박은 </a:t>
            </a:r>
            <a:r>
              <a:rPr lang="en-US" altLang="ko-KR" dirty="0"/>
              <a:t>embedded CPU* </a:t>
            </a:r>
            <a:r>
              <a:rPr lang="ko-KR" altLang="en-US" dirty="0"/>
              <a:t>라 </a:t>
            </a:r>
            <a:r>
              <a:rPr lang="en-US" altLang="ko-KR" dirty="0"/>
              <a:t>CPU </a:t>
            </a:r>
            <a:r>
              <a:rPr lang="ko-KR" altLang="en-US" dirty="0"/>
              <a:t>비교가 현실적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3172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</a:t>
            </a:r>
            <a:r>
              <a:rPr lang="en-US" altLang="ko-KR" dirty="0"/>
              <a:t>Ablation study* — </a:t>
            </a:r>
            <a:r>
              <a:rPr lang="ko-KR" altLang="en-US" dirty="0"/>
              <a:t>각 기술 기여도 분리 검증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*4</a:t>
            </a:r>
            <a:r>
              <a:rPr lang="ko-KR" altLang="en-US" dirty="0"/>
              <a:t>가지 변형 </a:t>
            </a:r>
            <a:r>
              <a:rPr lang="en-US" altLang="ko-KR" dirty="0"/>
              <a:t>(12 episodes </a:t>
            </a:r>
            <a:r>
              <a:rPr lang="ko-KR" altLang="en-US" dirty="0"/>
              <a:t>평균</a:t>
            </a:r>
            <a:r>
              <a:rPr lang="en-US" altLang="ko-KR" dirty="0"/>
              <a:t>)*</a:t>
            </a:r>
          </a:p>
          <a:p>
            <a:r>
              <a:rPr lang="en-US" altLang="ko-KR" dirty="0"/>
              <a:t>  - *A* (FFT </a:t>
            </a:r>
            <a:r>
              <a:rPr lang="en-US" altLang="ko-KR" dirty="0" err="1"/>
              <a:t>init</a:t>
            </a:r>
            <a:r>
              <a:rPr lang="en-US" altLang="ko-KR" dirty="0"/>
              <a:t>, free omega, 1-frame): 0.213</a:t>
            </a:r>
          </a:p>
          <a:p>
            <a:r>
              <a:rPr lang="en-US" altLang="ko-KR" dirty="0"/>
              <a:t>  - *B* (Beamform </a:t>
            </a:r>
            <a:r>
              <a:rPr lang="en-US" altLang="ko-KR" dirty="0" err="1"/>
              <a:t>init</a:t>
            </a:r>
            <a:r>
              <a:rPr lang="en-US" altLang="ko-KR" dirty="0"/>
              <a:t>, free omega, 3-frame): 0.208</a:t>
            </a:r>
          </a:p>
          <a:p>
            <a:r>
              <a:rPr lang="en-US" altLang="ko-KR" dirty="0"/>
              <a:t>  - *C* (Beamform </a:t>
            </a:r>
            <a:r>
              <a:rPr lang="en-US" altLang="ko-KR" dirty="0" err="1"/>
              <a:t>init</a:t>
            </a:r>
            <a:r>
              <a:rPr lang="en-US" altLang="ko-KR" dirty="0"/>
              <a:t>, hard dispersion, *1-frame*): *0.226 — </a:t>
            </a:r>
            <a:r>
              <a:rPr lang="ko-KR" altLang="en-US" dirty="0"/>
              <a:t>오히려 악화</a:t>
            </a:r>
            <a:r>
              <a:rPr lang="en-US" altLang="ko-KR" dirty="0"/>
              <a:t>!*</a:t>
            </a:r>
          </a:p>
          <a:p>
            <a:r>
              <a:rPr lang="en-US" altLang="ko-KR" dirty="0"/>
              <a:t>  - *D = </a:t>
            </a:r>
            <a:r>
              <a:rPr lang="en-US" altLang="ko-KR" dirty="0" err="1"/>
              <a:t>WaveSplat</a:t>
            </a:r>
            <a:r>
              <a:rPr lang="ko-KR" altLang="en-US" dirty="0"/>
              <a:t>* </a:t>
            </a:r>
            <a:r>
              <a:rPr lang="en-US" altLang="ko-KR" dirty="0"/>
              <a:t>(Beamform </a:t>
            </a:r>
            <a:r>
              <a:rPr lang="en-US" altLang="ko-KR" dirty="0" err="1"/>
              <a:t>init</a:t>
            </a:r>
            <a:r>
              <a:rPr lang="en-US" altLang="ko-KR" dirty="0"/>
              <a:t>, hard dispersion, 3-frame): 0.211</a:t>
            </a:r>
          </a:p>
          <a:p>
            <a:endParaRPr lang="en-US" altLang="ko-KR" dirty="0"/>
          </a:p>
          <a:p>
            <a:r>
              <a:rPr lang="en-US" altLang="ko-KR" dirty="0"/>
              <a:t>*[</a:t>
            </a:r>
            <a:r>
              <a:rPr lang="ko-KR" altLang="en-US" dirty="0"/>
              <a:t>발견 </a:t>
            </a:r>
            <a:r>
              <a:rPr lang="en-US" altLang="ko-KR" dirty="0"/>
              <a:t>1] C </a:t>
            </a:r>
            <a:r>
              <a:rPr lang="ko-KR" altLang="en-US" dirty="0"/>
              <a:t>가 왜 악화 </a:t>
            </a:r>
            <a:r>
              <a:rPr lang="en-US" altLang="ko-KR" dirty="0"/>
              <a:t>— Cascading failure*</a:t>
            </a:r>
          </a:p>
          <a:p>
            <a:r>
              <a:rPr lang="en-US" altLang="ko-KR" dirty="0"/>
              <a:t>Single frame </a:t>
            </a:r>
            <a:r>
              <a:rPr lang="ko-KR" altLang="en-US" dirty="0"/>
              <a:t>에서 *</a:t>
            </a:r>
            <a:r>
              <a:rPr lang="en-US" altLang="ko-KR" dirty="0"/>
              <a:t>k </a:t>
            </a:r>
            <a:r>
              <a:rPr lang="ko-KR" altLang="en-US" dirty="0"/>
              <a:t>부정확* → </a:t>
            </a:r>
            <a:r>
              <a:rPr lang="en-US" altLang="ko-KR" dirty="0"/>
              <a:t>dispersion </a:t>
            </a:r>
            <a:r>
              <a:rPr lang="ko-KR" altLang="en-US" dirty="0"/>
              <a:t>으로 *잘못된 </a:t>
            </a:r>
            <a:r>
              <a:rPr lang="en-US" altLang="ko-KR" dirty="0"/>
              <a:t>ω </a:t>
            </a:r>
            <a:r>
              <a:rPr lang="ko-KR" altLang="en-US" dirty="0"/>
              <a:t>결정* → 오류 </a:t>
            </a:r>
            <a:r>
              <a:rPr lang="en-US" altLang="ko-KR" dirty="0"/>
              <a:t>cascading amplify. </a:t>
            </a:r>
            <a:r>
              <a:rPr lang="ko-KR" altLang="en-US" dirty="0"/>
              <a:t>즉 *물리 법칙은 데이터로 </a:t>
            </a:r>
            <a:r>
              <a:rPr lang="en-US" altLang="ko-KR" dirty="0"/>
              <a:t>k </a:t>
            </a:r>
            <a:r>
              <a:rPr lang="ko-KR" altLang="en-US" dirty="0"/>
              <a:t>가 잘 잡혀야만 효과* </a:t>
            </a:r>
            <a:r>
              <a:rPr lang="en-US" altLang="ko-KR" dirty="0"/>
              <a:t>— *multi-frame </a:t>
            </a:r>
            <a:r>
              <a:rPr lang="ko-KR" altLang="en-US" dirty="0"/>
              <a:t>없이 </a:t>
            </a:r>
            <a:r>
              <a:rPr lang="en-US" altLang="ko-KR" dirty="0"/>
              <a:t>dispersion </a:t>
            </a:r>
            <a:r>
              <a:rPr lang="ko-KR" altLang="en-US" dirty="0"/>
              <a:t>만 강제하면 독약*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*[</a:t>
            </a:r>
            <a:r>
              <a:rPr lang="ko-KR" altLang="en-US" dirty="0"/>
              <a:t>발견 </a:t>
            </a:r>
            <a:r>
              <a:rPr lang="en-US" altLang="ko-KR" dirty="0"/>
              <a:t>2] D </a:t>
            </a:r>
            <a:r>
              <a:rPr lang="ko-KR" altLang="en-US" dirty="0"/>
              <a:t>의 안정성 </a:t>
            </a:r>
            <a:r>
              <a:rPr lang="en-US" altLang="ko-KR" dirty="0"/>
              <a:t>— </a:t>
            </a:r>
            <a:r>
              <a:rPr lang="ko-KR" altLang="en-US" dirty="0"/>
              <a:t>시너지*</a:t>
            </a:r>
          </a:p>
          <a:p>
            <a:r>
              <a:rPr lang="en-US" altLang="ko-KR" dirty="0"/>
              <a:t>Multi-frame </a:t>
            </a:r>
            <a:r>
              <a:rPr lang="ko-KR" altLang="en-US" dirty="0"/>
              <a:t>으로 *</a:t>
            </a:r>
            <a:r>
              <a:rPr lang="en-US" altLang="ko-KR" dirty="0"/>
              <a:t>k </a:t>
            </a:r>
            <a:r>
              <a:rPr lang="ko-KR" altLang="en-US" dirty="0"/>
              <a:t>정확*</a:t>
            </a:r>
            <a:r>
              <a:rPr lang="en-US" altLang="ko-KR" dirty="0"/>
              <a:t>, dispersion </a:t>
            </a:r>
            <a:r>
              <a:rPr lang="ko-KR" altLang="en-US" dirty="0"/>
              <a:t>으로 *</a:t>
            </a:r>
            <a:r>
              <a:rPr lang="en-US" altLang="ko-KR" dirty="0"/>
              <a:t>ω </a:t>
            </a:r>
            <a:r>
              <a:rPr lang="ko-KR" altLang="en-US" dirty="0"/>
              <a:t>자동*</a:t>
            </a:r>
            <a:r>
              <a:rPr lang="en-US" altLang="ko-KR" dirty="0"/>
              <a:t>. *</a:t>
            </a:r>
            <a:r>
              <a:rPr lang="ko-KR" altLang="en-US" dirty="0"/>
              <a:t>두 메커니즘 결합 시 시너지*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*[</a:t>
            </a:r>
            <a:r>
              <a:rPr lang="ko-KR" altLang="en-US" dirty="0"/>
              <a:t>발견 </a:t>
            </a:r>
            <a:r>
              <a:rPr lang="en-US" altLang="ko-KR" dirty="0"/>
              <a:t>3] B vs D — </a:t>
            </a:r>
            <a:r>
              <a:rPr lang="ko-KR" altLang="en-US" dirty="0"/>
              <a:t>정직한 분석*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평균 차이 </a:t>
            </a:r>
            <a:r>
              <a:rPr lang="en-US" altLang="ko-KR" dirty="0"/>
              <a:t>(0.003) </a:t>
            </a:r>
            <a:r>
              <a:rPr lang="ko-KR" altLang="en-US" dirty="0"/>
              <a:t>는 *통계적 무의미* </a:t>
            </a:r>
            <a:r>
              <a:rPr lang="en-US" altLang="ko-KR" dirty="0"/>
              <a:t>— *paired t-test p = 0.88* (≫ 0.05)</a:t>
            </a:r>
          </a:p>
          <a:p>
            <a:r>
              <a:rPr lang="en-US" altLang="ko-KR" dirty="0"/>
              <a:t>  - Episode </a:t>
            </a:r>
            <a:r>
              <a:rPr lang="ko-KR" altLang="en-US" dirty="0"/>
              <a:t>별 *</a:t>
            </a:r>
            <a:r>
              <a:rPr lang="en-US" altLang="ko-KR" dirty="0"/>
              <a:t>6:6 </a:t>
            </a:r>
            <a:r>
              <a:rPr lang="ko-KR" altLang="en-US" dirty="0"/>
              <a:t>무승부*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*B std 0.099 &gt; D std 0.090* — D </a:t>
            </a:r>
            <a:r>
              <a:rPr lang="ko-KR" altLang="en-US" dirty="0"/>
              <a:t>가 더 *</a:t>
            </a:r>
            <a:r>
              <a:rPr lang="en-US" altLang="ko-KR" dirty="0"/>
              <a:t>consistent*</a:t>
            </a:r>
          </a:p>
          <a:p>
            <a:r>
              <a:rPr lang="en-US" altLang="ko-KR" dirty="0"/>
              <a:t>  - Worst case: *B 0.325 vs D 0.315* — D </a:t>
            </a:r>
            <a:r>
              <a:rPr lang="ko-KR" altLang="en-US" dirty="0"/>
              <a:t>가 더 *</a:t>
            </a:r>
            <a:r>
              <a:rPr lang="en-US" altLang="ko-KR" dirty="0"/>
              <a:t>robust*</a:t>
            </a:r>
          </a:p>
          <a:p>
            <a:r>
              <a:rPr lang="en-US" altLang="ko-KR" dirty="0"/>
              <a:t>  - B </a:t>
            </a:r>
            <a:r>
              <a:rPr lang="ko-KR" altLang="en-US" dirty="0"/>
              <a:t>의 약간 우세는 *합성 </a:t>
            </a:r>
            <a:r>
              <a:rPr lang="en-US" altLang="ko-KR" dirty="0"/>
              <a:t>dataset </a:t>
            </a:r>
            <a:r>
              <a:rPr lang="ko-KR" altLang="en-US" dirty="0"/>
              <a:t>의 </a:t>
            </a:r>
            <a:r>
              <a:rPr lang="en-US" altLang="ko-KR" dirty="0"/>
              <a:t>idealized (linear, noiseless) </a:t>
            </a:r>
            <a:r>
              <a:rPr lang="ko-KR" altLang="en-US" dirty="0"/>
              <a:t>조건 </a:t>
            </a:r>
            <a:r>
              <a:rPr lang="en-US" altLang="ko-KR" dirty="0"/>
              <a:t>artifact*. *</a:t>
            </a:r>
            <a:r>
              <a:rPr lang="ko-KR" altLang="en-US" dirty="0"/>
              <a:t>실해에서는 </a:t>
            </a:r>
            <a:r>
              <a:rPr lang="en-US" altLang="ko-KR" dirty="0"/>
              <a:t>D </a:t>
            </a:r>
            <a:r>
              <a:rPr lang="ko-KR" altLang="en-US" dirty="0"/>
              <a:t>가 더 유리할 것으로 예상*</a:t>
            </a:r>
          </a:p>
          <a:p>
            <a:endParaRPr lang="ko-KR" altLang="en-US" dirty="0"/>
          </a:p>
          <a:p>
            <a:r>
              <a:rPr lang="ko-KR" altLang="en-US" dirty="0"/>
              <a:t>*핵심 메시지* </a:t>
            </a:r>
            <a:r>
              <a:rPr lang="en-US" altLang="ko-KR" dirty="0"/>
              <a:t>— </a:t>
            </a:r>
            <a:r>
              <a:rPr lang="ko-KR" altLang="en-US" dirty="0"/>
              <a:t>분산관계는 *마법이 아닌 정규화 역할*</a:t>
            </a:r>
            <a:r>
              <a:rPr lang="en-US" altLang="ko-KR" dirty="0"/>
              <a:t>. *Multi-frame </a:t>
            </a:r>
            <a:r>
              <a:rPr lang="ko-KR" altLang="en-US" dirty="0"/>
              <a:t>과 함께 써야 효과*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B </a:t>
            </a:r>
            <a:r>
              <a:rPr lang="ko-KR" altLang="en-US" dirty="0"/>
              <a:t>가 평균 낫다는 건 </a:t>
            </a:r>
            <a:r>
              <a:rPr lang="en-US" altLang="ko-KR" dirty="0"/>
              <a:t>dispersion </a:t>
            </a:r>
            <a:r>
              <a:rPr lang="ko-KR" altLang="en-US" dirty="0"/>
              <a:t>이 불필요하다는 뜻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평균 </a:t>
            </a:r>
            <a:r>
              <a:rPr lang="en-US" altLang="ko-KR" dirty="0"/>
              <a:t>0.003 </a:t>
            </a:r>
            <a:r>
              <a:rPr lang="ko-KR" altLang="en-US" dirty="0"/>
              <a:t>차이는 *통계적 무의미*</a:t>
            </a:r>
            <a:r>
              <a:rPr lang="en-US" altLang="ko-KR" dirty="0"/>
              <a:t>. (1) </a:t>
            </a:r>
            <a:r>
              <a:rPr lang="ko-KR" altLang="en-US" dirty="0"/>
              <a:t>분산 </a:t>
            </a:r>
            <a:r>
              <a:rPr lang="en-US" altLang="ko-KR" dirty="0"/>
              <a:t>D </a:t>
            </a:r>
            <a:r>
              <a:rPr lang="ko-KR" altLang="en-US" dirty="0"/>
              <a:t>가 더 </a:t>
            </a:r>
            <a:r>
              <a:rPr lang="en-US" altLang="ko-KR" dirty="0"/>
              <a:t>consistent, (2) worst-case D </a:t>
            </a:r>
            <a:r>
              <a:rPr lang="ko-KR" altLang="en-US" dirty="0"/>
              <a:t>가 더 </a:t>
            </a:r>
            <a:r>
              <a:rPr lang="en-US" altLang="ko-KR" dirty="0"/>
              <a:t>robust, (3) </a:t>
            </a:r>
            <a:r>
              <a:rPr lang="ko-KR" altLang="en-US" dirty="0"/>
              <a:t>물리 일관성 </a:t>
            </a:r>
            <a:r>
              <a:rPr lang="en-US" altLang="ko-KR" dirty="0"/>
              <a:t>D </a:t>
            </a:r>
            <a:r>
              <a:rPr lang="ko-KR" altLang="en-US" dirty="0"/>
              <a:t>가 </a:t>
            </a:r>
            <a:r>
              <a:rPr lang="en-US" altLang="ko-KR" dirty="0" err="1"/>
              <a:t>ω↔k</a:t>
            </a:r>
            <a:r>
              <a:rPr lang="ko-KR" altLang="en-US" dirty="0"/>
              <a:t> 보장 </a:t>
            </a:r>
            <a:r>
              <a:rPr lang="en-US" altLang="ko-KR" dirty="0"/>
              <a:t>— </a:t>
            </a:r>
            <a:r>
              <a:rPr lang="ko-KR" altLang="en-US" dirty="0"/>
              <a:t>종합적으로 </a:t>
            </a:r>
            <a:r>
              <a:rPr lang="en-US" altLang="ko-KR" dirty="0"/>
              <a:t>D </a:t>
            </a:r>
            <a:r>
              <a:rPr lang="ko-KR" altLang="en-US" dirty="0"/>
              <a:t>가 더 </a:t>
            </a:r>
            <a:r>
              <a:rPr lang="en-US" altLang="ko-KR" dirty="0"/>
              <a:t>robust.</a:t>
            </a:r>
          </a:p>
          <a:p>
            <a:endParaRPr lang="en-US" altLang="ko-KR" dirty="0"/>
          </a:p>
          <a:p>
            <a:r>
              <a:rPr lang="en-US" altLang="ko-KR" dirty="0"/>
              <a:t>Q. 12 episode </a:t>
            </a:r>
            <a:r>
              <a:rPr lang="ko-KR" altLang="en-US" dirty="0"/>
              <a:t>가 너무 적지 않나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. 110 episode </a:t>
            </a:r>
            <a:r>
              <a:rPr lang="ko-KR" altLang="en-US" dirty="0"/>
              <a:t>전체로 확장 분석 향후 예정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5668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284E-3089-DBC9-F756-59695D69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90E7B4-940C-F5DB-9AAC-BE1030DD0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F56A69-C576-7526-C12C-D38129E35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6D891-8450-1EFC-396A-6A5BC5A89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0826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한계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한계 </a:t>
            </a:r>
            <a:r>
              <a:rPr lang="en-US" altLang="ko-KR" dirty="0"/>
              <a:t>1 — </a:t>
            </a:r>
            <a:r>
              <a:rPr lang="ko-KR" altLang="en-US" dirty="0"/>
              <a:t>선형 근사 </a:t>
            </a:r>
            <a:r>
              <a:rPr lang="en-US" altLang="ko-KR" dirty="0"/>
              <a:t>(LWT)*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파도를 </a:t>
            </a:r>
            <a:r>
              <a:rPr lang="ko-KR" altLang="en-US" dirty="0" err="1"/>
              <a:t>사인파</a:t>
            </a:r>
            <a:r>
              <a:rPr lang="ko-KR" altLang="en-US" dirty="0"/>
              <a:t> 합으로 표현 → 실제 파도는 *</a:t>
            </a:r>
            <a:r>
              <a:rPr lang="en-US" altLang="ko-KR" dirty="0"/>
              <a:t>crest </a:t>
            </a:r>
            <a:r>
              <a:rPr lang="ko-KR" altLang="en-US" dirty="0" err="1"/>
              <a:t>뾰족</a:t>
            </a:r>
            <a:r>
              <a:rPr lang="en-US" altLang="ko-KR" dirty="0"/>
              <a:t>·trough</a:t>
            </a:r>
            <a:r>
              <a:rPr lang="ko-KR" altLang="en-US" dirty="0"/>
              <a:t> 넓음* </a:t>
            </a:r>
            <a:r>
              <a:rPr lang="en-US" altLang="ko-KR" dirty="0"/>
              <a:t>(Stokes </a:t>
            </a:r>
            <a:r>
              <a:rPr lang="ko-KR" altLang="en-US" dirty="0"/>
              <a:t>비선형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정확도 순 </a:t>
            </a:r>
            <a:r>
              <a:rPr lang="en-US" altLang="ko-KR" dirty="0"/>
              <a:t>(Klein 2020): *HOSM &gt; NLSE2 &gt; NLSE &gt; LWT*</a:t>
            </a:r>
          </a:p>
          <a:p>
            <a:r>
              <a:rPr lang="en-US" altLang="ko-KR" dirty="0"/>
              <a:t>  - *ε = H_s · </a:t>
            </a:r>
            <a:r>
              <a:rPr lang="en-US" altLang="ko-KR" dirty="0" err="1"/>
              <a:t>k_p</a:t>
            </a:r>
            <a:r>
              <a:rPr lang="ko-KR" altLang="en-US" dirty="0"/>
              <a:t> </a:t>
            </a:r>
            <a:r>
              <a:rPr lang="en-US" altLang="ko-KR" dirty="0"/>
              <a:t>/ (2π) = H_s / </a:t>
            </a:r>
            <a:r>
              <a:rPr lang="en-US" altLang="ko-KR" dirty="0" err="1"/>
              <a:t>λ_p</a:t>
            </a:r>
            <a:r>
              <a:rPr lang="ko-KR" altLang="en-US" dirty="0"/>
              <a:t>* </a:t>
            </a:r>
            <a:r>
              <a:rPr lang="en-US" altLang="ko-KR" dirty="0"/>
              <a:t>— </a:t>
            </a:r>
            <a:r>
              <a:rPr lang="ko-KR" altLang="en-US" dirty="0"/>
              <a:t>본 연구 신뢰 범위 *</a:t>
            </a:r>
            <a:r>
              <a:rPr lang="en-US" altLang="ko-KR" dirty="0"/>
              <a:t>ε &lt; 0.07* (BF5 </a:t>
            </a:r>
            <a:r>
              <a:rPr lang="ko-KR" altLang="en-US" dirty="0"/>
              <a:t>이하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예</a:t>
            </a:r>
            <a:r>
              <a:rPr lang="en-US" altLang="ko-KR" dirty="0"/>
              <a:t>: BF4 (H_s=1.5, </a:t>
            </a:r>
            <a:r>
              <a:rPr lang="en-US" altLang="ko-KR" dirty="0" err="1"/>
              <a:t>T_p</a:t>
            </a:r>
            <a:r>
              <a:rPr lang="en-US" altLang="ko-KR" dirty="0"/>
              <a:t>=6) → </a:t>
            </a:r>
            <a:r>
              <a:rPr lang="en-US" altLang="ko-KR" dirty="0" err="1"/>
              <a:t>λ_p</a:t>
            </a:r>
            <a:r>
              <a:rPr lang="ko-KR" altLang="en-US" dirty="0"/>
              <a:t> </a:t>
            </a:r>
            <a:r>
              <a:rPr lang="en-US" altLang="ko-KR" dirty="0"/>
              <a:t>= 56m → *ε = 0.027* (</a:t>
            </a:r>
            <a:r>
              <a:rPr lang="ko-KR" altLang="en-US" dirty="0"/>
              <a:t>신뢰 범위 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*Stokes breaking limit ε ~ 0.142* — </a:t>
            </a:r>
            <a:r>
              <a:rPr lang="ko-KR" altLang="en-US" dirty="0"/>
              <a:t>이상에서 파도 깨짐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개선*</a:t>
            </a:r>
            <a:r>
              <a:rPr lang="en-US" altLang="ko-KR" dirty="0"/>
              <a:t>: Stokes 2</a:t>
            </a:r>
            <a:r>
              <a:rPr lang="ko-KR" altLang="en-US" dirty="0"/>
              <a:t>차 보정 → 범위 확장</a:t>
            </a:r>
          </a:p>
          <a:p>
            <a:endParaRPr lang="ko-KR" altLang="en-US" dirty="0"/>
          </a:p>
          <a:p>
            <a:r>
              <a:rPr lang="ko-KR" altLang="en-US" dirty="0"/>
              <a:t>*한계 </a:t>
            </a:r>
            <a:r>
              <a:rPr lang="en-US" altLang="ko-KR" dirty="0"/>
              <a:t>2 — </a:t>
            </a:r>
            <a:r>
              <a:rPr lang="ko-KR" altLang="en-US" dirty="0"/>
              <a:t>복잡한 파도 </a:t>
            </a:r>
            <a:r>
              <a:rPr lang="en-US" altLang="ko-KR" dirty="0"/>
              <a:t>(≥15 components) </a:t>
            </a:r>
            <a:r>
              <a:rPr lang="ko-KR" altLang="en-US" dirty="0"/>
              <a:t>정확도 저하*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BF4 15comp: </a:t>
            </a:r>
            <a:r>
              <a:rPr lang="en-US" altLang="ko-KR" dirty="0" err="1"/>
              <a:t>WaveSplat</a:t>
            </a:r>
            <a:r>
              <a:rPr lang="ko-KR" altLang="en-US" dirty="0"/>
              <a:t> </a:t>
            </a:r>
            <a:r>
              <a:rPr lang="en-US" altLang="ko-KR" dirty="0"/>
              <a:t>0.302 vs Wang2025 0.249 (*</a:t>
            </a:r>
            <a:r>
              <a:rPr lang="ko-KR" altLang="en-US" dirty="0"/>
              <a:t>역전*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원인</a:t>
            </a:r>
            <a:r>
              <a:rPr lang="en-US" altLang="ko-KR" dirty="0"/>
              <a:t>: *Beamforming </a:t>
            </a:r>
            <a:r>
              <a:rPr lang="ko-KR" altLang="en-US" dirty="0"/>
              <a:t>의 다수 </a:t>
            </a:r>
            <a:r>
              <a:rPr lang="en-US" altLang="ko-KR" dirty="0"/>
              <a:t>peak </a:t>
            </a:r>
            <a:r>
              <a:rPr lang="ko-KR" altLang="en-US" dirty="0"/>
              <a:t>분리 어려움*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개선*</a:t>
            </a:r>
            <a:r>
              <a:rPr lang="en-US" altLang="ko-KR" dirty="0"/>
              <a:t>: *hybrid </a:t>
            </a:r>
            <a:r>
              <a:rPr lang="en-US" altLang="ko-KR" dirty="0" err="1"/>
              <a:t>init</a:t>
            </a:r>
            <a:r>
              <a:rPr lang="ko-KR" altLang="en-US" dirty="0"/>
              <a:t>* </a:t>
            </a:r>
            <a:r>
              <a:rPr lang="en-US" altLang="ko-KR" dirty="0"/>
              <a:t>(</a:t>
            </a:r>
            <a:r>
              <a:rPr lang="ko-KR" altLang="en-US" dirty="0"/>
              <a:t>격자 </a:t>
            </a:r>
            <a:r>
              <a:rPr lang="en-US" altLang="ko-KR" dirty="0"/>
              <a:t>+ </a:t>
            </a:r>
            <a:r>
              <a:rPr lang="ko-KR" altLang="en-US" dirty="0"/>
              <a:t>파라미터 정밀화</a:t>
            </a:r>
            <a:r>
              <a:rPr lang="en-US" altLang="ko-KR" dirty="0"/>
              <a:t>) 2</a:t>
            </a:r>
            <a:r>
              <a:rPr lang="ko-KR" altLang="en-US" dirty="0"/>
              <a:t>단계 초기화</a:t>
            </a:r>
          </a:p>
          <a:p>
            <a:endParaRPr lang="ko-KR" altLang="en-US" dirty="0"/>
          </a:p>
          <a:p>
            <a:r>
              <a:rPr lang="ko-KR" altLang="en-US" dirty="0"/>
              <a:t>*한계 </a:t>
            </a:r>
            <a:r>
              <a:rPr lang="en-US" altLang="ko-KR" dirty="0"/>
              <a:t>3 — Vessel </a:t>
            </a:r>
            <a:r>
              <a:rPr lang="ko-KR" altLang="en-US" dirty="0"/>
              <a:t>정지 가정 </a:t>
            </a:r>
            <a:r>
              <a:rPr lang="en-US" altLang="ko-KR" dirty="0"/>
              <a:t>(V = 0)*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현재 </a:t>
            </a:r>
            <a:r>
              <a:rPr lang="en-US" altLang="ko-KR" dirty="0"/>
              <a:t>dataset </a:t>
            </a:r>
            <a:r>
              <a:rPr lang="ko-KR" altLang="en-US" dirty="0"/>
              <a:t>정지 상태 → *</a:t>
            </a:r>
            <a:r>
              <a:rPr lang="en-US" altLang="ko-KR" dirty="0"/>
              <a:t>Synthetic Aperture (SA) </a:t>
            </a:r>
            <a:r>
              <a:rPr lang="ko-KR" altLang="en-US" dirty="0"/>
              <a:t>미적용*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Multi-frame </a:t>
            </a:r>
            <a:r>
              <a:rPr lang="ko-KR" altLang="en-US" dirty="0"/>
              <a:t>은 *</a:t>
            </a:r>
            <a:r>
              <a:rPr lang="en-US" altLang="ko-KR" dirty="0"/>
              <a:t>wave </a:t>
            </a:r>
            <a:r>
              <a:rPr lang="ko-KR" altLang="en-US" dirty="0"/>
              <a:t>시간 진화* 로만 작동</a:t>
            </a:r>
            <a:r>
              <a:rPr lang="en-US" altLang="ko-KR" dirty="0"/>
              <a:t>, *</a:t>
            </a:r>
            <a:r>
              <a:rPr lang="ko-KR" altLang="en-US" dirty="0"/>
              <a:t>공간 </a:t>
            </a:r>
            <a:r>
              <a:rPr lang="en-US" altLang="ko-KR" dirty="0"/>
              <a:t>aperture </a:t>
            </a:r>
            <a:r>
              <a:rPr lang="ko-KR" altLang="en-US" dirty="0"/>
              <a:t>는 </a:t>
            </a:r>
            <a:r>
              <a:rPr lang="en-US" altLang="ko-KR" dirty="0"/>
              <a:t>LiDAR </a:t>
            </a:r>
            <a:r>
              <a:rPr lang="ko-KR" altLang="en-US" dirty="0"/>
              <a:t>가 한 번에 보는 영역* 으로 제한 → *매우 긴 </a:t>
            </a:r>
            <a:r>
              <a:rPr lang="en-US" altLang="ko-KR" dirty="0"/>
              <a:t>wave </a:t>
            </a:r>
            <a:r>
              <a:rPr lang="ko-KR" altLang="en-US" dirty="0"/>
              <a:t>의 </a:t>
            </a:r>
            <a:r>
              <a:rPr lang="en-US" altLang="ko-KR" dirty="0"/>
              <a:t>direction </a:t>
            </a:r>
            <a:r>
              <a:rPr lang="ko-KR" altLang="en-US" dirty="0"/>
              <a:t>분해능 저하*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ko-KR" altLang="en-US" dirty="0"/>
              <a:t>개선*</a:t>
            </a:r>
            <a:r>
              <a:rPr lang="en-US" altLang="ko-KR" dirty="0"/>
              <a:t>: vessel motion </a:t>
            </a:r>
            <a:r>
              <a:rPr lang="ko-KR" altLang="en-US" dirty="0"/>
              <a:t>도입 → </a:t>
            </a:r>
            <a:r>
              <a:rPr lang="en-US" altLang="ko-KR" dirty="0"/>
              <a:t>V·T </a:t>
            </a:r>
            <a:r>
              <a:rPr lang="ko-KR" altLang="en-US" dirty="0"/>
              <a:t>만큼 </a:t>
            </a:r>
            <a:r>
              <a:rPr lang="en-US" altLang="ko-KR" dirty="0"/>
              <a:t>SA </a:t>
            </a:r>
            <a:r>
              <a:rPr lang="ko-KR" altLang="en-US" dirty="0"/>
              <a:t>효과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10 m/s × 10s = 100m </a:t>
            </a:r>
            <a:r>
              <a:rPr lang="ko-KR" altLang="en-US" dirty="0"/>
              <a:t>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Stokes 2</a:t>
            </a:r>
            <a:r>
              <a:rPr lang="ko-KR" altLang="en-US" dirty="0"/>
              <a:t>차 보정이 어떻게 </a:t>
            </a:r>
            <a:r>
              <a:rPr lang="en-US" altLang="ko-KR" dirty="0"/>
              <a:t>ε </a:t>
            </a:r>
            <a:r>
              <a:rPr lang="ko-KR" altLang="en-US" dirty="0"/>
              <a:t>확장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LWT </a:t>
            </a:r>
            <a:r>
              <a:rPr lang="ko-KR" altLang="en-US" dirty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차 항만</a:t>
            </a:r>
            <a:r>
              <a:rPr lang="en-US" altLang="ko-KR" dirty="0"/>
              <a:t>, Stokes 2</a:t>
            </a:r>
            <a:r>
              <a:rPr lang="ko-KR" altLang="en-US" dirty="0"/>
              <a:t>차는 *</a:t>
            </a:r>
            <a:r>
              <a:rPr lang="en-US" altLang="ko-KR" dirty="0"/>
              <a:t>2</a:t>
            </a:r>
            <a:r>
              <a:rPr lang="ko-KR" altLang="en-US" dirty="0"/>
              <a:t>차 항 추가* → </a:t>
            </a:r>
            <a:r>
              <a:rPr lang="en-US" altLang="ko-KR" dirty="0"/>
              <a:t>crest </a:t>
            </a:r>
            <a:r>
              <a:rPr lang="ko-KR" altLang="en-US" dirty="0" err="1"/>
              <a:t>뾰족</a:t>
            </a:r>
            <a:r>
              <a:rPr lang="en-US" altLang="ko-KR" dirty="0"/>
              <a:t>·trough</a:t>
            </a:r>
            <a:r>
              <a:rPr lang="ko-KR" altLang="en-US" dirty="0"/>
              <a:t> 넓음 표현</a:t>
            </a:r>
            <a:r>
              <a:rPr lang="en-US" altLang="ko-KR" dirty="0"/>
              <a:t>. *ε &lt; 0.10 </a:t>
            </a:r>
            <a:r>
              <a:rPr lang="ko-KR" altLang="en-US" dirty="0"/>
              <a:t>까지 확장 예상*</a:t>
            </a:r>
            <a:r>
              <a:rPr lang="en-US" altLang="ko-KR" dirty="0"/>
              <a:t>.</a:t>
            </a:r>
          </a:p>
          <a:p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Stokes 2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차 확장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:</a:t>
            </a:r>
          </a:p>
          <a:p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 </a:t>
            </a:r>
            <a:r>
              <a:rPr kumimoji="1" lang="el-GR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η = Σ_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n </a:t>
            </a:r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A_n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· cos(</a:t>
            </a:r>
            <a:r>
              <a:rPr kumimoji="1" lang="el-GR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Φ_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n) + (k_n·A_n²/2) · cos(2·</a:t>
            </a:r>
            <a:r>
              <a:rPr kumimoji="1" lang="el-GR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Φ_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n)</a:t>
            </a:r>
          </a:p>
          <a:p>
            <a:endParaRPr lang="en-US" altLang="ko-KR" dirty="0"/>
          </a:p>
          <a:p>
            <a:r>
              <a:rPr lang="en-US" altLang="ko-KR" dirty="0"/>
              <a:t>Q. Synthetic Aperture </a:t>
            </a:r>
            <a:r>
              <a:rPr lang="ko-KR" altLang="en-US" dirty="0"/>
              <a:t>정량 효과는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V = 10 m/s × T = 10 s = *100 m aperture </a:t>
            </a:r>
            <a:r>
              <a:rPr lang="ko-KR" altLang="en-US" dirty="0"/>
              <a:t>추가* → </a:t>
            </a:r>
            <a:r>
              <a:rPr lang="en-US" altLang="ko-KR" dirty="0"/>
              <a:t>direction </a:t>
            </a:r>
            <a:r>
              <a:rPr lang="ko-KR" altLang="en-US" dirty="0"/>
              <a:t>분해능 약 </a:t>
            </a:r>
            <a:r>
              <a:rPr lang="en-US" altLang="ko-KR" dirty="0"/>
              <a:t>2</a:t>
            </a:r>
            <a:r>
              <a:rPr lang="ko-KR" altLang="en-US" dirty="0"/>
              <a:t>배 향상 예상</a:t>
            </a:r>
            <a:r>
              <a:rPr lang="en-US" altLang="ko-KR" dirty="0"/>
              <a:t>. BF7 long wave </a:t>
            </a:r>
            <a:r>
              <a:rPr lang="ko-KR" altLang="en-US" dirty="0"/>
              <a:t>도 </a:t>
            </a:r>
            <a:r>
              <a:rPr lang="en-US" altLang="ko-KR" dirty="0"/>
              <a:t>detectable </a:t>
            </a:r>
            <a:r>
              <a:rPr lang="ko-KR" altLang="en-US" dirty="0"/>
              <a:t>될 가능성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346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*Hydrofoil &amp; Wave*</a:t>
            </a:r>
          </a:p>
          <a:p>
            <a:r>
              <a:rPr lang="en-US" altLang="ko-KR" dirty="0"/>
              <a:t>  - Hydrofoil </a:t>
            </a:r>
            <a:r>
              <a:rPr lang="ko-KR" altLang="en-US" dirty="0"/>
              <a:t>선박 </a:t>
            </a:r>
            <a:r>
              <a:rPr lang="en-US" altLang="ko-KR" dirty="0"/>
              <a:t>= *</a:t>
            </a:r>
            <a:r>
              <a:rPr lang="ko-KR" altLang="en-US" dirty="0"/>
              <a:t>수중 날개 </a:t>
            </a:r>
            <a:r>
              <a:rPr lang="en-US" altLang="ko-KR" dirty="0"/>
              <a:t>(foil) </a:t>
            </a:r>
            <a:r>
              <a:rPr lang="ko-KR" altLang="en-US" dirty="0"/>
              <a:t>로 양력 만들어 부양* </a:t>
            </a:r>
            <a:r>
              <a:rPr lang="en-US" altLang="ko-KR" dirty="0"/>
              <a:t>(AC75 </a:t>
            </a:r>
            <a:r>
              <a:rPr lang="ko-KR" altLang="en-US" dirty="0"/>
              <a:t>요트</a:t>
            </a:r>
            <a:r>
              <a:rPr lang="en-US" altLang="ko-KR" dirty="0"/>
              <a:t>, </a:t>
            </a:r>
            <a:r>
              <a:rPr lang="ko-KR" altLang="en-US" dirty="0"/>
              <a:t>고속 페리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파도 만나면 </a:t>
            </a:r>
            <a:r>
              <a:rPr lang="en-US" altLang="ko-KR" dirty="0"/>
              <a:t>lift </a:t>
            </a:r>
            <a:r>
              <a:rPr lang="ko-KR" altLang="en-US" dirty="0"/>
              <a:t>변동* → </a:t>
            </a:r>
            <a:r>
              <a:rPr lang="en-US" altLang="ko-KR" dirty="0"/>
              <a:t>vessel heave/pitch </a:t>
            </a:r>
            <a:r>
              <a:rPr lang="ko-KR" altLang="en-US" dirty="0"/>
              <a:t>흔들림 → 승차감 저하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발상</a:t>
            </a:r>
            <a:r>
              <a:rPr lang="en-US" altLang="ko-KR" dirty="0"/>
              <a:t>: *</a:t>
            </a:r>
            <a:r>
              <a:rPr lang="ko-KR" altLang="en-US" dirty="0"/>
              <a:t>선수 방향 파도 정보 미리* → </a:t>
            </a:r>
            <a:r>
              <a:rPr lang="en-US" altLang="ko-KR" dirty="0"/>
              <a:t>fin angle </a:t>
            </a:r>
            <a:r>
              <a:rPr lang="ko-KR" altLang="en-US" dirty="0"/>
              <a:t>선제 조절 → </a:t>
            </a:r>
            <a:r>
              <a:rPr lang="en-US" altLang="ko-KR" dirty="0"/>
              <a:t>disturbance </a:t>
            </a:r>
            <a:r>
              <a:rPr lang="ko-KR" altLang="en-US" dirty="0"/>
              <a:t>상쇄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Simulation </a:t>
            </a:r>
            <a:r>
              <a:rPr lang="ko-KR" altLang="en-US" dirty="0"/>
              <a:t>구성*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*2-DOF* — heave + pitch</a:t>
            </a:r>
          </a:p>
          <a:p>
            <a:r>
              <a:rPr lang="en-US" altLang="ko-KR" dirty="0"/>
              <a:t>  - *Thin airfoil </a:t>
            </a:r>
            <a:r>
              <a:rPr lang="ko-KR" altLang="en-US" dirty="0"/>
              <a:t>가정* </a:t>
            </a:r>
            <a:r>
              <a:rPr lang="en-US" altLang="ko-KR" dirty="0"/>
              <a:t>— 2D lift </a:t>
            </a:r>
            <a:r>
              <a:rPr lang="ko-KR" altLang="en-US" dirty="0"/>
              <a:t>모델 </a:t>
            </a:r>
            <a:r>
              <a:rPr lang="en-US" altLang="ko-KR" dirty="0"/>
              <a:t>(cl_</a:t>
            </a:r>
            <a:r>
              <a:rPr lang="el-GR" altLang="ko-KR" dirty="0"/>
              <a:t>α = 2π·η, η ≈ 0.85). </a:t>
            </a:r>
            <a:r>
              <a:rPr lang="en-US" altLang="ko-KR" dirty="0"/>
              <a:t>Specific NACA section </a:t>
            </a:r>
            <a:r>
              <a:rPr lang="ko-KR" altLang="en-US" dirty="0"/>
              <a:t>미적용 </a:t>
            </a:r>
            <a:r>
              <a:rPr lang="en-US" altLang="ko-KR" dirty="0"/>
              <a:t>(deployment </a:t>
            </a:r>
            <a:r>
              <a:rPr lang="ko-KR" altLang="en-US" dirty="0"/>
              <a:t>단계 결정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자유표면</a:t>
            </a:r>
            <a:r>
              <a:rPr lang="en-US" altLang="ko-KR" dirty="0"/>
              <a:t>·ventilation </a:t>
            </a:r>
            <a:r>
              <a:rPr lang="ko-KR" altLang="en-US" dirty="0"/>
              <a:t>영향 포함*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· h/c &lt; 1 </a:t>
            </a:r>
            <a:r>
              <a:rPr lang="ko-KR" altLang="en-US" dirty="0"/>
              <a:t>시 </a:t>
            </a:r>
            <a:r>
              <a:rPr lang="en-US" altLang="ko-KR" dirty="0"/>
              <a:t>lift </a:t>
            </a:r>
            <a:r>
              <a:rPr lang="ko-KR" altLang="en-US" dirty="0"/>
              <a:t>감소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· h/c &lt; 0.3 </a:t>
            </a:r>
            <a:r>
              <a:rPr lang="ko-KR" altLang="en-US" dirty="0"/>
              <a:t>시 *</a:t>
            </a:r>
            <a:r>
              <a:rPr lang="en-US" altLang="ko-KR" dirty="0"/>
              <a:t>ventilation* — foil </a:t>
            </a:r>
            <a:r>
              <a:rPr lang="ko-KR" altLang="en-US" dirty="0"/>
              <a:t>위쪽 저압부가 수면 뚫고 공기 빨아들임 → 양력 손실</a:t>
            </a:r>
            <a:r>
              <a:rPr lang="en-US" altLang="ko-KR" dirty="0"/>
              <a:t>. Hydrofoil </a:t>
            </a:r>
            <a:r>
              <a:rPr lang="ko-KR" altLang="en-US" dirty="0"/>
              <a:t>의 치명적 실패 모드</a:t>
            </a:r>
          </a:p>
          <a:p>
            <a:endParaRPr lang="ko-KR" altLang="en-US" dirty="0"/>
          </a:p>
          <a:p>
            <a:r>
              <a:rPr lang="ko-KR" altLang="en-US" dirty="0"/>
              <a:t>*</a:t>
            </a:r>
            <a:r>
              <a:rPr lang="en-US" altLang="ko-KR" dirty="0"/>
              <a:t>Controller logic flow* — LiDAR → </a:t>
            </a:r>
            <a:r>
              <a:rPr lang="en-US" altLang="ko-KR" dirty="0" err="1"/>
              <a:t>WaveSplat</a:t>
            </a:r>
            <a:r>
              <a:rPr lang="en-US" altLang="ko-KR" dirty="0"/>
              <a:t> → Forward Predictor → IIR LP Filter → Feedforward → Foil Servo (</a:t>
            </a:r>
            <a:r>
              <a:rPr lang="ko-KR" altLang="en-US" dirty="0"/>
              <a:t>앞쪽</a:t>
            </a:r>
            <a:r>
              <a:rPr lang="en-US" altLang="ko-KR" dirty="0"/>
              <a:t>). IMU → PD Feedback → Foil Servo (</a:t>
            </a:r>
            <a:r>
              <a:rPr lang="ko-KR" altLang="en-US" dirty="0"/>
              <a:t>아래쪽</a:t>
            </a:r>
            <a:r>
              <a:rPr lang="en-US" altLang="ko-KR" dirty="0"/>
              <a:t>). </a:t>
            </a:r>
            <a:r>
              <a:rPr lang="ko-KR" altLang="en-US" dirty="0"/>
              <a:t>합산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현재 단계는 </a:t>
            </a:r>
            <a:r>
              <a:rPr lang="en-US" altLang="ko-KR" dirty="0"/>
              <a:t>preliminary test* — </a:t>
            </a:r>
            <a:r>
              <a:rPr lang="ko-KR" altLang="en-US" dirty="0"/>
              <a:t>응용 가능성 확인 수준</a:t>
            </a:r>
            <a:r>
              <a:rPr lang="en-US" altLang="ko-KR" dirty="0"/>
              <a:t>. </a:t>
            </a:r>
            <a:r>
              <a:rPr lang="ko-KR" altLang="en-US" dirty="0"/>
              <a:t>체계적 </a:t>
            </a:r>
            <a:r>
              <a:rPr lang="en-US" altLang="ko-KR" dirty="0"/>
              <a:t>controller tuning + robustness </a:t>
            </a:r>
            <a:r>
              <a:rPr lang="ko-KR" altLang="en-US" dirty="0"/>
              <a:t>평가는 후속 연구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</a:t>
            </a:r>
            <a:r>
              <a:rPr lang="ko-KR" altLang="en-US" dirty="0"/>
              <a:t>왜 </a:t>
            </a:r>
            <a:r>
              <a:rPr lang="en-US" altLang="ko-KR" dirty="0"/>
              <a:t>2-DOF </a:t>
            </a:r>
            <a:r>
              <a:rPr lang="ko-KR" altLang="en-US" dirty="0"/>
              <a:t>만</a:t>
            </a:r>
            <a:r>
              <a:rPr lang="en-US" altLang="ko-KR" dirty="0"/>
              <a:t>? </a:t>
            </a:r>
            <a:r>
              <a:rPr lang="ko-KR" altLang="en-US" dirty="0"/>
              <a:t>실 선박은 </a:t>
            </a:r>
            <a:r>
              <a:rPr lang="en-US" altLang="ko-KR" dirty="0"/>
              <a:t>6-DOF </a:t>
            </a:r>
            <a:r>
              <a:rPr lang="ko-KR" altLang="en-US" dirty="0"/>
              <a:t>인데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A. *Hydrofoil </a:t>
            </a:r>
            <a:r>
              <a:rPr lang="ko-KR" altLang="en-US" dirty="0"/>
              <a:t>제어 주 도메인이 </a:t>
            </a:r>
            <a:r>
              <a:rPr lang="en-US" altLang="ko-KR" dirty="0"/>
              <a:t>heave + pitch*. Surge/sway/yaw/roll </a:t>
            </a:r>
            <a:r>
              <a:rPr lang="ko-KR" altLang="en-US" dirty="0"/>
              <a:t>은 별도 </a:t>
            </a:r>
            <a:r>
              <a:rPr lang="en-US" altLang="ko-KR" dirty="0"/>
              <a:t>control surface </a:t>
            </a:r>
            <a:r>
              <a:rPr lang="ko-KR" altLang="en-US" dirty="0"/>
              <a:t>처리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Real-time deployment </a:t>
            </a:r>
            <a:r>
              <a:rPr lang="ko-KR" altLang="en-US" dirty="0"/>
              <a:t>까지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현재는 </a:t>
            </a:r>
            <a:r>
              <a:rPr lang="en-US" altLang="ko-KR" dirty="0"/>
              <a:t>simulation. sensor noise </a:t>
            </a:r>
            <a:r>
              <a:rPr lang="ko-KR" altLang="en-US" dirty="0"/>
              <a:t>모델</a:t>
            </a:r>
            <a:r>
              <a:rPr lang="en-US" altLang="ko-KR" dirty="0"/>
              <a:t>, vessel dynamics uncertainty, controller robustness, </a:t>
            </a:r>
            <a:r>
              <a:rPr lang="ko-KR" altLang="en-US" dirty="0"/>
              <a:t>실해 측정 </a:t>
            </a:r>
            <a:r>
              <a:rPr lang="en-US" altLang="ko-KR" dirty="0"/>
              <a:t>— *</a:t>
            </a:r>
            <a:r>
              <a:rPr lang="ko-KR" altLang="en-US" dirty="0"/>
              <a:t>최소 </a:t>
            </a:r>
            <a:r>
              <a:rPr lang="en-US" altLang="ko-KR" dirty="0"/>
              <a:t>1</a:t>
            </a:r>
            <a:r>
              <a:rPr lang="ko-KR" altLang="en-US" dirty="0"/>
              <a:t>년</a:t>
            </a:r>
            <a:r>
              <a:rPr lang="en-US" altLang="ko-KR" dirty="0"/>
              <a:t>+ </a:t>
            </a:r>
            <a:r>
              <a:rPr lang="ko-KR" altLang="en-US" dirty="0"/>
              <a:t>후속 연구* 필요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68181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Hydrofoil </a:t>
            </a:r>
            <a:r>
              <a:rPr lang="ko-KR" altLang="en-US" dirty="0"/>
              <a:t>결과 </a:t>
            </a:r>
            <a:r>
              <a:rPr lang="en-US" altLang="ko-KR" dirty="0"/>
              <a:t>— *PD vs PD+FF </a:t>
            </a:r>
            <a:r>
              <a:rPr lang="ko-KR" altLang="en-US" dirty="0"/>
              <a:t>직접 비교 영상*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화면 구성*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위쪽</a:t>
            </a:r>
            <a:r>
              <a:rPr lang="en-US" altLang="ko-KR" dirty="0"/>
              <a:t>: wave + vessel + foil </a:t>
            </a:r>
            <a:r>
              <a:rPr lang="ko-KR" altLang="en-US" dirty="0"/>
              <a:t>시각화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아래쪽</a:t>
            </a:r>
            <a:r>
              <a:rPr lang="en-US" altLang="ko-KR" dirty="0"/>
              <a:t>: heave acceleration time series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빨간 </a:t>
            </a:r>
            <a:r>
              <a:rPr lang="en-US" altLang="ko-KR" dirty="0"/>
              <a:t>= PD-only*, *</a:t>
            </a:r>
            <a:r>
              <a:rPr lang="ko-KR" altLang="en-US" dirty="0"/>
              <a:t>초록 </a:t>
            </a:r>
            <a:r>
              <a:rPr lang="en-US" altLang="ko-KR" dirty="0"/>
              <a:t>= PD + Feedforward (</a:t>
            </a:r>
            <a:r>
              <a:rPr lang="en-US" altLang="ko-KR" dirty="0" err="1"/>
              <a:t>WaveSplat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)*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시각적 관찰* </a:t>
            </a:r>
            <a:r>
              <a:rPr lang="en-US" altLang="ko-KR" dirty="0"/>
              <a:t>— PD+FF (</a:t>
            </a:r>
            <a:r>
              <a:rPr lang="ko-KR" altLang="en-US" dirty="0"/>
              <a:t>초록</a:t>
            </a:r>
            <a:r>
              <a:rPr lang="en-US" altLang="ko-KR" dirty="0"/>
              <a:t>) </a:t>
            </a:r>
            <a:r>
              <a:rPr lang="ko-KR" altLang="en-US" dirty="0"/>
              <a:t>가 </a:t>
            </a:r>
            <a:r>
              <a:rPr lang="en-US" altLang="ko-KR" dirty="0"/>
              <a:t>PD-only (</a:t>
            </a:r>
            <a:r>
              <a:rPr lang="ko-KR" altLang="en-US" dirty="0"/>
              <a:t>빨강</a:t>
            </a:r>
            <a:r>
              <a:rPr lang="en-US" altLang="ko-KR" dirty="0"/>
              <a:t>) </a:t>
            </a:r>
            <a:r>
              <a:rPr lang="ko-KR" altLang="en-US" dirty="0"/>
              <a:t>보다 *진동이 명확히 작음*</a:t>
            </a:r>
            <a:r>
              <a:rPr lang="en-US" altLang="ko-KR" dirty="0"/>
              <a:t>. *Vessel </a:t>
            </a:r>
            <a:r>
              <a:rPr lang="ko-KR" altLang="en-US" dirty="0"/>
              <a:t>이 덜 흔들림 → 승차감 향상*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정량 결과*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*</a:t>
            </a:r>
            <a:r>
              <a:rPr lang="en-US" altLang="ko-KR" dirty="0" err="1"/>
              <a:t>aRMS</a:t>
            </a:r>
            <a:r>
              <a:rPr lang="en-US" altLang="ko-KR" dirty="0"/>
              <a:t> (heave acceleration RMS)*: PD *0.090* m/s² → PD+FF *0.047* m/s² (*</a:t>
            </a:r>
            <a:r>
              <a:rPr lang="ko-KR" altLang="en-US" dirty="0"/>
              <a:t>약 </a:t>
            </a:r>
            <a:r>
              <a:rPr lang="en-US" altLang="ko-KR" dirty="0"/>
              <a:t>48% </a:t>
            </a:r>
            <a:r>
              <a:rPr lang="ko-KR" altLang="en-US" dirty="0"/>
              <a:t>감소*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- *ISO 2631 ride comfort </a:t>
            </a:r>
            <a:r>
              <a:rPr lang="ko-KR" altLang="en-US" dirty="0"/>
              <a:t>기준* 에서 *체감 가능 수준* </a:t>
            </a:r>
            <a:r>
              <a:rPr lang="en-US" altLang="ko-KR" dirty="0"/>
              <a:t>— uncomfortable → comfortable </a:t>
            </a:r>
            <a:r>
              <a:rPr lang="ko-KR" altLang="en-US" dirty="0"/>
              <a:t>영역 이동</a:t>
            </a:r>
          </a:p>
          <a:p>
            <a:endParaRPr lang="ko-KR" altLang="en-US" dirty="0"/>
          </a:p>
          <a:p>
            <a:r>
              <a:rPr lang="ko-KR" altLang="en-US" dirty="0"/>
              <a:t>*다시 강조 </a:t>
            </a:r>
            <a:r>
              <a:rPr lang="en-US" altLang="ko-KR" dirty="0"/>
              <a:t>— preliminary test* — *</a:t>
            </a:r>
            <a:r>
              <a:rPr lang="en-US" altLang="ko-KR" dirty="0" err="1"/>
              <a:t>WaveSplat</a:t>
            </a:r>
            <a:r>
              <a:rPr lang="en-US" altLang="ko-KR" dirty="0"/>
              <a:t> </a:t>
            </a:r>
            <a:r>
              <a:rPr lang="ko-KR" altLang="en-US" dirty="0"/>
              <a:t>정보가 제어에 도움이 된다는 </a:t>
            </a:r>
            <a:r>
              <a:rPr lang="en-US" altLang="ko-KR" dirty="0"/>
              <a:t>proof-of-concept*. </a:t>
            </a:r>
            <a:r>
              <a:rPr lang="ko-KR" altLang="en-US" dirty="0"/>
              <a:t>실 </a:t>
            </a:r>
            <a:r>
              <a:rPr lang="en-US" altLang="ko-KR" dirty="0"/>
              <a:t>deployment </a:t>
            </a:r>
            <a:r>
              <a:rPr lang="ko-KR" altLang="en-US" dirty="0"/>
              <a:t>에는 *</a:t>
            </a:r>
            <a:r>
              <a:rPr lang="en-US" altLang="ko-KR" dirty="0"/>
              <a:t>robustness, sensor noise, vessel dynamics uncertainty* </a:t>
            </a:r>
            <a:r>
              <a:rPr lang="ko-KR" altLang="en-US" dirty="0"/>
              <a:t>추가 고려 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48% </a:t>
            </a:r>
            <a:r>
              <a:rPr lang="ko-KR" altLang="en-US" dirty="0"/>
              <a:t>가 어디서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A. (0.090 − 0.047) / 0.090 ≈ 0.48. ISO 2631 </a:t>
            </a:r>
            <a:r>
              <a:rPr lang="ko-KR" altLang="en-US" dirty="0"/>
              <a:t>의 </a:t>
            </a:r>
            <a:r>
              <a:rPr lang="en-US" altLang="ko-KR" dirty="0"/>
              <a:t>uncomfortable </a:t>
            </a:r>
            <a:r>
              <a:rPr lang="ko-KR" altLang="en-US" dirty="0"/>
              <a:t>영역에서 </a:t>
            </a:r>
            <a:r>
              <a:rPr lang="en-US" altLang="ko-KR" dirty="0"/>
              <a:t>comfortable </a:t>
            </a:r>
            <a:r>
              <a:rPr lang="ko-KR" altLang="en-US" dirty="0"/>
              <a:t>영역으로 진입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Sensor noise </a:t>
            </a:r>
            <a:r>
              <a:rPr lang="ko-KR" altLang="en-US" dirty="0"/>
              <a:t>가 없는 </a:t>
            </a:r>
            <a:r>
              <a:rPr lang="en-US" altLang="ko-KR" dirty="0"/>
              <a:t>ideal case?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네</a:t>
            </a:r>
            <a:r>
              <a:rPr lang="en-US" altLang="ko-KR" dirty="0"/>
              <a:t>, *</a:t>
            </a:r>
            <a:r>
              <a:rPr lang="ko-KR" altLang="en-US" dirty="0"/>
              <a:t>현재 </a:t>
            </a:r>
            <a:r>
              <a:rPr lang="en-US" altLang="ko-KR" dirty="0"/>
              <a:t>ideal LiDAR (</a:t>
            </a:r>
            <a:r>
              <a:rPr lang="en-US" altLang="ko-KR" dirty="0" err="1"/>
              <a:t>raydrop</a:t>
            </a:r>
            <a:r>
              <a:rPr lang="en-US" altLang="ko-KR" dirty="0"/>
              <a:t> </a:t>
            </a:r>
            <a:r>
              <a:rPr lang="ko-KR" altLang="en-US" dirty="0"/>
              <a:t>모델만</a:t>
            </a:r>
            <a:r>
              <a:rPr lang="en-US" altLang="ko-KR" dirty="0"/>
              <a:t>)*. Range noise, jitter </a:t>
            </a:r>
            <a:r>
              <a:rPr lang="ko-KR" altLang="en-US" dirty="0"/>
              <a:t>추가 시 </a:t>
            </a:r>
            <a:r>
              <a:rPr lang="en-US" altLang="ko-KR" dirty="0" err="1"/>
              <a:t>aRMS</a:t>
            </a:r>
            <a:r>
              <a:rPr lang="en-US" altLang="ko-KR" dirty="0"/>
              <a:t> </a:t>
            </a:r>
            <a:r>
              <a:rPr lang="ko-KR" altLang="en-US" dirty="0"/>
              <a:t>감소율 감소 가능</a:t>
            </a:r>
            <a:r>
              <a:rPr lang="en-US" altLang="ko-KR" dirty="0"/>
              <a:t>. </a:t>
            </a:r>
            <a:r>
              <a:rPr lang="ko-KR" altLang="en-US" dirty="0"/>
              <a:t>후속 연구에서 다룰 예정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6593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*[Q&amp;A </a:t>
            </a:r>
            <a:r>
              <a:rPr lang="ko-KR" altLang="en-US" dirty="0"/>
              <a:t>참조용</a:t>
            </a:r>
            <a:r>
              <a:rPr lang="en-US" altLang="ko-KR" dirty="0"/>
              <a:t>] Appendix A — </a:t>
            </a:r>
            <a:r>
              <a:rPr lang="ko-KR" altLang="en-US" dirty="0" err="1"/>
              <a:t>정독한</a:t>
            </a:r>
            <a:r>
              <a:rPr lang="ko-KR" altLang="en-US" dirty="0"/>
              <a:t> </a:t>
            </a:r>
            <a:r>
              <a:rPr lang="en-US" altLang="ko-KR" dirty="0"/>
              <a:t>13</a:t>
            </a:r>
            <a:r>
              <a:rPr lang="ko-KR" altLang="en-US" dirty="0"/>
              <a:t>편 </a:t>
            </a:r>
            <a:r>
              <a:rPr lang="en-US" altLang="ko-KR" dirty="0"/>
              <a:t>prior art </a:t>
            </a:r>
            <a:r>
              <a:rPr lang="ko-KR" altLang="en-US" dirty="0"/>
              <a:t>표*</a:t>
            </a:r>
          </a:p>
          <a:p>
            <a:endParaRPr lang="ko-KR" altLang="en-US" dirty="0"/>
          </a:p>
          <a:p>
            <a:r>
              <a:rPr lang="en-US" altLang="ko-KR" dirty="0"/>
              <a:t>Sensor/data </a:t>
            </a:r>
            <a:r>
              <a:rPr lang="ko-KR" altLang="en-US" dirty="0"/>
              <a:t>기준 분류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- *Sim only 4</a:t>
            </a:r>
            <a:r>
              <a:rPr lang="ko-KR" altLang="en-US" dirty="0"/>
              <a:t>편*</a:t>
            </a:r>
            <a:r>
              <a:rPr lang="en-US" altLang="ko-KR" dirty="0"/>
              <a:t>: </a:t>
            </a:r>
            <a:r>
              <a:rPr lang="en-US" altLang="ko-KR" dirty="0" err="1"/>
              <a:t>Desmars</a:t>
            </a:r>
            <a:r>
              <a:rPr lang="en-US" altLang="ko-KR" dirty="0"/>
              <a:t> 2018 (LiDAR), </a:t>
            </a:r>
            <a:r>
              <a:rPr lang="en-US" altLang="ko-KR" dirty="0" err="1"/>
              <a:t>Desmars</a:t>
            </a:r>
            <a:r>
              <a:rPr lang="en-US" altLang="ko-KR" dirty="0"/>
              <a:t> 2023 (X-band radar sim), Ehlers 2023 (FNO + X-band sim), Yan 2025 (VOF NWT)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실측 실험실 </a:t>
            </a:r>
            <a:r>
              <a:rPr lang="en-US" altLang="ko-KR" dirty="0"/>
              <a:t>2</a:t>
            </a:r>
            <a:r>
              <a:rPr lang="ko-KR" altLang="en-US" dirty="0"/>
              <a:t>편*</a:t>
            </a:r>
            <a:r>
              <a:rPr lang="en-US" altLang="ko-KR" dirty="0"/>
              <a:t>: </a:t>
            </a:r>
            <a:r>
              <a:rPr lang="en-US" altLang="ko-KR" dirty="0" err="1"/>
              <a:t>Desmars</a:t>
            </a:r>
            <a:r>
              <a:rPr lang="en-US" altLang="ko-KR" dirty="0"/>
              <a:t> 2020, Ehlers 2025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실측 필드 </a:t>
            </a:r>
            <a:r>
              <a:rPr lang="en-US" altLang="ko-KR" dirty="0"/>
              <a:t>2</a:t>
            </a:r>
            <a:r>
              <a:rPr lang="ko-KR" altLang="en-US" dirty="0"/>
              <a:t>편*</a:t>
            </a:r>
            <a:r>
              <a:rPr lang="en-US" altLang="ko-KR" dirty="0"/>
              <a:t>: Wang &amp; Pan 2022 (shipborne radar), Feng Wang 2025 (stereo camera at Acqua Alta)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혼합 </a:t>
            </a:r>
            <a:r>
              <a:rPr lang="en-US" altLang="ko-KR" dirty="0"/>
              <a:t>2</a:t>
            </a:r>
            <a:r>
              <a:rPr lang="ko-KR" altLang="en-US" dirty="0"/>
              <a:t>편*</a:t>
            </a:r>
            <a:r>
              <a:rPr lang="en-US" altLang="ko-KR" dirty="0"/>
              <a:t>: Wang &amp; Pan 2021, Klein 2020</a:t>
            </a:r>
          </a:p>
          <a:p>
            <a:r>
              <a:rPr lang="en-US" altLang="ko-KR" dirty="0"/>
              <a:t>  - *</a:t>
            </a:r>
            <a:r>
              <a:rPr lang="ko-KR" altLang="en-US" dirty="0"/>
              <a:t>이론</a:t>
            </a:r>
            <a:r>
              <a:rPr lang="en-US" altLang="ko-KR" dirty="0"/>
              <a:t>·algorithm 3</a:t>
            </a:r>
            <a:r>
              <a:rPr lang="ko-KR" altLang="en-US" dirty="0"/>
              <a:t>편*</a:t>
            </a:r>
            <a:r>
              <a:rPr lang="en-US" altLang="ko-KR" dirty="0"/>
              <a:t>: Hunt 2007 (LETKF), Tang 2013 (atomic norm CS), Möller-Trumbore 1997</a:t>
            </a:r>
          </a:p>
          <a:p>
            <a:endParaRPr lang="en-US" altLang="ko-KR" dirty="0"/>
          </a:p>
          <a:p>
            <a:r>
              <a:rPr lang="ko-KR" altLang="en-US" dirty="0"/>
              <a:t>본 연구도 *현재 </a:t>
            </a:r>
            <a:r>
              <a:rPr lang="en-US" altLang="ko-KR" dirty="0"/>
              <a:t>Sim only* — </a:t>
            </a:r>
            <a:r>
              <a:rPr lang="ko-KR" altLang="en-US" dirty="0"/>
              <a:t>실측 검증은 </a:t>
            </a:r>
            <a:r>
              <a:rPr lang="en-US" altLang="ko-KR" dirty="0"/>
              <a:t>Phase 2.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</a:t>
            </a:r>
            <a:r>
              <a:rPr lang="ko-KR" altLang="en-US" dirty="0"/>
              <a:t>가장 유사한 </a:t>
            </a:r>
            <a:r>
              <a:rPr lang="en-US" altLang="ko-KR" dirty="0"/>
              <a:t>prior art?</a:t>
            </a:r>
          </a:p>
          <a:p>
            <a:r>
              <a:rPr lang="en-US" altLang="ko-KR" dirty="0"/>
              <a:t>A. *</a:t>
            </a:r>
            <a:r>
              <a:rPr lang="en-US" altLang="ko-KR" dirty="0" err="1"/>
              <a:t>Desmars</a:t>
            </a:r>
            <a:r>
              <a:rPr lang="en-US" altLang="ko-KR" dirty="0"/>
              <a:t> 2023 (JFM 975)* — LiDAR + </a:t>
            </a:r>
            <a:r>
              <a:rPr lang="ko-KR" altLang="en-US" dirty="0"/>
              <a:t>격자 </a:t>
            </a:r>
            <a:r>
              <a:rPr lang="en-US" altLang="ko-KR" dirty="0"/>
              <a:t>+ variational. *Sensor </a:t>
            </a:r>
            <a:r>
              <a:rPr lang="ko-KR" altLang="en-US" dirty="0"/>
              <a:t>가 </a:t>
            </a:r>
            <a:r>
              <a:rPr lang="en-US" altLang="ko-KR" dirty="0"/>
              <a:t>LiDAR </a:t>
            </a:r>
            <a:r>
              <a:rPr lang="ko-KR" altLang="en-US" dirty="0"/>
              <a:t>로 같음*</a:t>
            </a:r>
            <a:r>
              <a:rPr lang="en-US" altLang="ko-KR" dirty="0"/>
              <a:t>. </a:t>
            </a:r>
            <a:r>
              <a:rPr lang="ko-KR" altLang="en-US" dirty="0"/>
              <a:t>단 </a:t>
            </a:r>
            <a:r>
              <a:rPr lang="en-US" altLang="ko-KR" dirty="0"/>
              <a:t>1D + on-grid.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1090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*[Q&amp;A </a:t>
            </a:r>
            <a:r>
              <a:rPr lang="ko-KR" altLang="en-US" dirty="0"/>
              <a:t>참조용</a:t>
            </a:r>
            <a:r>
              <a:rPr lang="en-US" altLang="ko-KR" dirty="0"/>
              <a:t>] Appendix B — 110 episode </a:t>
            </a:r>
            <a:r>
              <a:rPr lang="ko-KR" altLang="en-US" dirty="0"/>
              <a:t>합성 </a:t>
            </a:r>
            <a:r>
              <a:rPr lang="en-US" altLang="ko-KR" dirty="0"/>
              <a:t>dataset*</a:t>
            </a:r>
          </a:p>
          <a:p>
            <a:endParaRPr lang="en-US" altLang="ko-KR" dirty="0"/>
          </a:p>
          <a:p>
            <a:r>
              <a:rPr lang="en-US" altLang="ko-KR" dirty="0"/>
              <a:t>*Sea state </a:t>
            </a:r>
            <a:r>
              <a:rPr lang="ko-KR" altLang="en-US" dirty="0"/>
              <a:t>별 구성*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- BF2 (</a:t>
            </a:r>
            <a:r>
              <a:rPr lang="el-GR" altLang="ko-KR" dirty="0"/>
              <a:t>ε~0.02): </a:t>
            </a:r>
            <a:r>
              <a:rPr lang="en-US" altLang="ko-KR" dirty="0"/>
              <a:t>N=1,2,5 × seed 0-4 → 15 ep</a:t>
            </a:r>
          </a:p>
          <a:p>
            <a:r>
              <a:rPr lang="en-US" altLang="ko-KR" dirty="0"/>
              <a:t>  - BF3 (~0.03): N=1,2,5,15 → 20 ep</a:t>
            </a:r>
          </a:p>
          <a:p>
            <a:r>
              <a:rPr lang="en-US" altLang="ko-KR" dirty="0"/>
              <a:t>  - BF4 (~0.05): N=5,15,20 → 15 ep</a:t>
            </a:r>
          </a:p>
          <a:p>
            <a:r>
              <a:rPr lang="en-US" altLang="ko-KR" dirty="0"/>
              <a:t>  - BF5 (~0.07): N=5,15,20,30 → 20 ep</a:t>
            </a:r>
          </a:p>
          <a:p>
            <a:r>
              <a:rPr lang="en-US" altLang="ko-KR" dirty="0"/>
              <a:t>  - BF6 (~0.08): N=15,20,30, seed 0 → 15 ep</a:t>
            </a:r>
          </a:p>
          <a:p>
            <a:r>
              <a:rPr lang="en-US" altLang="ko-KR" dirty="0"/>
              <a:t>  - BF7 (~0.10): N=20,30 → 10 ep</a:t>
            </a:r>
          </a:p>
          <a:p>
            <a:r>
              <a:rPr lang="en-US" altLang="ko-KR" dirty="0"/>
              <a:t>  - Calibration: 15 ep</a:t>
            </a:r>
          </a:p>
          <a:p>
            <a:r>
              <a:rPr lang="en-US" altLang="ko-KR" dirty="0"/>
              <a:t>  - *Total: 110 episode*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el-GR" altLang="ko-KR" dirty="0"/>
              <a:t>ε </a:t>
            </a:r>
            <a:r>
              <a:rPr lang="ko-KR" altLang="en-US" dirty="0"/>
              <a:t>계산*</a:t>
            </a:r>
            <a:r>
              <a:rPr lang="en-US" altLang="ko-KR" dirty="0"/>
              <a:t>: </a:t>
            </a:r>
            <a:r>
              <a:rPr lang="el-GR" altLang="ko-KR" dirty="0"/>
              <a:t>ε = </a:t>
            </a:r>
            <a:r>
              <a:rPr lang="en-US" altLang="ko-KR" dirty="0"/>
              <a:t>H_s · </a:t>
            </a:r>
            <a:r>
              <a:rPr lang="en-US" altLang="ko-KR" dirty="0" err="1"/>
              <a:t>k_p</a:t>
            </a:r>
            <a:r>
              <a:rPr lang="en-US" altLang="ko-KR" dirty="0"/>
              <a:t> / (2</a:t>
            </a:r>
            <a:r>
              <a:rPr lang="el-GR" altLang="ko-KR" dirty="0"/>
              <a:t>π) = </a:t>
            </a:r>
            <a:r>
              <a:rPr lang="en-US" altLang="ko-KR" dirty="0"/>
              <a:t>H_s / </a:t>
            </a:r>
            <a:r>
              <a:rPr lang="el-GR" altLang="ko-KR" dirty="0"/>
              <a:t>λ_</a:t>
            </a:r>
            <a:r>
              <a:rPr lang="en-US" altLang="ko-KR" dirty="0"/>
              <a:t>p, </a:t>
            </a:r>
            <a:r>
              <a:rPr lang="en-US" altLang="ko-KR" dirty="0" err="1"/>
              <a:t>k_p</a:t>
            </a:r>
            <a:r>
              <a:rPr lang="en-US" altLang="ko-KR" dirty="0"/>
              <a:t> = (2</a:t>
            </a:r>
            <a:r>
              <a:rPr lang="el-GR" altLang="ko-KR" dirty="0"/>
              <a:t>π/</a:t>
            </a:r>
            <a:r>
              <a:rPr lang="en-US" altLang="ko-KR" dirty="0" err="1"/>
              <a:t>T_p</a:t>
            </a:r>
            <a:r>
              <a:rPr lang="en-US" altLang="ko-KR" dirty="0"/>
              <a:t>)²/g (deep water)</a:t>
            </a:r>
          </a:p>
          <a:p>
            <a:r>
              <a:rPr lang="en-US" altLang="ko-KR" dirty="0"/>
              <a:t>  - </a:t>
            </a:r>
            <a:r>
              <a:rPr lang="el-GR" altLang="ko-KR" dirty="0"/>
              <a:t>ε &lt; 0.07 </a:t>
            </a:r>
            <a:r>
              <a:rPr lang="en-US" altLang="ko-KR" dirty="0"/>
              <a:t>LWT </a:t>
            </a:r>
            <a:r>
              <a:rPr lang="ko-KR" altLang="en-US" dirty="0"/>
              <a:t>신뢰</a:t>
            </a:r>
            <a:r>
              <a:rPr lang="en-US" altLang="ko-KR" dirty="0"/>
              <a:t>, </a:t>
            </a:r>
            <a:r>
              <a:rPr lang="el-GR" altLang="ko-KR" dirty="0"/>
              <a:t>ε ~ 0.142 </a:t>
            </a:r>
            <a:r>
              <a:rPr lang="en-US" altLang="ko-KR" dirty="0"/>
              <a:t>Stokes breaking limit</a:t>
            </a:r>
          </a:p>
          <a:p>
            <a:endParaRPr lang="en-US" altLang="ko-KR" dirty="0"/>
          </a:p>
          <a:p>
            <a:r>
              <a:rPr lang="en-US" altLang="ko-KR" dirty="0"/>
              <a:t>*Per episode* — 30s × 10 Hz = 301 frames, GT 80×60 </a:t>
            </a:r>
            <a:r>
              <a:rPr lang="ko-KR" altLang="en-US" dirty="0"/>
              <a:t>격자 </a:t>
            </a:r>
            <a:r>
              <a:rPr lang="en-US" altLang="ko-KR" dirty="0"/>
              <a:t>(240×200 m), LiDAR 76,000 ray → ~50 valid </a:t>
            </a:r>
            <a:r>
              <a:rPr lang="ko-KR" altLang="en-US" dirty="0"/>
              <a:t>점</a:t>
            </a:r>
            <a:r>
              <a:rPr lang="en-US" altLang="ko-KR" dirty="0"/>
              <a:t>/frame. </a:t>
            </a:r>
            <a:r>
              <a:rPr lang="ko-KR" altLang="en-US" dirty="0"/>
              <a:t>전체 </a:t>
            </a:r>
            <a:r>
              <a:rPr lang="en-US" altLang="ko-KR" dirty="0"/>
              <a:t>~1.2 GB.</a:t>
            </a:r>
          </a:p>
          <a:p>
            <a:endParaRPr lang="en-US" altLang="ko-KR" dirty="0"/>
          </a:p>
          <a:p>
            <a:r>
              <a:rPr lang="en-US" altLang="ko-KR" dirty="0"/>
              <a:t>[Q&amp;A]</a:t>
            </a:r>
          </a:p>
          <a:p>
            <a:r>
              <a:rPr lang="en-US" altLang="ko-KR" dirty="0"/>
              <a:t>Q. BF6, BF7 </a:t>
            </a:r>
            <a:r>
              <a:rPr lang="ko-KR" altLang="en-US" dirty="0"/>
              <a:t>도 포함됐는데 신뢰 범위는 </a:t>
            </a:r>
            <a:r>
              <a:rPr lang="en-US" altLang="ko-KR" dirty="0"/>
              <a:t>BF5 </a:t>
            </a:r>
            <a:r>
              <a:rPr lang="ko-KR" altLang="en-US" dirty="0"/>
              <a:t>까지</a:t>
            </a:r>
            <a:r>
              <a:rPr lang="en-US" altLang="ko-KR" dirty="0"/>
              <a:t>?</a:t>
            </a:r>
          </a:p>
          <a:p>
            <a:pPr marL="228600" indent="-228600">
              <a:buAutoNum type="alphaUcPeriod"/>
            </a:pPr>
            <a:r>
              <a:rPr lang="en-US" altLang="ko-KR" dirty="0"/>
              <a:t>Dataset </a:t>
            </a:r>
            <a:r>
              <a:rPr lang="ko-KR" altLang="en-US" dirty="0"/>
              <a:t>에는 포함 </a:t>
            </a:r>
            <a:r>
              <a:rPr lang="en-US" altLang="ko-KR" dirty="0"/>
              <a:t>— *failure mode </a:t>
            </a:r>
            <a:r>
              <a:rPr lang="ko-KR" altLang="en-US" dirty="0"/>
              <a:t>분석용*</a:t>
            </a:r>
            <a:r>
              <a:rPr lang="en-US" altLang="ko-KR" dirty="0"/>
              <a:t>. </a:t>
            </a:r>
            <a:r>
              <a:rPr lang="ko-KR" altLang="en-US" dirty="0"/>
              <a:t>본 발표 *주 평가는 </a:t>
            </a:r>
            <a:r>
              <a:rPr lang="en-US" altLang="ko-KR" dirty="0"/>
              <a:t>BF2~BF5* </a:t>
            </a:r>
            <a:r>
              <a:rPr lang="ko-KR" altLang="en-US" dirty="0"/>
              <a:t>영역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Q. Calibration </a:t>
            </a:r>
            <a:r>
              <a:rPr lang="ko-KR" altLang="en-US" dirty="0"/>
              <a:t>케이스는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LiDAR </a:t>
            </a:r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raydrop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모델의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검출 확률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식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:</a:t>
            </a:r>
          </a:p>
          <a:p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P_i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= η · </a:t>
            </a:r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R_fresnel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(</a:t>
            </a:r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θ_i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 · cos(</a:t>
            </a:r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θ_i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 / (d/</a:t>
            </a:r>
            <a:r>
              <a:rPr kumimoji="1" lang="en-US" altLang="ko-KR" sz="1200" b="0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d_ref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)²</a:t>
            </a:r>
          </a:p>
          <a:p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여기서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η (efficiency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상수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와 </a:t>
            </a:r>
            <a:r>
              <a:rPr kumimoji="1" lang="en-US" altLang="ko-KR" sz="1200" b="0" i="1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d_ref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(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기준 거리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같은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센서 모델 파라미터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를 결정하기 위해 사용됩니다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.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구체적으로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:</a:t>
            </a:r>
          </a:p>
          <a:p>
            <a:r>
              <a:rPr kumimoji="1" lang="en-US" altLang="ko-KR" sz="1200" b="1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η </a:t>
            </a:r>
            <a:r>
              <a:rPr kumimoji="1" lang="ko-KR" altLang="en-US" sz="1200" b="1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결정 방식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: </a:t>
            </a:r>
            <a:r>
              <a:rPr kumimoji="1" lang="en-US" altLang="ko-KR" sz="1200" b="0" i="1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target_n_pts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 (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예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: frame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당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50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점 목표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)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가 나오도록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η </a:t>
            </a:r>
            <a:r>
              <a:rPr kumimoji="1" lang="ko-KR" altLang="en-US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자동 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calibration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.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즉 </a:t>
            </a:r>
            <a:r>
              <a:rPr kumimoji="1" lang="en-US" altLang="ko-KR" sz="1200" b="0" i="1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expected return count = target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 조건을 만족하는 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η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값 찾기</a:t>
            </a:r>
            <a:endParaRPr kumimoji="1" lang="en-US" altLang="ko-KR" sz="1200" b="0" i="0" kern="1200" dirty="0"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+mn-cs"/>
            </a:endParaRPr>
          </a:p>
          <a:p>
            <a:r>
              <a:rPr kumimoji="1" lang="en-US" altLang="ko-KR" sz="1200" b="1" i="0" kern="1200" dirty="0" err="1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d_ref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: Falcon K1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의 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250m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사양의 절반인 </a:t>
            </a:r>
            <a:r>
              <a:rPr kumimoji="1" lang="en-US" altLang="ko-KR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125m </a:t>
            </a:r>
            <a:r>
              <a:rPr kumimoji="1" lang="ko-KR" altLang="en-US" sz="1200" b="0" i="0" kern="1200" dirty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+mn-cs"/>
              </a:rPr>
              <a:t>로 고정</a:t>
            </a:r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185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C07C8241-B47D-4265-B8DC-7A83560CC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054225"/>
            <a:ext cx="9144000" cy="223202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D8179D-E436-4C76-ADBD-8F3423C15B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25663"/>
            <a:ext cx="9144000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1D063F3-1108-4154-8347-0AB06E35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EB2E69D-3CDF-48CA-9224-6B58E034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03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5B215-C573-4168-B166-EB28B28A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Times New Roman" panose="02020603050405020304" pitchFamily="18" charset="0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804C4-9697-471E-8BC1-E0A58D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7338"/>
            <a:ext cx="1403648" cy="242969"/>
          </a:xfrm>
        </p:spPr>
        <p:txBody>
          <a:bodyPr/>
          <a:lstStyle/>
          <a:p>
            <a:r>
              <a:rPr lang="en-US" altLang="ko-KR" dirty="0"/>
              <a:t>May 13, 2026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C737C-4C7F-4C5A-8F42-207CA8A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3648" y="6627244"/>
            <a:ext cx="5976664" cy="240018"/>
          </a:xfrm>
        </p:spPr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8">
            <a:extLst>
              <a:ext uri="{FF2B5EF4-FFF2-40B4-BE49-F238E27FC236}">
                <a16:creationId xmlns:a16="http://schemas.microsoft.com/office/drawing/2014/main" id="{66223D9C-B720-4BD8-9066-5AAD180ABF23}"/>
              </a:ext>
            </a:extLst>
          </p:cNvPr>
          <p:cNvSpPr txBox="1">
            <a:spLocks/>
          </p:cNvSpPr>
          <p:nvPr userDrawn="1"/>
        </p:nvSpPr>
        <p:spPr>
          <a:xfrm>
            <a:off x="4067944" y="6376074"/>
            <a:ext cx="899592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-</a:t>
            </a:r>
            <a:fld id="{4B06D9A7-2E35-4533-98BA-70A08AF23C1B}" type="slidenum"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/32</a:t>
            </a:r>
            <a:r>
              <a:rPr lang="en-US" altLang="ko-KR" dirty="0"/>
              <a:t>-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186BCE-BF40-49B6-9640-B62E920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56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40BB9-443F-4905-A0E2-B5F7F362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"/>
            <a:ext cx="8191822" cy="781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AD3A9-72B8-461E-95E0-A034CE037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980732"/>
            <a:ext cx="8191822" cy="51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4FE15-D5B1-472D-8C03-1866CA6B9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37339"/>
            <a:ext cx="1403648" cy="215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May 13, 2026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D6D48-DE6D-44CE-A7CA-EE652509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3648" y="6627244"/>
            <a:ext cx="6212110" cy="2400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ACEA0B10-CC48-4B92-B94F-3F5D3EA269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85813"/>
            <a:ext cx="91440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572C12F0-8479-479A-ABC0-316A3C83A0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23050"/>
            <a:ext cx="738031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77CD4FEF-74D3-4DAE-AE4D-9E663E34A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79388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71CF3CB-1B69-427E-ACF8-3C89AC11B6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28813"/>
            <a:ext cx="69850" cy="46799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FEB5F-9136-46CD-A7E7-DD92C8EE2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9361" y="6320474"/>
            <a:ext cx="512878" cy="532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6923D-4463-4616-B13E-2F75DC18C637}"/>
              </a:ext>
            </a:extLst>
          </p:cNvPr>
          <p:cNvSpPr txBox="1"/>
          <p:nvPr userDrawn="1"/>
        </p:nvSpPr>
        <p:spPr>
          <a:xfrm>
            <a:off x="7852389" y="6513991"/>
            <a:ext cx="1366080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"/>
              </a:lnSpc>
            </a:pP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SNUTT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Towing Tank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B3739-5194-4EC4-8994-987B3EFD5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2130200"/>
            <a:ext cx="8782744" cy="2090662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/>
              <a:t>Ocean Wave Estimation from sparse LiDAR points</a:t>
            </a:r>
            <a:endParaRPr lang="ko-KR" altLang="en-US" sz="1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05733F-0B25-40D5-BF94-DF468B066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608" y="5373216"/>
            <a:ext cx="7992888" cy="720080"/>
          </a:xfrm>
        </p:spPr>
        <p:txBody>
          <a:bodyPr>
            <a:normAutofit/>
          </a:bodyPr>
          <a:lstStyle/>
          <a:p>
            <a:pPr algn="r"/>
            <a:r>
              <a:rPr lang="en-US" altLang="ko-KR" sz="1800" b="1" dirty="0" err="1"/>
              <a:t>Sae</a:t>
            </a:r>
            <a:r>
              <a:rPr lang="en-US" altLang="ko-KR" sz="1800" b="1" dirty="0"/>
              <a:t> Yong Park</a:t>
            </a:r>
            <a:r>
              <a:rPr lang="en-US" altLang="ko-KR" sz="1800" baseline="30000" dirty="0"/>
              <a:t> 1</a:t>
            </a:r>
            <a:r>
              <a:rPr lang="en-US" altLang="ko-KR" sz="1800" dirty="0"/>
              <a:t>, Shin</a:t>
            </a:r>
            <a:r>
              <a:rPr lang="ko-KR" altLang="en-US" sz="1800" dirty="0"/>
              <a:t> </a:t>
            </a:r>
            <a:r>
              <a:rPr lang="en-US" altLang="ko-KR" sz="1800" dirty="0"/>
              <a:t>Hyung</a:t>
            </a:r>
            <a:r>
              <a:rPr lang="ko-KR" altLang="en-US" sz="1800" dirty="0"/>
              <a:t> </a:t>
            </a:r>
            <a:r>
              <a:rPr lang="en-US" altLang="ko-KR" sz="1800" dirty="0"/>
              <a:t>Rhee</a:t>
            </a:r>
            <a:r>
              <a:rPr lang="en-US" altLang="ko-KR" sz="1800" baseline="30000" dirty="0"/>
              <a:t> 1</a:t>
            </a:r>
            <a:endParaRPr lang="en-US" altLang="ko-KR" sz="1800" dirty="0"/>
          </a:p>
          <a:p>
            <a:pPr algn="r"/>
            <a:r>
              <a:rPr lang="en-US" altLang="ko-KR" sz="1800" baseline="30000" dirty="0"/>
              <a:t> </a:t>
            </a:r>
            <a:r>
              <a:rPr lang="en-US" altLang="ko-KR" sz="1800" dirty="0"/>
              <a:t>Seoul National Univ., Seoul, Korea</a:t>
            </a:r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96E4A0B-D702-4670-BF9E-8B0501E9E89D}"/>
              </a:ext>
            </a:extLst>
          </p:cNvPr>
          <p:cNvSpPr txBox="1">
            <a:spLocks/>
          </p:cNvSpPr>
          <p:nvPr/>
        </p:nvSpPr>
        <p:spPr>
          <a:xfrm>
            <a:off x="4036223" y="0"/>
            <a:ext cx="5112568" cy="7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</a:pPr>
            <a:endParaRPr kumimoji="0" lang="ko-KR" altLang="en-US" baseline="300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B59998C-8342-4240-B9B4-EE62F58858CB}"/>
              </a:ext>
            </a:extLst>
          </p:cNvPr>
          <p:cNvSpPr txBox="1">
            <a:spLocks/>
          </p:cNvSpPr>
          <p:nvPr/>
        </p:nvSpPr>
        <p:spPr>
          <a:xfrm>
            <a:off x="7164288" y="809664"/>
            <a:ext cx="1979712" cy="387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 fontAlgn="auto">
              <a:spcAft>
                <a:spcPts val="0"/>
              </a:spcAft>
            </a:pPr>
            <a:r>
              <a:rPr kumimoji="0" lang="en-US" altLang="ko-KR" sz="2000" dirty="0">
                <a:solidFill>
                  <a:schemeClr val="tx1"/>
                </a:solidFill>
              </a:rPr>
              <a:t>May 13, 2026</a:t>
            </a:r>
            <a:endParaRPr kumimoji="0"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9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E03C2DFD-BF25-4C69-99C4-9AEF63C4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A34253F-BB03-4785-AF99-09BF4345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957DF45F-CB86-4ACD-9E4C-5E3F81D9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0D143BB5-9403-4D34-8155-18B3E379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E39325F6-5876-1AAD-95B5-20D7C8796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9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43C3-76D2-9AEF-667F-E6302EC4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3A1CC3E-8239-DF0B-66F3-58CF54CF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3F0806D6-70EA-2234-0422-C73CE02C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8C29B42-F028-A9EC-EF56-C43EF7F42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6AE2FE7B-B1C8-761B-5300-2F98E6914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6D7D8686-CA5A-2242-7B46-6C184AF44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9DB7D06C-9BF2-E7D5-3DEF-482AFD14B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78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013FE6-BEFE-7426-BA67-825A26E30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파 추정의 한계</a:t>
            </a:r>
            <a:endParaRPr lang="en-US" altLang="ko-KR" sz="1800" dirty="0"/>
          </a:p>
          <a:p>
            <a:pPr lvl="1"/>
            <a:r>
              <a:rPr lang="ko-KR" altLang="en-US" sz="1600" dirty="0"/>
              <a:t>통계적 추정으로는 유의파고</a:t>
            </a:r>
            <a:r>
              <a:rPr lang="en-US" altLang="ko-KR" sz="1600" dirty="0"/>
              <a:t>, </a:t>
            </a:r>
            <a:r>
              <a:rPr lang="ko-KR" altLang="en-US" sz="1600" dirty="0"/>
              <a:t>주기 정도만 제공</a:t>
            </a:r>
            <a:endParaRPr lang="en-US" altLang="ko-KR" sz="1600" dirty="0"/>
          </a:p>
          <a:p>
            <a:pPr lvl="2"/>
            <a:r>
              <a:rPr lang="ko-KR" altLang="en-US" sz="1400" dirty="0"/>
              <a:t>평균적 파 환경은 알 수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언제 어디서 파가 오는지 미지수</a:t>
            </a:r>
            <a:endParaRPr lang="en-US" altLang="ko-KR" sz="1400" dirty="0"/>
          </a:p>
          <a:p>
            <a:pPr lvl="2"/>
            <a:r>
              <a:rPr lang="ko-KR" altLang="en-US" sz="1400" dirty="0"/>
              <a:t>선박 설계에는 충분하나 실시간 제어 목적으로는 부족</a:t>
            </a:r>
            <a:br>
              <a:rPr lang="en-US" altLang="ko-KR" sz="1400" dirty="0"/>
            </a:br>
            <a:endParaRPr lang="en-US" altLang="ko-KR" sz="1400" dirty="0"/>
          </a:p>
          <a:p>
            <a:pPr lvl="1"/>
            <a:r>
              <a:rPr lang="ko-KR" altLang="en-US" sz="1600" dirty="0"/>
              <a:t>따라서 본 연구에서는 하기와 같은 연구를 수행</a:t>
            </a:r>
            <a:endParaRPr lang="en-US" altLang="ko-KR" sz="1600" dirty="0"/>
          </a:p>
          <a:p>
            <a:pPr lvl="2"/>
            <a:r>
              <a:rPr lang="en-US" altLang="ko-KR" sz="1400" dirty="0"/>
              <a:t>Phase resolved estimation: η(x, y, t) – </a:t>
            </a:r>
            <a:r>
              <a:rPr lang="ko-KR" altLang="en-US" sz="1400" dirty="0"/>
              <a:t>각 파도의 위치</a:t>
            </a:r>
            <a:r>
              <a:rPr lang="en-US" altLang="ko-KR" sz="1400" dirty="0"/>
              <a:t>·</a:t>
            </a:r>
            <a:r>
              <a:rPr lang="ko-KR" altLang="en-US" sz="1400" dirty="0"/>
              <a:t>시점을 추정</a:t>
            </a:r>
          </a:p>
          <a:p>
            <a:pPr lvl="2"/>
            <a:r>
              <a:rPr lang="en-US" altLang="ko-KR" sz="1400" dirty="0"/>
              <a:t>BF4 sea state</a:t>
            </a:r>
            <a:r>
              <a:rPr lang="ko-KR" altLang="en-US" sz="1400" dirty="0"/>
              <a:t>가 아닌 특정 위치 특정 시간 후 어떤 파와 같은 구체적 정보 추정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ko-KR" altLang="en-US" sz="1800" dirty="0"/>
              <a:t>연구 결과를 이용한 응용</a:t>
            </a:r>
            <a:endParaRPr lang="en-US" altLang="ko-KR" sz="1800" dirty="0"/>
          </a:p>
          <a:p>
            <a:pPr lvl="1"/>
            <a:r>
              <a:rPr lang="en-US" altLang="ko-KR" sz="1600" dirty="0"/>
              <a:t>Hydrofoil </a:t>
            </a:r>
            <a:r>
              <a:rPr lang="ko-KR" altLang="en-US" sz="1600" dirty="0"/>
              <a:t>선박의 제어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0D9DD2-9C28-DE35-3816-856E9A68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DB25442-03D3-DCFD-61B0-F9C1A340B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Introduction &amp; Motivation</a:t>
            </a:r>
            <a:endParaRPr lang="ko-KR" altLang="en-US" dirty="0"/>
          </a:p>
        </p:txBody>
      </p:sp>
      <p:pic>
        <p:nvPicPr>
          <p:cNvPr id="8" name="Picture 5" descr="hydrofoil_controller_flow.png">
            <a:extLst>
              <a:ext uri="{FF2B5EF4-FFF2-40B4-BE49-F238E27FC236}">
                <a16:creationId xmlns:a16="http://schemas.microsoft.com/office/drawing/2014/main" id="{49B446B9-31EE-C81D-05A6-08D66E7F3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08" y="4077072"/>
            <a:ext cx="5859184" cy="206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4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8A8DF89-8AC4-1D77-78EF-42D6CCA56A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1800" dirty="0"/>
                  <a:t>LiDAR </a:t>
                </a:r>
                <a:r>
                  <a:rPr lang="ko-KR" altLang="en-US" sz="1800" dirty="0"/>
                  <a:t>기반 파 추정 연구 필요성</a:t>
                </a:r>
              </a:p>
              <a:p>
                <a:pPr lvl="1"/>
                <a:r>
                  <a:rPr lang="ko-KR" altLang="en-US" sz="1600" dirty="0"/>
                  <a:t>희소</a:t>
                </a:r>
                <a:r>
                  <a:rPr lang="en-US" altLang="ko-KR" sz="1600" dirty="0"/>
                  <a:t>·</a:t>
                </a:r>
                <a:r>
                  <a:rPr lang="ko-KR" altLang="en-US" sz="1600" dirty="0" err="1"/>
                  <a:t>비균일</a:t>
                </a:r>
                <a:r>
                  <a:rPr lang="ko-KR" altLang="en-US" sz="1600" dirty="0"/>
                  <a:t> 측정 </a:t>
                </a:r>
                <a:r>
                  <a:rPr lang="en-US" altLang="ko-KR" sz="1600" dirty="0"/>
                  <a:t>(sparse, non-uniform observation)</a:t>
                </a:r>
              </a:p>
              <a:p>
                <a:pPr lvl="2"/>
                <a:r>
                  <a:rPr lang="en-US" altLang="ko-KR" sz="1400" dirty="0"/>
                  <a:t>frame</a:t>
                </a:r>
                <a:r>
                  <a:rPr lang="ko-KR" altLang="en-US" sz="1400" dirty="0"/>
                  <a:t>당 </a:t>
                </a:r>
                <a:r>
                  <a:rPr lang="en-US" altLang="ko-KR" sz="1400" dirty="0"/>
                  <a:t>valid LiDAR </a:t>
                </a:r>
                <a:r>
                  <a:rPr lang="ko-KR" altLang="en-US" sz="1400" dirty="0"/>
                  <a:t>점 약 </a:t>
                </a:r>
                <a:r>
                  <a:rPr lang="en-US" altLang="ko-KR" sz="1400" dirty="0"/>
                  <a:t>50</a:t>
                </a:r>
                <a:r>
                  <a:rPr lang="ko-KR" altLang="en-US" sz="1400" dirty="0"/>
                  <a:t>개</a:t>
                </a:r>
                <a:endParaRPr lang="en-US" altLang="ko-KR" sz="1400" dirty="0"/>
              </a:p>
              <a:p>
                <a:pPr lvl="2"/>
                <a:r>
                  <a:rPr lang="ko-KR" altLang="en-US" sz="1400" dirty="0"/>
                  <a:t>거리에 따른 </a:t>
                </a:r>
                <a:r>
                  <a:rPr lang="ko-KR" altLang="en-US" sz="1400" dirty="0" err="1"/>
                  <a:t>점밀도</a:t>
                </a:r>
                <a:r>
                  <a:rPr lang="ko-KR" altLang="en-US" sz="1400" dirty="0"/>
                  <a:t> </a:t>
                </a:r>
                <a:r>
                  <a:rPr lang="ko-KR" altLang="en-US" sz="1400" dirty="0" err="1"/>
                  <a:t>비균일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- </a:t>
                </a:r>
                <a:r>
                  <a:rPr lang="ko-KR" altLang="en-US" sz="1400" dirty="0"/>
                  <a:t>가까울수록 </a:t>
                </a:r>
                <a:r>
                  <a:rPr lang="en-US" altLang="ko-KR" sz="1400" dirty="0"/>
                  <a:t>dense, </a:t>
                </a:r>
                <a:r>
                  <a:rPr lang="ko-KR" altLang="en-US" sz="1400" dirty="0"/>
                  <a:t>멀수록 </a:t>
                </a:r>
                <a:r>
                  <a:rPr lang="en-US" altLang="ko-KR" sz="1400" dirty="0"/>
                  <a:t>sparse</a:t>
                </a:r>
              </a:p>
              <a:p>
                <a:pPr lvl="2"/>
                <a:r>
                  <a:rPr lang="ko-KR" altLang="en-US" sz="1400" dirty="0"/>
                  <a:t>기존 </a:t>
                </a:r>
                <a:r>
                  <a:rPr lang="en-US" altLang="ko-KR" sz="1400" dirty="0"/>
                  <a:t>wave estimation</a:t>
                </a:r>
                <a:r>
                  <a:rPr lang="ko-KR" altLang="en-US" sz="1400" dirty="0"/>
                  <a:t>은 </a:t>
                </a:r>
                <a:r>
                  <a:rPr lang="en-US" altLang="ko-KR" sz="1400" dirty="0"/>
                  <a:t>dense·</a:t>
                </a:r>
                <a:r>
                  <a:rPr lang="ko-KR" altLang="en-US" sz="1400" dirty="0"/>
                  <a:t>균일 가정 </a:t>
                </a:r>
                <a:r>
                  <a:rPr lang="en-US" altLang="ko-KR" sz="1400" dirty="0"/>
                  <a:t>- LiDAR </a:t>
                </a:r>
                <a:r>
                  <a:rPr lang="ko-KR" altLang="en-US" sz="1400" dirty="0"/>
                  <a:t>적용 어려움</a:t>
                </a:r>
              </a:p>
              <a:p>
                <a:pPr lvl="1"/>
                <a:r>
                  <a:rPr lang="ko-KR" altLang="en-US" sz="1600" dirty="0"/>
                  <a:t>실시간 제약 </a:t>
                </a:r>
                <a:r>
                  <a:rPr lang="en-US" altLang="ko-KR" sz="1600" dirty="0"/>
                  <a:t>(real-time constraint)</a:t>
                </a:r>
              </a:p>
              <a:p>
                <a:pPr lvl="2"/>
                <a:r>
                  <a:rPr lang="en-US" altLang="ko-KR" sz="1400" dirty="0" err="1"/>
                  <a:t>EnKF</a:t>
                </a:r>
                <a:r>
                  <a:rPr lang="en-US" altLang="ko-KR" sz="1400" dirty="0"/>
                  <a:t> (ensemble), PINN (</a:t>
                </a:r>
                <a:r>
                  <a:rPr lang="ko-KR" altLang="en-US" sz="1400" dirty="0"/>
                  <a:t>학습 기반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은 계산에 시간 소요가 큼</a:t>
                </a:r>
              </a:p>
              <a:p>
                <a:pPr lvl="2"/>
                <a:r>
                  <a:rPr lang="en-US" altLang="ko-KR" sz="1400" dirty="0"/>
                  <a:t>Real-time control loop </a:t>
                </a:r>
                <a:r>
                  <a:rPr lang="ko-KR" altLang="en-US" sz="1400" dirty="0"/>
                  <a:t>적용 위해서는 </a:t>
                </a:r>
                <a:r>
                  <a:rPr lang="en-US" altLang="ko-KR" sz="1400" dirty="0" err="1"/>
                  <a:t>deterministic·closed-form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추정 필요</a:t>
                </a:r>
              </a:p>
              <a:p>
                <a:pPr lvl="1"/>
                <a:r>
                  <a:rPr lang="en-US" altLang="ko-KR" sz="1600" dirty="0"/>
                  <a:t>2D directional sea state</a:t>
                </a:r>
              </a:p>
              <a:p>
                <a:pPr lvl="2"/>
                <a:r>
                  <a:rPr lang="ko-KR" altLang="en-US" sz="1400" dirty="0"/>
                  <a:t>실해 파도는 한 방향이 아닌 여러 방향 혼재</a:t>
                </a:r>
                <a:endParaRPr lang="en-US" altLang="ko-KR" sz="1400" dirty="0"/>
              </a:p>
              <a:p>
                <a:pPr lvl="2"/>
                <a:r>
                  <a:rPr lang="en-US" altLang="ko-KR" sz="1400" dirty="0"/>
                  <a:t>Wavenumber</a:t>
                </a:r>
                <a:r>
                  <a:rPr lang="ko-KR" altLang="en-US" sz="1400" dirty="0"/>
                  <a:t>도 </a:t>
                </a:r>
                <a:r>
                  <a:rPr lang="en-US" altLang="ko-KR" sz="1400" dirty="0"/>
                  <a:t>scalar </a:t>
                </a:r>
                <a:r>
                  <a:rPr lang="ko-KR" altLang="en-US" sz="1400" dirty="0"/>
                  <a:t>아닌 </a:t>
                </a:r>
                <a:r>
                  <a:rPr lang="en-US" altLang="ko-KR" sz="1400" dirty="0"/>
                  <a:t>vector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sz="1400" dirty="0"/>
                  <a:t>) - </a:t>
                </a:r>
                <a:r>
                  <a:rPr lang="ko-KR" altLang="en-US" sz="1400" dirty="0"/>
                  <a:t>방향 정보 추정 필수</a:t>
                </a:r>
              </a:p>
              <a:p>
                <a:pPr lvl="2"/>
                <a:r>
                  <a:rPr lang="ko-KR" altLang="en-US" sz="1400" dirty="0"/>
                  <a:t>선행 연구 다수는 </a:t>
                </a:r>
                <a:r>
                  <a:rPr lang="en-US" altLang="ko-KR" sz="1400" dirty="0"/>
                  <a:t>1D </a:t>
                </a:r>
                <a:r>
                  <a:rPr lang="ko-KR" altLang="en-US" sz="1400" dirty="0"/>
                  <a:t>가정 </a:t>
                </a:r>
                <a:r>
                  <a:rPr lang="en-US" altLang="ko-KR" sz="1400" dirty="0"/>
                  <a:t>(Klein 2020, </a:t>
                </a:r>
                <a:r>
                  <a:rPr lang="en-US" altLang="ko-KR" sz="1400" dirty="0" err="1"/>
                  <a:t>Desmars</a:t>
                </a:r>
                <a:r>
                  <a:rPr lang="en-US" altLang="ko-KR" sz="1400" dirty="0"/>
                  <a:t> 2023) - </a:t>
                </a:r>
                <a:r>
                  <a:rPr lang="ko-KR" altLang="en-US" sz="1400" dirty="0"/>
                  <a:t>본 연구는 </a:t>
                </a:r>
                <a:r>
                  <a:rPr lang="en-US" altLang="ko-KR" sz="1400" dirty="0"/>
                  <a:t>2D </a:t>
                </a:r>
                <a:r>
                  <a:rPr lang="ko-KR" altLang="en-US" sz="1400" dirty="0"/>
                  <a:t>직접 처리</a:t>
                </a:r>
              </a:p>
              <a:p>
                <a:endParaRPr lang="ko-KR" altLang="en-US" sz="180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8A8DF89-8AC4-1D77-78EF-42D6CCA56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7"/>
                <a:stretch>
                  <a:fillRect l="-446" t="-12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26819-E786-5975-A68A-2BFF9EE6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577E9D-1A1E-9F4D-2665-8647F9B6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Introduction &amp; Motivation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3F9F5F1-CC1E-74FC-A2D2-70B8096A549D}"/>
              </a:ext>
            </a:extLst>
          </p:cNvPr>
          <p:cNvGrpSpPr/>
          <p:nvPr/>
        </p:nvGrpSpPr>
        <p:grpSpPr>
          <a:xfrm>
            <a:off x="1066391" y="4266939"/>
            <a:ext cx="7011219" cy="1964184"/>
            <a:chOff x="900100" y="4266939"/>
            <a:chExt cx="7011219" cy="1964184"/>
          </a:xfrm>
        </p:grpSpPr>
        <p:pic>
          <p:nvPicPr>
            <p:cNvPr id="6" name="sensor_cam">
              <a:hlinkClick r:id="" action="ppaction://media"/>
              <a:extLst>
                <a:ext uri="{FF2B5EF4-FFF2-40B4-BE49-F238E27FC236}">
                  <a16:creationId xmlns:a16="http://schemas.microsoft.com/office/drawing/2014/main" id="{61784EF2-2B80-B8C0-6BD8-6583E62F92FF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8"/>
            <a:stretch>
              <a:fillRect/>
            </a:stretch>
          </p:blipFill>
          <p:spPr>
            <a:xfrm>
              <a:off x="900100" y="4266940"/>
              <a:ext cx="3491880" cy="1964183"/>
            </a:xfrm>
            <a:prstGeom prst="rect">
              <a:avLst/>
            </a:prstGeom>
          </p:spPr>
        </p:pic>
        <p:pic>
          <p:nvPicPr>
            <p:cNvPr id="7" name="wave">
              <a:hlinkClick r:id="" action="ppaction://media"/>
              <a:extLst>
                <a:ext uri="{FF2B5EF4-FFF2-40B4-BE49-F238E27FC236}">
                  <a16:creationId xmlns:a16="http://schemas.microsoft.com/office/drawing/2014/main" id="{1F4E2EA1-C1A7-38E3-9753-78CFD0E39687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4419439" y="4266939"/>
              <a:ext cx="3491880" cy="1964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37949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DE27-60DE-4F67-F6A8-6AE4CCF0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8DA47BB-7526-2B5E-33A3-E3F2AD94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60CFA95B-EF06-954A-6532-9274614F6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DE05E8A7-297E-7F9D-699E-002CBF2A6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FF54E954-E8B6-A109-1F05-B36BE4A9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B7FC5FB-782F-2C16-B741-BCDF542A2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F79E2042-73B7-AC8F-7F6F-B5B7DBC98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9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827E40F-7DF7-502B-80A7-BCB212A7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1900" dirty="0">
                <a:latin typeface="+mn-lt"/>
              </a:rPr>
              <a:t>선행 연구 </a:t>
            </a:r>
            <a:r>
              <a:rPr lang="en-US" altLang="ko-KR" sz="1900" dirty="0">
                <a:latin typeface="+mn-lt"/>
              </a:rPr>
              <a:t>5</a:t>
            </a:r>
            <a:r>
              <a:rPr lang="ko-KR" altLang="en-US" sz="1900" dirty="0">
                <a:latin typeface="+mn-lt"/>
              </a:rPr>
              <a:t>가지 접근법</a:t>
            </a:r>
          </a:p>
          <a:p>
            <a:pPr lvl="1"/>
            <a:r>
              <a:rPr lang="ko-KR" altLang="en-US" sz="1600" dirty="0">
                <a:latin typeface="+mn-lt"/>
              </a:rPr>
              <a:t>격자 기반 최적화</a:t>
            </a:r>
          </a:p>
          <a:p>
            <a:pPr lvl="2"/>
            <a:r>
              <a:rPr lang="en-US" altLang="ko-KR" sz="1500" dirty="0" err="1">
                <a:latin typeface="+mn-lt"/>
              </a:rPr>
              <a:t>Desmars</a:t>
            </a:r>
            <a:r>
              <a:rPr lang="en-US" altLang="ko-KR" sz="1500" dirty="0">
                <a:latin typeface="+mn-lt"/>
              </a:rPr>
              <a:t> 2018, 2020, 2023</a:t>
            </a:r>
          </a:p>
          <a:p>
            <a:pPr lvl="2"/>
            <a:r>
              <a:rPr lang="en-US" altLang="ko-KR" sz="1500" dirty="0">
                <a:latin typeface="+mn-lt"/>
              </a:rPr>
              <a:t>Pre-defined wavenumber grid </a:t>
            </a:r>
            <a:r>
              <a:rPr lang="ko-KR" altLang="en-US" sz="1500" dirty="0">
                <a:latin typeface="+mn-lt"/>
              </a:rPr>
              <a:t>위 </a:t>
            </a:r>
            <a:r>
              <a:rPr lang="en-US" altLang="ko-KR" sz="1500" dirty="0">
                <a:latin typeface="+mn-lt"/>
              </a:rPr>
              <a:t>variational </a:t>
            </a:r>
            <a:r>
              <a:rPr lang="ko-KR" altLang="en-US" sz="1500" dirty="0">
                <a:latin typeface="+mn-lt"/>
              </a:rPr>
              <a:t>최적화</a:t>
            </a:r>
          </a:p>
          <a:p>
            <a:pPr lvl="2"/>
            <a:r>
              <a:rPr lang="ko-KR" altLang="en-US" sz="1500" dirty="0">
                <a:latin typeface="+mn-lt"/>
              </a:rPr>
              <a:t>한계</a:t>
            </a:r>
            <a:r>
              <a:rPr lang="en-US" altLang="ko-KR" sz="1500" dirty="0">
                <a:latin typeface="+mn-lt"/>
              </a:rPr>
              <a:t>: on-grid (</a:t>
            </a:r>
            <a:r>
              <a:rPr lang="ko-KR" altLang="en-US" sz="1500" dirty="0">
                <a:latin typeface="+mn-lt"/>
              </a:rPr>
              <a:t>격자 사이 </a:t>
            </a:r>
            <a:r>
              <a:rPr lang="en-US" altLang="ko-KR" sz="1500" dirty="0">
                <a:latin typeface="+mn-lt"/>
              </a:rPr>
              <a:t>wavenumber </a:t>
            </a:r>
            <a:r>
              <a:rPr lang="ko-KR" altLang="en-US" sz="1500" dirty="0">
                <a:latin typeface="+mn-lt"/>
              </a:rPr>
              <a:t>표현 불가</a:t>
            </a:r>
            <a:r>
              <a:rPr lang="en-US" altLang="ko-KR" sz="1500" dirty="0">
                <a:latin typeface="+mn-lt"/>
              </a:rPr>
              <a:t>), </a:t>
            </a:r>
            <a:r>
              <a:rPr lang="ko-KR" altLang="en-US" sz="1500" dirty="0">
                <a:latin typeface="+mn-lt"/>
              </a:rPr>
              <a:t>대부분 </a:t>
            </a:r>
            <a:r>
              <a:rPr lang="en-US" altLang="ko-KR" sz="1500" dirty="0">
                <a:latin typeface="+mn-lt"/>
              </a:rPr>
              <a:t>1D</a:t>
            </a:r>
          </a:p>
          <a:p>
            <a:pPr lvl="1"/>
            <a:r>
              <a:rPr lang="ko-KR" altLang="en-US" sz="1600" dirty="0">
                <a:latin typeface="+mn-lt"/>
              </a:rPr>
              <a:t>앙상블 칼만 필터</a:t>
            </a:r>
          </a:p>
          <a:p>
            <a:pPr lvl="2"/>
            <a:r>
              <a:rPr lang="en-US" altLang="ko-KR" sz="1500" dirty="0">
                <a:latin typeface="+mn-lt"/>
              </a:rPr>
              <a:t>Wang &amp; Pan 2021/22 - </a:t>
            </a:r>
            <a:r>
              <a:rPr lang="en-US" altLang="ko-KR" sz="1500" dirty="0" err="1">
                <a:latin typeface="+mn-lt"/>
              </a:rPr>
              <a:t>EnKF</a:t>
            </a:r>
            <a:r>
              <a:rPr lang="en-US" altLang="ko-KR" sz="1500" dirty="0">
                <a:latin typeface="+mn-lt"/>
              </a:rPr>
              <a:t> + HOS </a:t>
            </a:r>
            <a:r>
              <a:rPr lang="ko-KR" altLang="en-US" sz="1500" dirty="0">
                <a:latin typeface="+mn-lt"/>
              </a:rPr>
              <a:t>비선형 </a:t>
            </a:r>
            <a:r>
              <a:rPr lang="en-US" altLang="ko-KR" sz="1500" dirty="0">
                <a:latin typeface="+mn-lt"/>
              </a:rPr>
              <a:t>wave</a:t>
            </a:r>
          </a:p>
          <a:p>
            <a:pPr lvl="2"/>
            <a:r>
              <a:rPr lang="en-US" altLang="ko-KR" sz="1500" dirty="0">
                <a:latin typeface="+mn-lt"/>
              </a:rPr>
              <a:t>Feng Wang 2025 - ETKF + fuzzy R + Delaunay</a:t>
            </a:r>
          </a:p>
          <a:p>
            <a:pPr lvl="2"/>
            <a:r>
              <a:rPr lang="en-US" altLang="ko-KR" sz="1500" dirty="0">
                <a:latin typeface="+mn-lt"/>
              </a:rPr>
              <a:t>Yan 2025 - VOF-</a:t>
            </a:r>
            <a:r>
              <a:rPr lang="en-US" altLang="ko-KR" sz="1500" dirty="0" err="1">
                <a:latin typeface="+mn-lt"/>
              </a:rPr>
              <a:t>EnKF</a:t>
            </a:r>
            <a:r>
              <a:rPr lang="en-US" altLang="ko-KR" sz="1500" dirty="0">
                <a:latin typeface="+mn-lt"/>
              </a:rPr>
              <a:t> + Navier-Stokes (wave breaking)</a:t>
            </a:r>
          </a:p>
          <a:p>
            <a:pPr lvl="2"/>
            <a:r>
              <a:rPr lang="ko-KR" altLang="en-US" sz="1500" dirty="0">
                <a:latin typeface="+mn-lt"/>
              </a:rPr>
              <a:t>한계</a:t>
            </a:r>
            <a:r>
              <a:rPr lang="en-US" altLang="ko-KR" sz="1500" dirty="0">
                <a:latin typeface="+mn-lt"/>
              </a:rPr>
              <a:t>: 50–300 ensemble × </a:t>
            </a:r>
            <a:r>
              <a:rPr lang="ko-KR" altLang="en-US" sz="1500" dirty="0">
                <a:latin typeface="+mn-lt"/>
              </a:rPr>
              <a:t>수백 </a:t>
            </a:r>
            <a:r>
              <a:rPr lang="en-US" altLang="ko-KR" sz="1500" dirty="0" err="1">
                <a:latin typeface="+mn-lt"/>
              </a:rPr>
              <a:t>ms</a:t>
            </a:r>
            <a:r>
              <a:rPr lang="en-US" altLang="ko-KR" sz="1500" dirty="0">
                <a:latin typeface="+mn-lt"/>
              </a:rPr>
              <a:t> </a:t>
            </a:r>
            <a:r>
              <a:rPr lang="ko-KR" altLang="en-US" sz="1500" dirty="0">
                <a:latin typeface="+mn-lt"/>
              </a:rPr>
              <a:t>이상</a:t>
            </a:r>
            <a:r>
              <a:rPr lang="en-US" altLang="ko-KR" sz="1500" dirty="0">
                <a:latin typeface="+mn-lt"/>
              </a:rPr>
              <a:t> </a:t>
            </a:r>
            <a:r>
              <a:rPr lang="en-US" altLang="ko-KR" sz="1500" dirty="0">
                <a:latin typeface="+mn-lt"/>
                <a:sym typeface="Wingdings" panose="05000000000000000000" pitchFamily="2" charset="2"/>
              </a:rPr>
              <a:t></a:t>
            </a:r>
            <a:r>
              <a:rPr lang="en-US" altLang="ko-KR" sz="1500" dirty="0">
                <a:latin typeface="+mn-lt"/>
              </a:rPr>
              <a:t> real-time </a:t>
            </a:r>
            <a:r>
              <a:rPr lang="ko-KR" altLang="en-US" sz="1500" dirty="0">
                <a:latin typeface="+mn-lt"/>
              </a:rPr>
              <a:t>불가</a:t>
            </a:r>
            <a:r>
              <a:rPr lang="en-US" altLang="ko-KR" sz="1500" dirty="0">
                <a:latin typeface="+mn-lt"/>
              </a:rPr>
              <a:t>, </a:t>
            </a:r>
            <a:r>
              <a:rPr lang="ko-KR" altLang="en-US" sz="1500" dirty="0">
                <a:latin typeface="+mn-lt"/>
              </a:rPr>
              <a:t>대부분 </a:t>
            </a:r>
            <a:r>
              <a:rPr lang="en-US" altLang="ko-KR" sz="1500" dirty="0">
                <a:latin typeface="+mn-lt"/>
              </a:rPr>
              <a:t>1D</a:t>
            </a:r>
          </a:p>
          <a:p>
            <a:pPr lvl="1"/>
            <a:r>
              <a:rPr lang="ko-KR" altLang="en-US" sz="1600" dirty="0">
                <a:latin typeface="+mn-lt"/>
              </a:rPr>
              <a:t>지도학습 신경망</a:t>
            </a:r>
          </a:p>
          <a:p>
            <a:pPr lvl="2"/>
            <a:r>
              <a:rPr lang="en-US" altLang="ko-KR" sz="1500" dirty="0">
                <a:latin typeface="+mn-lt"/>
              </a:rPr>
              <a:t>Ehlers 2023 - Fourier Neural Operator (FNO)</a:t>
            </a:r>
          </a:p>
          <a:p>
            <a:pPr lvl="2"/>
            <a:r>
              <a:rPr lang="en-US" altLang="ko-KR" sz="1500" dirty="0">
                <a:latin typeface="+mn-lt"/>
              </a:rPr>
              <a:t>Inference 1.9 </a:t>
            </a:r>
            <a:r>
              <a:rPr lang="en-US" altLang="ko-KR" sz="1500" dirty="0" err="1">
                <a:latin typeface="+mn-lt"/>
              </a:rPr>
              <a:t>ms</a:t>
            </a:r>
            <a:r>
              <a:rPr lang="en-US" altLang="ko-KR" sz="1500" dirty="0">
                <a:latin typeface="+mn-lt"/>
              </a:rPr>
              <a:t> (</a:t>
            </a:r>
            <a:r>
              <a:rPr lang="ko-KR" altLang="en-US" sz="1500" dirty="0">
                <a:latin typeface="+mn-lt"/>
              </a:rPr>
              <a:t>학습 후</a:t>
            </a:r>
            <a:r>
              <a:rPr lang="en-US" altLang="ko-KR" sz="1500" dirty="0">
                <a:latin typeface="+mn-lt"/>
              </a:rPr>
              <a:t>), HOS </a:t>
            </a:r>
            <a:r>
              <a:rPr lang="ko-KR" altLang="en-US" sz="1500" dirty="0">
                <a:latin typeface="+mn-lt"/>
              </a:rPr>
              <a:t>합성 데이터 </a:t>
            </a:r>
            <a:r>
              <a:rPr lang="en-US" altLang="ko-KR" sz="1500" dirty="0">
                <a:latin typeface="+mn-lt"/>
              </a:rPr>
              <a:t>3120 sample </a:t>
            </a:r>
            <a:r>
              <a:rPr lang="ko-KR" altLang="en-US" sz="1500" dirty="0">
                <a:latin typeface="+mn-lt"/>
              </a:rPr>
              <a:t>학습 필요</a:t>
            </a:r>
          </a:p>
          <a:p>
            <a:pPr lvl="2"/>
            <a:r>
              <a:rPr lang="ko-KR" altLang="en-US" sz="1500" dirty="0">
                <a:latin typeface="+mn-lt"/>
              </a:rPr>
              <a:t>한계</a:t>
            </a:r>
            <a:r>
              <a:rPr lang="en-US" altLang="ko-KR" sz="1500" dirty="0">
                <a:latin typeface="+mn-lt"/>
              </a:rPr>
              <a:t>: distribution shift, 1D, black-box</a:t>
            </a:r>
          </a:p>
          <a:p>
            <a:pPr lvl="1"/>
            <a:r>
              <a:rPr lang="ko-KR" altLang="en-US" sz="1600" dirty="0">
                <a:latin typeface="+mn-lt"/>
              </a:rPr>
              <a:t>물리 기반 비지도 </a:t>
            </a:r>
            <a:r>
              <a:rPr lang="en-US" altLang="ko-KR" sz="1600" dirty="0">
                <a:latin typeface="+mn-lt"/>
              </a:rPr>
              <a:t>NN</a:t>
            </a:r>
          </a:p>
          <a:p>
            <a:pPr lvl="2"/>
            <a:r>
              <a:rPr lang="en-US" altLang="ko-KR" sz="1500" dirty="0">
                <a:latin typeface="+mn-lt"/>
              </a:rPr>
              <a:t>Ehlers 2025 - PFT-PINN</a:t>
            </a:r>
          </a:p>
          <a:p>
            <a:pPr lvl="2"/>
            <a:r>
              <a:rPr lang="ko-KR" altLang="en-US" sz="1500" dirty="0">
                <a:latin typeface="+mn-lt"/>
              </a:rPr>
              <a:t>학습 데이터 </a:t>
            </a:r>
            <a:r>
              <a:rPr lang="en-US" altLang="ko-KR" sz="1500" dirty="0">
                <a:latin typeface="+mn-lt"/>
              </a:rPr>
              <a:t>0</a:t>
            </a:r>
            <a:r>
              <a:rPr lang="ko-KR" altLang="en-US" sz="1500" dirty="0">
                <a:latin typeface="+mn-lt"/>
              </a:rPr>
              <a:t>개로 비선형 처리</a:t>
            </a:r>
            <a:r>
              <a:rPr lang="en-US" altLang="ko-KR" sz="1500" dirty="0">
                <a:latin typeface="+mn-lt"/>
              </a:rPr>
              <a:t>, hard-constraint trick</a:t>
            </a:r>
          </a:p>
          <a:p>
            <a:pPr lvl="2"/>
            <a:r>
              <a:rPr lang="ko-KR" altLang="en-US" sz="1500" dirty="0">
                <a:latin typeface="+mn-lt"/>
              </a:rPr>
              <a:t>한계</a:t>
            </a:r>
            <a:r>
              <a:rPr lang="en-US" altLang="ko-KR" sz="1500" dirty="0">
                <a:latin typeface="+mn-lt"/>
              </a:rPr>
              <a:t>: instance </a:t>
            </a:r>
            <a:r>
              <a:rPr lang="ko-KR" altLang="en-US" sz="1500" dirty="0">
                <a:latin typeface="+mn-lt"/>
              </a:rPr>
              <a:t>마다 </a:t>
            </a:r>
            <a:r>
              <a:rPr lang="en-US" altLang="ko-KR" sz="1500" dirty="0">
                <a:latin typeface="+mn-lt"/>
              </a:rPr>
              <a:t>~30 </a:t>
            </a:r>
            <a:r>
              <a:rPr lang="ko-KR" altLang="en-US" sz="1500" dirty="0">
                <a:latin typeface="+mn-lt"/>
              </a:rPr>
              <a:t>분 학습</a:t>
            </a:r>
            <a:r>
              <a:rPr lang="en-US" altLang="ko-KR" sz="1500" dirty="0">
                <a:latin typeface="+mn-lt"/>
              </a:rPr>
              <a:t>, 1D + t, buoy only</a:t>
            </a:r>
          </a:p>
          <a:p>
            <a:pPr lvl="1"/>
            <a:r>
              <a:rPr lang="ko-KR" altLang="en-US" sz="1600" dirty="0">
                <a:latin typeface="+mn-lt"/>
              </a:rPr>
              <a:t>연속 파라미터 추정 </a:t>
            </a:r>
            <a:r>
              <a:rPr lang="en-US" altLang="ko-KR" sz="1600" dirty="0">
                <a:latin typeface="+mn-lt"/>
              </a:rPr>
              <a:t>(</a:t>
            </a:r>
            <a:r>
              <a:rPr lang="ko-KR" altLang="en-US" sz="1600" dirty="0">
                <a:latin typeface="+mn-lt"/>
              </a:rPr>
              <a:t>본 연구</a:t>
            </a:r>
            <a:r>
              <a:rPr lang="en-US" altLang="ko-KR" sz="1600" dirty="0">
                <a:latin typeface="+mn-lt"/>
              </a:rPr>
              <a:t>) </a:t>
            </a:r>
          </a:p>
          <a:p>
            <a:pPr lvl="2"/>
            <a:r>
              <a:rPr lang="en-US" altLang="ko-KR" sz="1500" dirty="0" err="1">
                <a:latin typeface="+mn-lt"/>
              </a:rPr>
              <a:t>WaveSplat</a:t>
            </a:r>
            <a:r>
              <a:rPr lang="en-US" altLang="ko-KR" sz="1500" dirty="0">
                <a:latin typeface="+mn-lt"/>
              </a:rPr>
              <a:t> — </a:t>
            </a:r>
            <a:r>
              <a:rPr lang="ko-KR" altLang="en-US" sz="1500" dirty="0">
                <a:latin typeface="+mn-lt"/>
              </a:rPr>
              <a:t>격자 없이 </a:t>
            </a:r>
            <a:r>
              <a:rPr lang="en-US" altLang="ko-KR" sz="1500" dirty="0">
                <a:latin typeface="+mn-lt"/>
              </a:rPr>
              <a:t>N</a:t>
            </a:r>
            <a:r>
              <a:rPr lang="ko-KR" altLang="en-US" sz="1500" dirty="0">
                <a:latin typeface="+mn-lt"/>
              </a:rPr>
              <a:t>개 </a:t>
            </a:r>
            <a:r>
              <a:rPr lang="en-US" altLang="ko-KR" sz="1500" dirty="0">
                <a:latin typeface="+mn-lt"/>
              </a:rPr>
              <a:t>plane wave </a:t>
            </a:r>
            <a:r>
              <a:rPr lang="ko-KR" altLang="en-US" sz="1500" dirty="0">
                <a:latin typeface="+mn-lt"/>
              </a:rPr>
              <a:t>파라미터 직접 추정</a:t>
            </a:r>
          </a:p>
          <a:p>
            <a:pPr lvl="2"/>
            <a:r>
              <a:rPr lang="en-US" altLang="ko-KR" sz="1500" dirty="0">
                <a:latin typeface="+mn-lt"/>
              </a:rPr>
              <a:t>&lt; 100 </a:t>
            </a:r>
            <a:r>
              <a:rPr lang="en-US" altLang="ko-KR" sz="1500" dirty="0" err="1">
                <a:latin typeface="+mn-lt"/>
              </a:rPr>
              <a:t>ms</a:t>
            </a:r>
            <a:r>
              <a:rPr lang="en-US" altLang="ko-KR" sz="1500" dirty="0">
                <a:latin typeface="+mn-lt"/>
              </a:rPr>
              <a:t> inference + 2D directional + LiDAR </a:t>
            </a:r>
            <a:r>
              <a:rPr lang="en-US" altLang="ko-KR" sz="1500" dirty="0" err="1">
                <a:latin typeface="+mn-lt"/>
              </a:rPr>
              <a:t>raydrop</a:t>
            </a:r>
            <a:r>
              <a:rPr lang="en-US" altLang="ko-KR" sz="1500" dirty="0">
                <a:latin typeface="+mn-lt"/>
              </a:rPr>
              <a:t> sensor model</a:t>
            </a:r>
          </a:p>
          <a:p>
            <a:pPr lvl="2"/>
            <a:r>
              <a:rPr lang="ko-KR" altLang="en-US" sz="1500" dirty="0">
                <a:latin typeface="+mn-lt"/>
              </a:rPr>
              <a:t>한계</a:t>
            </a:r>
            <a:r>
              <a:rPr lang="en-US" altLang="ko-KR" sz="1500" dirty="0">
                <a:latin typeface="+mn-lt"/>
              </a:rPr>
              <a:t>: linear superposition (LWT), </a:t>
            </a:r>
            <a:r>
              <a:rPr lang="el-GR" altLang="ko-KR" sz="1500" dirty="0">
                <a:latin typeface="+mn-lt"/>
              </a:rPr>
              <a:t>ε &lt; 0.07 </a:t>
            </a:r>
            <a:r>
              <a:rPr lang="ko-KR" altLang="en-US" sz="1500" dirty="0">
                <a:latin typeface="+mn-lt"/>
              </a:rPr>
              <a:t>영역에서만 신뢰</a:t>
            </a:r>
          </a:p>
          <a:p>
            <a:endParaRPr lang="ko-KR" altLang="en-US" sz="1800" dirty="0">
              <a:latin typeface="+mn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D08F57-10C6-1A48-BC46-D8F75C70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9A19D5A-763C-4EC1-1A21-C5631532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Related work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82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CD79096-97F4-6F01-C7D6-582571524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EnKF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/>
              <a:t>wave estimation</a:t>
            </a:r>
          </a:p>
          <a:p>
            <a:pPr lvl="1"/>
            <a:r>
              <a:rPr lang="en-US" altLang="ko-KR" sz="1600" dirty="0"/>
              <a:t>Wang &amp; Pan group (Yulin Pan, </a:t>
            </a:r>
            <a:r>
              <a:rPr lang="en-US" altLang="ko-KR" sz="1600" dirty="0" err="1"/>
              <a:t>U.Michigan</a:t>
            </a:r>
            <a:r>
              <a:rPr lang="en-US" altLang="ko-KR" sz="1600" dirty="0"/>
              <a:t>)</a:t>
            </a:r>
          </a:p>
          <a:p>
            <a:pPr lvl="2"/>
            <a:r>
              <a:rPr lang="en-US" altLang="ko-KR" sz="1400" dirty="0"/>
              <a:t>2021: </a:t>
            </a:r>
            <a:r>
              <a:rPr lang="en-US" altLang="ko-KR" sz="1400" dirty="0" err="1"/>
              <a:t>EnKF</a:t>
            </a:r>
            <a:r>
              <a:rPr lang="en-US" altLang="ko-KR" sz="1400" dirty="0"/>
              <a:t> + HOS </a:t>
            </a:r>
            <a:r>
              <a:rPr lang="ko-KR" altLang="en-US" sz="1400" dirty="0"/>
              <a:t>첫 결합</a:t>
            </a:r>
          </a:p>
          <a:p>
            <a:pPr lvl="2"/>
            <a:r>
              <a:rPr lang="en-US" altLang="ko-KR" sz="1400" dirty="0"/>
              <a:t>2022: </a:t>
            </a:r>
            <a:r>
              <a:rPr lang="en-US" altLang="ko-KR" sz="1400" dirty="0" err="1"/>
              <a:t>IEnKF</a:t>
            </a:r>
            <a:r>
              <a:rPr lang="en-US" altLang="ko-KR" sz="1400" dirty="0"/>
              <a:t>-HOS-C - current </a:t>
            </a:r>
            <a:r>
              <a:rPr lang="ko-KR" altLang="en-US" sz="1400" dirty="0"/>
              <a:t>동시 추정</a:t>
            </a:r>
          </a:p>
          <a:p>
            <a:pPr lvl="2"/>
            <a:r>
              <a:rPr lang="en-US" altLang="ko-KR" sz="1400" dirty="0"/>
              <a:t>Sensor: X-band radar, Data: synthetic + </a:t>
            </a:r>
            <a:r>
              <a:rPr lang="ko-KR" altLang="en-US" sz="1400" dirty="0"/>
              <a:t>실측 </a:t>
            </a:r>
            <a:r>
              <a:rPr lang="en-US" altLang="ko-KR" sz="1400" dirty="0"/>
              <a:t>shipborne radar</a:t>
            </a:r>
          </a:p>
          <a:p>
            <a:pPr lvl="1"/>
            <a:r>
              <a:rPr lang="en-US" altLang="ko-KR" sz="1600" dirty="0"/>
              <a:t>Feng Wang et al. (Harbin Engineering Univ., China)</a:t>
            </a:r>
          </a:p>
          <a:p>
            <a:pPr lvl="2"/>
            <a:r>
              <a:rPr lang="en-US" altLang="ko-KR" sz="1400" dirty="0"/>
              <a:t>2025: ETKF + fuzzy R + Delaunay </a:t>
            </a:r>
            <a:r>
              <a:rPr lang="ko-KR" altLang="en-US" sz="1400" dirty="0"/>
              <a:t>보간</a:t>
            </a:r>
          </a:p>
          <a:p>
            <a:pPr lvl="2"/>
            <a:r>
              <a:rPr lang="en-US" altLang="ko-KR" sz="1400" dirty="0"/>
              <a:t>Ne=300, 80×60 grid, dx≈3 m</a:t>
            </a:r>
          </a:p>
          <a:p>
            <a:pPr lvl="2"/>
            <a:r>
              <a:rPr lang="en-US" altLang="ko-KR" sz="1400" dirty="0"/>
              <a:t>Sensor: Stereo camera (WASS), Data: </a:t>
            </a:r>
            <a:r>
              <a:rPr lang="ko-KR" altLang="en-US" sz="1400" dirty="0"/>
              <a:t>실측 </a:t>
            </a:r>
            <a:r>
              <a:rPr lang="en-US" altLang="ko-KR" sz="1400" dirty="0"/>
              <a:t>(Acqua Alta </a:t>
            </a:r>
            <a:r>
              <a:rPr lang="ko-KR" altLang="en-US" sz="1400" dirty="0"/>
              <a:t>해양 플랫폼 </a:t>
            </a:r>
            <a:r>
              <a:rPr lang="en-US" altLang="ko-KR" sz="1400" dirty="0"/>
              <a:t>+ </a:t>
            </a:r>
            <a:r>
              <a:rPr lang="ko-KR" altLang="en-US" sz="1400" dirty="0"/>
              <a:t>자체 </a:t>
            </a:r>
            <a:r>
              <a:rPr lang="en-US" altLang="ko-KR" sz="1400" dirty="0"/>
              <a:t>2024)</a:t>
            </a:r>
          </a:p>
          <a:p>
            <a:pPr lvl="2"/>
            <a:r>
              <a:rPr lang="ko-KR" altLang="en-US" sz="1400" dirty="0"/>
              <a:t>본 </a:t>
            </a:r>
            <a:r>
              <a:rPr lang="en-US" altLang="ko-KR" sz="1400" dirty="0"/>
              <a:t>baseline </a:t>
            </a:r>
            <a:r>
              <a:rPr lang="ko-KR" altLang="en-US" sz="1400" dirty="0"/>
              <a:t>의 직접 </a:t>
            </a:r>
            <a:r>
              <a:rPr lang="en-US" altLang="ko-KR" sz="1400" dirty="0"/>
              <a:t>prior art (GitHub </a:t>
            </a:r>
            <a:r>
              <a:rPr lang="ko-KR" altLang="en-US" sz="1400" dirty="0"/>
              <a:t>공개</a:t>
            </a:r>
            <a:r>
              <a:rPr lang="en-US" altLang="ko-KR" sz="1400" dirty="0"/>
              <a:t>)</a:t>
            </a:r>
          </a:p>
          <a:p>
            <a:pPr lvl="1"/>
            <a:r>
              <a:rPr lang="ko-KR" altLang="en-US" sz="1600" dirty="0"/>
              <a:t>본 연구의 </a:t>
            </a:r>
            <a:r>
              <a:rPr lang="en-US" altLang="ko-KR" sz="1600" dirty="0"/>
              <a:t>baseline </a:t>
            </a:r>
            <a:r>
              <a:rPr lang="ko-KR" altLang="en-US" sz="1600" dirty="0"/>
              <a:t>재현</a:t>
            </a:r>
            <a:endParaRPr lang="en-US" altLang="ko-KR" sz="1600" dirty="0"/>
          </a:p>
          <a:p>
            <a:pPr lvl="2"/>
            <a:r>
              <a:rPr lang="ko-KR" altLang="en-US" sz="1400" dirty="0"/>
              <a:t>알고리즘만 재현 </a:t>
            </a:r>
            <a:r>
              <a:rPr lang="en-US" altLang="ko-KR" sz="1400" dirty="0"/>
              <a:t>- Ne=300, 80×60 </a:t>
            </a:r>
            <a:r>
              <a:rPr lang="ko-KR" altLang="en-US" sz="1400" dirty="0"/>
              <a:t>격자</a:t>
            </a:r>
            <a:r>
              <a:rPr lang="en-US" altLang="ko-KR" sz="1400" dirty="0"/>
              <a:t>, fuzzy R, Delaunay </a:t>
            </a:r>
            <a:r>
              <a:rPr lang="ko-KR" altLang="en-US" sz="1400" dirty="0"/>
              <a:t>보간 동일</a:t>
            </a:r>
          </a:p>
          <a:p>
            <a:pPr lvl="2"/>
            <a:r>
              <a:rPr lang="ko-KR" altLang="en-US" sz="1400" dirty="0"/>
              <a:t>입력 </a:t>
            </a:r>
            <a:r>
              <a:rPr lang="en-US" altLang="ko-KR" sz="1400" dirty="0"/>
              <a:t>sensor </a:t>
            </a:r>
            <a:r>
              <a:rPr lang="ko-KR" altLang="en-US" sz="1400" dirty="0"/>
              <a:t>는 본 연구 </a:t>
            </a:r>
            <a:r>
              <a:rPr lang="en-US" altLang="ko-KR" sz="1400" dirty="0"/>
              <a:t>simulator(LiDAR)</a:t>
            </a:r>
            <a:r>
              <a:rPr lang="ko-KR" altLang="en-US" sz="1400" dirty="0"/>
              <a:t>로 통일 </a:t>
            </a:r>
            <a:r>
              <a:rPr lang="en-US" altLang="ko-KR" sz="1400" dirty="0"/>
              <a:t>(</a:t>
            </a:r>
            <a:r>
              <a:rPr lang="ko-KR" altLang="en-US" sz="1400" dirty="0"/>
              <a:t>원논문은 </a:t>
            </a:r>
            <a:r>
              <a:rPr lang="en-US" altLang="ko-KR" sz="1400" dirty="0"/>
              <a:t>stereo camera)</a:t>
            </a:r>
          </a:p>
          <a:p>
            <a:pPr lvl="2"/>
            <a:r>
              <a:rPr lang="en-US" altLang="ko-KR" sz="1400" dirty="0"/>
              <a:t>Forecast model </a:t>
            </a:r>
            <a:r>
              <a:rPr lang="ko-KR" altLang="en-US" sz="1400" dirty="0"/>
              <a:t>도 </a:t>
            </a:r>
            <a:r>
              <a:rPr lang="en-US" altLang="ko-KR" sz="1400" dirty="0"/>
              <a:t>HOS </a:t>
            </a:r>
            <a:r>
              <a:rPr lang="ko-KR" altLang="en-US" sz="1400" dirty="0"/>
              <a:t>대신 </a:t>
            </a:r>
            <a:r>
              <a:rPr lang="en-US" altLang="ko-KR" sz="1400" dirty="0"/>
              <a:t>linear dispersion </a:t>
            </a:r>
            <a:r>
              <a:rPr lang="ko-KR" altLang="en-US" sz="1400" dirty="0"/>
              <a:t>으로 통일</a:t>
            </a:r>
          </a:p>
          <a:p>
            <a:pPr lvl="1"/>
            <a:r>
              <a:rPr lang="ko-KR" altLang="en-US" sz="1600" dirty="0"/>
              <a:t>공통 한계</a:t>
            </a:r>
          </a:p>
          <a:p>
            <a:pPr lvl="2"/>
            <a:r>
              <a:rPr lang="ko-KR" altLang="en-US" sz="1400" dirty="0"/>
              <a:t>격자 해상도 한계 </a:t>
            </a:r>
            <a:r>
              <a:rPr lang="en-US" altLang="ko-KR" sz="1400" dirty="0"/>
              <a:t>- </a:t>
            </a:r>
            <a:r>
              <a:rPr lang="ko-KR" altLang="en-US" sz="1400" dirty="0"/>
              <a:t>격자 밖 </a:t>
            </a:r>
            <a:r>
              <a:rPr lang="en-US" altLang="ko-KR" sz="1400" dirty="0"/>
              <a:t>wavenumber </a:t>
            </a:r>
            <a:r>
              <a:rPr lang="ko-KR" altLang="en-US" sz="1400" dirty="0"/>
              <a:t>표현 불가 </a:t>
            </a:r>
            <a:r>
              <a:rPr lang="en-US" altLang="ko-KR" sz="1400" dirty="0"/>
              <a:t>(~0.25 </a:t>
            </a:r>
            <a:r>
              <a:rPr lang="en-US" altLang="ko-KR" sz="1400" dirty="0" err="1"/>
              <a:t>nRMSE</a:t>
            </a:r>
            <a:r>
              <a:rPr lang="en-US" altLang="ko-KR" sz="1400" dirty="0"/>
              <a:t> floor)</a:t>
            </a:r>
          </a:p>
          <a:p>
            <a:pPr lvl="2"/>
            <a:r>
              <a:rPr lang="en-US" altLang="ko-KR" sz="1400" dirty="0"/>
              <a:t>Ensemble cost 632 </a:t>
            </a:r>
            <a:r>
              <a:rPr lang="en-US" altLang="ko-KR" sz="1400" dirty="0" err="1"/>
              <a:t>ms</a:t>
            </a:r>
            <a:r>
              <a:rPr lang="en-US" altLang="ko-KR" sz="1400" dirty="0"/>
              <a:t>/frame - real-time control loop </a:t>
            </a:r>
            <a:r>
              <a:rPr lang="ko-KR" altLang="en-US" sz="1400" dirty="0"/>
              <a:t>불가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CC48C5-5E5C-A759-1879-6368EA0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38AFDA1-6313-F90B-987A-73348B1C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Related work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445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8096332-2D75-4A17-2954-2CC80311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FE6AE-1E4A-EEFC-BACC-96FC3EAD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9F75B85-A4C4-E88F-82DF-783A3A0A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Related work</a:t>
            </a:r>
            <a:endParaRPr lang="ko-KR" altLang="en-US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7378ECD4-7CD5-2123-1FB1-91E7D11BB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217052"/>
              </p:ext>
            </p:extLst>
          </p:nvPr>
        </p:nvGraphicFramePr>
        <p:xfrm>
          <a:off x="320040" y="228600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요구사항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본 연구</a:t>
                      </a:r>
                      <a:endParaRPr sz="1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PFT-PINN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VOF-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EnKF</a:t>
                      </a:r>
                      <a:endParaRPr sz="1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Wang2025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FNO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Desmars</a:t>
                      </a:r>
                      <a:endParaRPr sz="1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latin typeface="+mn-lt"/>
                        </a:rPr>
                        <a:t>실시간</a:t>
                      </a:r>
                      <a:r>
                        <a:rPr sz="900" dirty="0">
                          <a:latin typeface="+mn-lt"/>
                        </a:rPr>
                        <a:t> </a:t>
                      </a:r>
                      <a:r>
                        <a:rPr sz="900" dirty="0" err="1">
                          <a:latin typeface="+mn-lt"/>
                        </a:rPr>
                        <a:t>제어</a:t>
                      </a:r>
                      <a:r>
                        <a:rPr lang="en-US" sz="900" dirty="0">
                          <a:latin typeface="+mn-lt"/>
                        </a:rPr>
                        <a:t> </a:t>
                      </a:r>
                      <a:r>
                        <a:rPr lang="ko-KR" altLang="en-US" sz="900" dirty="0">
                          <a:latin typeface="+mn-lt"/>
                        </a:rPr>
                        <a:t>응용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sz="900" dirty="0">
                          <a:latin typeface="+mn-lt"/>
                        </a:rPr>
                        <a:t>(&lt;100 </a:t>
                      </a:r>
                      <a:r>
                        <a:rPr sz="900" dirty="0" err="1">
                          <a:latin typeface="+mn-lt"/>
                        </a:rPr>
                        <a:t>ms</a:t>
                      </a:r>
                      <a:r>
                        <a:rPr sz="900" dirty="0">
                          <a:latin typeface="+mn-lt"/>
                        </a:rPr>
                        <a:t>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+mn-lt"/>
                        </a:rPr>
                        <a:t>2D 방향성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latin typeface="+mn-lt"/>
                        </a:rPr>
                        <a:t>파도</a:t>
                      </a:r>
                      <a:r>
                        <a:rPr sz="900" dirty="0">
                          <a:latin typeface="+mn-lt"/>
                        </a:rPr>
                        <a:t> </a:t>
                      </a:r>
                      <a:r>
                        <a:rPr sz="900" dirty="0" err="1">
                          <a:latin typeface="+mn-lt"/>
                        </a:rPr>
                        <a:t>파쇄</a:t>
                      </a:r>
                      <a:r>
                        <a:rPr sz="900" dirty="0">
                          <a:latin typeface="+mn-lt"/>
                        </a:rPr>
                        <a:t> </a:t>
                      </a:r>
                      <a:r>
                        <a:rPr sz="900" dirty="0" err="1">
                          <a:latin typeface="+mn-lt"/>
                        </a:rPr>
                        <a:t>처리</a:t>
                      </a:r>
                      <a:endParaRPr sz="900" dirty="0">
                        <a:latin typeface="+mn-lt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+mn-lt"/>
                        </a:rPr>
                        <a:t>유속장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+mn-lt"/>
                        </a:rPr>
                        <a:t>학습 데이터 불필요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+mn-lt"/>
                        </a:rPr>
                        <a:t>희소 LiDAR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+mn-lt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latin typeface="+mn-lt"/>
                        </a:rPr>
                        <a:t>일부</a:t>
                      </a:r>
                      <a:endParaRPr sz="900" dirty="0">
                        <a:latin typeface="+mn-l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75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12E8-9228-8FAC-EC87-715D3D60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53C4B9E-701A-D89F-7460-0CE3A671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02476D63-6287-D02E-DAF8-B7865AA26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DF615BFE-501D-DECE-9393-6A370BC3F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8DDFB6AC-6D0E-3C27-8CD4-9C527AE8E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CEB05B1C-830F-1528-8830-864B063D7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A8A27BBF-FD24-FB46-A883-CAFEC0198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96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00070E0-780D-85D5-61EA-AEE10B4AB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WaveSim – </a:t>
                </a:r>
                <a:r>
                  <a:rPr lang="ko-KR" altLang="en-US" dirty="0"/>
                  <a:t>파도</a:t>
                </a:r>
                <a:r>
                  <a:rPr lang="en-US" altLang="ko-KR" dirty="0"/>
                  <a:t>/LiDAR </a:t>
                </a:r>
                <a:r>
                  <a:rPr lang="ko-KR" altLang="en-US" dirty="0"/>
                  <a:t>시뮬레이터</a:t>
                </a:r>
              </a:p>
              <a:p>
                <a:pPr lvl="1"/>
                <a:r>
                  <a:rPr lang="en-US" altLang="ko-KR" sz="1600" dirty="0"/>
                  <a:t>Gerstner </a:t>
                </a:r>
                <a:r>
                  <a:rPr lang="ko-KR" altLang="en-US" sz="1600" dirty="0"/>
                  <a:t>파도 모델</a:t>
                </a:r>
                <a:endParaRPr lang="en-US" altLang="ko-KR" sz="1600" dirty="0"/>
              </a:p>
              <a:p>
                <a:pPr lvl="2"/>
                <a:r>
                  <a:rPr lang="ko-KR" altLang="en-US" sz="1400" dirty="0"/>
                  <a:t>회전 정확해 </a:t>
                </a:r>
                <a:r>
                  <a:rPr lang="en-US" altLang="ko-KR" sz="1400" dirty="0"/>
                  <a:t>- </a:t>
                </a:r>
                <a:r>
                  <a:rPr lang="ko-KR" altLang="en-US" sz="1400" dirty="0"/>
                  <a:t>입자 운동까지 모사</a:t>
                </a:r>
                <a:endParaRPr lang="en-US" altLang="ko-KR" sz="1400" dirty="0"/>
              </a:p>
              <a:p>
                <a:pPr lvl="2"/>
                <a:r>
                  <a:rPr lang="en-US" altLang="ko-KR" sz="1400" dirty="0"/>
                  <a:t>Q ∈ [0, 1] </a:t>
                </a:r>
                <a:r>
                  <a:rPr lang="ko-KR" altLang="en-US" sz="1400" dirty="0"/>
                  <a:t>가파름 </a:t>
                </a:r>
                <a:r>
                  <a:rPr lang="en-US" altLang="ko-KR" sz="1400" dirty="0"/>
                  <a:t>- Q=0 </a:t>
                </a:r>
                <a:r>
                  <a:rPr lang="ko-KR" altLang="en-US" sz="1400" dirty="0"/>
                  <a:t>이면 </a:t>
                </a:r>
                <a:r>
                  <a:rPr lang="en-US" altLang="ko-KR" sz="1400" dirty="0"/>
                  <a:t>LWT (</a:t>
                </a:r>
                <a:r>
                  <a:rPr lang="ko-KR" altLang="en-US" sz="1400" dirty="0"/>
                  <a:t>선형</a:t>
                </a:r>
                <a:r>
                  <a:rPr lang="en-US" altLang="ko-KR" sz="1400" dirty="0"/>
                  <a:t>), Q&gt;0 </a:t>
                </a:r>
                <a:r>
                  <a:rPr lang="ko-KR" altLang="en-US" sz="1400" dirty="0"/>
                  <a:t>이면 </a:t>
                </a:r>
                <a:r>
                  <a:rPr lang="ko-KR" altLang="en-US" sz="1400" dirty="0" err="1"/>
                  <a:t>약비선형</a:t>
                </a:r>
                <a:endParaRPr lang="ko-KR" altLang="en-US" sz="1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₀ −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·(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/|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|)·</m:t>
                    </m:r>
                    <m:r>
                      <m:rPr>
                        <m:sty m:val="p"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altLang="ko-KR" sz="1400" i="0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en-US" altLang="ko-KR" sz="1400" i="1" dirty="0" err="1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altLang="ko-KR" sz="1400" i="0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US" altLang="ko-KR" sz="1400" i="0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ko-KR" altLang="en-US" sz="1400" dirty="0"/>
              </a:p>
              <a:p>
                <a:pPr lvl="1"/>
                <a:r>
                  <a:rPr lang="ko-KR" altLang="en-US" sz="1600" dirty="0"/>
                  <a:t>스펙트럼 </a:t>
                </a:r>
                <a:r>
                  <a:rPr lang="en-US" altLang="ko-KR" sz="1600" dirty="0"/>
                  <a:t>- JONSWAP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²·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⁻⁵·</m:t>
                    </m:r>
                    <m:r>
                      <m:rPr>
                        <m:sty m:val="p"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⁡(−5/4·(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)⁴) · </m:t>
                    </m:r>
                    <m:sSup>
                      <m:sSup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=3.3)</m:t>
                    </m:r>
                  </m:oMath>
                </a14:m>
                <a:endParaRPr lang="en-US" altLang="ko-KR" sz="1600" dirty="0"/>
              </a:p>
              <a:p>
                <a:pPr lvl="2"/>
                <a:r>
                  <a:rPr lang="ko-KR" altLang="en-US" sz="1400" dirty="0"/>
                  <a:t>입력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sz="1400" dirty="0"/>
                  <a:t> N</a:t>
                </a:r>
                <a:r>
                  <a:rPr lang="ko-KR" altLang="en-US" sz="1400" dirty="0"/>
                  <a:t>개 성분의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sampling</a:t>
                </a:r>
              </a:p>
              <a:p>
                <a:pPr lvl="2"/>
                <a:r>
                  <a:rPr lang="ko-KR" altLang="en-US" sz="1400" dirty="0"/>
                  <a:t>방향 </a:t>
                </a:r>
                <a:r>
                  <a:rPr lang="en-US" altLang="ko-KR" sz="1400" dirty="0"/>
                  <a:t>spreading: cos²ˢ </a:t>
                </a:r>
                <a:r>
                  <a:rPr lang="ko-KR" altLang="en-US" sz="1400" dirty="0"/>
                  <a:t>함수로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𝑥𝑛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𝑦𝑛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분배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00070E0-780D-85D5-61EA-AEE10B4A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70" t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6CCB47-81E9-713C-DA55-3737B4B7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129FD30-ED37-9AD0-5471-62639FBC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F8BF6C9-80A8-89F0-2D1C-609F5FFA1389}"/>
              </a:ext>
            </a:extLst>
          </p:cNvPr>
          <p:cNvGrpSpPr/>
          <p:nvPr/>
        </p:nvGrpSpPr>
        <p:grpSpPr>
          <a:xfrm>
            <a:off x="512745" y="3640323"/>
            <a:ext cx="8118511" cy="2743200"/>
            <a:chOff x="407396" y="3640323"/>
            <a:chExt cx="8118511" cy="2743200"/>
          </a:xfrm>
        </p:grpSpPr>
        <p:pic>
          <p:nvPicPr>
            <p:cNvPr id="8" name="Picture 3" descr="wavesim_BF4_5c_wave_lidar.png">
              <a:extLst>
                <a:ext uri="{FF2B5EF4-FFF2-40B4-BE49-F238E27FC236}">
                  <a16:creationId xmlns:a16="http://schemas.microsoft.com/office/drawing/2014/main" id="{66354F65-97C2-64FF-5D7D-B36E672F1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396" y="3640323"/>
              <a:ext cx="4108938" cy="2743200"/>
            </a:xfrm>
            <a:prstGeom prst="rect">
              <a:avLst/>
            </a:prstGeom>
          </p:spPr>
        </p:pic>
        <p:pic>
          <p:nvPicPr>
            <p:cNvPr id="9" name="Picture 3" descr="wavesim_BF3_1c_wave_lidar.png">
              <a:extLst>
                <a:ext uri="{FF2B5EF4-FFF2-40B4-BE49-F238E27FC236}">
                  <a16:creationId xmlns:a16="http://schemas.microsoft.com/office/drawing/2014/main" id="{661DC78A-39DA-D293-8E3E-3B7F4C67D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10753" y="3640323"/>
              <a:ext cx="4015154" cy="274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873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1A51-2FCE-3C00-2D50-2A882ED9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8C7F292-D698-5A52-6966-577C692C8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WaveSim – </a:t>
                </a:r>
                <a:r>
                  <a:rPr lang="ko-KR" altLang="en-US" dirty="0"/>
                  <a:t>파도</a:t>
                </a:r>
                <a:r>
                  <a:rPr lang="en-US" altLang="ko-KR" dirty="0"/>
                  <a:t>/LiDAR </a:t>
                </a:r>
                <a:r>
                  <a:rPr lang="ko-KR" altLang="en-US" dirty="0"/>
                  <a:t>시뮬레이터</a:t>
                </a:r>
              </a:p>
              <a:p>
                <a:pPr lvl="1"/>
                <a:r>
                  <a:rPr lang="en-US" altLang="ko-KR" sz="1600" dirty="0"/>
                  <a:t>LiDAR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Ray tracing</a:t>
                </a:r>
              </a:p>
              <a:p>
                <a:pPr lvl="2"/>
                <a:r>
                  <a:rPr lang="ko-KR" altLang="en-US" sz="1400" dirty="0"/>
                  <a:t>각 </a:t>
                </a:r>
                <a:r>
                  <a:rPr lang="en-US" altLang="ko-KR" sz="1400" dirty="0"/>
                  <a:t>ray </a:t>
                </a:r>
                <a:r>
                  <a:rPr lang="ko-KR" altLang="en-US" sz="1400" dirty="0"/>
                  <a:t>가 </a:t>
                </a:r>
                <a:r>
                  <a:rPr lang="en-US" altLang="ko-KR" sz="1400" dirty="0"/>
                  <a:t>wave </a:t>
                </a:r>
                <a:r>
                  <a:rPr lang="ko-KR" altLang="en-US" sz="1400" dirty="0"/>
                  <a:t>표면 </a:t>
                </a:r>
                <a:r>
                  <a:rPr lang="en-US" altLang="ko-KR" sz="1400" dirty="0"/>
                  <a:t>mesh </a:t>
                </a:r>
                <a:r>
                  <a:rPr lang="ko-KR" altLang="en-US" sz="1400" dirty="0"/>
                  <a:t>와 만나는 </a:t>
                </a:r>
                <a:r>
                  <a:rPr lang="en-US" altLang="ko-KR" sz="1400" dirty="0"/>
                  <a:t>first-hit </a:t>
                </a:r>
                <a:r>
                  <a:rPr lang="ko-KR" altLang="en-US" sz="1400" dirty="0"/>
                  <a:t>점 검출</a:t>
                </a:r>
              </a:p>
              <a:p>
                <a:pPr lvl="2"/>
                <a:r>
                  <a:rPr lang="en-US" altLang="ko-KR" sz="1400" dirty="0"/>
                  <a:t>Graphics </a:t>
                </a:r>
                <a:r>
                  <a:rPr lang="ko-KR" altLang="en-US" sz="1400" dirty="0"/>
                  <a:t>분야 표준 </a:t>
                </a:r>
                <a:r>
                  <a:rPr lang="en-US" altLang="ko-KR" sz="1400" dirty="0"/>
                  <a:t>ray-triangle intersection </a:t>
                </a:r>
                <a:r>
                  <a:rPr lang="ko-KR" altLang="en-US" sz="1400" dirty="0"/>
                  <a:t>알고리즘</a:t>
                </a:r>
              </a:p>
              <a:p>
                <a:pPr lvl="1"/>
                <a:r>
                  <a:rPr lang="en-US" altLang="ko-KR" sz="1600" dirty="0"/>
                  <a:t>LiDAR </a:t>
                </a:r>
                <a:r>
                  <a:rPr lang="en-US" altLang="ko-KR" sz="1600" dirty="0" err="1"/>
                  <a:t>Raydrop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모델</a:t>
                </a:r>
                <a:endParaRPr lang="en-US" altLang="ko-KR" sz="1600" dirty="0"/>
              </a:p>
              <a:p>
                <a:pPr lvl="2"/>
                <a:r>
                  <a:rPr lang="ko-KR" altLang="en-US" sz="1400" dirty="0"/>
                  <a:t>반사된 빛이 </a:t>
                </a:r>
                <a:r>
                  <a:rPr lang="en-US" altLang="ko-KR" sz="1400" dirty="0"/>
                  <a:t>LiDAR receiver </a:t>
                </a:r>
                <a:r>
                  <a:rPr lang="ko-KR" altLang="en-US" sz="1400" dirty="0"/>
                  <a:t>방향으로 돌아와야 함</a:t>
                </a:r>
              </a:p>
              <a:p>
                <a:pPr lvl="2"/>
                <a:r>
                  <a:rPr lang="en-US" altLang="ko-KR" sz="1400" dirty="0"/>
                  <a:t>Snell </a:t>
                </a:r>
                <a:r>
                  <a:rPr lang="ko-KR" altLang="en-US" sz="1400" dirty="0"/>
                  <a:t>굴절</a:t>
                </a:r>
                <a:r>
                  <a:rPr lang="en-US" altLang="ko-KR" sz="1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l-GR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l-GR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/>
                  <a:t> (n=1.321, water at 1550 nm)</a:t>
                </a:r>
              </a:p>
              <a:p>
                <a:pPr lvl="2"/>
                <a:r>
                  <a:rPr lang="en-US" altLang="ko-KR" sz="1400" dirty="0"/>
                  <a:t>Fresnel polarization </a:t>
                </a:r>
                <a:r>
                  <a:rPr lang="ko-KR" altLang="en-US" sz="1400" dirty="0"/>
                  <a:t>평균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</a:t>
                </a:r>
                <a:r>
                  <a:rPr lang="ko-KR" altLang="en-US" sz="1400" dirty="0"/>
                  <a:t> 반사율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400" dirty="0"/>
              </a:p>
              <a:p>
                <a:pPr lvl="2"/>
                <a:r>
                  <a:rPr lang="en-US" altLang="ko-KR" sz="1400" dirty="0"/>
                  <a:t>LiDAR </a:t>
                </a:r>
                <a:r>
                  <a:rPr lang="ko-KR" altLang="en-US" sz="1400" dirty="0"/>
                  <a:t>검출 확률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l-GR" altLang="ko-KR" sz="1400" i="1" dirty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l-GR" altLang="ko-KR" sz="14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m:rPr>
                        <m:sty m:val="p"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l-GR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 / (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)²</m:t>
                    </m:r>
                  </m:oMath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8C7F292-D698-5A52-6966-577C692C8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70" t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393218-6B9C-8B5B-A110-A39394BD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23745DB-B58D-C1F7-EE9B-CB318330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CCEA335-2E3B-DBBF-E2C1-01939554BD02}"/>
              </a:ext>
            </a:extLst>
          </p:cNvPr>
          <p:cNvGrpSpPr/>
          <p:nvPr/>
        </p:nvGrpSpPr>
        <p:grpSpPr>
          <a:xfrm>
            <a:off x="512745" y="3640323"/>
            <a:ext cx="8118511" cy="2743200"/>
            <a:chOff x="407396" y="3640323"/>
            <a:chExt cx="8118511" cy="2743200"/>
          </a:xfrm>
        </p:grpSpPr>
        <p:pic>
          <p:nvPicPr>
            <p:cNvPr id="6" name="Picture 3" descr="wavesim_BF4_5c_wave_lidar.png">
              <a:extLst>
                <a:ext uri="{FF2B5EF4-FFF2-40B4-BE49-F238E27FC236}">
                  <a16:creationId xmlns:a16="http://schemas.microsoft.com/office/drawing/2014/main" id="{E83405BA-2FBC-4B9D-AC1C-9C4E3DDDA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396" y="3640323"/>
              <a:ext cx="4108938" cy="2743200"/>
            </a:xfrm>
            <a:prstGeom prst="rect">
              <a:avLst/>
            </a:prstGeom>
          </p:spPr>
        </p:pic>
        <p:pic>
          <p:nvPicPr>
            <p:cNvPr id="7" name="Picture 3" descr="wavesim_BF3_1c_wave_lidar.png">
              <a:extLst>
                <a:ext uri="{FF2B5EF4-FFF2-40B4-BE49-F238E27FC236}">
                  <a16:creationId xmlns:a16="http://schemas.microsoft.com/office/drawing/2014/main" id="{0331286D-B723-157A-676E-6F1EF2B20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10753" y="3640323"/>
              <a:ext cx="4015154" cy="274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32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0B9B508-D9E2-DD3A-8440-3FC5F40ADA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980732"/>
                <a:ext cx="8191822" cy="5196231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WaveSplat - </a:t>
                </a:r>
                <a:r>
                  <a:rPr lang="ko-KR" altLang="en-US" dirty="0"/>
                  <a:t>알고리즘 개요</a:t>
                </a:r>
              </a:p>
              <a:p>
                <a:pPr lvl="1"/>
                <a:r>
                  <a:rPr lang="ko-KR" altLang="en-US" dirty="0"/>
                  <a:t>격자 대신 파라미터로 직접 표현</a:t>
                </a:r>
              </a:p>
              <a:p>
                <a:pPr lvl="2"/>
                <a:r>
                  <a:rPr lang="ko-KR" altLang="en-US" dirty="0"/>
                  <a:t>실제 파도 </a:t>
                </a:r>
                <a:r>
                  <a:rPr lang="en-US" altLang="ko-KR" dirty="0"/>
                  <a:t>= 5~30</a:t>
                </a:r>
                <a:r>
                  <a:rPr lang="ko-KR" altLang="en-US" dirty="0"/>
                  <a:t>개 </a:t>
                </a:r>
                <a:r>
                  <a:rPr lang="en-US" altLang="ko-KR" dirty="0"/>
                  <a:t>sine wave </a:t>
                </a:r>
                <a:r>
                  <a:rPr lang="ko-KR" altLang="en-US" dirty="0"/>
                  <a:t>의 합 </a:t>
                </a:r>
                <a:r>
                  <a:rPr lang="en-US" altLang="ko-KR" dirty="0"/>
                  <a:t>(JONSWAP)</a:t>
                </a:r>
              </a:p>
              <a:p>
                <a:pPr lvl="2"/>
                <a:r>
                  <a:rPr lang="ko-KR" altLang="en-US" dirty="0"/>
                  <a:t>각 성분</a:t>
                </a:r>
                <a:r>
                  <a:rPr lang="en-US" altLang="ko-KR" dirty="0"/>
                  <a:t>: (A,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, ω, φ) 5</a:t>
                </a:r>
                <a:r>
                  <a:rPr lang="ko-KR" altLang="en-US" dirty="0"/>
                  <a:t>개 파라미터로 완전 결정</a:t>
                </a:r>
              </a:p>
              <a:p>
                <a:pPr lvl="1"/>
                <a:r>
                  <a:rPr lang="en-US" altLang="ko-KR" dirty="0"/>
                  <a:t>Wave field </a:t>
                </a:r>
                <a:r>
                  <a:rPr lang="ko-KR" altLang="en-US" dirty="0"/>
                  <a:t>표현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0" dirty="0" err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·</m:t>
                    </m:r>
                    <m:func>
                      <m:func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𝑥𝑛</m:t>
                                </m:r>
                              </m:sub>
                            </m:s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sSub>
                              <m:sSubPr>
                                <m:ctrlP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𝑦𝑛</m:t>
                                </m:r>
                              </m:sub>
                            </m:s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sSub>
                              <m:sSubPr>
                                <m:ctrlP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ko-KR" altLang="en-US" dirty="0"/>
              </a:p>
              <a:p>
                <a:pPr lvl="2"/>
                <a:r>
                  <a:rPr lang="ko-KR" altLang="en-US" dirty="0"/>
                  <a:t>파라미터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{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𝑥𝑛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𝑦𝑛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분산 관계 </a:t>
                </a:r>
                <a:r>
                  <a:rPr lang="en-US" altLang="ko-KR" dirty="0"/>
                  <a:t>hard constraint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= √(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·|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|·</m:t>
                    </m:r>
                    <m:r>
                      <m:rPr>
                        <m:sty m:val="p"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⁡(|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|·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강제 → 자유도 </a:t>
                </a:r>
                <a:r>
                  <a:rPr lang="en-US" altLang="ko-KR" dirty="0"/>
                  <a:t>5N → 4N</a:t>
                </a:r>
              </a:p>
              <a:p>
                <a:pPr lvl="2"/>
                <a:r>
                  <a:rPr lang="ko-KR" altLang="en-US" dirty="0"/>
                  <a:t>물리적으로 불가능한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조합 자동 배제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N=10 </a:t>
                </a:r>
                <a:r>
                  <a:rPr lang="ko-KR" altLang="en-US" dirty="0"/>
                  <a:t>이면 변수 </a:t>
                </a:r>
                <a:r>
                  <a:rPr lang="en-US" altLang="ko-KR" dirty="0"/>
                  <a:t>40</a:t>
                </a:r>
                <a:r>
                  <a:rPr lang="ko-KR" altLang="en-US" dirty="0"/>
                  <a:t>개 </a:t>
                </a:r>
                <a:r>
                  <a:rPr lang="en-US" altLang="ko-KR" dirty="0"/>
                  <a:t>- LiDAR 50</a:t>
                </a:r>
                <a:r>
                  <a:rPr lang="ko-KR" altLang="en-US" dirty="0"/>
                  <a:t>점으로 </a:t>
                </a:r>
                <a:r>
                  <a:rPr lang="en-US" altLang="ko-KR" dirty="0"/>
                  <a:t>1:1 </a:t>
                </a:r>
                <a:r>
                  <a:rPr lang="ko-KR" altLang="en-US" dirty="0"/>
                  <a:t>추정 가능</a:t>
                </a:r>
              </a:p>
              <a:p>
                <a:pPr lvl="1"/>
                <a:r>
                  <a:rPr lang="en-US" altLang="ko-KR" dirty="0"/>
                  <a:t>2</a:t>
                </a:r>
                <a:r>
                  <a:rPr lang="ko-KR" altLang="en-US" dirty="0"/>
                  <a:t>단계 흐름</a:t>
                </a:r>
              </a:p>
              <a:p>
                <a:pPr lvl="2"/>
                <a:r>
                  <a:rPr lang="en-US" altLang="ko-KR" dirty="0"/>
                  <a:t>Initialization: beamforming + </a:t>
                </a:r>
                <a:r>
                  <a:rPr lang="ko-KR" altLang="en-US" dirty="0"/>
                  <a:t>최적화</a:t>
                </a:r>
                <a:r>
                  <a:rPr lang="en-US" altLang="ko-KR" dirty="0"/>
                  <a:t>(Adam adaptation)</a:t>
                </a:r>
              </a:p>
              <a:p>
                <a:pPr lvl="2"/>
                <a:r>
                  <a:rPr lang="en-US" altLang="ko-KR" dirty="0"/>
                  <a:t>Tracking:  k </a:t>
                </a:r>
                <a:r>
                  <a:rPr lang="ko-KR" altLang="en-US" dirty="0"/>
                  <a:t>고정</a:t>
                </a:r>
                <a:r>
                  <a:rPr lang="en-US" altLang="ko-KR" dirty="0"/>
                  <a:t>, (A, φ) </a:t>
                </a:r>
                <a:r>
                  <a:rPr lang="ko-KR" altLang="en-US" dirty="0"/>
                  <a:t>만 </a:t>
                </a:r>
                <a:r>
                  <a:rPr lang="en-US" altLang="ko-KR" dirty="0"/>
                  <a:t>update / adaptive N - </a:t>
                </a:r>
                <a:r>
                  <a:rPr lang="ko-KR" altLang="en-US" dirty="0"/>
                  <a:t>성분 수 동적 조정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적용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무거운 작업은 처음 한 번만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가벼운 작업은 매 </a:t>
                </a:r>
                <a:r>
                  <a:rPr lang="en-US" altLang="ko-KR" dirty="0"/>
                  <a:t>frame </a:t>
                </a:r>
                <a:r>
                  <a:rPr lang="ko-KR" altLang="en-US" dirty="0"/>
                  <a:t>실시간</a:t>
                </a:r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0B9B508-D9E2-DD3A-8440-3FC5F40ADA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80732"/>
                <a:ext cx="8191822" cy="5196231"/>
              </a:xfrm>
              <a:blipFill>
                <a:blip r:embed="rId3"/>
                <a:stretch>
                  <a:fillRect l="-670" t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6F3EF9-989F-275D-9327-CF8078B4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95E3097-97B8-1CC3-B164-1B10BE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36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B4DD-4776-D284-9B8C-3D071DEF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D770B5A-153E-D916-1D82-C781389DE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Initialization (1/2)</a:t>
                </a:r>
                <a:endParaRPr lang="ko-KR" altLang="en-US" dirty="0"/>
              </a:p>
              <a:p>
                <a:pPr lvl="1"/>
                <a:r>
                  <a:rPr lang="en-US" altLang="ko-KR" dirty="0"/>
                  <a:t>Spatial Nyquist </a:t>
                </a:r>
                <a:r>
                  <a:rPr lang="ko-KR" altLang="en-US" dirty="0"/>
                  <a:t>한계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신호 추정에는 </a:t>
                </a:r>
                <a:r>
                  <a:rPr lang="en-US" altLang="ko-KR" dirty="0"/>
                  <a:t>wavelength </a:t>
                </a:r>
                <a:r>
                  <a:rPr lang="ko-KR" altLang="en-US" dirty="0"/>
                  <a:t>의 절반 간격 </a:t>
                </a:r>
                <a:r>
                  <a:rPr lang="en-US" altLang="ko-KR" dirty="0"/>
                  <a:t>sampling </a:t>
                </a:r>
                <a:r>
                  <a:rPr lang="ko-KR" altLang="en-US" dirty="0"/>
                  <a:t>필요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점 간격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≈ 5~8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⁡=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ko-KR" i="0" dirty="0" err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≈ 0.4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Single-frame LiDAR </a:t>
                </a:r>
                <a:r>
                  <a:rPr lang="ko-KR" altLang="en-US" dirty="0"/>
                  <a:t>로 추정 가능한 </a:t>
                </a:r>
                <a:r>
                  <a:rPr lang="en-US" altLang="ko-KR" dirty="0"/>
                  <a:t>wavenumber </a:t>
                </a:r>
                <a:r>
                  <a:rPr lang="ko-KR" altLang="en-US" dirty="0"/>
                  <a:t>한계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약 </a:t>
                </a:r>
                <a:r>
                  <a:rPr lang="en-US" altLang="ko-KR" dirty="0"/>
                  <a:t>0.4 rad/m</a:t>
                </a:r>
              </a:p>
              <a:p>
                <a:pPr lvl="1"/>
                <a:r>
                  <a:rPr lang="ko-KR" altLang="en-US" dirty="0"/>
                  <a:t>필요한 </a:t>
                </a:r>
                <a:r>
                  <a:rPr lang="en-US" altLang="ko-KR" dirty="0"/>
                  <a:t>wavenumber </a:t>
                </a:r>
                <a:r>
                  <a:rPr lang="ko-KR" altLang="en-US" dirty="0"/>
                  <a:t>범위</a:t>
                </a:r>
              </a:p>
              <a:p>
                <a:pPr lvl="2"/>
                <a:r>
                  <a:rPr lang="en-US" altLang="ko-KR" dirty="0"/>
                  <a:t>BF3 </a:t>
                </a:r>
                <a:r>
                  <a:rPr lang="ko-KR" altLang="en-US" dirty="0"/>
                  <a:t>의 짧은 </a:t>
                </a:r>
                <a:r>
                  <a:rPr lang="en-US" altLang="ko-KR" dirty="0"/>
                  <a:t>wave </a:t>
                </a:r>
                <a:r>
                  <a:rPr lang="ko-KR" altLang="en-US" dirty="0"/>
                  <a:t>성분은 </a:t>
                </a:r>
                <a:r>
                  <a:rPr lang="en-US" altLang="ko-KR" dirty="0"/>
                  <a:t>Nyquist </a:t>
                </a:r>
                <a:r>
                  <a:rPr lang="ko-KR" altLang="en-US" dirty="0"/>
                  <a:t>한계의 약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배까지 도달</a:t>
                </a:r>
              </a:p>
              <a:p>
                <a:pPr lvl="2"/>
                <a:r>
                  <a:rPr lang="en-US" altLang="ko-KR" dirty="0"/>
                  <a:t>BF5-BF6 dominant wave </a:t>
                </a:r>
                <a:r>
                  <a:rPr lang="ko-KR" altLang="en-US" dirty="0"/>
                  <a:t>는 대부분 </a:t>
                </a:r>
                <a:r>
                  <a:rPr lang="en-US" altLang="ko-KR" dirty="0"/>
                  <a:t>Nyquist </a:t>
                </a:r>
                <a:r>
                  <a:rPr lang="ko-KR" altLang="en-US" dirty="0"/>
                  <a:t>이내 </a:t>
                </a:r>
                <a:r>
                  <a:rPr lang="en-US" altLang="ko-KR" dirty="0"/>
                  <a:t>(longer wave)</a:t>
                </a:r>
              </a:p>
              <a:p>
                <a:pPr lvl="2"/>
                <a:r>
                  <a:rPr lang="ko-KR" altLang="en-US" dirty="0"/>
                  <a:t>결과</a:t>
                </a:r>
                <a:r>
                  <a:rPr lang="en-US" altLang="ko-KR" dirty="0"/>
                  <a:t>: BF3 short component </a:t>
                </a:r>
                <a:r>
                  <a:rPr lang="ko-KR" altLang="en-US" dirty="0"/>
                  <a:t>만 </a:t>
                </a:r>
                <a:r>
                  <a:rPr lang="en-US" altLang="ko-KR" dirty="0"/>
                  <a:t>single-frame Nyquist </a:t>
                </a:r>
                <a:r>
                  <a:rPr lang="ko-KR" altLang="en-US" dirty="0"/>
                  <a:t>초과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해결 </a:t>
                </a:r>
                <a:r>
                  <a:rPr lang="en-US" altLang="ko-KR" dirty="0"/>
                  <a:t>- temporal coherence</a:t>
                </a:r>
              </a:p>
              <a:p>
                <a:pPr lvl="2"/>
                <a:r>
                  <a:rPr lang="en-US" altLang="ko-KR" dirty="0"/>
                  <a:t>Vessel </a:t>
                </a:r>
                <a:r>
                  <a:rPr lang="ko-KR" altLang="en-US" dirty="0"/>
                  <a:t>정지에도 </a:t>
                </a:r>
                <a:r>
                  <a:rPr lang="en-US" altLang="ko-KR" dirty="0"/>
                  <a:t>wave </a:t>
                </a:r>
                <a:r>
                  <a:rPr lang="ko-KR" altLang="en-US" dirty="0"/>
                  <a:t>자체의 시간 진화 활용 가능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en-US" altLang="ko-KR" i="1" dirty="0" err="1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t </a:t>
                </a:r>
                <a:r>
                  <a:rPr lang="ko-KR" altLang="en-US" dirty="0"/>
                  <a:t>진행이 </a:t>
                </a:r>
                <a:r>
                  <a:rPr lang="en-US" altLang="ko-KR" dirty="0"/>
                  <a:t>phase </a:t>
                </a:r>
                <a:r>
                  <a:rPr lang="ko-KR" altLang="en-US" dirty="0"/>
                  <a:t>변화 제공</a:t>
                </a:r>
              </a:p>
              <a:p>
                <a:pPr lvl="2"/>
                <a:r>
                  <a:rPr lang="ko-KR" altLang="en-US" dirty="0"/>
                  <a:t>여러 </a:t>
                </a:r>
                <a:r>
                  <a:rPr lang="en-US" altLang="ko-KR" dirty="0"/>
                  <a:t>frame </a:t>
                </a:r>
                <a:r>
                  <a:rPr lang="ko-KR" altLang="en-US" dirty="0"/>
                  <a:t>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4D </a:t>
                </a:r>
                <a:r>
                  <a:rPr lang="ko-KR" altLang="en-US" dirty="0"/>
                  <a:t>데이터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wavenumber </a:t>
                </a:r>
                <a:r>
                  <a:rPr lang="ko-KR" altLang="en-US" dirty="0"/>
                  <a:t>모호성 해소</a:t>
                </a:r>
              </a:p>
              <a:p>
                <a:pPr lvl="1"/>
                <a:r>
                  <a:rPr lang="en-US" altLang="ko-KR" dirty="0"/>
                  <a:t>Initialize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window</a:t>
                </a:r>
                <a:r>
                  <a:rPr lang="ko-KR" altLang="en-US" dirty="0"/>
                  <a:t> 설정</a:t>
                </a:r>
              </a:p>
              <a:p>
                <a:pPr lvl="2"/>
                <a:r>
                  <a:rPr lang="en-US" altLang="ko-KR" dirty="0"/>
                  <a:t>Init window </a:t>
                </a:r>
                <a:r>
                  <a:rPr lang="ko-KR" altLang="en-US" dirty="0"/>
                  <a:t>길이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2·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최대 </a:t>
                </a:r>
                <a:r>
                  <a:rPr lang="en-US" altLang="ko-KR" dirty="0"/>
                  <a:t>20 </a:t>
                </a:r>
                <a:r>
                  <a:rPr lang="ko-KR" altLang="en-US" dirty="0"/>
                  <a:t>초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여러 </a:t>
                </a:r>
                <a:r>
                  <a:rPr lang="en-US" altLang="ko-KR" dirty="0"/>
                  <a:t>frame × </a:t>
                </a:r>
                <a:r>
                  <a:rPr lang="ko-KR" altLang="en-US" dirty="0"/>
                  <a:t>점 </a:t>
                </a:r>
                <a:r>
                  <a:rPr lang="ko-KR" altLang="en-US" dirty="0" err="1"/>
                  <a:t>수십개</a:t>
                </a:r>
                <a:r>
                  <a:rPr lang="ko-KR" altLang="en-US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ko-KR" altLang="en-US" dirty="0"/>
                  <a:t> 수천 개 </a:t>
                </a:r>
                <a:r>
                  <a:rPr lang="en-US" altLang="ko-KR" dirty="0"/>
                  <a:t>(x, y, t, η) 4D </a:t>
                </a:r>
                <a:r>
                  <a:rPr lang="ko-KR" altLang="en-US" dirty="0"/>
                  <a:t>점 누적</a:t>
                </a:r>
              </a:p>
              <a:p>
                <a:pPr lvl="2"/>
                <a:r>
                  <a:rPr lang="ko-KR" altLang="en-US" dirty="0"/>
                  <a:t>시간 정보와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분산관계식의 </a:t>
                </a:r>
                <a:r>
                  <a:rPr lang="en-US" altLang="ko-KR" dirty="0" err="1"/>
                  <a:t>ω,k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매핑으로 충분한 샘플링 수행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D770B5A-153E-D916-1D82-C781389DE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70" t="-12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94F0E7-D5CC-DD8B-F0FC-D3758BD9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45C5EA1-1EC9-7417-B3D0-EEB1F04B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50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7911-6965-757A-4417-60F71835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6F63878-E740-FC00-8254-BFDDFFFBD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Initializing (2/2) - Beamforming + Adam adaptation</a:t>
                </a:r>
              </a:p>
              <a:p>
                <a:pPr lvl="1"/>
                <a:r>
                  <a:rPr lang="en-US" altLang="ko-KR" dirty="0"/>
                  <a:t>Beamforming score (matched filter)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= | </m:t>
                    </m:r>
                    <m:sSub>
                      <m:sSubPr>
                        <m:ctrlPr>
                          <a:rPr lang="el-GR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l-GR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𝑜𝑏𝑠</m:t>
                        </m:r>
                        <m:d>
                          <m:d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· </m:t>
                    </m:r>
                    <m:r>
                      <m:rPr>
                        <m:sty m:val="p"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⁡(−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·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l-GR" altLang="ko-KR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l-GR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)·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)) |²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i: </a:t>
                </a:r>
                <a:r>
                  <a:rPr lang="en-US" altLang="ko-KR" dirty="0" err="1"/>
                  <a:t>init</a:t>
                </a:r>
                <a:r>
                  <a:rPr lang="en-US" altLang="ko-KR" dirty="0"/>
                  <a:t> window </a:t>
                </a:r>
                <a:r>
                  <a:rPr lang="ko-KR" altLang="en-US" dirty="0"/>
                  <a:t>의 모든 점 </a:t>
                </a:r>
                <a:r>
                  <a:rPr lang="en-US" altLang="ko-KR" dirty="0"/>
                  <a:t>(frame × </a:t>
                </a:r>
                <a:r>
                  <a:rPr lang="ko-KR" altLang="en-US" dirty="0"/>
                  <a:t>점 수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2D search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만 수행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l-GR" altLang="ko-KR" i="1" dirty="0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l-GR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dispersion relation)</a:t>
                </a:r>
                <a:endParaRPr lang="ko-KR" altLang="en-US" dirty="0"/>
              </a:p>
              <a:p>
                <a:pPr lvl="1"/>
                <a:r>
                  <a:rPr lang="en-US" altLang="ko-KR" dirty="0"/>
                  <a:t>Adam adaptation (multi-frame fitting)</a:t>
                </a:r>
              </a:p>
              <a:p>
                <a:pPr lvl="2"/>
                <a:r>
                  <a:rPr lang="en-US" altLang="ko-KR" dirty="0"/>
                  <a:t>Loss</a:t>
                </a:r>
                <a:r>
                  <a:rPr lang="ko-KR" altLang="en-US" dirty="0"/>
                  <a:t>는 데이터 유사도</a:t>
                </a:r>
                <a:r>
                  <a:rPr lang="en-US" altLang="ko-KR" dirty="0"/>
                  <a:t>, L1 </a:t>
                </a:r>
                <a:r>
                  <a:rPr lang="ko-KR" altLang="en-US" dirty="0"/>
                  <a:t>제약</a:t>
                </a:r>
                <a:r>
                  <a:rPr lang="en-US" altLang="ko-KR" dirty="0"/>
                  <a:t>, amplitude smoothness</a:t>
                </a:r>
                <a:r>
                  <a:rPr lang="ko-KR" altLang="en-US" dirty="0"/>
                  <a:t>로 구성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𝑠𝑚𝑜𝑜𝑡h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파라미터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l-GR" altLang="ko-KR" dirty="0"/>
                  <a:t> </a:t>
                </a:r>
                <a:r>
                  <a:rPr lang="ko-KR" altLang="en-US" dirty="0"/>
                  <a:t>동시 </a:t>
                </a:r>
                <a:r>
                  <a:rPr lang="en-US" altLang="ko-KR" dirty="0"/>
                  <a:t>update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는 </a:t>
                </a:r>
                <a:r>
                  <a:rPr lang="en-US" altLang="ko-KR" dirty="0" err="1"/>
                  <a:t>lr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의 절반으로 천천히 </a:t>
                </a:r>
                <a:r>
                  <a:rPr lang="en-US" altLang="ko-KR" dirty="0"/>
                  <a:t>update (k </a:t>
                </a:r>
                <a:r>
                  <a:rPr lang="ko-KR" altLang="en-US" dirty="0"/>
                  <a:t>변화 신중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성분 수를 </a:t>
                </a:r>
                <a:r>
                  <a:rPr lang="en-US" altLang="ko-KR" dirty="0"/>
                  <a:t>3</a:t>
                </a:r>
                <a:r>
                  <a:rPr lang="en-US" altLang="ko-KR" dirty="0">
                    <a:sym typeface="Wingdings" panose="05000000000000000000" pitchFamily="2" charset="2"/>
                  </a:rPr>
                  <a:t>815</a:t>
                </a:r>
                <a:r>
                  <a:rPr lang="ko-KR" altLang="en-US" dirty="0">
                    <a:sym typeface="Wingdings" panose="05000000000000000000" pitchFamily="2" charset="2"/>
                  </a:rPr>
                  <a:t>로 늘려가며 최적화 수행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성분 최적화 완료는 </a:t>
                </a:r>
                <a:r>
                  <a:rPr lang="en-US" altLang="ko-KR" dirty="0">
                    <a:sym typeface="Wingdings" panose="05000000000000000000" pitchFamily="2" charset="2"/>
                  </a:rPr>
                  <a:t>loss </a:t>
                </a:r>
                <a:r>
                  <a:rPr lang="ko-KR" altLang="en-US" dirty="0">
                    <a:sym typeface="Wingdings" panose="05000000000000000000" pitchFamily="2" charset="2"/>
                  </a:rPr>
                  <a:t>함수가 </a:t>
                </a:r>
                <a:r>
                  <a:rPr lang="en-US" altLang="ko-KR" dirty="0">
                    <a:sym typeface="Wingdings" panose="05000000000000000000" pitchFamily="2" charset="2"/>
                  </a:rPr>
                  <a:t>threshold </a:t>
                </a:r>
                <a:r>
                  <a:rPr lang="ko-KR" altLang="en-US" dirty="0">
                    <a:sym typeface="Wingdings" panose="05000000000000000000" pitchFamily="2" charset="2"/>
                  </a:rPr>
                  <a:t>이하 혹은 최대 </a:t>
                </a:r>
                <a:r>
                  <a:rPr lang="en-US" altLang="ko-KR" dirty="0">
                    <a:sym typeface="Wingdings" panose="05000000000000000000" pitchFamily="2" charset="2"/>
                  </a:rPr>
                  <a:t>iteration </a:t>
                </a:r>
                <a:r>
                  <a:rPr lang="ko-KR" altLang="en-US" dirty="0">
                    <a:sym typeface="Wingdings" panose="05000000000000000000" pitchFamily="2" charset="2"/>
                  </a:rPr>
                  <a:t>도달 시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6F63878-E740-FC00-8254-BFDDFFFBD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70" t="-12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83480F-B970-C65A-16C1-42BA094E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211C2DA-40F4-8195-6B70-784E0FA9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  <p:pic>
        <p:nvPicPr>
          <p:cNvPr id="7" name="Picture 3" descr="fig_beamforming_2stage.png">
            <a:extLst>
              <a:ext uri="{FF2B5EF4-FFF2-40B4-BE49-F238E27FC236}">
                <a16:creationId xmlns:a16="http://schemas.microsoft.com/office/drawing/2014/main" id="{73B7B337-3B16-F22E-5FE3-BCA716F39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668" y="4509120"/>
            <a:ext cx="5976664" cy="198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23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DEE4-D39F-C235-73F2-B498FB56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CAAE472-BA71-6FA9-7179-12D5BBE57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Tracking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ko-KR" dirty="0"/>
                          <m:t>φ</m:t>
                        </m:r>
                      </m:sub>
                    </m:sSub>
                  </m:oMath>
                </a14:m>
                <a:r>
                  <a:rPr lang="en-US" altLang="ko-KR" dirty="0"/>
                  <a:t> tracking mode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: Initialize </a:t>
                </a:r>
                <a:r>
                  <a:rPr lang="ko-KR" altLang="en-US" dirty="0"/>
                  <a:t>결과 고정</a:t>
                </a:r>
                <a:br>
                  <a:rPr lang="en-US" altLang="ko-KR" dirty="0"/>
                </a:br>
                <a:r>
                  <a:rPr lang="ko-KR" altLang="en-US" dirty="0"/>
                  <a:t>한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프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레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임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결정할 수 없음</a:t>
                </a:r>
                <a:r>
                  <a:rPr lang="en-US" altLang="ko-KR" dirty="0"/>
                  <a:t>(Nyquist)</a:t>
                </a:r>
                <a:endParaRPr lang="ko-KR" alt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altLang="ko-KR" dirty="0"/>
                  <a:t>: </a:t>
                </a:r>
                <a:r>
                  <a:rPr lang="en-US" altLang="ko-KR" dirty="0"/>
                  <a:t>dispersion </a:t>
                </a:r>
                <a:r>
                  <a:rPr lang="ko-KR" altLang="en-US" dirty="0"/>
                  <a:t>으로 자동 </a:t>
                </a:r>
                <a:r>
                  <a:rPr lang="en-US" altLang="ko-KR" dirty="0"/>
                  <a:t>(k </a:t>
                </a:r>
                <a:r>
                  <a:rPr lang="ko-KR" altLang="en-US" dirty="0"/>
                  <a:t>에서 계산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(A, </a:t>
                </a:r>
                <a:r>
                  <a:rPr lang="el-GR" altLang="ko-KR" dirty="0"/>
                  <a:t>φ): </a:t>
                </a:r>
                <a:r>
                  <a:rPr lang="en-US" altLang="ko-KR" dirty="0"/>
                  <a:t>Adam </a:t>
                </a:r>
                <a:r>
                  <a:rPr lang="ko-KR" altLang="en-US" dirty="0"/>
                  <a:t>으로 매 </a:t>
                </a:r>
                <a:r>
                  <a:rPr lang="en-US" altLang="ko-KR" dirty="0"/>
                  <a:t>frame update – </a:t>
                </a:r>
                <a:r>
                  <a:rPr lang="ko-KR" altLang="en-US" dirty="0"/>
                  <a:t>자유도 </a:t>
                </a:r>
                <a:r>
                  <a:rPr lang="en-US" altLang="ko-KR" dirty="0"/>
                  <a:t>2N</a:t>
                </a:r>
              </a:p>
              <a:p>
                <a:pPr lvl="1"/>
                <a:r>
                  <a:rPr lang="en-US" altLang="ko-KR" dirty="0"/>
                  <a:t>Phase prediction</a:t>
                </a:r>
              </a:p>
              <a:p>
                <a:pPr lvl="2"/>
                <a:r>
                  <a:rPr lang="ko-KR" altLang="en-US" dirty="0"/>
                  <a:t>매 </a:t>
                </a:r>
                <a:r>
                  <a:rPr lang="en-US" altLang="ko-KR" dirty="0"/>
                  <a:t>update </a:t>
                </a:r>
                <a:r>
                  <a:rPr lang="ko-KR" altLang="en-US" dirty="0"/>
                  <a:t>전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← </m:t>
                    </m:r>
                    <m:sSub>
                      <m:sSubPr>
                        <m:ctrlPr>
                          <a:rPr lang="el-GR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l-GR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· </m:t>
                    </m:r>
                    <m:r>
                      <m:rPr>
                        <m:sty m:val="p"/>
                      </m:rPr>
                      <a:rPr lang="el-GR" altLang="ko-KR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Tracking window = 3 frames (recent buffer)</a:t>
                </a:r>
              </a:p>
              <a:p>
                <a:pPr lvl="1"/>
                <a:r>
                  <a:rPr lang="en-US" altLang="ko-KR" dirty="0"/>
                  <a:t>Adaptive N – component </a:t>
                </a:r>
                <a:r>
                  <a:rPr lang="ko-KR" altLang="en-US" dirty="0"/>
                  <a:t>수 동적 조정</a:t>
                </a:r>
              </a:p>
              <a:p>
                <a:pPr lvl="2"/>
                <a:r>
                  <a:rPr lang="en-US" altLang="ko-KR" dirty="0"/>
                  <a:t>Pruning: cumulative energy 90% </a:t>
                </a:r>
                <a:r>
                  <a:rPr lang="ko-KR" altLang="en-US" dirty="0"/>
                  <a:t>유지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Growth: residual RMS &gt; 0.05 m </a:t>
                </a:r>
                <a:r>
                  <a:rPr lang="ko-KR" altLang="en-US" dirty="0"/>
                  <a:t>시 새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 err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추가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max_n</a:t>
                </a:r>
                <a:r>
                  <a:rPr lang="en-US" altLang="ko-KR" dirty="0"/>
                  <a:t>=30)</a:t>
                </a:r>
              </a:p>
              <a:p>
                <a:pPr lvl="2"/>
                <a:r>
                  <a:rPr lang="en-US" altLang="ko-KR" dirty="0"/>
                  <a:t>Safety rollback: </a:t>
                </a:r>
                <a:r>
                  <a:rPr lang="ko-KR" altLang="en-US" dirty="0"/>
                  <a:t>변경 전후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𝑅𝑀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𝑎𝑓𝑡𝑒𝑟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&gt;1.3×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𝑅𝑀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𝑏𝑒𝑓𝑜𝑟𝑒</m:t>
                        </m:r>
                      </m:sub>
                    </m:sSub>
                  </m:oMath>
                </a14:m>
                <a:r>
                  <a:rPr lang="ko-KR" altLang="en-US" dirty="0"/>
                  <a:t>면 이전 상태로 복구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CAAE472-BA71-6FA9-7179-12D5BBE57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70" t="-12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350A6D-A244-30DE-8C26-4190AEEE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435A993-58ED-3C86-A611-F49156DB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18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C67895B-3A1F-F74A-51E2-28D2B7656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7C21F3-5D20-23F3-A458-033FE996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5E5FCFA-F721-E05A-91C7-D2C27A83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  <p:pic>
        <p:nvPicPr>
          <p:cNvPr id="6" name="Picture 3" descr="fig_pipeline.png">
            <a:extLst>
              <a:ext uri="{FF2B5EF4-FFF2-40B4-BE49-F238E27FC236}">
                <a16:creationId xmlns:a16="http://schemas.microsoft.com/office/drawing/2014/main" id="{2F65DCD1-4A9E-5F24-BB2E-C7839D9B0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53" y="1779216"/>
            <a:ext cx="8016695" cy="329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6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224D12-7489-2E10-F322-2BBE2434B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5251C-68DF-63AF-9245-BB5DD30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9A972B2-1F46-35F8-2B5D-12606392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Method</a:t>
            </a:r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B925ADA-5D87-72A8-F330-686F4D21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1" y="1266077"/>
            <a:ext cx="8709877" cy="46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12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D505-B203-024A-C5A3-338220FE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318E8C6-C38E-046F-B214-2C0C5DA2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6E656E71-0D8A-57CF-4542-1E24418E9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078E8FA3-3714-3237-E590-C1BCD298A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2F821714-7814-CFED-18F5-64305A5C7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C7D93196-6217-CF61-C09D-F27CF5B9E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3174A73B-9EF4-DAD8-9DCA-882BCA402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396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05A01F1-2D3D-8035-C488-F362E5F99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12-episode benchmark </a:t>
            </a:r>
            <a:r>
              <a:rPr lang="ko-KR" altLang="en-US" dirty="0"/>
              <a:t>결과</a:t>
            </a:r>
          </a:p>
          <a:p>
            <a:pPr lvl="1"/>
            <a:r>
              <a:rPr lang="en-US" altLang="ko-KR" dirty="0" err="1"/>
              <a:t>WaveSplat</a:t>
            </a:r>
            <a:r>
              <a:rPr lang="en-US" altLang="ko-KR" dirty="0"/>
              <a:t> </a:t>
            </a:r>
            <a:r>
              <a:rPr lang="ko-KR" altLang="en-US" dirty="0"/>
              <a:t>정확도 </a:t>
            </a:r>
            <a:r>
              <a:rPr lang="en-US" altLang="ko-KR" dirty="0"/>
              <a:t>16% </a:t>
            </a:r>
            <a:r>
              <a:rPr lang="ko-KR" altLang="en-US" dirty="0"/>
              <a:t>우위 </a:t>
            </a:r>
            <a:r>
              <a:rPr lang="en-US" altLang="ko-KR" dirty="0"/>
              <a:t>+ 47</a:t>
            </a:r>
            <a:r>
              <a:rPr lang="ko-KR" altLang="en-US" dirty="0"/>
              <a:t>배 빠름 </a:t>
            </a:r>
            <a:r>
              <a:rPr lang="en-US" altLang="ko-KR" dirty="0"/>
              <a:t>(CPU only)</a:t>
            </a:r>
          </a:p>
          <a:p>
            <a:pPr lvl="1"/>
            <a:r>
              <a:rPr lang="ko-KR" altLang="en-US" dirty="0"/>
              <a:t>단순 파도 </a:t>
            </a:r>
            <a:r>
              <a:rPr lang="en-US" altLang="ko-KR" dirty="0"/>
              <a:t>(1–5 comp): </a:t>
            </a:r>
            <a:r>
              <a:rPr lang="ko-KR" altLang="en-US" dirty="0"/>
              <a:t>압도적 </a:t>
            </a:r>
            <a:r>
              <a:rPr lang="en-US" altLang="ko-KR" dirty="0"/>
              <a:t>/ </a:t>
            </a:r>
            <a:r>
              <a:rPr lang="ko-KR" altLang="en-US" dirty="0"/>
              <a:t>복잡 파도 </a:t>
            </a:r>
            <a:r>
              <a:rPr lang="en-US" altLang="ko-KR" dirty="0"/>
              <a:t>(≥15): </a:t>
            </a:r>
            <a:r>
              <a:rPr lang="ko-KR" altLang="en-US" dirty="0"/>
              <a:t>일부 역전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DA920C-FFD0-0669-D121-CFE7CEFC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45DA81F-CFCC-82D0-92D2-ADF07696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Experiment &amp; Mechanism</a:t>
            </a:r>
            <a:endParaRPr lang="ko-KR" altLang="en-US" dirty="0"/>
          </a:p>
        </p:txBody>
      </p:sp>
      <p:pic>
        <p:nvPicPr>
          <p:cNvPr id="7" name="Picture 4" descr="fig_wang_compare_bf3_n2.png">
            <a:extLst>
              <a:ext uri="{FF2B5EF4-FFF2-40B4-BE49-F238E27FC236}">
                <a16:creationId xmlns:a16="http://schemas.microsoft.com/office/drawing/2014/main" id="{7F6E9A11-D63A-8294-A9A7-31CE3FA35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411943"/>
            <a:ext cx="7200800" cy="1995208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8895BA5-8292-FD1B-3A85-A5188E0A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581" y="1944715"/>
            <a:ext cx="5101716" cy="248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16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632326B-3370-8CA0-E06B-C8D95F414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32"/>
            <a:ext cx="4536504" cy="5196231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Ablation – Multi frame &amp; Dispersion relation</a:t>
            </a:r>
            <a:endParaRPr lang="ko-KR" altLang="en-US" dirty="0"/>
          </a:p>
          <a:p>
            <a:pPr lvl="1"/>
            <a:r>
              <a:rPr lang="en-US" altLang="ko-KR" dirty="0"/>
              <a:t>4 </a:t>
            </a:r>
            <a:r>
              <a:rPr lang="ko-KR" altLang="en-US" dirty="0"/>
              <a:t>가지 변형 비교</a:t>
            </a:r>
            <a:endParaRPr lang="en-US" altLang="ko-KR" dirty="0"/>
          </a:p>
          <a:p>
            <a:pPr lvl="2"/>
            <a:r>
              <a:rPr lang="en-US" altLang="ko-KR" dirty="0"/>
              <a:t>A: single frame, </a:t>
            </a:r>
            <a:r>
              <a:rPr lang="ko-KR" altLang="en-US" dirty="0"/>
              <a:t>분산관계식 미사용</a:t>
            </a:r>
            <a:endParaRPr lang="en-US" altLang="ko-KR" dirty="0"/>
          </a:p>
          <a:p>
            <a:pPr lvl="2"/>
            <a:r>
              <a:rPr lang="en-US" altLang="ko-KR" dirty="0"/>
              <a:t>B: multi frame, </a:t>
            </a:r>
            <a:r>
              <a:rPr lang="ko-KR" altLang="en-US" dirty="0"/>
              <a:t>분산관계식 미사용</a:t>
            </a:r>
            <a:endParaRPr lang="en-US" altLang="ko-KR" dirty="0"/>
          </a:p>
          <a:p>
            <a:pPr lvl="2"/>
            <a:r>
              <a:rPr lang="en-US" altLang="ko-KR" dirty="0"/>
              <a:t>C: single frame, </a:t>
            </a:r>
            <a:r>
              <a:rPr lang="ko-KR" altLang="en-US" dirty="0"/>
              <a:t>분산관계식 사용</a:t>
            </a:r>
            <a:endParaRPr lang="en-US" altLang="ko-KR" dirty="0"/>
          </a:p>
          <a:p>
            <a:pPr lvl="2"/>
            <a:r>
              <a:rPr lang="en-US" altLang="ko-KR" dirty="0"/>
              <a:t>D: multi frame,  </a:t>
            </a:r>
            <a:r>
              <a:rPr lang="ko-KR" altLang="en-US" dirty="0"/>
              <a:t>분산관계식 사용</a:t>
            </a:r>
            <a:endParaRPr lang="en-US" altLang="ko-KR" dirty="0"/>
          </a:p>
          <a:p>
            <a:pPr lvl="1"/>
            <a:r>
              <a:rPr lang="en-US" altLang="ko-KR" dirty="0"/>
              <a:t>C case </a:t>
            </a:r>
            <a:r>
              <a:rPr lang="ko-KR" altLang="en-US" dirty="0"/>
              <a:t>악화 원인</a:t>
            </a:r>
          </a:p>
          <a:p>
            <a:pPr lvl="2"/>
            <a:r>
              <a:rPr lang="en-US" altLang="ko-KR" dirty="0"/>
              <a:t>Single frame </a:t>
            </a:r>
            <a:r>
              <a:rPr lang="ko-KR" altLang="en-US" dirty="0"/>
              <a:t>에서 </a:t>
            </a:r>
            <a:r>
              <a:rPr lang="en-US" altLang="ko-KR" dirty="0"/>
              <a:t>k </a:t>
            </a:r>
            <a:r>
              <a:rPr lang="ko-KR" altLang="en-US" dirty="0"/>
              <a:t>추정 부정확</a:t>
            </a:r>
          </a:p>
          <a:p>
            <a:pPr lvl="2"/>
            <a:r>
              <a:rPr lang="ko-KR" altLang="en-US" dirty="0"/>
              <a:t>잘못된 </a:t>
            </a:r>
            <a:r>
              <a:rPr lang="en-US" altLang="ko-KR" dirty="0"/>
              <a:t>k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잘못된 </a:t>
            </a:r>
            <a:r>
              <a:rPr lang="en-US" altLang="ko-KR" dirty="0"/>
              <a:t>ω </a:t>
            </a:r>
            <a:r>
              <a:rPr lang="ko-KR" altLang="en-US" dirty="0"/>
              <a:t>전파</a:t>
            </a:r>
          </a:p>
          <a:p>
            <a:pPr lvl="1"/>
            <a:r>
              <a:rPr lang="en-US" altLang="ko-KR" dirty="0"/>
              <a:t>D </a:t>
            </a:r>
            <a:r>
              <a:rPr lang="ko-KR" altLang="en-US" dirty="0"/>
              <a:t>가 어떻게 안정화 되는가</a:t>
            </a:r>
          </a:p>
          <a:p>
            <a:pPr lvl="2"/>
            <a:r>
              <a:rPr lang="en-US" altLang="ko-KR" dirty="0"/>
              <a:t>Multi-frame </a:t>
            </a:r>
            <a:r>
              <a:rPr lang="ko-KR" altLang="en-US" dirty="0"/>
              <a:t>으로 </a:t>
            </a:r>
            <a:r>
              <a:rPr lang="en-US" altLang="ko-KR" dirty="0"/>
              <a:t>k </a:t>
            </a:r>
            <a:r>
              <a:rPr lang="ko-KR" altLang="en-US" dirty="0"/>
              <a:t>정확 추정</a:t>
            </a:r>
          </a:p>
          <a:p>
            <a:pPr lvl="2"/>
            <a:r>
              <a:rPr lang="ko-KR" altLang="en-US" dirty="0"/>
              <a:t>분산관계식</a:t>
            </a:r>
            <a:r>
              <a:rPr lang="en-US" altLang="ko-KR" dirty="0"/>
              <a:t> </a:t>
            </a:r>
            <a:r>
              <a:rPr lang="ko-KR" altLang="en-US" dirty="0"/>
              <a:t>으로 </a:t>
            </a:r>
            <a:r>
              <a:rPr lang="en-US" altLang="ko-KR" dirty="0"/>
              <a:t>ω </a:t>
            </a:r>
            <a:r>
              <a:rPr lang="ko-KR" altLang="en-US" dirty="0"/>
              <a:t>자동 결정</a:t>
            </a:r>
            <a:endParaRPr lang="en-US" altLang="ko-KR" dirty="0"/>
          </a:p>
          <a:p>
            <a:pPr lvl="2"/>
            <a:r>
              <a:rPr lang="ko-KR" altLang="en-US" dirty="0"/>
              <a:t>두 개념을</a:t>
            </a:r>
            <a:r>
              <a:rPr lang="en-US" altLang="ko-KR" dirty="0"/>
              <a:t> </a:t>
            </a:r>
            <a:r>
              <a:rPr lang="ko-KR" altLang="en-US" dirty="0"/>
              <a:t>결합 시 시너지 발생</a:t>
            </a:r>
          </a:p>
          <a:p>
            <a:pPr lvl="1"/>
            <a:r>
              <a:rPr lang="ko-KR" altLang="en-US" dirty="0"/>
              <a:t>결론</a:t>
            </a:r>
          </a:p>
          <a:p>
            <a:pPr lvl="2"/>
            <a:r>
              <a:rPr lang="ko-KR" altLang="en-US" dirty="0"/>
              <a:t>분산관계식은 정규화 역할 수행</a:t>
            </a:r>
          </a:p>
          <a:p>
            <a:pPr lvl="2"/>
            <a:r>
              <a:rPr lang="en-US" altLang="ko-KR" dirty="0"/>
              <a:t>Multi-frame </a:t>
            </a:r>
            <a:r>
              <a:rPr lang="ko-KR" altLang="en-US" dirty="0"/>
              <a:t>과 함께 써야 효과 발휘</a:t>
            </a:r>
          </a:p>
          <a:p>
            <a:pPr lvl="2"/>
            <a:r>
              <a:rPr lang="ko-KR" altLang="en-US" dirty="0"/>
              <a:t>두 메커니즘 단독은 불완전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62E5BB-E49F-4BE3-EEB7-6687E146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AB1E702-78A8-30B1-70D6-8485C6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Experiment &amp; Mechanism</a:t>
            </a:r>
            <a:endParaRPr lang="ko-KR" altLang="en-US" dirty="0"/>
          </a:p>
        </p:txBody>
      </p:sp>
      <p:pic>
        <p:nvPicPr>
          <p:cNvPr id="6" name="Picture 3" descr="fig_ablation_bar.png">
            <a:extLst>
              <a:ext uri="{FF2B5EF4-FFF2-40B4-BE49-F238E27FC236}">
                <a16:creationId xmlns:a16="http://schemas.microsoft.com/office/drawing/2014/main" id="{3E013262-5CE6-BD47-0AC6-FAED10930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2348880"/>
            <a:ext cx="3948103" cy="2160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C75B1B-979B-A0D8-D70A-8937E1B9BD0C}"/>
              </a:ext>
            </a:extLst>
          </p:cNvPr>
          <p:cNvSpPr txBox="1"/>
          <p:nvPr/>
        </p:nvSpPr>
        <p:spPr>
          <a:xfrm>
            <a:off x="5159544" y="4543902"/>
            <a:ext cx="3984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lt"/>
              </a:rPr>
              <a:t>※ B </a:t>
            </a:r>
            <a:r>
              <a:rPr lang="ko-KR" altLang="en-US" sz="1200" dirty="0">
                <a:latin typeface="+mn-lt"/>
              </a:rPr>
              <a:t>와 </a:t>
            </a:r>
            <a:r>
              <a:rPr lang="en-US" altLang="ko-KR" sz="1200" dirty="0">
                <a:latin typeface="+mn-lt"/>
              </a:rPr>
              <a:t>D </a:t>
            </a:r>
            <a:r>
              <a:rPr lang="ko-KR" altLang="en-US" sz="1200" dirty="0">
                <a:latin typeface="+mn-lt"/>
              </a:rPr>
              <a:t>의 평균 차이 </a:t>
            </a:r>
            <a:r>
              <a:rPr lang="en-US" altLang="ko-KR" sz="1200" dirty="0">
                <a:latin typeface="+mn-lt"/>
              </a:rPr>
              <a:t>(0.003) </a:t>
            </a:r>
            <a:r>
              <a:rPr lang="ko-KR" altLang="en-US" sz="1200" dirty="0">
                <a:latin typeface="+mn-lt"/>
              </a:rPr>
              <a:t>는 통계적으로 무의미</a:t>
            </a:r>
          </a:p>
          <a:p>
            <a:r>
              <a:rPr lang="en-US" altLang="ko-KR" sz="1200" dirty="0">
                <a:latin typeface="+mn-lt"/>
              </a:rPr>
              <a:t>B std 0.099 &gt; D std 0.090, D </a:t>
            </a:r>
            <a:r>
              <a:rPr lang="ko-KR" altLang="en-US" sz="1200" dirty="0">
                <a:latin typeface="+mn-lt"/>
              </a:rPr>
              <a:t>가 더 일관성 있음</a:t>
            </a:r>
            <a:endParaRPr lang="en-US" altLang="ko-KR" sz="1200" dirty="0">
              <a:latin typeface="+mn-lt"/>
            </a:endParaRPr>
          </a:p>
          <a:p>
            <a:r>
              <a:rPr lang="en-US" altLang="ko-KR" sz="1200" dirty="0">
                <a:latin typeface="+mn-lt"/>
              </a:rPr>
              <a:t>Worst-case: B 0.325 vs D 0.315, D </a:t>
            </a:r>
            <a:r>
              <a:rPr lang="ko-KR" altLang="en-US" sz="1200" dirty="0">
                <a:latin typeface="+mn-lt"/>
              </a:rPr>
              <a:t>가 더 강건함</a:t>
            </a:r>
            <a:endParaRPr lang="en-US" altLang="ko-KR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4494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38DD-3371-FF62-DA70-A5EF0D0F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6AA57C8-3C22-0EFB-3397-73315E9C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FCE8360D-0891-2F32-5185-739684284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17846B57-7B46-250A-6635-66EA3DC6C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2E4DDFC0-656B-81C5-C430-879D28E7C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64F089B4-7F04-0EDD-EB8C-68E79DEFB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3B6110C8-5D0D-6A6E-B637-C3B1F3C9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0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D739-7527-06F9-9942-9929CB43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A9E84F-7FAF-9322-93C0-C1AEE647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한계</a:t>
            </a:r>
          </a:p>
          <a:p>
            <a:pPr lvl="1"/>
            <a:r>
              <a:rPr lang="ko-KR" altLang="en-US" dirty="0"/>
              <a:t>선형 근사 </a:t>
            </a:r>
            <a:r>
              <a:rPr lang="en-US" altLang="ko-KR" dirty="0"/>
              <a:t>(Linear Wave Theory)</a:t>
            </a:r>
          </a:p>
          <a:p>
            <a:pPr lvl="2"/>
            <a:r>
              <a:rPr lang="ko-KR" altLang="en-US" dirty="0"/>
              <a:t>파도를 사인파의 합으로 표현</a:t>
            </a:r>
          </a:p>
          <a:p>
            <a:pPr lvl="2"/>
            <a:r>
              <a:rPr lang="ko-KR" altLang="en-US" dirty="0"/>
              <a:t>실제 파도는 꼭대기 </a:t>
            </a:r>
            <a:r>
              <a:rPr lang="ko-KR" altLang="en-US" dirty="0" err="1"/>
              <a:t>뾰족</a:t>
            </a:r>
            <a:r>
              <a:rPr lang="en-US" altLang="ko-KR" dirty="0"/>
              <a:t>·</a:t>
            </a:r>
            <a:r>
              <a:rPr lang="ko-KR" altLang="en-US" dirty="0"/>
              <a:t>골 넓음 </a:t>
            </a:r>
            <a:r>
              <a:rPr lang="en-US" altLang="ko-KR" dirty="0"/>
              <a:t>(</a:t>
            </a:r>
            <a:r>
              <a:rPr lang="ko-KR" altLang="en-US" dirty="0"/>
              <a:t>비선형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개선 방향</a:t>
            </a:r>
            <a:r>
              <a:rPr lang="en-US" altLang="ko-KR" dirty="0"/>
              <a:t>: Stokes 2</a:t>
            </a:r>
            <a:r>
              <a:rPr lang="ko-KR" altLang="en-US" dirty="0"/>
              <a:t>차 보정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적용 범위 확장</a:t>
            </a:r>
          </a:p>
          <a:p>
            <a:pPr lvl="1"/>
            <a:r>
              <a:rPr lang="ko-KR" altLang="en-US" dirty="0"/>
              <a:t>복잡한 파도 </a:t>
            </a:r>
            <a:r>
              <a:rPr lang="en-US" altLang="ko-KR" dirty="0"/>
              <a:t>(≥15 components) </a:t>
            </a:r>
            <a:r>
              <a:rPr lang="ko-KR" altLang="en-US" dirty="0"/>
              <a:t>추정 정확도 저하</a:t>
            </a:r>
          </a:p>
          <a:p>
            <a:pPr lvl="2"/>
            <a:r>
              <a:rPr lang="en-US" altLang="ko-KR" dirty="0"/>
              <a:t>BF4 15comp: </a:t>
            </a:r>
            <a:r>
              <a:rPr lang="en-US" altLang="ko-KR" dirty="0" err="1"/>
              <a:t>WaveSplat</a:t>
            </a:r>
            <a:r>
              <a:rPr lang="en-US" altLang="ko-KR" dirty="0"/>
              <a:t> 0.302 vs Wang2025 0.249 (</a:t>
            </a:r>
            <a:r>
              <a:rPr lang="ko-KR" altLang="en-US" dirty="0"/>
              <a:t>역전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원인</a:t>
            </a:r>
            <a:r>
              <a:rPr lang="en-US" altLang="ko-KR" dirty="0"/>
              <a:t>: beamforming </a:t>
            </a:r>
            <a:r>
              <a:rPr lang="ko-KR" altLang="en-US" dirty="0"/>
              <a:t>이 다수 </a:t>
            </a:r>
            <a:r>
              <a:rPr lang="en-US" altLang="ko-KR" dirty="0"/>
              <a:t>peak </a:t>
            </a:r>
            <a:r>
              <a:rPr lang="ko-KR" altLang="en-US" dirty="0"/>
              <a:t>분리 어려움</a:t>
            </a:r>
          </a:p>
          <a:p>
            <a:pPr lvl="2"/>
            <a:r>
              <a:rPr lang="ko-KR" altLang="en-US" dirty="0"/>
              <a:t>개선 방향</a:t>
            </a:r>
            <a:r>
              <a:rPr lang="en-US" altLang="ko-KR" dirty="0"/>
              <a:t>: initialization </a:t>
            </a:r>
            <a:r>
              <a:rPr lang="ko-KR" altLang="en-US" dirty="0"/>
              <a:t>계산 개선</a:t>
            </a:r>
            <a:endParaRPr lang="en-US" altLang="ko-KR" dirty="0"/>
          </a:p>
          <a:p>
            <a:pPr lvl="1"/>
            <a:r>
              <a:rPr lang="en-US" altLang="ko-KR" dirty="0"/>
              <a:t>Vessel </a:t>
            </a:r>
            <a:r>
              <a:rPr lang="ko-KR" altLang="en-US" dirty="0"/>
              <a:t>정지 가정 </a:t>
            </a:r>
            <a:r>
              <a:rPr lang="en-US" altLang="ko-KR" dirty="0"/>
              <a:t>(V=0 kts)</a:t>
            </a:r>
          </a:p>
          <a:p>
            <a:pPr lvl="2"/>
            <a:r>
              <a:rPr lang="ko-KR" altLang="en-US" dirty="0"/>
              <a:t>현재 </a:t>
            </a:r>
            <a:r>
              <a:rPr lang="en-US" altLang="ko-KR" dirty="0"/>
              <a:t>dataset </a:t>
            </a:r>
            <a:r>
              <a:rPr lang="ko-KR" altLang="en-US" dirty="0"/>
              <a:t>은 </a:t>
            </a:r>
            <a:r>
              <a:rPr lang="en-US" altLang="ko-KR" dirty="0"/>
              <a:t>vessel </a:t>
            </a:r>
            <a:r>
              <a:rPr lang="ko-KR" altLang="en-US" dirty="0"/>
              <a:t>정지 상태로 합성 </a:t>
            </a:r>
            <a:r>
              <a:rPr lang="en-US" altLang="ko-KR" dirty="0"/>
              <a:t>- synthetic aperture (SA) </a:t>
            </a:r>
            <a:r>
              <a:rPr lang="ko-KR" altLang="en-US" dirty="0"/>
              <a:t>미적용</a:t>
            </a:r>
          </a:p>
          <a:p>
            <a:pPr lvl="2"/>
            <a:r>
              <a:rPr lang="en-US" altLang="ko-KR" dirty="0"/>
              <a:t>Multi frame</a:t>
            </a:r>
            <a:r>
              <a:rPr lang="ko-KR" altLang="en-US" dirty="0"/>
              <a:t>으로 파도를 따라가지만</a:t>
            </a:r>
            <a:r>
              <a:rPr lang="en-US" altLang="ko-KR" dirty="0"/>
              <a:t>,  LiDAR</a:t>
            </a:r>
            <a:r>
              <a:rPr lang="ko-KR" altLang="en-US" dirty="0"/>
              <a:t>가 한 번에 보는 수면영역이</a:t>
            </a:r>
            <a:br>
              <a:rPr lang="en-US" altLang="ko-KR" dirty="0"/>
            </a:br>
            <a:r>
              <a:rPr lang="ko-KR" altLang="en-US" dirty="0"/>
              <a:t>제한적이어서 매우 긴 파도는 정확도 감소</a:t>
            </a:r>
            <a:endParaRPr lang="en-US" altLang="ko-KR" dirty="0"/>
          </a:p>
          <a:p>
            <a:pPr lvl="2"/>
            <a:r>
              <a:rPr lang="ko-KR" altLang="en-US" dirty="0"/>
              <a:t>개선 방향</a:t>
            </a:r>
            <a:r>
              <a:rPr lang="en-US" altLang="ko-KR" dirty="0"/>
              <a:t>: vessel motion </a:t>
            </a:r>
            <a:r>
              <a:rPr lang="ko-KR" altLang="en-US" dirty="0"/>
              <a:t>도입 → </a:t>
            </a:r>
            <a:r>
              <a:rPr lang="en-US" altLang="ko-KR" dirty="0"/>
              <a:t>V·T </a:t>
            </a:r>
            <a:r>
              <a:rPr lang="ko-KR" altLang="en-US" dirty="0"/>
              <a:t>만큼 </a:t>
            </a:r>
            <a:r>
              <a:rPr lang="en-US" altLang="ko-KR" dirty="0"/>
              <a:t>synthetic aperture </a:t>
            </a:r>
            <a:r>
              <a:rPr lang="ko-KR" altLang="en-US" dirty="0"/>
              <a:t>효과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3411F3-8E10-A7BC-5224-D0B4C483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CAC0C9C-C98E-C3D3-2E75-E7DE3FF7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Limitations &amp; Research 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041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A83DA4-4FC3-7FA4-1871-6B54EE469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Hydrofoil</a:t>
            </a:r>
            <a:r>
              <a:rPr lang="ko-KR" altLang="en-US" dirty="0"/>
              <a:t> </a:t>
            </a:r>
            <a:r>
              <a:rPr lang="en-US" altLang="ko-KR" dirty="0"/>
              <a:t>ship </a:t>
            </a:r>
            <a:r>
              <a:rPr lang="ko-KR" altLang="en-US" dirty="0"/>
              <a:t>제어</a:t>
            </a:r>
            <a:endParaRPr lang="en-US" altLang="ko-KR" dirty="0"/>
          </a:p>
          <a:p>
            <a:pPr lvl="1"/>
            <a:r>
              <a:rPr lang="en-US" altLang="ko-KR" dirty="0"/>
              <a:t>Hydrofoil &amp; Wave</a:t>
            </a:r>
          </a:p>
          <a:p>
            <a:pPr lvl="2"/>
            <a:r>
              <a:rPr lang="en-US" altLang="ko-KR" dirty="0"/>
              <a:t>Hydrofoil</a:t>
            </a:r>
            <a:r>
              <a:rPr lang="ko-KR" altLang="en-US" dirty="0"/>
              <a:t> </a:t>
            </a:r>
            <a:r>
              <a:rPr lang="en-US" altLang="ko-KR" dirty="0"/>
              <a:t>ship</a:t>
            </a:r>
            <a:r>
              <a:rPr lang="ko-KR" altLang="en-US" dirty="0"/>
              <a:t>은 파도를 만나면 날개에서 발생하는 </a:t>
            </a:r>
            <a:r>
              <a:rPr lang="en-US" altLang="ko-KR" dirty="0"/>
              <a:t>lift </a:t>
            </a:r>
            <a:r>
              <a:rPr lang="ko-KR" altLang="en-US" dirty="0"/>
              <a:t>변동</a:t>
            </a:r>
            <a:endParaRPr lang="en-US" altLang="ko-KR" dirty="0"/>
          </a:p>
          <a:p>
            <a:pPr lvl="2"/>
            <a:r>
              <a:rPr lang="ko-KR" altLang="en-US" dirty="0"/>
              <a:t>선수 진행 방향 파도 정보를 알면 선제적으로 </a:t>
            </a:r>
            <a:r>
              <a:rPr lang="en-US" altLang="ko-KR" dirty="0"/>
              <a:t>hydrofoil </a:t>
            </a:r>
            <a:r>
              <a:rPr lang="ko-KR" altLang="en-US" dirty="0"/>
              <a:t>제어가 가능</a:t>
            </a:r>
            <a:endParaRPr lang="en-US" altLang="ko-KR" dirty="0"/>
          </a:p>
          <a:p>
            <a:pPr lvl="1"/>
            <a:r>
              <a:rPr lang="en-US" altLang="ko-KR" dirty="0"/>
              <a:t>Simulation</a:t>
            </a:r>
          </a:p>
          <a:p>
            <a:pPr lvl="2"/>
            <a:r>
              <a:rPr lang="en-US" altLang="ko-KR" dirty="0"/>
              <a:t>2-DOF(Heave, pitch)</a:t>
            </a:r>
          </a:p>
          <a:p>
            <a:pPr lvl="2"/>
            <a:r>
              <a:rPr lang="en-US" altLang="ko-KR" dirty="0"/>
              <a:t>Thin airfoil </a:t>
            </a:r>
            <a:r>
              <a:rPr lang="ko-KR" altLang="en-US" dirty="0"/>
              <a:t>가정</a:t>
            </a:r>
            <a:endParaRPr lang="en-US" altLang="ko-KR" dirty="0"/>
          </a:p>
          <a:p>
            <a:pPr lvl="2"/>
            <a:r>
              <a:rPr lang="ko-KR" altLang="en-US" dirty="0"/>
              <a:t>자유표면</a:t>
            </a:r>
            <a:r>
              <a:rPr lang="en-US" altLang="ko-KR" dirty="0"/>
              <a:t>, ventilation </a:t>
            </a:r>
            <a:r>
              <a:rPr lang="ko-KR" altLang="en-US" dirty="0"/>
              <a:t>영향 포함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D2875E-DC64-1886-4269-F360CB48D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3528EF9-D440-21A6-9399-B529AD99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Limitations &amp; Research plan</a:t>
            </a:r>
            <a:endParaRPr lang="ko-KR" altLang="en-US" dirty="0"/>
          </a:p>
        </p:txBody>
      </p:sp>
      <p:pic>
        <p:nvPicPr>
          <p:cNvPr id="6" name="Picture 3" descr="hydrofoil_controller_flow.png">
            <a:extLst>
              <a:ext uri="{FF2B5EF4-FFF2-40B4-BE49-F238E27FC236}">
                <a16:creationId xmlns:a16="http://schemas.microsoft.com/office/drawing/2014/main" id="{AB408F31-855F-101D-2B91-21F12DA3A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28" y="3645024"/>
            <a:ext cx="6673944" cy="235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3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4C6D-7804-B3CC-E98D-4311CB68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661D24E-06D6-EE9D-ADD1-6DF8C9A4D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PD vs PD + Feedforward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FE88AB-82C7-F0D8-4FD1-6ABB50B3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C430740-43EE-516E-D9B7-DB117B3D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Limitations &amp; Research plan</a:t>
            </a:r>
            <a:endParaRPr lang="ko-KR" altLang="en-US" dirty="0"/>
          </a:p>
        </p:txBody>
      </p:sp>
      <p:pic>
        <p:nvPicPr>
          <p:cNvPr id="10" name="Picture 3" descr="hydrofoil_wave_animation.gif">
            <a:extLst>
              <a:ext uri="{FF2B5EF4-FFF2-40B4-BE49-F238E27FC236}">
                <a16:creationId xmlns:a16="http://schemas.microsoft.com/office/drawing/2014/main" id="{4C99FDDE-6BE3-A7D7-F05A-F81D87D09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641986"/>
            <a:ext cx="72009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64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68526-7AFA-7584-8DEB-444101453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22144E-B88F-9D5E-15A7-893BAC72A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61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E86BB1-B84C-9439-1221-2FEDE6AB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BFF564B-6680-872D-E01C-325E8AA3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A. Related work table</a:t>
            </a:r>
            <a:endParaRPr lang="ko-KR" alt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5C9D4F6-8316-FCD4-03EF-206361132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585397"/>
              </p:ext>
            </p:extLst>
          </p:nvPr>
        </p:nvGraphicFramePr>
        <p:xfrm>
          <a:off x="293049" y="958217"/>
          <a:ext cx="8352928" cy="5351105"/>
        </p:xfrm>
        <a:graphic>
          <a:graphicData uri="http://schemas.openxmlformats.org/drawingml/2006/table">
            <a:tbl>
              <a:tblPr firstRow="1" bandRow="1"/>
              <a:tblGrid>
                <a:gridCol w="5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3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Paper (Year)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Sensor / Data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핵심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한계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 / </a:t>
                      </a:r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우리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차별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Desmars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2018 (OMAE)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LIDAR (proposed) /
**Sim only** (HOS synthetic)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LIDAR + ICWM, predefined k-grid, variational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LIDAR 응용 첫 시도 (concept proposal). 1D, on-grid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Desmars 2020 (Ocean Eng)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gauge array /
**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실측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 (wave tank lab)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gauge array + dispersion correction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gauge ≠ LiDAR, 1D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18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Desmars 2023 (JFM 975)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X-band radar (modeled) /
**Sim only** (3 types) +
wave tank validation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HOS-OCM, vessel-mounted optical, 3-stage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1D, on-grid, sensor model 미명시. **가장 가까운 prior art**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&amp; Pan 2021 (JFM 918)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X-band radar /
Sim (HOS) + **실측 radar**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EnKF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HOS 첫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결합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1D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가정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1D, ensemble cost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&amp; Pan 2022 (JFM 949)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Shipborne X-band radar /
**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실측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 + sim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EnKF-HOS-C (current 동시 추정)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여전히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1D, dense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</a:t>
                      </a:r>
                      <a:endParaRPr sz="700" dirty="0">
                        <a:solidFill>
                          <a:srgbClr val="1A1A2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18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Feng Wang et al. 2025
(Coastal Eng 197, 104690)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**Stereo camera (WASS)** /
**실측** (Acqua Alta 플랫폼
+ 자체 2024 vessel)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ETKF + Ne=300 + fuzzy R + Delaunay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격자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한계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632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**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우리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baseline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직접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prior art**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Hunt 2007 (Physica D 230)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(기상학) /
Sim (atmospheric)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LETKF (Local Ensemble Transform KF)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Wave-specific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아님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기상학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출신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Klein 2020 (Fluids 5(1))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(model 비교) /
**Sim + 실험 (semi-exp)**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model 정량 비교 (LWT/NLSE/NLSE2/HOSM)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study, 새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알고리즘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아님</a:t>
                      </a:r>
                      <a:endParaRPr sz="700" dirty="0">
                        <a:solidFill>
                          <a:srgbClr val="1A1A2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Ehlers et al. 2023
(Ocean Eng 288, 116059)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X-band radar /
**Sim only** (HOS + geom radar)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Fourier Neural Operator (FNO) supervised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3120 sample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학습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필요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1D, distribution shift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18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Ehlers et al. 2025
(arXiv:2501.08430)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gauge (point) /
**실측** (실험실 wave flume
MARATHON) + analytical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Physics-informed NN + PFT loss, unsupervised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분/instance, 1D + t, buoy only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 et al. 2025
(arXiv 2510.14356)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(synthetic) /
**Sim only** (VOF NWT)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Navier-Stokes + EnKF + POD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only, 1D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xz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-plane, 50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OpenFOAM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×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수일</a:t>
                      </a:r>
                      <a:endParaRPr sz="700" dirty="0">
                        <a:solidFill>
                          <a:srgbClr val="1A1A2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0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Tang-Bhaskar-Shah-Recht 2013
(IEEE TIT 59)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(이론) /
— (theoretical only)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norm off-grid CS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신호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SDP </a:t>
                      </a:r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비용</a:t>
                      </a:r>
                      <a:endParaRPr sz="700" dirty="0">
                        <a:solidFill>
                          <a:srgbClr val="1A1A2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20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Möller-Trumbore 1997 (JGT)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(graphics) /
— (algorithm only)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Ray-triangle intersection (graphics)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700" dirty="0" err="1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비물리적</a:t>
                      </a:r>
                      <a:r>
                        <a:rPr sz="70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(geometry only)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048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C9F7DEF-6E7A-FED1-247C-4697CF8A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AE1DE3-CEEA-FB67-4148-FCE7CB54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C207122-66EA-171E-09FF-1C508BFE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B. Dataset table</a:t>
            </a:r>
            <a:endParaRPr lang="ko-KR" altLang="en-US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C675CF2B-7FBB-DD85-1892-E0D5CEEBC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601786"/>
              </p:ext>
            </p:extLst>
          </p:nvPr>
        </p:nvGraphicFramePr>
        <p:xfrm>
          <a:off x="303208" y="2125960"/>
          <a:ext cx="8234050" cy="2743200"/>
        </p:xfrm>
        <a:graphic>
          <a:graphicData uri="http://schemas.openxmlformats.org/drawingml/2006/table">
            <a:tbl>
              <a:tblPr firstRow="1" bandRow="1"/>
              <a:tblGrid>
                <a:gridCol w="1646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6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ε (steepness)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N_components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Seeds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Episode 수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BF2 (잔잔)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1, 2, 5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1, 2, 5, 15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BF4 (보통)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5, 15, 20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5, 15, 20, 30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BF6 (거친)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15, 20, 30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 (1 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BF7 (매우 거친)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20, 30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 (1 개)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Calibration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(separate)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 dirty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845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80324CC-AD3B-AF3E-5E3E-032995FE6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56DEE2-4836-91D0-A03A-7B9D29B5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5F989DA-705F-6693-36AC-B786B628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C. Comparison result</a:t>
            </a:r>
            <a:endParaRPr lang="ko-KR" altLang="en-US" dirty="0"/>
          </a:p>
        </p:txBody>
      </p:sp>
      <p:pic>
        <p:nvPicPr>
          <p:cNvPr id="6" name="Picture 4" descr="fig_appendix_c_cases_2d3d.png">
            <a:extLst>
              <a:ext uri="{FF2B5EF4-FFF2-40B4-BE49-F238E27FC236}">
                <a16:creationId xmlns:a16="http://schemas.microsoft.com/office/drawing/2014/main" id="{6E6F5291-917E-6FAC-AD0F-446E1AD4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72" y="845916"/>
            <a:ext cx="7511057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86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5AA4-962F-1293-4003-683B2B7C9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48A0B1-B7BA-12F0-C68D-23F46E11C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FC8927-0299-8493-B3B6-A27384BE0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7932A7C-AF39-62CA-114F-6DB30280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C. Comparison result</a:t>
            </a:r>
            <a:endParaRPr lang="ko-KR" altLang="en-US" dirty="0"/>
          </a:p>
        </p:txBody>
      </p:sp>
      <p:pic>
        <p:nvPicPr>
          <p:cNvPr id="7" name="Picture 4" descr="fig_appendix_e_complex_cases.png">
            <a:extLst>
              <a:ext uri="{FF2B5EF4-FFF2-40B4-BE49-F238E27FC236}">
                <a16:creationId xmlns:a16="http://schemas.microsoft.com/office/drawing/2014/main" id="{25EAC32F-050F-CFA8-AE71-3831B1E53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496" y="968375"/>
            <a:ext cx="6541008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90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1B76-2CC8-922C-3879-E4674BC9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376BC1D-DF9F-BA1F-9E8D-141AF17B2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957" y="1233264"/>
            <a:ext cx="4304531" cy="2286000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E30877-B796-6629-3984-45691031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9896F83-2539-E47D-6DC8-23FEF36A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C. Comparison result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32000D1-E80D-D2C7-8771-6F14214AD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08" y="1233264"/>
            <a:ext cx="4304531" cy="2286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E51B7ED-481C-341C-4B71-E1FFD9FE7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61" y="3519264"/>
            <a:ext cx="4304531" cy="228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C0BD88E-60F1-E4B3-476D-F13D078C0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239" y="3519264"/>
            <a:ext cx="430260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55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4308-DAFC-A2F9-A186-CCA5CFDE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B4A8F7B-1B54-BD45-DC0C-F3ACA7152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887" y="841037"/>
            <a:ext cx="6600227" cy="1828800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A0635D-7FAF-89D5-8CEF-AA302121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24D4F1-EFDD-59B9-43B4-FBA32335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C. Comparison result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286120-FC8C-DE03-FC46-EB5F58A86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47" y="2679931"/>
            <a:ext cx="6610907" cy="1828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FE8968-8537-C970-C34F-BE75D1211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546" y="4508731"/>
            <a:ext cx="6600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60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FD0B-0986-0E29-182B-75653298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CD06A6-E943-12BA-E398-2FAD708C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E8027FF-8EF2-D30B-8F01-A587B991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C. Comparison result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4F3D6E-2A44-1357-00F4-5BAEB1D9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36" y="956186"/>
            <a:ext cx="6646127" cy="1828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EB966C4-51A4-F0F6-98F6-D427BB177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886" y="2784986"/>
            <a:ext cx="6600225" cy="1828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AEEDCF-5E9B-1BB8-1BE6-EADD757D6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888" y="4613786"/>
            <a:ext cx="6600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5058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75281</TotalTime>
  <Words>9556</Words>
  <Application>Microsoft Office PowerPoint</Application>
  <PresentationFormat>화면 슬라이드 쇼(4:3)</PresentationFormat>
  <Paragraphs>908</Paragraphs>
  <Slides>33</Slides>
  <Notes>25</Notes>
  <HiddenSlides>0</HiddenSlides>
  <MMClips>2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굴림</vt:lpstr>
      <vt:lpstr>Arial</vt:lpstr>
      <vt:lpstr>Arial Black</vt:lpstr>
      <vt:lpstr>Cambria Math</vt:lpstr>
      <vt:lpstr>Times New Roman</vt:lpstr>
      <vt:lpstr>Wingdings</vt:lpstr>
      <vt:lpstr>디자인 사용자 지정</vt:lpstr>
      <vt:lpstr>Ocean Wave Estimation from sparse LiDAR points</vt:lpstr>
      <vt:lpstr>Contents</vt:lpstr>
      <vt:lpstr>Contents</vt:lpstr>
      <vt:lpstr>1. Introduction &amp; Motivation</vt:lpstr>
      <vt:lpstr>1. Introduction &amp; Motivation</vt:lpstr>
      <vt:lpstr>Contents</vt:lpstr>
      <vt:lpstr>2. Related work</vt:lpstr>
      <vt:lpstr>2. Related work</vt:lpstr>
      <vt:lpstr>2. Related work</vt:lpstr>
      <vt:lpstr>Contents</vt:lpstr>
      <vt:lpstr>3. Method</vt:lpstr>
      <vt:lpstr>3. Method</vt:lpstr>
      <vt:lpstr>3. Method</vt:lpstr>
      <vt:lpstr>3. Method</vt:lpstr>
      <vt:lpstr>3. Method</vt:lpstr>
      <vt:lpstr>3. Method</vt:lpstr>
      <vt:lpstr>3. Method</vt:lpstr>
      <vt:lpstr>3. Method</vt:lpstr>
      <vt:lpstr>Contents</vt:lpstr>
      <vt:lpstr>4. Experiment &amp; Mechanism</vt:lpstr>
      <vt:lpstr>4. Experiment &amp; Mechanism</vt:lpstr>
      <vt:lpstr>Contents</vt:lpstr>
      <vt:lpstr>5. Limitations &amp; Research plan</vt:lpstr>
      <vt:lpstr>5. Limitations &amp; Research plan</vt:lpstr>
      <vt:lpstr>5. Limitations &amp; Research plan</vt:lpstr>
      <vt:lpstr>감사합니다.</vt:lpstr>
      <vt:lpstr>Appendix A. Related work table</vt:lpstr>
      <vt:lpstr>Appendix B. Dataset table</vt:lpstr>
      <vt:lpstr>Appendix C. Comparison result</vt:lpstr>
      <vt:lpstr>Appendix C. Comparison result</vt:lpstr>
      <vt:lpstr>Appendix C. Comparison result</vt:lpstr>
      <vt:lpstr>Appendix C. Comparison result</vt:lpstr>
      <vt:lpstr>Appendix C. Comparison result</vt:lpstr>
    </vt:vector>
  </TitlesOfParts>
  <Company>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Sogang</dc:creator>
  <cp:lastModifiedBy>박세용</cp:lastModifiedBy>
  <cp:revision>4679</cp:revision>
  <cp:lastPrinted>2026-05-11T14:01:47Z</cp:lastPrinted>
  <dcterms:created xsi:type="dcterms:W3CDTF">2007-03-29T05:53:49Z</dcterms:created>
  <dcterms:modified xsi:type="dcterms:W3CDTF">2026-05-12T14:06:07Z</dcterms:modified>
</cp:coreProperties>
</file>