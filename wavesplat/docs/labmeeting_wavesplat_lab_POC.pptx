
<file path=[Content_Types].xml><?xml version="1.0" encoding="utf-8"?>
<Types xmlns="http://schemas.openxmlformats.org/package/2006/content-types">
  <Default Extension="gif" ContentType="image/gif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 autoCompressPictures="0">
  <p:sldMasterIdLst>
    <p:sldMasterId id="2147483910" r:id="rId1"/>
  </p:sldMasterIdLst>
  <p:notesMasterIdLst>
    <p:notesMasterId r:id="rId8"/>
  </p:notesMasterIdLst>
  <p:handoutMasterIdLst>
    <p:handoutMasterId r:id="rId9"/>
  </p:handoutMasterIdLst>
  <p:sldIdLst>
    <p:sldId id="256" r:id="rId7"/>
    <p:sldId id="257" r:id="rId6"/>
    <p:sldId id="258" r:id="rId5"/>
    <p:sldId id="259" r:id="rId4"/>
  </p:sldIdLst>
  <p:sldSz cx="9144000" cy="6858000" type="screen4x3"/>
  <p:notesSz cx="9926638" cy="6797675"/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eo Jeonghwa" initials="SJ" lastIdx="13" clrIdx="0">
    <p:extLst>
      <p:ext uri="{19B8F6BF-5375-455C-9EA6-DF929625EA0E}">
        <p15:presenceInfo xmlns:p15="http://schemas.microsoft.com/office/powerpoint/2012/main" userId="9aa9fa2553afebd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3366FF"/>
    <a:srgbClr val="FFFFFF"/>
    <a:srgbClr val="00B0F0"/>
    <a:srgbClr val="E7F9FF"/>
    <a:srgbClr val="C5F3FF"/>
    <a:srgbClr val="FFCCCC"/>
    <a:srgbClr val="FFCCFF"/>
    <a:srgbClr val="00CC66"/>
    <a:srgbClr val="F7FD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8799B23B-EC83-4686-B30A-512413B5E67A}" styleName="밝은 스타일 3 - 강조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327F97BB-C833-4FB7-BDE5-3F7075034690}" styleName="테마 스타일 2 - 강조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FD0F851-EC5A-4D38-B0AD-8093EC10F338}" styleName="밝은 스타일 1 - 강조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FABFCF23-3B69-468F-B69F-88F6DE6A72F2}" styleName="보통 스타일 1 - 강조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7DF18680-E054-41AD-8BC1-D1AEF772440D}" styleName="보통 스타일 2 - 강조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17292A2E-F333-43FB-9621-5CBBE7FDCDCB}" styleName="밝은 스타일 2 - 강조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00A15C55-8517-42AA-B614-E9B94910E393}" styleName="보통 스타일 2 - 강조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B9631B5-78F2-41C9-869B-9F39066F8104}" styleName="보통 스타일 3 - 강조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1E171933-4619-4E11-9A3F-F7608DF75F80}" styleName="보통 스타일 1 - 강조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BDBED569-4797-4DF1-A0F4-6AAB3CD982D8}" styleName="밝은 스타일 3 - 강조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85BE263C-DBD7-4A20-BB59-AAB30ACAA65A}" styleName="보통 스타일 3 - 강조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7518" autoAdjust="0"/>
    <p:restoredTop sz="75338" autoAdjust="0"/>
  </p:normalViewPr>
  <p:slideViewPr>
    <p:cSldViewPr showGuides="1">
      <p:cViewPr varScale="1">
        <p:scale>
          <a:sx n="62" d="100"/>
          <a:sy n="62" d="100"/>
        </p:scale>
        <p:origin x="2424" y="5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-9732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78" d="100"/>
          <a:sy n="78" d="100"/>
        </p:scale>
        <p:origin x="72" y="856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4" Type="http://schemas.openxmlformats.org/officeDocument/2006/relationships/slide" Target="slides/slide4.xml"/><Relationship Id="rId5" Type="http://schemas.openxmlformats.org/officeDocument/2006/relationships/slide" Target="slides/slide3.xml"/><Relationship Id="rId6" Type="http://schemas.openxmlformats.org/officeDocument/2006/relationships/slide" Target="slides/slide2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handoutMaster" Target="handoutMasters/handoutMaster1.xml"/><Relationship Id="rId10" Type="http://schemas.openxmlformats.org/officeDocument/2006/relationships/commentAuthors" Target="commentAuthors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4302625" cy="3402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5621696" y="0"/>
            <a:ext cx="4302625" cy="3402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17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6456324"/>
            <a:ext cx="4302625" cy="3402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17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5621696" y="6456324"/>
            <a:ext cx="4302625" cy="3402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fld id="{79659AD6-AE32-41CA-82A0-2598C3F3898A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285423452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4302625" cy="3402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5621696" y="0"/>
            <a:ext cx="4302625" cy="3402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096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235127" y="518517"/>
            <a:ext cx="3398838" cy="254952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10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92201" y="3228705"/>
            <a:ext cx="7942238" cy="305911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noProof="0"/>
              <a:t>마스터 텍스트 스타일을 편집합니다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6456324"/>
            <a:ext cx="4302625" cy="3402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10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621696" y="6456324"/>
            <a:ext cx="4302625" cy="3402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fld id="{7CF72608-E96E-40E0-AA36-7D967661FE69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26451296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4">
            <a:extLst>
              <a:ext uri="{FF2B5EF4-FFF2-40B4-BE49-F238E27FC236}">
                <a16:creationId xmlns:a16="http://schemas.microsoft.com/office/drawing/2014/main" id="{C07C8241-B47D-4265-B8DC-7A83560CC123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2054225"/>
            <a:ext cx="9144000" cy="2232025"/>
          </a:xfrm>
          <a:prstGeom prst="rect">
            <a:avLst/>
          </a:prstGeom>
          <a:solidFill>
            <a:srgbClr val="B2B2B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endParaRPr lang="ko-KR" alt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72D8179D-E436-4C76-ADBD-8F3423C15BD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2125663"/>
            <a:ext cx="9144000" cy="208915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endParaRPr lang="ko-KR" altLang="en-US"/>
          </a:p>
        </p:txBody>
      </p:sp>
      <p:sp>
        <p:nvSpPr>
          <p:cNvPr id="9" name="제목 1">
            <a:extLst>
              <a:ext uri="{FF2B5EF4-FFF2-40B4-BE49-F238E27FC236}">
                <a16:creationId xmlns:a16="http://schemas.microsoft.com/office/drawing/2014/main" id="{61D063F3-1108-4154-8347-0AB06E35DA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10" name="부제목 2">
            <a:extLst>
              <a:ext uri="{FF2B5EF4-FFF2-40B4-BE49-F238E27FC236}">
                <a16:creationId xmlns:a16="http://schemas.microsoft.com/office/drawing/2014/main" id="{DEB2E69D-3CDF-48CA-9224-6B58E03440D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1600" y="4293096"/>
            <a:ext cx="6400800" cy="1345704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dirty="0"/>
              <a:t>마스터 부제목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26032723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675B215-C573-4168-B166-EB28B28A1A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228600" indent="-228600">
              <a:buFont typeface="Wingdings" panose="05000000000000000000" pitchFamily="2" charset="2"/>
              <a:buChar char="§"/>
              <a:defRPr/>
            </a:lvl1pPr>
            <a:lvl2pPr marL="685800" indent="-228600">
              <a:buFont typeface="Times New Roman" panose="02020603050405020304" pitchFamily="18" charset="0"/>
              <a:buChar char="-"/>
              <a:defRPr/>
            </a:lvl2pPr>
          </a:lstStyle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BB804C4-9697-471E-8BC1-E0A58D65DD2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6637338"/>
            <a:ext cx="1403648" cy="242969"/>
          </a:xfrm>
        </p:spPr>
        <p:txBody>
          <a:bodyPr/>
          <a:lstStyle/>
          <a:p>
            <a:r>
              <a:rPr lang="en-US" altLang="ko-KR" dirty="0"/>
              <a:t>April xx, 2023</a:t>
            </a:r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64C737C-4C7F-4C5A-8F42-207CA8A31C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403648" y="6627244"/>
            <a:ext cx="5976664" cy="240018"/>
          </a:xfrm>
        </p:spPr>
        <p:txBody>
          <a:bodyPr/>
          <a:lstStyle>
            <a:lvl1pPr>
              <a:defRPr/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8">
            <a:extLst>
              <a:ext uri="{FF2B5EF4-FFF2-40B4-BE49-F238E27FC236}">
                <a16:creationId xmlns:a16="http://schemas.microsoft.com/office/drawing/2014/main" id="{66223D9C-B720-4BD8-9066-5AAD180ABF23}"/>
              </a:ext>
            </a:extLst>
          </p:cNvPr>
          <p:cNvSpPr txBox="1">
            <a:spLocks/>
          </p:cNvSpPr>
          <p:nvPr userDrawn="1"/>
        </p:nvSpPr>
        <p:spPr>
          <a:xfrm>
            <a:off x="4067944" y="6376074"/>
            <a:ext cx="899592" cy="238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algn="r" rtl="0" fontAlgn="base" latinLnBrk="1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>
                    <a:tint val="75000"/>
                  </a:schemeClr>
                </a:solidFill>
                <a:latin typeface="굴림" charset="-127"/>
                <a:ea typeface="굴림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9pPr>
          </a:lstStyle>
          <a:p>
            <a:pPr>
              <a:defRPr/>
            </a:pPr>
            <a:r>
              <a:rPr lang="en-US" altLang="ko-KR" dirty="0"/>
              <a:t>-</a:t>
            </a:r>
            <a:fld id="{4B06D9A7-2E35-4533-98BA-70A08AF23C1B}" type="slidenum">
              <a:rPr lang="en-US" altLang="ko-KR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>
                <a:defRPr/>
              </a:pPr>
              <a:t>‹#›</a:t>
            </a:fld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/xx</a:t>
            </a:r>
            <a:r>
              <a:rPr lang="en-US" altLang="ko-KR" dirty="0"/>
              <a:t>-</a:t>
            </a:r>
          </a:p>
        </p:txBody>
      </p:sp>
      <p:sp>
        <p:nvSpPr>
          <p:cNvPr id="8" name="제목 7">
            <a:extLst>
              <a:ext uri="{FF2B5EF4-FFF2-40B4-BE49-F238E27FC236}">
                <a16:creationId xmlns:a16="http://schemas.microsoft.com/office/drawing/2014/main" id="{0F186BCE-BF40-49B6-9640-B62E9209F6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312569260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Relationship Id="rId4" Type="http://schemas.openxmlformats.org/officeDocument/2006/relationships/image" Target="../media/image1.gi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91B40BB9-443F-4905-A0E2-B5F7F36289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528" y="1"/>
            <a:ext cx="8191822" cy="7816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72AD3A9-72B8-461E-95E0-A034CE0374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23528" y="980732"/>
            <a:ext cx="8191822" cy="51962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714FE15-D5B1-472D-8C03-1866CA6B95E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0" y="6637339"/>
            <a:ext cx="1403648" cy="2159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altLang="ko-KR" dirty="0"/>
              <a:t>April xx, 2023</a:t>
            </a:r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58D6D48-DE6D-44CE-A7CA-EE6525099EC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03648" y="6627244"/>
            <a:ext cx="6212110" cy="24001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endParaRPr lang="ko-KR" altLang="en-US" dirty="0"/>
          </a:p>
        </p:txBody>
      </p:sp>
      <p:sp>
        <p:nvSpPr>
          <p:cNvPr id="7" name="Line 17">
            <a:extLst>
              <a:ext uri="{FF2B5EF4-FFF2-40B4-BE49-F238E27FC236}">
                <a16:creationId xmlns:a16="http://schemas.microsoft.com/office/drawing/2014/main" id="{ACEA0B10-CC48-4B92-B94F-3F5D3EA26944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0" y="785813"/>
            <a:ext cx="9144000" cy="0"/>
          </a:xfrm>
          <a:prstGeom prst="line">
            <a:avLst/>
          </a:prstGeom>
          <a:noFill/>
          <a:ln w="38100">
            <a:solidFill>
              <a:srgbClr val="B2B2B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8" name="Line 18">
            <a:extLst>
              <a:ext uri="{FF2B5EF4-FFF2-40B4-BE49-F238E27FC236}">
                <a16:creationId xmlns:a16="http://schemas.microsoft.com/office/drawing/2014/main" id="{572C12F0-8479-479A-ABC0-316A3C83A05A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0" y="6623050"/>
            <a:ext cx="7380312" cy="0"/>
          </a:xfrm>
          <a:prstGeom prst="line">
            <a:avLst/>
          </a:prstGeom>
          <a:noFill/>
          <a:ln w="38100">
            <a:solidFill>
              <a:srgbClr val="B2B2B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 dirty="0"/>
          </a:p>
        </p:txBody>
      </p:sp>
      <p:sp>
        <p:nvSpPr>
          <p:cNvPr id="9" name="Rectangle 19">
            <a:extLst>
              <a:ext uri="{FF2B5EF4-FFF2-40B4-BE49-F238E27FC236}">
                <a16:creationId xmlns:a16="http://schemas.microsoft.com/office/drawing/2014/main" id="{77CD4FEF-74D3-4DAE-AE4D-9E663E34AEF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0"/>
            <a:ext cx="179388" cy="208915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>
              <a:defRPr/>
            </a:pPr>
            <a:endParaRPr lang="ko-KR" altLang="en-US"/>
          </a:p>
        </p:txBody>
      </p:sp>
      <p:sp>
        <p:nvSpPr>
          <p:cNvPr id="10" name="Rectangle 20">
            <a:extLst>
              <a:ext uri="{FF2B5EF4-FFF2-40B4-BE49-F238E27FC236}">
                <a16:creationId xmlns:a16="http://schemas.microsoft.com/office/drawing/2014/main" id="{471CF3CB-1B69-427E-ACF8-3C89AC11B6F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1928813"/>
            <a:ext cx="69850" cy="467995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>
              <a:defRPr/>
            </a:pPr>
            <a:endParaRPr lang="ko-KR" altLang="en-US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07EFEB5F-9136-46CD-A7E7-DD92C8EE282D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409361" y="6320474"/>
            <a:ext cx="512878" cy="53282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8B6923D-4463-4616-B13E-2F75DC18C637}"/>
              </a:ext>
            </a:extLst>
          </p:cNvPr>
          <p:cNvSpPr txBox="1"/>
          <p:nvPr userDrawn="1"/>
        </p:nvSpPr>
        <p:spPr>
          <a:xfrm>
            <a:off x="7852389" y="6513991"/>
            <a:ext cx="1366080" cy="35137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ts val="100"/>
              </a:lnSpc>
            </a:pPr>
            <a:r>
              <a:rPr lang="en-US" altLang="ko-KR" sz="2400" b="1" dirty="0">
                <a:solidFill>
                  <a:schemeClr val="accent1">
                    <a:lumMod val="75000"/>
                  </a:schemeClr>
                </a:solidFill>
                <a:latin typeface="Arial Black" panose="020B0A04020102020204" pitchFamily="34" charset="0"/>
                <a:cs typeface="Times New Roman" panose="02020603050405020304" pitchFamily="18" charset="0"/>
              </a:rPr>
              <a:t>SNUTT</a:t>
            </a:r>
            <a:endParaRPr lang="en-US" altLang="ko-KR" sz="1600" b="1" dirty="0">
              <a:solidFill>
                <a:schemeClr val="accent1">
                  <a:lumMod val="75000"/>
                </a:schemeClr>
              </a:solidFill>
              <a:latin typeface="Arial Black" panose="020B0A04020102020204" pitchFamily="34" charset="0"/>
              <a:cs typeface="Times New Roman" panose="02020603050405020304" pitchFamily="18" charset="0"/>
            </a:endParaRPr>
          </a:p>
          <a:p>
            <a:pPr algn="ctr"/>
            <a:r>
              <a:rPr lang="en-US" altLang="ko-KR" sz="80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Seoul National University</a:t>
            </a:r>
          </a:p>
          <a:p>
            <a:pPr algn="ctr"/>
            <a:r>
              <a:rPr lang="en-US" altLang="ko-KR" sz="80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Towing Tank</a:t>
            </a:r>
            <a:endParaRPr lang="ko-KR" altLang="en-US" sz="800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066288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11" r:id="rId1"/>
    <p:sldLayoutId id="2147483912" r:id="rId2"/>
  </p:sldLayoutIdLst>
  <p:hf sldNum="0" hdr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Times New Roman" panose="02020603050405020304" pitchFamily="18" charset="0"/>
          <a:ea typeface="+mj-ea"/>
          <a:cs typeface="Times New Roman" panose="02020603050405020304" pitchFamily="18" charset="0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600" b="1" i="0"/>
              <a:t>WaveSplat</a:t>
            </a:r>
          </a:p>
          <a:p>
            <a:r>
              <a:rPr sz="1800" b="0" i="0"/>
              <a:t>Grid-Free Spectral Wave Field Estimation from Sparse Shipboard LiDAR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1800" b="1" i="0"/>
              <a:t>박세용 (Saeyong Park)</a:t>
            </a:r>
          </a:p>
          <a:p>
            <a:r>
              <a:rPr sz="1300" b="0" i="0"/>
              <a:t>Avikus · HD현대  |  서울대학교 조선해양공학과</a:t>
            </a:r>
          </a:p>
          <a:p>
            <a:r>
              <a:rPr sz="1200" b="0" i="1"/>
              <a:t>Lab Meeting · 2026  |  Target: Ocean Engineering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Contents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280160" y="1188720"/>
            <a:ext cx="6583680" cy="457200"/>
          </a:xfrm>
          <a:prstGeom prst="roundRect">
            <a:avLst/>
          </a:prstGeom>
          <a:solidFill>
            <a:srgbClr val="C05317"/>
          </a:solidFill>
          <a:ln>
            <a:solidFill>
              <a:srgbClr val="C053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  I.    Real Sea Trial — 실선 LiDAR 관측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280160" y="1810512"/>
            <a:ext cx="6583680" cy="457200"/>
          </a:xfrm>
          <a:prstGeom prst="roundRect">
            <a:avLst/>
          </a:prstGeom>
          <a:solidFill>
            <a:srgbClr val="C05317"/>
          </a:solidFill>
          <a:ln>
            <a:solidFill>
              <a:srgbClr val="C053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  II.    Problem &amp; Prior Art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280160" y="2432304"/>
            <a:ext cx="6583680" cy="457200"/>
          </a:xfrm>
          <a:prstGeom prst="roundRect">
            <a:avLst/>
          </a:prstGeom>
          <a:solidFill>
            <a:srgbClr val="C05317"/>
          </a:solidFill>
          <a:ln>
            <a:solidFill>
              <a:srgbClr val="C053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  III.    Methodology — WaveSplat Algorithm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280160" y="3054096"/>
            <a:ext cx="6583680" cy="457200"/>
          </a:xfrm>
          <a:prstGeom prst="roundRect">
            <a:avLst/>
          </a:prstGeom>
          <a:solidFill>
            <a:srgbClr val="C05317"/>
          </a:solidFill>
          <a:ln>
            <a:solidFill>
              <a:srgbClr val="C053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  IV.    WaveSim — 시뮬레이션 신뢰성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280160" y="3675888"/>
            <a:ext cx="6583680" cy="457200"/>
          </a:xfrm>
          <a:prstGeom prst="roundRect">
            <a:avLst/>
          </a:prstGeom>
          <a:solidFill>
            <a:srgbClr val="C05317"/>
          </a:solidFill>
          <a:ln>
            <a:solidFill>
              <a:srgbClr val="C053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  V.    Experiments — 5-Metric Evaluation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280160" y="4297680"/>
            <a:ext cx="6583680" cy="457200"/>
          </a:xfrm>
          <a:prstGeom prst="roundRect">
            <a:avLst/>
          </a:prstGeom>
          <a:solidFill>
            <a:srgbClr val="C05317"/>
          </a:solidFill>
          <a:ln>
            <a:solidFill>
              <a:srgbClr val="C053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  VI.    Hydrofoil Application — 논문 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280160" y="4919472"/>
            <a:ext cx="6583680" cy="457200"/>
          </a:xfrm>
          <a:prstGeom prst="roundRect">
            <a:avLst/>
          </a:prstGeom>
          <a:solidFill>
            <a:srgbClr val="C05317"/>
          </a:solidFill>
          <a:ln>
            <a:solidFill>
              <a:srgbClr val="C053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  VII.    Limitations &amp; Thesis Plan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600" b="1" i="0">
                <a:solidFill>
                  <a:srgbClr val="1A1A2E"/>
                </a:solidFill>
              </a:rPr>
              <a:t>▪ 선박 전방 파랑 예측이 필요한 이유</a:t>
            </a:r>
          </a:p>
          <a:p>
            <a:r>
              <a:rPr sz="1400" b="0" i="0">
                <a:solidFill>
                  <a:srgbClr val="333333"/>
                </a:solidFill>
              </a:rPr>
              <a:t>   - 자율운항 선박의 안전 · 승차감 · 에너지 효율</a:t>
            </a:r>
          </a:p>
          <a:p>
            <a:r>
              <a:rPr sz="1400" b="0" i="0">
                <a:solidFill>
                  <a:srgbClr val="333333"/>
                </a:solidFill>
              </a:rPr>
              <a:t>   - 하이드로포일 선박: 파랑 preview → feedforward 제어</a:t>
            </a:r>
          </a:p>
          <a:p>
            <a:r>
              <a:rPr sz="1400" b="0" i="0">
                <a:solidFill>
                  <a:srgbClr val="333333"/>
                </a:solidFill>
              </a:rPr>
              <a:t>   - 해상 크레인: 파고 예측 → 보상 제어</a:t>
            </a:r>
          </a:p>
          <a:p>
            <a:r>
              <a:rPr sz="1400" b="0" i="0">
                <a:solidFill>
                  <a:srgbClr val="333333"/>
                </a:solidFill>
              </a:rPr>
              <a:t>   - 해양 구조물: 파랑 하중 예측 → 구조 안전</a:t>
            </a:r>
          </a:p>
          <a:p>
            <a:r>
              <a:rPr sz="1400" b="0" i="0"/>
              <a:t/>
            </a:r>
          </a:p>
          <a:p>
            <a:r>
              <a:rPr sz="1600" b="1" i="0">
                <a:solidFill>
                  <a:srgbClr val="1A1A2E"/>
                </a:solidFill>
              </a:rPr>
              <a:t>▪ LiDAR 관측의 본질적 어려움</a:t>
            </a:r>
          </a:p>
          <a:p>
            <a:r>
              <a:rPr sz="1400" b="0" i="0">
                <a:solidFill>
                  <a:srgbClr val="333333"/>
                </a:solidFill>
              </a:rPr>
              <a:t>   - Sparse: 200×150 m 영역에서 프레임당 ~50점</a:t>
            </a:r>
          </a:p>
          <a:p>
            <a:r>
              <a:rPr sz="1400" b="0" i="0">
                <a:solidFill>
                  <a:srgbClr val="333333"/>
                </a:solidFill>
              </a:rPr>
              <a:t>   - Heterogeneous: 근거리 조밀 ↔ 원거리 희박</a:t>
            </a:r>
          </a:p>
          <a:p>
            <a:r>
              <a:rPr sz="1400" b="0" i="0">
                <a:solidFill>
                  <a:srgbClr val="333333"/>
                </a:solidFill>
              </a:rPr>
              <a:t>   - Noisy: beam divergence + specular dropout</a:t>
            </a:r>
          </a:p>
          <a:p>
            <a:r>
              <a:rPr sz="1400" b="0" i="0">
                <a:solidFill>
                  <a:srgbClr val="333333"/>
                </a:solidFill>
              </a:rPr>
              <a:t>   - 10 Hz 실시간 처리 필요 (&lt; 100 ms/frame)</a:t>
            </a:r>
          </a:p>
          <a:p>
            <a:r>
              <a:rPr sz="1400" b="0" i="0"/>
              <a:t/>
            </a:r>
          </a:p>
          <a:p>
            <a:r>
              <a:rPr sz="1500" b="1" i="0">
                <a:solidFill>
                  <a:srgbClr val="C05317"/>
                </a:solidFill>
              </a:rPr>
              <a:t>▪ 목표: 희소 LiDAR 관측으로부터 연속적이고 물리적으로 타당한 파도장을 실시간 복원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&amp; Motivation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핵심 결과: 5-Metric Evaluation (100 episodes)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280160"/>
          <a:ext cx="822960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371600"/>
                <a:gridCol w="1371600"/>
                <a:gridCol w="1371600"/>
                <a:gridCol w="1371600"/>
                <a:gridCol w="1371600"/>
              </a:tblGrid>
              <a:tr h="41148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Method</a:t>
                      </a:r>
                    </a:p>
                  </a:txBody>
                  <a:tcPr>
                    <a:solidFill>
                      <a:srgbClr val="C053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nRMSE ↓</a:t>
                      </a:r>
                    </a:p>
                  </a:txBody>
                  <a:tcPr>
                    <a:solidFill>
                      <a:srgbClr val="C053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VR → 1</a:t>
                      </a:r>
                    </a:p>
                  </a:txBody>
                  <a:tcPr>
                    <a:solidFill>
                      <a:srgbClr val="C053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ρ ↑</a:t>
                      </a:r>
                    </a:p>
                  </a:txBody>
                  <a:tcPr>
                    <a:solidFill>
                      <a:srgbClr val="C053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SS ↑</a:t>
                      </a:r>
                    </a:p>
                  </a:txBody>
                  <a:tcPr>
                    <a:solidFill>
                      <a:srgbClr val="C053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RMSE_unobs [m] ↓</a:t>
                      </a:r>
                    </a:p>
                  </a:txBody>
                  <a:tcPr>
                    <a:solidFill>
                      <a:srgbClr val="C05317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300" b="1"/>
                        <a:t>WaveSplat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1"/>
                        <a:t>0.223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1"/>
                        <a:t>0.661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1"/>
                        <a:t>0.446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1"/>
                        <a:t>+0.034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1"/>
                        <a:t>0.262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300"/>
                        <a:t>ETKF (tuned)</a:t>
                      </a:r>
                    </a:p>
                  </a:txBody>
                  <a:tcPr>
                    <a:solidFill>
                      <a:srgbClr val="F8E8D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/>
                        <a:t>0.319</a:t>
                      </a:r>
                    </a:p>
                  </a:txBody>
                  <a:tcPr>
                    <a:solidFill>
                      <a:srgbClr val="F8E8D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/>
                        <a:t>0.898</a:t>
                      </a:r>
                    </a:p>
                  </a:txBody>
                  <a:tcPr>
                    <a:solidFill>
                      <a:srgbClr val="F8E8D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/>
                        <a:t>0.109</a:t>
                      </a:r>
                    </a:p>
                  </a:txBody>
                  <a:tcPr>
                    <a:solidFill>
                      <a:srgbClr val="F8E8D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/>
                        <a:t>−0.702</a:t>
                      </a:r>
                    </a:p>
                  </a:txBody>
                  <a:tcPr>
                    <a:solidFill>
                      <a:srgbClr val="F8E8D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/>
                        <a:t>0.348</a:t>
                      </a:r>
                    </a:p>
                  </a:txBody>
                  <a:tcPr>
                    <a:solidFill>
                      <a:srgbClr val="F8E8D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300"/>
                        <a:t>GPR-1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0.261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0.065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0.193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−0.141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0.294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3108960"/>
            <a:ext cx="8229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A1A2E"/>
                </a:solidFill>
              </a:rPr>
              <a:t>▪ Skill Score: WaveSplat만 양수 (+0.034) — zero-predictor보다 나은 유일한 방법</a:t>
            </a:r>
          </a:p>
          <a:p>
            <a:r>
              <a:rPr sz="1300" b="1">
                <a:solidFill>
                  <a:srgbClr val="1A1A2E"/>
                </a:solidFill>
              </a:rPr>
              <a:t>▪ RMSE_unobs: WaveSplat 0.262 m vs ETKF 0.348 m vs GPR 0.294 m</a:t>
            </a:r>
          </a:p>
          <a:p>
            <a:r>
              <a:rPr sz="1300"/>
              <a:t>   - 관측되지 않은 영역 재구성 = physics prior 직접 증거</a:t>
            </a:r>
          </a:p>
          <a:p>
            <a:r>
              <a:rPr sz="1300" b="1">
                <a:solidFill>
                  <a:srgbClr val="1A1A2E"/>
                </a:solidFill>
              </a:rPr>
              <a:t>▪ GPR은 거의 zero predictor: VR=0.065 → 진폭의 6.5%만 재현</a:t>
            </a:r>
          </a:p>
          <a:p>
            <a:r>
              <a:rPr sz="1300" b="1">
                <a:solidFill>
                  <a:srgbClr val="1A1A2E"/>
                </a:solidFill>
              </a:rPr>
              <a:t>▪ ETKF는 variance-correct but shape-wrong: VR=0.898 but ρ=0.109</a:t>
            </a:r>
          </a:p>
          <a:p>
            <a:r>
              <a:rPr sz="1300" b="1">
                <a:solidFill>
                  <a:srgbClr val="1A1A2E"/>
                </a:solidFill>
              </a:rPr>
              <a:t>▪ WaveSplat nRMSE 30.1% lower &amp; ~10× faster (13.4 vs 132.6 ms)</a:t>
            </a:r>
          </a:p>
          <a:p>
            <a:r>
              <a:rPr sz="1300"/>
              <a:t/>
            </a:r>
          </a:p>
          <a:p>
            <a:r>
              <a:rPr sz="1300" b="1">
                <a:solidFill>
                  <a:srgbClr val="1A1A2E"/>
                </a:solidFill>
              </a:rPr>
              <a:t>▪ 한계: VR=0.66 → 진폭 ~34% 과소추정 (pruning의 대가)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74641</TotalTime>
  <Words>403</Words>
  <Application>Microsoft Office PowerPoint</Application>
  <PresentationFormat>화면 슬라이드 쇼(4:3)</PresentationFormat>
  <Paragraphs>74</Paragraphs>
  <Slides>6</Slides>
  <Notes>6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12" baseType="lpstr">
      <vt:lpstr>굴림</vt:lpstr>
      <vt:lpstr>Arial</vt:lpstr>
      <vt:lpstr>Arial Black</vt:lpstr>
      <vt:lpstr>Times New Roman</vt:lpstr>
      <vt:lpstr>Wingdings</vt:lpstr>
      <vt:lpstr>디자인 사용자 지정</vt:lpstr>
      <vt:lpstr>논문 주제 선정을 위한 Study  (Tentative) A study of integrated optimization method for Azipod electric propulsion ships   </vt:lpstr>
      <vt:lpstr>Contents</vt:lpstr>
      <vt:lpstr>Contents</vt:lpstr>
      <vt:lpstr>Principle to select a topic for research</vt:lpstr>
      <vt:lpstr>Contents</vt:lpstr>
      <vt:lpstr>Environmental regulations</vt:lpstr>
    </vt:vector>
  </TitlesOfParts>
  <Company>Univ.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Sogang</dc:creator>
  <cp:lastModifiedBy>박세용</cp:lastModifiedBy>
  <cp:revision>4613</cp:revision>
  <cp:lastPrinted>2021-11-03T00:28:46Z</cp:lastPrinted>
  <dcterms:created xsi:type="dcterms:W3CDTF">2007-03-29T05:53:49Z</dcterms:created>
  <dcterms:modified xsi:type="dcterms:W3CDTF">2026-05-02T18:12:55Z</dcterms:modified>
</cp:coreProperties>
</file>